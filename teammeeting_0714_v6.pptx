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5"/>
  </p:notesMasterIdLst>
  <p:handoutMasterIdLst>
    <p:handoutMasterId r:id="rId26"/>
  </p:handoutMasterIdLst>
  <p:sldIdLst>
    <p:sldId id="368" r:id="rId2"/>
    <p:sldId id="996" r:id="rId3"/>
    <p:sldId id="997" r:id="rId4"/>
    <p:sldId id="998" r:id="rId5"/>
    <p:sldId id="999" r:id="rId6"/>
    <p:sldId id="1000" r:id="rId7"/>
    <p:sldId id="1001" r:id="rId8"/>
    <p:sldId id="1002" r:id="rId9"/>
    <p:sldId id="1016" r:id="rId10"/>
    <p:sldId id="1017" r:id="rId11"/>
    <p:sldId id="1003" r:id="rId12"/>
    <p:sldId id="1004" r:id="rId13"/>
    <p:sldId id="1005" r:id="rId14"/>
    <p:sldId id="1006" r:id="rId15"/>
    <p:sldId id="1007" r:id="rId16"/>
    <p:sldId id="1008" r:id="rId17"/>
    <p:sldId id="1010" r:id="rId18"/>
    <p:sldId id="1011" r:id="rId19"/>
    <p:sldId id="1012" r:id="rId20"/>
    <p:sldId id="1013" r:id="rId21"/>
    <p:sldId id="1014" r:id="rId22"/>
    <p:sldId id="1015" r:id="rId23"/>
    <p:sldId id="1018" r:id="rId2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130"/>
    <p:restoredTop sz="80803" autoAdjust="0"/>
  </p:normalViewPr>
  <p:slideViewPr>
    <p:cSldViewPr snapToGrid="0">
      <p:cViewPr varScale="1">
        <p:scale>
          <a:sx n="89" d="100"/>
          <a:sy n="89" d="100"/>
        </p:scale>
        <p:origin x="2760"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2026. 7. 14.</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Let me start today's team meeting.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Last time I did two things. First, drone selection — Mavic 4 Pro versus Matrice 4E, comparing echo strength against RTK ground truth. Second, a short review of LaSen, the SenSys paper that tracks a drone using 5G. Since then I was at ICML and had a few other things going on, so I prepared this meeting in a bit of a rush. Today I will show you the Sionna progress — three stages are now built — and then I will introduce one paper.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Today has two parts. First, what I built in Sionna, with a lot of pictures. Second, a short introduction to a paper from ICML that I found interesting.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Let me start with the Sionna simulation.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is the overall path I took. First I built the chamber and five DJI drone meshes from their real specs. Then I set up a monostatic radar, computed the RCS, and set up three illuminators — Wi-Fi, LTE and 5G. After that I felt the drone meshes were too rough, so I refined them: I split the frame from the rotors, so each propeller can spin on its own. That refinement is also what we will need later if we want to fly these drones in PX4 or Gazebo.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For the chamber, I copied the specs of the RF playground we were planning to use for the real experiment. It is thirty by twenty by eleven meters. The walls absorb the echoes, so we see only the drone.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For the drone meshes, I first collected the detailed specs — this is the official DJI page on the left — and then I asked Claude to build the mesh from those numbers. Every part is modeled separately: body, arms, motors, propellers, gimbal, landing gear. Let me show you the visualizations.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These are the five meshes. Here they are drawn at the same size, so you can compare the shapes — four-rotor quads versus the eight-rotor S1000+. The real sizes are very different, and I show that on the next slide.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5773D-7CFE-E0E3-4675-89660C1EA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1E615E-EF83-3CF2-9E22-54613E1B0C6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05A5205-B895-11D1-4158-239E09FD3CB1}"/>
              </a:ext>
            </a:extLst>
          </p:cNvPr>
          <p:cNvSpPr>
            <a:spLocks noGrp="1"/>
          </p:cNvSpPr>
          <p:nvPr>
            <p:ph type="body" sz="quarter" idx="1"/>
          </p:nvPr>
        </p:nvSpPr>
        <p:spPr/>
        <p:txBody>
          <a:bodyPr/>
          <a:lstStyle/>
          <a:p>
            <a:r>
              <a:t>This is the real size comparison, all at the same scale. The S1000+ is by far the largest — about one meter across — and the Mini 5 Pro fits in your hand, at 250 grams. The dashed circles are the propeller discs.</a:t>
            </a:r>
          </a:p>
        </p:txBody>
      </p:sp>
    </p:spTree>
    <p:extLst>
      <p:ext uri="{BB962C8B-B14F-4D97-AF65-F5344CB8AC3E}">
        <p14:creationId xmlns:p14="http://schemas.microsoft.com/office/powerpoint/2010/main" val="3651393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9BBC6-1E54-FF61-5B7D-55930DC4E1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99E34A-51FC-93F3-D506-675D2033D9E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25F917E-165D-377A-90B3-CE150EAE43AD}"/>
              </a:ext>
            </a:extLst>
          </p:cNvPr>
          <p:cNvSpPr>
            <a:spLocks noGrp="1"/>
          </p:cNvSpPr>
          <p:nvPr>
            <p:ph type="body" sz="quarter" idx="1"/>
          </p:nvPr>
        </p:nvSpPr>
        <p:spPr/>
        <p:txBody>
          <a:bodyPr/>
          <a:lstStyle/>
          <a:p>
            <a:r>
              <a:t>And this is what they look like inside the chamber. The point of this slide is scale: in a thirty meter room, these drones are really tiny.</a:t>
            </a:r>
          </a:p>
        </p:txBody>
      </p:sp>
    </p:spTree>
    <p:extLst>
      <p:ext uri="{BB962C8B-B14F-4D97-AF65-F5344CB8AC3E}">
        <p14:creationId xmlns:p14="http://schemas.microsoft.com/office/powerpoint/2010/main" val="19909120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Here is the monostatic setup — one antenna both transmits and listens, and the drone sits in the quiet zone. The real message of this slide is the far-field check at the bottom. RCS is only defined when the range is bigger than two D squared over lambda. At a ten meter range, the four small drones are fine. But the S1000+ needs forty-two meters, and our chamber is only thirty meters long. So I am flagging a limit up front: for the S1000+, the absolute RCS from this chamber cannot be trusted.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The RCS here is computed from the mesh using physical optics — not from Sionna's ray tracing. The reason is that these drones are small. If I take the scattered field from ray tracing, the absolute RCS is unstable — it is dominated by sampling noise and by glint. Physical optics is the standard method for CAD targets, and I validated it: a metal plate gives four pi A squared over lambda squared, and a sphere gives pi r squared. Both match theory. One more thing: I do not treat the drone as solid metal. The plastic shell is semi-transparent to RF, so the echo is really dominated by the battery, the motors and the PCB. And the deep nulls you see in the polar plot are real — they are phase cancellations, only two or three degrees wide.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These are the real Wi-Fi, LTE and 5G signals, built with the correct numerology and reference signals. Here is the key point. A passive radar can only use a signal it already knows — the reference signal. So the range resolution follows the bandwidth of that reference signal, not the bandwidth of the channel. Wi-Fi's preamble is always wideband, so about two meters. LTE's CRS is always on, across the full band, so about eight meters. And 5G, in an idle cell, sends only the SSB — a narrow seven megahertz beacon sitting in the middle of a one hundred megahertz channel — so about twenty-one meters. So the widest channel gives the worst range.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shows the three occupancy modes. Again, a passive radar can only use what it knows. In G1, the idle cell, 5G sends only the SSB, and the range profile is coarse. It becomes sharp at G2 — but not because the cell got busier. It is because a positioning session turns PRS on, and the reference bandwidth jumps from seven to ninety-eight megahertz. Then at G3, when the cell fills up with user data, nothing improves — because user data is unknown to us, we cannot use it as a matched-filter reference. So the occupancy goes from one percent to twenty-one to eighty percent, but the resolution stops improving after G2. And note that PRS is not always on — it only appears when the network runs a positioning session. So for a passive receiver borrowing someone else's cell, the honest baseline for 5G is the SSB.</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Stage three. I split the drone into a frame plus individually spinning rotors, so the body can tilt while the props spin independently — I verified that the frame vertices do not move at all when only the blades rotate. This is the basis for both micro-Doppler and, later, flight simulation.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Here is the micro-Doppler. Even when the drone just hovers, the spinning blades keep changing the phase of the echo. Two things show up. First, the blade flashes — the vertical stripes — at one hundred eighty three hertz for the Mavic, which is simply two blades times ninety-two turns per second. Second, the tip Doppler, at plus and minus one point three to one point seven kilohertz at 3.5 gigahertz. Now here is the part that connects back to the previous slides. To read that tip Doppler without aliasing, we need to sample the channel at least three kilohertz. But LTE's CRS repeats at one kilohertz, and 5G's SSB at only fifty hertz. So with commercial signals, this blade signature is folded — we cannot read it directly. That is a fundamental limit of passive sensing, and it is exactly why papers like LaSen try to use the data symbols as well, not only the pilots.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is the roadmap. The three stages are done — the scene, the RCS with the waveforms, and the signatures. Next is the real passive radar chain: a bistatic geometry with transmitter and receiver apart, clutter cancellation, CFAR detection and tracking. I have actually started that part already, so I can show detection results next time.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Now let me briefly introduce the paper from ICML that I found interesting, and then wrap up.</a:t>
            </a:r>
          </a:p>
        </p:txBody>
      </p:sp>
    </p:spTree>
    <p:extLst>
      <p:ext uri="{BB962C8B-B14F-4D97-AF65-F5344CB8AC3E}">
        <p14:creationId xmlns:p14="http://schemas.microsoft.com/office/powerpoint/2010/main" val="30432324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The task is wireless signal recognition. An AI reads a passively received IQ signal and labels it — the modulation type, the wireless technology, or an anomaly. A lot of recent work does this with deep learning, and diffusion models in particular have been doing well, because they are strong denoisers and their learned features transfer nicely to this task.</a:t>
            </a:r>
          </a:p>
        </p:txBody>
      </p:sp>
    </p:spTree>
    <p:extLst>
      <p:ext uri="{BB962C8B-B14F-4D97-AF65-F5344CB8AC3E}">
        <p14:creationId xmlns:p14="http://schemas.microsoft.com/office/powerpoint/2010/main" val="3952428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But the authors point out a gap. Existing diffusion work only adds and removes Gaussian noise. A real channel is not Gaussian — it multiplies the signal, it does not just add to it. So they argue the physics is missing, and they put a physical channel model inside the forward process. The reverse process then learns to undo the channel, not just the noise. They call this de-channeling.</a:t>
            </a:r>
          </a:p>
        </p:txBody>
      </p:sp>
    </p:spTree>
    <p:extLst>
      <p:ext uri="{BB962C8B-B14F-4D97-AF65-F5344CB8AC3E}">
        <p14:creationId xmlns:p14="http://schemas.microsoft.com/office/powerpoint/2010/main" val="9949884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This is the overall pipeline. On the left they take the time-domain and the frequency-domain features and concatenate them — they call that part CPE-Net. Then, instead of letting the network learn any channel it likes, they mix a set of predefined physical channel candidates with softmax weights, and add Gaussian noise on top. That constraint actually matters: they prove that if the channel is a free network, the easiest way to minimize the loss is to switch the channel off completely. The reverse process uses attention. I have to admit I could not fully follow that part yet — that is part of the AI study I planned, and I will get there.</a:t>
            </a:r>
          </a:p>
        </p:txBody>
      </p:sp>
    </p:spTree>
    <p:extLst>
      <p:ext uri="{BB962C8B-B14F-4D97-AF65-F5344CB8AC3E}">
        <p14:creationId xmlns:p14="http://schemas.microsoft.com/office/powerpoint/2010/main" val="16441901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They report state of the art on all four datasets. But when you read the table, some of the margins are very thin — 63.60 versus 63.54 on RML2016 — and I honestly wonder whether that could flip just by changing the random seed. The clearest win is TechRec: 91.0 versus 88.8. So the fair question is how much of the gain comes from the de-channeling idea itself, and how much from the FusedFormer backbone. One thing I take from this paper for our own work: learning buys you a few percentage points, but physics — bandwidth and integration time — buys you tens of decibels. That is worth remembering when we look at the 5G problem from earlier.</a:t>
            </a:r>
          </a:p>
        </p:txBody>
      </p:sp>
    </p:spTree>
    <p:extLst>
      <p:ext uri="{BB962C8B-B14F-4D97-AF65-F5344CB8AC3E}">
        <p14:creationId xmlns:p14="http://schemas.microsoft.com/office/powerpoint/2010/main" val="36330826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3CC8C-5659-5EED-9405-F2284EE6BAF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29BCAC2-D6CC-31DC-56B7-78EE93837974}"/>
              </a:ext>
            </a:extLst>
          </p:cNvPr>
          <p:cNvSpPr>
            <a:spLocks noGrp="1" noRot="1" noChangeAspect="1"/>
          </p:cNvSpPr>
          <p:nvPr>
            <p:ph type="sldImg"/>
          </p:nvPr>
        </p:nvSpPr>
        <p:spPr>
          <a:xfrm>
            <a:off x="381000" y="685800"/>
            <a:ext cx="6096000" cy="3429000"/>
          </a:xfrm>
        </p:spPr>
      </p:sp>
      <p:sp>
        <p:nvSpPr>
          <p:cNvPr id="3" name="슬라이드 노트 개체 틀 2">
            <a:extLst>
              <a:ext uri="{FF2B5EF4-FFF2-40B4-BE49-F238E27FC236}">
                <a16:creationId xmlns:a16="http://schemas.microsoft.com/office/drawing/2014/main" id="{E544DC22-367D-F13F-9DC2-F9A4AFF037C9}"/>
              </a:ext>
            </a:extLst>
          </p:cNvPr>
          <p:cNvSpPr>
            <a:spLocks noGrp="1"/>
          </p:cNvSpPr>
          <p:nvPr>
            <p:ph type="body" idx="1"/>
          </p:nvPr>
        </p:nvSpPr>
        <p:spPr/>
        <p:txBody>
          <a:bodyPr/>
          <a:lstStyle/>
          <a:p>
            <a:r>
              <a:t>That is everything from me. Thank you.</a:t>
            </a:r>
          </a:p>
        </p:txBody>
      </p:sp>
    </p:spTree>
    <p:extLst>
      <p:ext uri="{BB962C8B-B14F-4D97-AF65-F5344CB8AC3E}">
        <p14:creationId xmlns:p14="http://schemas.microsoft.com/office/powerpoint/2010/main" val="281962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/2</a:t>
            </a:r>
            <a:r>
              <a:rPr lang="en-US" altLang="ko-KR" dirty="0"/>
              <a:t>3</a:t>
            </a:r>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7.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11.gif"/><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14.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15.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16.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2026. 07. 14</a:t>
            </a: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Last Meeting</a:t>
            </a:r>
            <a:endParaRPr lang="en-US" altLang="ko-KR" sz="5200" b="1" i="0" dirty="0">
              <a:solidFill>
                <a:srgbClr val="000000"/>
              </a:solidFill>
              <a:latin typeface="AvenirNext-DemiBold"/>
              <a:ea typeface="AvenirNext-DemiBold"/>
              <a:cs typeface="AvenirNext-DemiBold"/>
            </a:endParaRPr>
          </a:p>
        </p:txBody>
      </p:sp>
      <p:sp>
        <p:nvSpPr>
          <p:cNvPr id="14" name="Bullets"/>
          <p:cNvSpPr txBox="1">
            <a:spLocks/>
          </p:cNvSpPr>
          <p:nvPr/>
        </p:nvSpPr>
        <p:spPr>
          <a:xfrm>
            <a:off x="720000" y="2820000"/>
            <a:ext cx="22944000" cy="8400000"/>
          </a:xfrm>
          <a:prstGeom prst="rect">
            <a:avLst/>
          </a:prstGeom>
        </p:spPr>
        <p:txBody>
          <a:bodyPr lIns="50800" tIns="30000" rIns="50800" bIns="30000" anchor="t">
            <a:noAutofit/>
          </a:bodyPr>
          <a:lstStyle/>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What I </a:t>
            </a:r>
            <a:r>
              <a:rPr lang="en-US" altLang="ko-KR" sz="4000" b="1" dirty="0">
                <a:solidFill>
                  <a:srgbClr val="26448A"/>
                </a:solidFill>
              </a:rPr>
              <a:t>did</a:t>
            </a:r>
            <a:endParaRPr lang="en-US" altLang="ko-KR" sz="4000" b="1" i="0" dirty="0">
              <a:solidFill>
                <a:srgbClr val="26448A"/>
              </a:solidFill>
              <a:latin typeface="Avenir Next Medium"/>
              <a:ea typeface="Avenir Next Medium"/>
              <a:cs typeface="Avenir Next Medium"/>
            </a:endParaRP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Drone selection — Mavic 4 Pro vs Matrice 4E (echo vs RTK ground truth)</a:t>
            </a:r>
          </a:p>
          <a:p>
            <a:pPr marL="1260000" indent="-660000" algn="l">
              <a:spcBef>
                <a:spcPts val="900"/>
              </a:spcBef>
              <a:buFont typeface="Wingdings"/>
              <a:buChar char="Ø"/>
            </a:pPr>
            <a:r>
              <a:rPr lang="en-US" altLang="ko-KR" sz="3400" dirty="0"/>
              <a:t>Reviewed LaSen (SenSys '26) — the one 5G tracking paper, with RTK ground truth</a:t>
            </a:r>
            <a:endParaRPr lang="en-US" altLang="ko-KR" sz="3400" b="0" i="0" dirty="0">
              <a:solidFill>
                <a:srgbClr val="000000"/>
              </a:solidFill>
              <a:latin typeface="Avenir Next Medium"/>
              <a:ea typeface="Avenir Next Medium"/>
              <a:cs typeface="Avenir Next Medium"/>
            </a:endParaRPr>
          </a:p>
          <a:p>
            <a:pPr marL="600000" indent="-600000" algn="l">
              <a:spcBef>
                <a:spcPts val="1900"/>
              </a:spcBef>
              <a:buFont typeface="Arial"/>
              <a:buChar char="•"/>
            </a:pPr>
            <a:endParaRPr lang="en-US" altLang="ko-KR" sz="40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What I planned</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Three parallel tracks — PHY anatomy, AI self-study, and the Sionna simulation</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Sionna: a controlled RD-map detection benchmark</a:t>
            </a:r>
          </a:p>
          <a:p>
            <a:pPr marL="1260000" indent="-660000" algn="l">
              <a:spcBef>
                <a:spcPts val="900"/>
              </a:spcBef>
              <a:buFont typeface="Wingdings"/>
              <a:buChar char="Ø"/>
            </a:pPr>
            <a:endParaRPr lang="en-US" altLang="ko-KR" sz="40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Today</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Progress on Sionna — three stages now built (environment → radar → micro-Doppler)</a:t>
            </a:r>
          </a:p>
          <a:p>
            <a:pPr marL="1260000" indent="-660000" algn="l">
              <a:spcBef>
                <a:spcPts val="900"/>
              </a:spcBef>
              <a:buFont typeface="Wingdings"/>
              <a:buChar char="Ø"/>
            </a:pPr>
            <a:r>
              <a:rPr lang="en-US" altLang="ko-KR" sz="3400" dirty="0"/>
              <a:t>Paper Introduction  </a:t>
            </a:r>
            <a:r>
              <a:rPr lang="en-US" altLang="ko-KR" sz="3400" b="0" i="0" dirty="0">
                <a:solidFill>
                  <a:srgbClr val="000000"/>
                </a:solidFill>
                <a:latin typeface="Avenir Next Medium"/>
                <a:ea typeface="Avenir Next Medium"/>
                <a:cs typeface="Avenir Next Medium"/>
              </a:rPr>
              <a:t>— From Denoising to De-Channeling (ICML 2026 Spotlight)</a:t>
            </a:r>
          </a:p>
        </p:txBody>
      </p:sp>
      <p:sp>
        <p:nvSpPr>
          <p:cNvPr id="3" name="Tag">
            <a:extLst>
              <a:ext uri="{FF2B5EF4-FFF2-40B4-BE49-F238E27FC236}">
                <a16:creationId xmlns:a16="http://schemas.microsoft.com/office/drawing/2014/main" id="{1FB3B99C-7F01-F4A5-EB67-C11BE3507E1A}"/>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Recap</a:t>
            </a:r>
          </a:p>
        </p:txBody>
      </p:sp>
      <p:sp>
        <p:nvSpPr>
          <p:cNvPr id="4" name="슬라이드 번호 개체 틀 3">
            <a:extLst>
              <a:ext uri="{FF2B5EF4-FFF2-40B4-BE49-F238E27FC236}">
                <a16:creationId xmlns:a16="http://schemas.microsoft.com/office/drawing/2014/main" id="{6F31C79B-AA14-B5C0-E1E5-438903C06C75}"/>
              </a:ext>
            </a:extLst>
          </p:cNvPr>
          <p:cNvSpPr>
            <a:spLocks noGrp="1"/>
          </p:cNvSpPr>
          <p:nvPr>
            <p:ph type="sldNum" sz="quarter" idx="2"/>
          </p:nvPr>
        </p:nvSpPr>
        <p:spPr/>
        <p:txBody>
          <a:bodyPr/>
          <a:lstStyle/>
          <a:p>
            <a:fld id="{86CB4B4D-7CA3-9044-876B-883B54F8677D}" type="slidenum">
              <a:rPr lang="en-US" altLang="ko-KR" smtClean="0"/>
              <a:t>2</a:t>
            </a:fld>
            <a:r>
              <a:rPr lang="en-US" altLang="ko-KR"/>
              <a:t>/23</a:t>
            </a:r>
            <a:endParaRPr lang="ko-KR"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Today</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Contents</a:t>
            </a:r>
            <a:endParaRPr lang="en-US" altLang="ko-KR" sz="5200" b="1" i="0" dirty="0">
              <a:solidFill>
                <a:srgbClr val="000000"/>
              </a:solidFill>
              <a:latin typeface="AvenirNext-DemiBold"/>
              <a:ea typeface="AvenirNext-DemiBold"/>
              <a:cs typeface="AvenirNext-DemiBold"/>
            </a:endParaRPr>
          </a:p>
        </p:txBody>
      </p:sp>
      <p:sp>
        <p:nvSpPr>
          <p:cNvPr id="14" name="Bullets"/>
          <p:cNvSpPr txBox="1">
            <a:spLocks/>
          </p:cNvSpPr>
          <p:nvPr/>
        </p:nvSpPr>
        <p:spPr>
          <a:xfrm>
            <a:off x="720000" y="2850000"/>
            <a:ext cx="22944000" cy="8600000"/>
          </a:xfrm>
          <a:prstGeom prst="rect">
            <a:avLst/>
          </a:prstGeom>
        </p:spPr>
        <p:txBody>
          <a:bodyPr lIns="50800" tIns="30000" rIns="50800" bIns="30000" anchor="t">
            <a:noAutofit/>
          </a:bodyPr>
          <a:lstStyle/>
          <a:p>
            <a:pPr marL="600000" indent="-600000" algn="l">
              <a:spcBef>
                <a:spcPts val="1900"/>
              </a:spcBef>
              <a:buFont typeface="Arial"/>
              <a:buChar char="•"/>
            </a:pPr>
            <a:r>
              <a:rPr lang="en-US" altLang="ko-KR" sz="4800" b="1" i="0" dirty="0">
                <a:solidFill>
                  <a:srgbClr val="26448A"/>
                </a:solidFill>
                <a:latin typeface="Avenir Next Medium"/>
                <a:ea typeface="Avenir Next Medium"/>
                <a:cs typeface="Avenir Next Medium"/>
              </a:rPr>
              <a:t>1 · Sionna Progress</a:t>
            </a:r>
          </a:p>
          <a:p>
            <a:pPr marL="1260000" indent="-660000" algn="l">
              <a:spcBef>
                <a:spcPts val="900"/>
              </a:spcBef>
              <a:buFont typeface="Wingdings"/>
              <a:buChar char="Ø"/>
            </a:pPr>
            <a:r>
              <a:rPr lang="en-US" altLang="ko-KR" sz="4000" b="0" i="0" dirty="0">
                <a:solidFill>
                  <a:srgbClr val="000000"/>
                </a:solidFill>
                <a:latin typeface="Avenir Next Medium"/>
                <a:ea typeface="Avenir Next Medium"/>
                <a:cs typeface="Avenir Next Medium"/>
              </a:rPr>
              <a:t>Three stages — environment, radar &amp; RCS, and micro-Doppler</a:t>
            </a:r>
          </a:p>
          <a:p>
            <a:pPr marL="600000" indent="-600000" algn="l">
              <a:spcBef>
                <a:spcPts val="1000"/>
              </a:spcBef>
              <a:buFont typeface="Arial"/>
              <a:buChar char="•"/>
            </a:pPr>
            <a:endParaRPr lang="en-US" altLang="ko-KR" sz="2400" b="1" i="0" dirty="0">
              <a:solidFill>
                <a:srgbClr val="26448A"/>
              </a:solidFill>
              <a:latin typeface="Avenir Next Medium"/>
              <a:ea typeface="Avenir Next Medium"/>
              <a:cs typeface="Avenir Next Medium"/>
            </a:endParaRPr>
          </a:p>
          <a:p>
            <a:pPr marL="600000" indent="-600000" algn="l">
              <a:spcBef>
                <a:spcPts val="1900"/>
              </a:spcBef>
              <a:buFont typeface="Arial"/>
              <a:buChar char="•"/>
            </a:pPr>
            <a:endParaRPr lang="en-US" altLang="ko-KR" sz="48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800" b="1" i="0" dirty="0">
                <a:solidFill>
                  <a:srgbClr val="26448A"/>
                </a:solidFill>
                <a:latin typeface="Avenir Next Medium"/>
                <a:ea typeface="Avenir Next Medium"/>
                <a:cs typeface="Avenir Next Medium"/>
              </a:rPr>
              <a:t>2 · Paper </a:t>
            </a:r>
            <a:r>
              <a:rPr lang="en-US" altLang="ko-KR" sz="4800" b="1" dirty="0">
                <a:solidFill>
                  <a:srgbClr val="26448A"/>
                </a:solidFill>
              </a:rPr>
              <a:t>Introduction</a:t>
            </a:r>
            <a:endParaRPr lang="en-US" altLang="ko-KR" sz="4800" b="1" i="0" dirty="0">
              <a:solidFill>
                <a:srgbClr val="26448A"/>
              </a:solidFill>
              <a:latin typeface="Avenir Next Medium"/>
              <a:ea typeface="Avenir Next Medium"/>
              <a:cs typeface="Avenir Next Medium"/>
            </a:endParaRPr>
          </a:p>
          <a:p>
            <a:pPr marL="1260000" indent="-660000" algn="l">
              <a:spcBef>
                <a:spcPts val="900"/>
              </a:spcBef>
              <a:buFont typeface="Wingdings"/>
              <a:buChar char="Ø"/>
            </a:pPr>
            <a:r>
              <a:rPr lang="en-US" altLang="ko-KR" sz="4000" b="0" i="0" dirty="0">
                <a:solidFill>
                  <a:srgbClr val="000000"/>
                </a:solidFill>
                <a:latin typeface="Avenir Next Medium"/>
                <a:ea typeface="Avenir Next Medium"/>
                <a:cs typeface="Avenir Next Medium"/>
              </a:rPr>
              <a:t>From Denoising to De-Channeling (ICML 2026) — physics-informed diffusion for WSR</a:t>
            </a:r>
          </a:p>
          <a:p>
            <a:pPr algn="l">
              <a:spcBef>
                <a:spcPts val="1000"/>
              </a:spcBef>
            </a:pPr>
            <a:endParaRPr lang="en-US" altLang="ko-KR" sz="2400" b="1" i="0" dirty="0">
              <a:solidFill>
                <a:srgbClr val="26448A"/>
              </a:solidFill>
              <a:latin typeface="Avenir Next Medium"/>
              <a:ea typeface="Avenir Next Medium"/>
              <a:cs typeface="Avenir Next Medium"/>
            </a:endParaRPr>
          </a:p>
        </p:txBody>
      </p:sp>
      <p:sp>
        <p:nvSpPr>
          <p:cNvPr id="3" name="슬라이드 번호 개체 틀 2">
            <a:extLst>
              <a:ext uri="{FF2B5EF4-FFF2-40B4-BE49-F238E27FC236}">
                <a16:creationId xmlns:a16="http://schemas.microsoft.com/office/drawing/2014/main" id="{453567E7-E142-0BFE-09F3-D69F04CEBBB4}"/>
              </a:ext>
            </a:extLst>
          </p:cNvPr>
          <p:cNvSpPr>
            <a:spLocks noGrp="1"/>
          </p:cNvSpPr>
          <p:nvPr>
            <p:ph type="sldNum" sz="quarter" idx="2"/>
          </p:nvPr>
        </p:nvSpPr>
        <p:spPr/>
        <p:txBody>
          <a:bodyPr/>
          <a:lstStyle/>
          <a:p>
            <a:fld id="{86CB4B4D-7CA3-9044-876B-883B54F8677D}" type="slidenum">
              <a:rPr lang="en-US" altLang="ko-KR" smtClean="0"/>
              <a:t>3</a:t>
            </a:fld>
            <a:r>
              <a:rPr lang="en-US" altLang="ko-KR"/>
              <a:t>/23</a:t>
            </a:r>
            <a:endParaRPr lang="ko-KR"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ivKicker"/>
          <p:cNvSpPr txBox="1">
            <a:spLocks/>
          </p:cNvSpPr>
          <p:nvPr/>
        </p:nvSpPr>
        <p:spPr>
          <a:xfrm>
            <a:off x="0" y="4050000"/>
            <a:ext cx="24384000" cy="760000"/>
          </a:xfrm>
          <a:prstGeom prst="rect">
            <a:avLst/>
          </a:prstGeom>
        </p:spPr>
        <p:txBody>
          <a:bodyPr lIns="50800" tIns="30000" rIns="50800" bIns="30000" anchor="ctr">
            <a:noAutofit/>
          </a:bodyPr>
          <a:lstStyle/>
          <a:p>
            <a:pPr algn="ctr"/>
            <a:r>
              <a:rPr lang="en-US" altLang="ko-KR" sz="3600" b="1" i="0" dirty="0">
                <a:solidFill>
                  <a:srgbClr val="2E74B5"/>
                </a:solidFill>
                <a:latin typeface="Avenir Next Medium"/>
                <a:ea typeface="Avenir Next Medium"/>
                <a:cs typeface="Avenir Next Medium"/>
              </a:rPr>
              <a:t>PROGRESS REPORT</a:t>
            </a:r>
          </a:p>
        </p:txBody>
      </p:sp>
      <p:sp>
        <p:nvSpPr>
          <p:cNvPr id="12" name="DivTitle"/>
          <p:cNvSpPr txBox="1">
            <a:spLocks/>
          </p:cNvSpPr>
          <p:nvPr/>
        </p:nvSpPr>
        <p:spPr>
          <a:xfrm>
            <a:off x="0" y="4850000"/>
            <a:ext cx="24384000" cy="1550000"/>
          </a:xfrm>
          <a:prstGeom prst="rect">
            <a:avLst/>
          </a:prstGeom>
        </p:spPr>
        <p:txBody>
          <a:bodyPr lIns="50800" tIns="30000" rIns="50800" bIns="30000" anchor="ctr">
            <a:noAutofit/>
          </a:bodyPr>
          <a:lstStyle/>
          <a:p>
            <a:pPr algn="ctr"/>
            <a:r>
              <a:rPr lang="en-US" altLang="ko-KR" sz="7200" b="1" i="0" dirty="0">
                <a:solidFill>
                  <a:srgbClr val="000000"/>
                </a:solidFill>
                <a:latin typeface="AvenirNext-DemiBold"/>
                <a:ea typeface="AvenirNext-DemiBold"/>
                <a:cs typeface="AvenirNext-DemiBold"/>
              </a:rPr>
              <a:t>Sionna Simulation</a:t>
            </a:r>
          </a:p>
        </p:txBody>
      </p:sp>
      <p:sp>
        <p:nvSpPr>
          <p:cNvPr id="13" name="DivSub"/>
          <p:cNvSpPr txBox="1">
            <a:spLocks/>
          </p:cNvSpPr>
          <p:nvPr/>
        </p:nvSpPr>
        <p:spPr>
          <a:xfrm>
            <a:off x="0" y="6520000"/>
            <a:ext cx="24384000" cy="820000"/>
          </a:xfrm>
          <a:prstGeom prst="rect">
            <a:avLst/>
          </a:prstGeom>
        </p:spPr>
        <p:txBody>
          <a:bodyPr lIns="50800" tIns="30000" rIns="50800" bIns="30000" anchor="ctr">
            <a:noAutofit/>
          </a:bodyPr>
          <a:lstStyle/>
          <a:p>
            <a:pPr algn="ctr"/>
            <a:r>
              <a:rPr lang="en-US" altLang="ko-KR" sz="4000" b="0" i="1" dirty="0">
                <a:solidFill>
                  <a:srgbClr val="595959"/>
                </a:solidFill>
                <a:latin typeface="Avenir Next Medium"/>
                <a:ea typeface="Avenir Next Medium"/>
                <a:cs typeface="Avenir Next Medium"/>
              </a:rPr>
              <a:t>From an empty chamber to a drone's radar signature — in three stages</a:t>
            </a:r>
          </a:p>
        </p:txBody>
      </p:sp>
      <p:sp>
        <p:nvSpPr>
          <p:cNvPr id="14" name="DivRoad"/>
          <p:cNvSpPr txBox="1">
            <a:spLocks/>
          </p:cNvSpPr>
          <p:nvPr/>
        </p:nvSpPr>
        <p:spPr>
          <a:xfrm>
            <a:off x="0" y="7780000"/>
            <a:ext cx="24384000" cy="820000"/>
          </a:xfrm>
          <a:prstGeom prst="rect">
            <a:avLst/>
          </a:prstGeom>
        </p:spPr>
        <p:txBody>
          <a:bodyPr lIns="50800" tIns="30000" rIns="50800" bIns="30000" anchor="ctr">
            <a:noAutofit/>
          </a:bodyPr>
          <a:lstStyle/>
          <a:p>
            <a:pPr algn="ctr"/>
            <a:r>
              <a:rPr lang="en-US" altLang="ko-KR" sz="3600" b="1" i="0" dirty="0">
                <a:solidFill>
                  <a:srgbClr val="26448A"/>
                </a:solidFill>
                <a:latin typeface="Avenir Next Medium"/>
                <a:ea typeface="Avenir Next Medium"/>
                <a:cs typeface="Avenir Next Medium"/>
              </a:rPr>
              <a:t>①  Environment    →    ②  Radar &amp; RCS    →    ③  Micro-Doppler</a:t>
            </a:r>
          </a:p>
        </p:txBody>
      </p:sp>
      <p:sp>
        <p:nvSpPr>
          <p:cNvPr id="3" name="슬라이드 번호 개체 틀 2">
            <a:extLst>
              <a:ext uri="{FF2B5EF4-FFF2-40B4-BE49-F238E27FC236}">
                <a16:creationId xmlns:a16="http://schemas.microsoft.com/office/drawing/2014/main" id="{38FF3B5A-98E6-0FC7-3827-D88D91057EFB}"/>
              </a:ext>
            </a:extLst>
          </p:cNvPr>
          <p:cNvSpPr>
            <a:spLocks noGrp="1"/>
          </p:cNvSpPr>
          <p:nvPr>
            <p:ph type="sldNum" sz="quarter" idx="2"/>
          </p:nvPr>
        </p:nvSpPr>
        <p:spPr/>
        <p:txBody>
          <a:bodyPr/>
          <a:lstStyle/>
          <a:p>
            <a:fld id="{86CB4B4D-7CA3-9044-876B-883B54F8677D}" type="slidenum">
              <a:rPr lang="en-US" altLang="ko-KR" smtClean="0"/>
              <a:t>4</a:t>
            </a:fld>
            <a:r>
              <a:rPr lang="en-US" altLang="ko-KR"/>
              <a:t>/23</a:t>
            </a:r>
            <a:endParaRPr lang="ko-KR"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Sionna Progress · Overview</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Three Stages, Built on One Scene</a:t>
            </a:r>
            <a:endParaRPr lang="en-US" altLang="ko-KR" sz="5200" b="1" i="0" dirty="0">
              <a:solidFill>
                <a:srgbClr val="000000"/>
              </a:solidFill>
              <a:latin typeface="AvenirNext-DemiBold"/>
              <a:ea typeface="AvenirNext-DemiBold"/>
              <a:cs typeface="AvenirNext-DemiBold"/>
            </a:endParaRP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Each stage reuses the same chamber and the dimension-accurate drone meshes</a:t>
            </a:r>
          </a:p>
        </p:txBody>
      </p:sp>
      <p:sp>
        <p:nvSpPr>
          <p:cNvPr id="41" name="L"/>
          <p:cNvSpPr txBox="1"/>
          <p:nvPr/>
        </p:nvSpPr>
        <p:spPr>
          <a:xfrm>
            <a:off x="720000" y="31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① Environment</a:t>
            </a:r>
          </a:p>
        </p:txBody>
      </p:sp>
      <p:sp>
        <p:nvSpPr>
          <p:cNvPr id="42" name="B"/>
          <p:cNvSpPr txBox="1"/>
          <p:nvPr/>
        </p:nvSpPr>
        <p:spPr>
          <a:xfrm>
            <a:off x="5900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Shielded chamber</a:t>
            </a:r>
          </a:p>
        </p:txBody>
      </p:sp>
      <p:sp>
        <p:nvSpPr>
          <p:cNvPr id="43" name="A"/>
          <p:cNvSpPr txBox="1"/>
          <p:nvPr/>
        </p:nvSpPr>
        <p:spPr>
          <a:xfrm>
            <a:off x="11300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4" name="B"/>
          <p:cNvSpPr txBox="1"/>
          <p:nvPr/>
        </p:nvSpPr>
        <p:spPr>
          <a:xfrm>
            <a:off x="12082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5 DJI meshes</a:t>
            </a:r>
          </a:p>
        </p:txBody>
      </p:sp>
      <p:sp>
        <p:nvSpPr>
          <p:cNvPr id="45" name="A"/>
          <p:cNvSpPr txBox="1"/>
          <p:nvPr/>
        </p:nvSpPr>
        <p:spPr>
          <a:xfrm>
            <a:off x="17482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6" name="B"/>
          <p:cNvSpPr txBox="1"/>
          <p:nvPr/>
        </p:nvSpPr>
        <p:spPr>
          <a:xfrm>
            <a:off x="18264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RF materials</a:t>
            </a:r>
          </a:p>
        </p:txBody>
      </p:sp>
      <p:sp>
        <p:nvSpPr>
          <p:cNvPr id="47" name="L"/>
          <p:cNvSpPr txBox="1"/>
          <p:nvPr/>
        </p:nvSpPr>
        <p:spPr>
          <a:xfrm>
            <a:off x="720000" y="550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② Radar &amp; RCS</a:t>
            </a:r>
          </a:p>
        </p:txBody>
      </p:sp>
      <p:sp>
        <p:nvSpPr>
          <p:cNvPr id="48" name="B"/>
          <p:cNvSpPr txBox="1"/>
          <p:nvPr/>
        </p:nvSpPr>
        <p:spPr>
          <a:xfrm>
            <a:off x="5900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Monostatic setup</a:t>
            </a:r>
          </a:p>
        </p:txBody>
      </p:sp>
      <p:sp>
        <p:nvSpPr>
          <p:cNvPr id="49" name="A"/>
          <p:cNvSpPr txBox="1"/>
          <p:nvPr/>
        </p:nvSpPr>
        <p:spPr>
          <a:xfrm>
            <a:off x="11300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0" name="B"/>
          <p:cNvSpPr txBox="1"/>
          <p:nvPr/>
        </p:nvSpPr>
        <p:spPr>
          <a:xfrm>
            <a:off x="12082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RCS (phys. optics)</a:t>
            </a:r>
          </a:p>
        </p:txBody>
      </p:sp>
      <p:sp>
        <p:nvSpPr>
          <p:cNvPr id="51" name="A"/>
          <p:cNvSpPr txBox="1"/>
          <p:nvPr/>
        </p:nvSpPr>
        <p:spPr>
          <a:xfrm>
            <a:off x="17482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2" name="B"/>
          <p:cNvSpPr txBox="1"/>
          <p:nvPr/>
        </p:nvSpPr>
        <p:spPr>
          <a:xfrm>
            <a:off x="18264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WiFi / LTE / 5G</a:t>
            </a:r>
          </a:p>
          <a:p>
            <a:pPr algn="ctr">
              <a:spcBef>
                <a:spcPts val="200"/>
              </a:spcBef>
            </a:pPr>
            <a:r>
              <a:rPr lang="en-US" altLang="ko-KR" sz="1700" b="0" i="1" dirty="0">
                <a:solidFill>
                  <a:srgbClr val="595959"/>
                </a:solidFill>
                <a:latin typeface="Avenir Next Medium"/>
                <a:ea typeface="Avenir Next Medium"/>
                <a:cs typeface="Avenir Next Medium"/>
              </a:rPr>
              <a:t>occupancy G1–G3</a:t>
            </a:r>
          </a:p>
        </p:txBody>
      </p:sp>
      <p:sp>
        <p:nvSpPr>
          <p:cNvPr id="53" name="L"/>
          <p:cNvSpPr txBox="1"/>
          <p:nvPr/>
        </p:nvSpPr>
        <p:spPr>
          <a:xfrm>
            <a:off x="720000" y="78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③ Micro-Doppler</a:t>
            </a:r>
          </a:p>
        </p:txBody>
      </p:sp>
      <p:sp>
        <p:nvSpPr>
          <p:cNvPr id="54" name="B"/>
          <p:cNvSpPr txBox="1"/>
          <p:nvPr/>
        </p:nvSpPr>
        <p:spPr>
          <a:xfrm>
            <a:off x="5900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Articulated drone</a:t>
            </a:r>
          </a:p>
        </p:txBody>
      </p:sp>
      <p:sp>
        <p:nvSpPr>
          <p:cNvPr id="55" name="A"/>
          <p:cNvSpPr txBox="1"/>
          <p:nvPr/>
        </p:nvSpPr>
        <p:spPr>
          <a:xfrm>
            <a:off x="11300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6" name="B"/>
          <p:cNvSpPr txBox="1"/>
          <p:nvPr/>
        </p:nvSpPr>
        <p:spPr>
          <a:xfrm>
            <a:off x="12082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Blade flash</a:t>
            </a:r>
          </a:p>
          <a:p>
            <a:pPr algn="ctr">
              <a:spcBef>
                <a:spcPts val="200"/>
              </a:spcBef>
            </a:pPr>
            <a:r>
              <a:rPr lang="en-US" altLang="ko-KR" sz="1700" b="0" i="1" dirty="0">
                <a:solidFill>
                  <a:srgbClr val="595959"/>
                </a:solidFill>
                <a:latin typeface="Avenir Next Medium"/>
                <a:ea typeface="Avenir Next Medium"/>
                <a:cs typeface="Avenir Next Medium"/>
              </a:rPr>
              <a:t>+ tip Doppler</a:t>
            </a:r>
          </a:p>
        </p:txBody>
      </p:sp>
      <p:sp>
        <p:nvSpPr>
          <p:cNvPr id="57" name="A"/>
          <p:cNvSpPr txBox="1"/>
          <p:nvPr/>
        </p:nvSpPr>
        <p:spPr>
          <a:xfrm>
            <a:off x="17482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8" name="B"/>
          <p:cNvSpPr txBox="1"/>
          <p:nvPr/>
        </p:nvSpPr>
        <p:spPr>
          <a:xfrm>
            <a:off x="18264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PX4 / Gazebo basis</a:t>
            </a:r>
          </a:p>
        </p:txBody>
      </p:sp>
      <p:sp>
        <p:nvSpPr>
          <p:cNvPr id="15" name="Takeaway"/>
          <p:cNvSpPr txBox="1">
            <a:spLocks/>
          </p:cNvSpPr>
          <p:nvPr/>
        </p:nvSpPr>
        <p:spPr>
          <a:xfrm>
            <a:off x="720000" y="11250000"/>
            <a:ext cx="22944000" cy="850000"/>
          </a:xfrm>
          <a:prstGeom prst="rect">
            <a:avLst/>
          </a:prstGeom>
        </p:spPr>
        <p:txBody>
          <a:bodyPr lIns="50800" tIns="30000" rIns="50800" bIns="30000" anchor="t">
            <a:noAutofit/>
          </a:bodyPr>
          <a:lstStyle/>
          <a:p>
            <a:pPr marL="0" indent="0" algn="l">
              <a:buNone/>
            </a:pPr>
            <a:r>
              <a:rPr lang="en-US" altLang="ko-KR" sz="2800" b="1" i="0" dirty="0">
                <a:solidFill>
                  <a:srgbClr val="26448A"/>
                </a:solidFill>
                <a:latin typeface="Avenir Next Medium"/>
                <a:ea typeface="Avenir Next Medium"/>
                <a:cs typeface="Avenir Next Medium"/>
              </a:rPr>
              <a:t>→ report1 · report2 · report3 — each a runnable notebook full of figures</a:t>
            </a:r>
          </a:p>
        </p:txBody>
      </p:sp>
      <p:sp>
        <p:nvSpPr>
          <p:cNvPr id="3" name="슬라이드 번호 개체 틀 2">
            <a:extLst>
              <a:ext uri="{FF2B5EF4-FFF2-40B4-BE49-F238E27FC236}">
                <a16:creationId xmlns:a16="http://schemas.microsoft.com/office/drawing/2014/main" id="{B4D319FC-14F6-DB38-5437-13D5AAD32ED3}"/>
              </a:ext>
            </a:extLst>
          </p:cNvPr>
          <p:cNvSpPr>
            <a:spLocks noGrp="1"/>
          </p:cNvSpPr>
          <p:nvPr>
            <p:ph type="sldNum" sz="quarter" idx="2"/>
          </p:nvPr>
        </p:nvSpPr>
        <p:spPr/>
        <p:txBody>
          <a:bodyPr/>
          <a:lstStyle/>
          <a:p>
            <a:fld id="{86CB4B4D-7CA3-9044-876B-883B54F8677D}" type="slidenum">
              <a:rPr lang="en-US" altLang="ko-KR" smtClean="0"/>
              <a:t>5</a:t>
            </a:fld>
            <a:r>
              <a:rPr lang="en-US" altLang="ko-KR"/>
              <a:t>/23</a:t>
            </a:r>
            <a:endParaRPr lang="ko-KR"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Environment</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RF Playground — a Shielded Chamber</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A 30 × 20 × 11 m shielded room — the walls soak up echoes, so we see only the drone</a:t>
            </a:r>
          </a:p>
        </p:txBody>
      </p:sp>
      <p:pic>
        <p:nvPicPr>
          <p:cNvPr id="20" name="chamber_render"/>
          <p:cNvPicPr>
            <a:picLocks noChangeAspect="1"/>
          </p:cNvPicPr>
          <p:nvPr/>
        </p:nvPicPr>
        <p:blipFill>
          <a:blip r:embed="rId3"/>
          <a:stretch>
            <a:fillRect/>
          </a:stretch>
        </p:blipFill>
        <p:spPr>
          <a:xfrm>
            <a:off x="-485775" y="2753814"/>
            <a:ext cx="10748513" cy="8061385"/>
          </a:xfrm>
          <a:prstGeom prst="rect">
            <a:avLst/>
          </a:prstGeom>
        </p:spPr>
      </p:pic>
      <p:pic>
        <p:nvPicPr>
          <p:cNvPr id="21" name="chamber_plan"/>
          <p:cNvPicPr>
            <a:picLocks noChangeAspect="1"/>
          </p:cNvPicPr>
          <p:nvPr/>
        </p:nvPicPr>
        <p:blipFill>
          <a:blip r:embed="rId4"/>
          <a:stretch>
            <a:fillRect/>
          </a:stretch>
        </p:blipFill>
        <p:spPr>
          <a:xfrm>
            <a:off x="10262738" y="3511153"/>
            <a:ext cx="14184537" cy="6546709"/>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Sionna render of the chamber (left) · dimensioned plan &amp; elevation (right) — modelled on a real facility</a:t>
            </a:r>
          </a:p>
        </p:txBody>
      </p:sp>
      <p:sp>
        <p:nvSpPr>
          <p:cNvPr id="3" name="슬라이드 번호 개체 틀 2">
            <a:extLst>
              <a:ext uri="{FF2B5EF4-FFF2-40B4-BE49-F238E27FC236}">
                <a16:creationId xmlns:a16="http://schemas.microsoft.com/office/drawing/2014/main" id="{0F15EBE6-09B6-5771-515C-2528A12FBAD8}"/>
              </a:ext>
            </a:extLst>
          </p:cNvPr>
          <p:cNvSpPr>
            <a:spLocks noGrp="1"/>
          </p:cNvSpPr>
          <p:nvPr>
            <p:ph type="sldNum" sz="quarter" idx="2"/>
          </p:nvPr>
        </p:nvSpPr>
        <p:spPr/>
        <p:txBody>
          <a:bodyPr/>
          <a:lstStyle/>
          <a:p>
            <a:fld id="{86CB4B4D-7CA3-9044-876B-883B54F8677D}" type="slidenum">
              <a:rPr lang="en-US" altLang="ko-KR" smtClean="0"/>
              <a:t>6</a:t>
            </a:fld>
            <a:r>
              <a:rPr lang="en-US" altLang="ko-KR"/>
              <a:t>/23</a:t>
            </a:r>
            <a:endParaRPr lang="ko-KR"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Spec-Driven Meshes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From a Spec Sheet to a 3D Mesh</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Real published specs → double-checked → built into an exact 3D model, part by part</a:t>
            </a:r>
          </a:p>
        </p:txBody>
      </p:sp>
      <p:pic>
        <p:nvPicPr>
          <p:cNvPr id="20" name="build_card"/>
          <p:cNvPicPr>
            <a:picLocks noChangeAspect="1"/>
          </p:cNvPicPr>
          <p:nvPr/>
        </p:nvPicPr>
        <p:blipFill>
          <a:blip r:embed="rId3"/>
          <a:stretch>
            <a:fillRect/>
          </a:stretch>
        </p:blipFill>
        <p:spPr>
          <a:xfrm>
            <a:off x="11566924" y="3621952"/>
            <a:ext cx="12355964" cy="7793761"/>
          </a:xfrm>
          <a:prstGeom prst="rect">
            <a:avLst/>
          </a:prstGeom>
        </p:spPr>
      </p:pic>
      <p:pic>
        <p:nvPicPr>
          <p:cNvPr id="3" name="그림 2">
            <a:extLst>
              <a:ext uri="{FF2B5EF4-FFF2-40B4-BE49-F238E27FC236}">
                <a16:creationId xmlns:a16="http://schemas.microsoft.com/office/drawing/2014/main" id="{B1E7B2DA-7EE1-034C-51F6-ECD7206C1B33}"/>
              </a:ext>
            </a:extLst>
          </p:cNvPr>
          <p:cNvPicPr>
            <a:picLocks noChangeAspect="1"/>
          </p:cNvPicPr>
          <p:nvPr/>
        </p:nvPicPr>
        <p:blipFill>
          <a:blip r:embed="rId4"/>
          <a:stretch>
            <a:fillRect/>
          </a:stretch>
        </p:blipFill>
        <p:spPr>
          <a:xfrm>
            <a:off x="1024000" y="2740000"/>
            <a:ext cx="9986962" cy="9794013"/>
          </a:xfrm>
          <a:prstGeom prst="rect">
            <a:avLst/>
          </a:prstGeom>
        </p:spPr>
      </p:pic>
      <p:sp>
        <p:nvSpPr>
          <p:cNvPr id="4" name="슬라이드 번호 개체 틀 3">
            <a:extLst>
              <a:ext uri="{FF2B5EF4-FFF2-40B4-BE49-F238E27FC236}">
                <a16:creationId xmlns:a16="http://schemas.microsoft.com/office/drawing/2014/main" id="{89C8FDE4-4A56-1279-9E11-D50D8F0632F8}"/>
              </a:ext>
            </a:extLst>
          </p:cNvPr>
          <p:cNvSpPr>
            <a:spLocks noGrp="1"/>
          </p:cNvSpPr>
          <p:nvPr>
            <p:ph type="sldNum" sz="quarter" idx="2"/>
          </p:nvPr>
        </p:nvSpPr>
        <p:spPr/>
        <p:txBody>
          <a:bodyPr/>
          <a:lstStyle/>
          <a:p>
            <a:fld id="{86CB4B4D-7CA3-9044-876B-883B54F8677D}" type="slidenum">
              <a:rPr lang="en-US" altLang="ko-KR" smtClean="0"/>
              <a:t>7</a:t>
            </a:fld>
            <a:r>
              <a:rPr lang="en-US" altLang="ko-KR"/>
              <a:t>/23</a:t>
            </a:r>
            <a:endParaRPr lang="ko-KR"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20" name="turntable"/>
          <p:cNvPicPr>
            <a:picLocks noChangeAspect="1"/>
          </p:cNvPicPr>
          <p:nvPr/>
        </p:nvPicPr>
        <p:blipFill>
          <a:blip r:embed="rId3"/>
          <a:srcRect l="14677" r="11891"/>
          <a:stretch>
            <a:fillRect/>
          </a:stretch>
        </p:blipFill>
        <p:spPr>
          <a:xfrm>
            <a:off x="2079504" y="3500000"/>
            <a:ext cx="20304991" cy="6267676"/>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Meshes rotating (shape comparison) — 4-rotor quads vs the 8-rotor S1000+; each part is its own RF material</a:t>
            </a:r>
          </a:p>
        </p:txBody>
      </p:sp>
      <p:sp>
        <p:nvSpPr>
          <p:cNvPr id="3" name="슬라이드 번호 개체 틀 2">
            <a:extLst>
              <a:ext uri="{FF2B5EF4-FFF2-40B4-BE49-F238E27FC236}">
                <a16:creationId xmlns:a16="http://schemas.microsoft.com/office/drawing/2014/main" id="{F427BCB5-B590-C175-2AEA-3ACFCAD50783}"/>
              </a:ext>
            </a:extLst>
          </p:cNvPr>
          <p:cNvSpPr>
            <a:spLocks noGrp="1"/>
          </p:cNvSpPr>
          <p:nvPr>
            <p:ph type="sldNum" sz="quarter" idx="2"/>
          </p:nvPr>
        </p:nvSpPr>
        <p:spPr/>
        <p:txBody>
          <a:bodyPr/>
          <a:lstStyle/>
          <a:p>
            <a:fld id="{86CB4B4D-7CA3-9044-876B-883B54F8677D}" type="slidenum">
              <a:rPr lang="en-US" altLang="ko-KR" smtClean="0"/>
              <a:t>8</a:t>
            </a:fld>
            <a:r>
              <a:rPr lang="en-US" altLang="ko-KR"/>
              <a:t>/23</a:t>
            </a:r>
            <a:endParaRPr lang="ko-KR"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C4A21-6FFB-0E0C-C794-084CEB8A01C9}"/>
            </a:ext>
          </a:extLst>
        </p:cNvPr>
        <p:cNvGrpSpPr/>
        <p:nvPr/>
      </p:nvGrpSpPr>
      <p:grpSpPr>
        <a:xfrm>
          <a:off x="0" y="0"/>
          <a:ext cx="0" cy="0"/>
          <a:chOff x="0" y="0"/>
          <a:chExt cx="0" cy="0"/>
        </a:xfrm>
      </p:grpSpPr>
      <p:sp>
        <p:nvSpPr>
          <p:cNvPr id="11" name="Tag">
            <a:extLst>
              <a:ext uri="{FF2B5EF4-FFF2-40B4-BE49-F238E27FC236}">
                <a16:creationId xmlns:a16="http://schemas.microsoft.com/office/drawing/2014/main" id="{A81D60AF-3409-42AC-33DB-83171C4C956B}"/>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a:extLst>
              <a:ext uri="{FF2B5EF4-FFF2-40B4-BE49-F238E27FC236}">
                <a16:creationId xmlns:a16="http://schemas.microsoft.com/office/drawing/2014/main" id="{17162CFD-6A59-4360-EE81-72E194C1D721}"/>
              </a:ext>
            </a:extLst>
          </p:cNvPr>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3" name="그림 2">
            <a:extLst>
              <a:ext uri="{FF2B5EF4-FFF2-40B4-BE49-F238E27FC236}">
                <a16:creationId xmlns:a16="http://schemas.microsoft.com/office/drawing/2014/main" id="{31A76158-953A-2AA4-E2D0-1B8E0E64BF09}"/>
              </a:ext>
            </a:extLst>
          </p:cNvPr>
          <p:cNvPicPr>
            <a:picLocks noChangeAspect="1"/>
          </p:cNvPicPr>
          <p:nvPr/>
        </p:nvPicPr>
        <p:blipFill>
          <a:blip r:embed="rId3"/>
          <a:stretch>
            <a:fillRect/>
          </a:stretch>
        </p:blipFill>
        <p:spPr>
          <a:xfrm>
            <a:off x="3890401" y="1980000"/>
            <a:ext cx="16599199" cy="10073694"/>
          </a:xfrm>
          <a:prstGeom prst="rect">
            <a:avLst/>
          </a:prstGeom>
        </p:spPr>
      </p:pic>
      <p:sp>
        <p:nvSpPr>
          <p:cNvPr id="4" name="슬라이드 번호 개체 틀 3">
            <a:extLst>
              <a:ext uri="{FF2B5EF4-FFF2-40B4-BE49-F238E27FC236}">
                <a16:creationId xmlns:a16="http://schemas.microsoft.com/office/drawing/2014/main" id="{C45839B7-DD88-3BBD-97A3-E51BFE7E4BF6}"/>
              </a:ext>
            </a:extLst>
          </p:cNvPr>
          <p:cNvSpPr>
            <a:spLocks noGrp="1"/>
          </p:cNvSpPr>
          <p:nvPr>
            <p:ph type="sldNum" sz="quarter" idx="2"/>
          </p:nvPr>
        </p:nvSpPr>
        <p:spPr/>
        <p:txBody>
          <a:bodyPr/>
          <a:lstStyle/>
          <a:p>
            <a:fld id="{86CB4B4D-7CA3-9044-876B-883B54F8677D}" type="slidenum">
              <a:rPr lang="en-US" altLang="ko-KR" smtClean="0"/>
              <a:t>9</a:t>
            </a:fld>
            <a:r>
              <a:rPr lang="en-US" altLang="ko-KR"/>
              <a:t>/23</a:t>
            </a:r>
            <a:endParaRPr lang="ko-KR" altLang="en-US" dirty="0"/>
          </a:p>
        </p:txBody>
      </p:sp>
    </p:spTree>
    <p:extLst>
      <p:ext uri="{BB962C8B-B14F-4D97-AF65-F5344CB8AC3E}">
        <p14:creationId xmlns:p14="http://schemas.microsoft.com/office/powerpoint/2010/main" val="3086319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92DD3-0297-1320-BE63-3A308AE34431}"/>
            </a:ext>
          </a:extLst>
        </p:cNvPr>
        <p:cNvGrpSpPr/>
        <p:nvPr/>
      </p:nvGrpSpPr>
      <p:grpSpPr>
        <a:xfrm>
          <a:off x="0" y="0"/>
          <a:ext cx="0" cy="0"/>
          <a:chOff x="0" y="0"/>
          <a:chExt cx="0" cy="0"/>
        </a:xfrm>
      </p:grpSpPr>
      <p:sp>
        <p:nvSpPr>
          <p:cNvPr id="11" name="Tag">
            <a:extLst>
              <a:ext uri="{FF2B5EF4-FFF2-40B4-BE49-F238E27FC236}">
                <a16:creationId xmlns:a16="http://schemas.microsoft.com/office/drawing/2014/main" id="{DBBE20D7-65C6-E9F5-BD3C-3E79489D0860}"/>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a:extLst>
              <a:ext uri="{FF2B5EF4-FFF2-40B4-BE49-F238E27FC236}">
                <a16:creationId xmlns:a16="http://schemas.microsoft.com/office/drawing/2014/main" id="{A34C369D-8F9D-B5CD-5CD8-FB8EC2C9DA19}"/>
              </a:ext>
            </a:extLst>
          </p:cNvPr>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4" name="그림 3">
            <a:extLst>
              <a:ext uri="{FF2B5EF4-FFF2-40B4-BE49-F238E27FC236}">
                <a16:creationId xmlns:a16="http://schemas.microsoft.com/office/drawing/2014/main" id="{70B24D19-B346-7DAD-4E41-01CD62121F2C}"/>
              </a:ext>
            </a:extLst>
          </p:cNvPr>
          <p:cNvPicPr>
            <a:picLocks noChangeAspect="1"/>
          </p:cNvPicPr>
          <p:nvPr/>
        </p:nvPicPr>
        <p:blipFill>
          <a:blip r:embed="rId3"/>
          <a:stretch>
            <a:fillRect/>
          </a:stretch>
        </p:blipFill>
        <p:spPr>
          <a:xfrm>
            <a:off x="3254964" y="2404521"/>
            <a:ext cx="17664523" cy="9892133"/>
          </a:xfrm>
          <a:prstGeom prst="rect">
            <a:avLst/>
          </a:prstGeom>
        </p:spPr>
      </p:pic>
      <p:sp>
        <p:nvSpPr>
          <p:cNvPr id="3" name="슬라이드 번호 개체 틀 2">
            <a:extLst>
              <a:ext uri="{FF2B5EF4-FFF2-40B4-BE49-F238E27FC236}">
                <a16:creationId xmlns:a16="http://schemas.microsoft.com/office/drawing/2014/main" id="{DA32AFEF-DF1C-F780-362D-B3B0255CE957}"/>
              </a:ext>
            </a:extLst>
          </p:cNvPr>
          <p:cNvSpPr>
            <a:spLocks noGrp="1"/>
          </p:cNvSpPr>
          <p:nvPr>
            <p:ph type="sldNum" sz="quarter" idx="2"/>
          </p:nvPr>
        </p:nvSpPr>
        <p:spPr/>
        <p:txBody>
          <a:bodyPr/>
          <a:lstStyle/>
          <a:p>
            <a:fld id="{86CB4B4D-7CA3-9044-876B-883B54F8677D}" type="slidenum">
              <a:rPr lang="en-US" altLang="ko-KR" smtClean="0"/>
              <a:t>10</a:t>
            </a:fld>
            <a:r>
              <a:rPr lang="en-US" altLang="ko-KR"/>
              <a:t>/23</a:t>
            </a:r>
            <a:endParaRPr lang="ko-KR" altLang="en-US" dirty="0"/>
          </a:p>
        </p:txBody>
      </p:sp>
    </p:spTree>
    <p:extLst>
      <p:ext uri="{BB962C8B-B14F-4D97-AF65-F5344CB8AC3E}">
        <p14:creationId xmlns:p14="http://schemas.microsoft.com/office/powerpoint/2010/main" val="3702322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2 · Radar</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Monostatic Radar in the Chamber</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One antenna both sends and listens — the drone sits in the far, quiet end of the room</a:t>
            </a:r>
          </a:p>
        </p:txBody>
      </p:sp>
      <p:pic>
        <p:nvPicPr>
          <p:cNvPr id="20" name="radar_setup"/>
          <p:cNvPicPr>
            <a:picLocks noChangeAspect="1"/>
          </p:cNvPicPr>
          <p:nvPr/>
        </p:nvPicPr>
        <p:blipFill>
          <a:blip r:embed="rId3"/>
          <a:srcRect b="13418"/>
          <a:stretch>
            <a:fillRect/>
          </a:stretch>
        </p:blipFill>
        <p:spPr>
          <a:xfrm>
            <a:off x="3665609" y="3230776"/>
            <a:ext cx="17052782" cy="6536900"/>
          </a:xfrm>
          <a:prstGeom prst="rect">
            <a:avLst/>
          </a:prstGeom>
        </p:spPr>
      </p:pic>
      <p:sp>
        <p:nvSpPr>
          <p:cNvPr id="3" name="슬라이드 번호 개체 틀 2">
            <a:extLst>
              <a:ext uri="{FF2B5EF4-FFF2-40B4-BE49-F238E27FC236}">
                <a16:creationId xmlns:a16="http://schemas.microsoft.com/office/drawing/2014/main" id="{5B6BACE3-F0FB-412A-78BA-17D855ADCB0F}"/>
              </a:ext>
            </a:extLst>
          </p:cNvPr>
          <p:cNvSpPr>
            <a:spLocks noGrp="1"/>
          </p:cNvSpPr>
          <p:nvPr>
            <p:ph type="sldNum" sz="quarter" idx="2"/>
          </p:nvPr>
        </p:nvSpPr>
        <p:spPr/>
        <p:txBody>
          <a:bodyPr/>
          <a:lstStyle/>
          <a:p>
            <a:fld id="{86CB4B4D-7CA3-9044-876B-883B54F8677D}" type="slidenum">
              <a:rPr lang="en-US" altLang="ko-KR" smtClean="0"/>
              <a:t>11</a:t>
            </a:fld>
            <a:r>
              <a:rPr lang="en-US" altLang="ko-KR"/>
              <a:t>/23</a:t>
            </a:r>
            <a:endParaRPr lang="ko-KR"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2 · RCS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Drone RCS, by Physical Optics</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How strong an echo — and from which angles it spikes (“glint”)</a:t>
            </a:r>
          </a:p>
        </p:txBody>
      </p:sp>
      <p:sp>
        <p:nvSpPr>
          <p:cNvPr id="3" name="슬라이드 번호 개체 틀 2">
            <a:extLst>
              <a:ext uri="{FF2B5EF4-FFF2-40B4-BE49-F238E27FC236}">
                <a16:creationId xmlns:a16="http://schemas.microsoft.com/office/drawing/2014/main" id="{E1D23D1A-BBF7-82CD-4781-644BB6ACB95C}"/>
              </a:ext>
            </a:extLst>
          </p:cNvPr>
          <p:cNvSpPr>
            <a:spLocks noGrp="1"/>
          </p:cNvSpPr>
          <p:nvPr>
            <p:ph type="sldNum" sz="quarter" idx="2"/>
          </p:nvPr>
        </p:nvSpPr>
        <p:spPr/>
        <p:txBody>
          <a:bodyPr/>
          <a:lstStyle/>
          <a:p>
            <a:fld id="{86CB4B4D-7CA3-9044-876B-883B54F8677D}" type="slidenum">
              <a:rPr lang="en-US" altLang="ko-KR" smtClean="0"/>
              <a:t>12</a:t>
            </a:fld>
            <a:r>
              <a:rPr lang="en-US" altLang="ko-KR"/>
              <a:t>/23</a:t>
            </a:r>
            <a:endParaRPr lang="ko-KR" altLang="en-US" dirty="0"/>
          </a:p>
        </p:txBody>
      </p:sp>
      <p:pic>
        <p:nvPicPr>
          <p:cNvPr id="2" name="그림 1">
            <a:extLst>
              <a:ext uri="{FF2B5EF4-FFF2-40B4-BE49-F238E27FC236}">
                <a16:creationId xmlns:a16="http://schemas.microsoft.com/office/drawing/2014/main" id="{3745DF2F-EA0B-ACBE-F15C-7BAF0EC1C26A}"/>
              </a:ext>
            </a:extLst>
          </p:cNvPr>
          <p:cNvPicPr>
            <a:picLocks noChangeAspect="1"/>
          </p:cNvPicPr>
          <p:nvPr/>
        </p:nvPicPr>
        <p:blipFill>
          <a:blip r:embed="rId3"/>
          <a:srcRect l="12557" r="4434"/>
          <a:stretch>
            <a:fillRect/>
          </a:stretch>
        </p:blipFill>
        <p:spPr>
          <a:xfrm>
            <a:off x="13239750" y="4259886"/>
            <a:ext cx="11144250" cy="5196227"/>
          </a:xfrm>
          <a:prstGeom prst="rect">
            <a:avLst/>
          </a:prstGeom>
        </p:spPr>
      </p:pic>
      <p:pic>
        <p:nvPicPr>
          <p:cNvPr id="4" name="그림 3">
            <a:extLst>
              <a:ext uri="{FF2B5EF4-FFF2-40B4-BE49-F238E27FC236}">
                <a16:creationId xmlns:a16="http://schemas.microsoft.com/office/drawing/2014/main" id="{3E58540B-8BFF-7CB0-A69B-F547FFE0741D}"/>
              </a:ext>
            </a:extLst>
          </p:cNvPr>
          <p:cNvPicPr>
            <a:picLocks noChangeAspect="1"/>
          </p:cNvPicPr>
          <p:nvPr/>
        </p:nvPicPr>
        <p:blipFill>
          <a:blip r:embed="rId4"/>
          <a:stretch>
            <a:fillRect/>
          </a:stretch>
        </p:blipFill>
        <p:spPr>
          <a:xfrm>
            <a:off x="8948" y="4083887"/>
            <a:ext cx="12435676" cy="55482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2 · Waveforms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Lighting It Up — Wi-Fi vs LTE vs 5G</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Range resolution follows the reference signal's bandwidth — not the channel's (LTE CRS 18 MHz vs 5G SSB 7 MHz)</a:t>
            </a:r>
          </a:p>
        </p:txBody>
      </p:sp>
      <p:sp>
        <p:nvSpPr>
          <p:cNvPr id="3" name="슬라이드 번호 개체 틀 2">
            <a:extLst>
              <a:ext uri="{FF2B5EF4-FFF2-40B4-BE49-F238E27FC236}">
                <a16:creationId xmlns:a16="http://schemas.microsoft.com/office/drawing/2014/main" id="{90ECAB32-0169-A7B4-3631-10B68423CB7C}"/>
              </a:ext>
            </a:extLst>
          </p:cNvPr>
          <p:cNvSpPr>
            <a:spLocks noGrp="1"/>
          </p:cNvSpPr>
          <p:nvPr>
            <p:ph type="sldNum" sz="quarter" idx="2"/>
          </p:nvPr>
        </p:nvSpPr>
        <p:spPr/>
        <p:txBody>
          <a:bodyPr/>
          <a:lstStyle/>
          <a:p>
            <a:fld id="{86CB4B4D-7CA3-9044-876B-883B54F8677D}" type="slidenum">
              <a:rPr lang="en-US" altLang="ko-KR" smtClean="0"/>
              <a:t>13</a:t>
            </a:fld>
            <a:r>
              <a:rPr lang="en-US" altLang="ko-KR"/>
              <a:t>/23</a:t>
            </a:r>
            <a:endParaRPr lang="ko-KR" altLang="en-US" dirty="0"/>
          </a:p>
        </p:txBody>
      </p:sp>
      <p:pic>
        <p:nvPicPr>
          <p:cNvPr id="2" name="그림 1">
            <a:extLst>
              <a:ext uri="{FF2B5EF4-FFF2-40B4-BE49-F238E27FC236}">
                <a16:creationId xmlns:a16="http://schemas.microsoft.com/office/drawing/2014/main" id="{D7EA450C-283E-6579-8AAD-BE43BD8DBD78}"/>
              </a:ext>
            </a:extLst>
          </p:cNvPr>
          <p:cNvPicPr>
            <a:picLocks noChangeAspect="1"/>
          </p:cNvPicPr>
          <p:nvPr/>
        </p:nvPicPr>
        <p:blipFill>
          <a:blip r:embed="rId3"/>
          <a:stretch>
            <a:fillRect/>
          </a:stretch>
        </p:blipFill>
        <p:spPr>
          <a:xfrm>
            <a:off x="2387772" y="2835619"/>
            <a:ext cx="19730519" cy="95881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2 · Reality Check</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Cells Aren’t Always Full — G1 / G2 / G3</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G1→G2 sharpens only because a positioning session turns PRS on (7 → 98 MHz) — filling the cell with user data (G3) changes nothing</a:t>
            </a:r>
          </a:p>
        </p:txBody>
      </p:sp>
      <p:sp>
        <p:nvSpPr>
          <p:cNvPr id="3" name="슬라이드 번호 개체 틀 2">
            <a:extLst>
              <a:ext uri="{FF2B5EF4-FFF2-40B4-BE49-F238E27FC236}">
                <a16:creationId xmlns:a16="http://schemas.microsoft.com/office/drawing/2014/main" id="{61176FD1-60DC-9470-F2BB-602582A4D17B}"/>
              </a:ext>
            </a:extLst>
          </p:cNvPr>
          <p:cNvSpPr>
            <a:spLocks noGrp="1"/>
          </p:cNvSpPr>
          <p:nvPr>
            <p:ph type="sldNum" sz="quarter" idx="2"/>
          </p:nvPr>
        </p:nvSpPr>
        <p:spPr/>
        <p:txBody>
          <a:bodyPr/>
          <a:lstStyle/>
          <a:p>
            <a:fld id="{86CB4B4D-7CA3-9044-876B-883B54F8677D}" type="slidenum">
              <a:rPr lang="en-US" altLang="ko-KR" smtClean="0"/>
              <a:t>14</a:t>
            </a:fld>
            <a:r>
              <a:rPr lang="en-US" altLang="ko-KR"/>
              <a:t>/23</a:t>
            </a:r>
            <a:endParaRPr lang="ko-KR" altLang="en-US" dirty="0"/>
          </a:p>
        </p:txBody>
      </p:sp>
      <p:pic>
        <p:nvPicPr>
          <p:cNvPr id="4" name="그림 3">
            <a:extLst>
              <a:ext uri="{FF2B5EF4-FFF2-40B4-BE49-F238E27FC236}">
                <a16:creationId xmlns:a16="http://schemas.microsoft.com/office/drawing/2014/main" id="{EEFE8BC0-45C7-005F-9AC5-0C270792C243}"/>
              </a:ext>
            </a:extLst>
          </p:cNvPr>
          <p:cNvPicPr>
            <a:picLocks noChangeAspect="1"/>
          </p:cNvPicPr>
          <p:nvPr/>
        </p:nvPicPr>
        <p:blipFill>
          <a:blip r:embed="rId3"/>
          <a:stretch>
            <a:fillRect/>
          </a:stretch>
        </p:blipFill>
        <p:spPr>
          <a:xfrm>
            <a:off x="1678883" y="3608782"/>
            <a:ext cx="21022235" cy="840889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3 · Articulation</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An Articulated Drone — Body ⟂ Props</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Body tilt and rotor spin move on their own — here, both at once</a:t>
            </a:r>
          </a:p>
        </p:txBody>
      </p:sp>
      <p:pic>
        <p:nvPicPr>
          <p:cNvPr id="20" name="articulation_gif"/>
          <p:cNvPicPr>
            <a:picLocks noChangeAspect="1"/>
          </p:cNvPicPr>
          <p:nvPr/>
        </p:nvPicPr>
        <p:blipFill>
          <a:blip r:embed="rId3"/>
          <a:stretch>
            <a:fillRect/>
          </a:stretch>
        </p:blipFill>
        <p:spPr>
          <a:xfrm>
            <a:off x="7797137" y="2964274"/>
            <a:ext cx="8869725" cy="8869725"/>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Mavic 4 Pro: the body wobbles (roll/pitch/yaw) while the props keep spinning — two independent degrees of freedom</a:t>
            </a:r>
          </a:p>
        </p:txBody>
      </p:sp>
      <p:sp>
        <p:nvSpPr>
          <p:cNvPr id="3" name="슬라이드 번호 개체 틀 2">
            <a:extLst>
              <a:ext uri="{FF2B5EF4-FFF2-40B4-BE49-F238E27FC236}">
                <a16:creationId xmlns:a16="http://schemas.microsoft.com/office/drawing/2014/main" id="{655C329E-8B86-F877-AC64-312D58303332}"/>
              </a:ext>
            </a:extLst>
          </p:cNvPr>
          <p:cNvSpPr>
            <a:spLocks noGrp="1"/>
          </p:cNvSpPr>
          <p:nvPr>
            <p:ph type="sldNum" sz="quarter" idx="2"/>
          </p:nvPr>
        </p:nvSpPr>
        <p:spPr/>
        <p:txBody>
          <a:bodyPr/>
          <a:lstStyle/>
          <a:p>
            <a:fld id="{86CB4B4D-7CA3-9044-876B-883B54F8677D}" type="slidenum">
              <a:rPr lang="en-US" altLang="ko-KR" smtClean="0"/>
              <a:t>15</a:t>
            </a:fld>
            <a:r>
              <a:rPr lang="en-US" altLang="ko-KR"/>
              <a:t>/23</a:t>
            </a:r>
            <a:endParaRPr lang="ko-KR"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3 · Micro-Doppler</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Spinning-Blade Signature</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Even while hovering, the spinning blades ripple the echo — a fingerprint we can read</a:t>
            </a:r>
          </a:p>
        </p:txBody>
      </p:sp>
      <p:sp>
        <p:nvSpPr>
          <p:cNvPr id="3" name="슬라이드 번호 개체 틀 2">
            <a:extLst>
              <a:ext uri="{FF2B5EF4-FFF2-40B4-BE49-F238E27FC236}">
                <a16:creationId xmlns:a16="http://schemas.microsoft.com/office/drawing/2014/main" id="{2A7DAF3A-D8F2-CF9F-CC71-65E86C69CF7B}"/>
              </a:ext>
            </a:extLst>
          </p:cNvPr>
          <p:cNvSpPr>
            <a:spLocks noGrp="1"/>
          </p:cNvSpPr>
          <p:nvPr>
            <p:ph type="sldNum" sz="quarter" idx="2"/>
          </p:nvPr>
        </p:nvSpPr>
        <p:spPr/>
        <p:txBody>
          <a:bodyPr/>
          <a:lstStyle/>
          <a:p>
            <a:fld id="{86CB4B4D-7CA3-9044-876B-883B54F8677D}" type="slidenum">
              <a:rPr lang="en-US" altLang="ko-KR" smtClean="0"/>
              <a:t>16</a:t>
            </a:fld>
            <a:r>
              <a:rPr lang="en-US" altLang="ko-KR"/>
              <a:t>/23</a:t>
            </a:r>
            <a:endParaRPr lang="ko-KR" altLang="en-US" dirty="0"/>
          </a:p>
        </p:txBody>
      </p:sp>
      <p:pic>
        <p:nvPicPr>
          <p:cNvPr id="2" name="그림 1">
            <a:extLst>
              <a:ext uri="{FF2B5EF4-FFF2-40B4-BE49-F238E27FC236}">
                <a16:creationId xmlns:a16="http://schemas.microsoft.com/office/drawing/2014/main" id="{AEB9B4B3-7A83-1380-E3AF-A0447FD22280}"/>
              </a:ext>
            </a:extLst>
          </p:cNvPr>
          <p:cNvPicPr>
            <a:picLocks noChangeAspect="1"/>
          </p:cNvPicPr>
          <p:nvPr/>
        </p:nvPicPr>
        <p:blipFill>
          <a:blip r:embed="rId3"/>
          <a:stretch>
            <a:fillRect/>
          </a:stretch>
        </p:blipFill>
        <p:spPr>
          <a:xfrm>
            <a:off x="1873124" y="3495018"/>
            <a:ext cx="19400964" cy="837399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Sionna Progress · Where This Sits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Done in Three Stages — Next: Real Passive Radar</a:t>
            </a:r>
            <a:endParaRPr lang="en-US" altLang="ko-KR" sz="5200" b="1" i="0" dirty="0">
              <a:solidFill>
                <a:srgbClr val="000000"/>
              </a:solidFill>
              <a:latin typeface="AvenirNext-DemiBold"/>
              <a:ea typeface="AvenirNext-DemiBold"/>
              <a:cs typeface="AvenirNext-DemiBold"/>
            </a:endParaRP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From monostatic RCS toward a full bistatic detection chain</a:t>
            </a:r>
          </a:p>
        </p:txBody>
      </p:sp>
      <p:sp>
        <p:nvSpPr>
          <p:cNvPr id="41" name="L"/>
          <p:cNvSpPr txBox="1"/>
          <p:nvPr/>
        </p:nvSpPr>
        <p:spPr>
          <a:xfrm>
            <a:off x="720000" y="31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Done ✓</a:t>
            </a:r>
          </a:p>
        </p:txBody>
      </p:sp>
      <p:sp>
        <p:nvSpPr>
          <p:cNvPr id="42" name="B"/>
          <p:cNvSpPr txBox="1"/>
          <p:nvPr/>
        </p:nvSpPr>
        <p:spPr>
          <a:xfrm>
            <a:off x="5900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Environment</a:t>
            </a:r>
          </a:p>
        </p:txBody>
      </p:sp>
      <p:sp>
        <p:nvSpPr>
          <p:cNvPr id="43" name="A"/>
          <p:cNvSpPr txBox="1"/>
          <p:nvPr/>
        </p:nvSpPr>
        <p:spPr>
          <a:xfrm>
            <a:off x="11300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4" name="B"/>
          <p:cNvSpPr txBox="1"/>
          <p:nvPr/>
        </p:nvSpPr>
        <p:spPr>
          <a:xfrm>
            <a:off x="12082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RCS + waveforms</a:t>
            </a:r>
          </a:p>
        </p:txBody>
      </p:sp>
      <p:sp>
        <p:nvSpPr>
          <p:cNvPr id="45" name="A"/>
          <p:cNvSpPr txBox="1"/>
          <p:nvPr/>
        </p:nvSpPr>
        <p:spPr>
          <a:xfrm>
            <a:off x="17482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6" name="B"/>
          <p:cNvSpPr txBox="1"/>
          <p:nvPr/>
        </p:nvSpPr>
        <p:spPr>
          <a:xfrm>
            <a:off x="18264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Micro-Doppler</a:t>
            </a:r>
          </a:p>
        </p:txBody>
      </p:sp>
      <p:sp>
        <p:nvSpPr>
          <p:cNvPr id="47" name="L"/>
          <p:cNvSpPr txBox="1"/>
          <p:nvPr/>
        </p:nvSpPr>
        <p:spPr>
          <a:xfrm>
            <a:off x="720000" y="550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Next</a:t>
            </a:r>
          </a:p>
        </p:txBody>
      </p:sp>
      <p:sp>
        <p:nvSpPr>
          <p:cNvPr id="48" name="B"/>
          <p:cNvSpPr txBox="1"/>
          <p:nvPr/>
        </p:nvSpPr>
        <p:spPr>
          <a:xfrm>
            <a:off x="5900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Bistatic (Tx ≠ Rx)</a:t>
            </a:r>
          </a:p>
        </p:txBody>
      </p:sp>
      <p:sp>
        <p:nvSpPr>
          <p:cNvPr id="49" name="A"/>
          <p:cNvSpPr txBox="1"/>
          <p:nvPr/>
        </p:nvSpPr>
        <p:spPr>
          <a:xfrm>
            <a:off x="11300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0" name="B"/>
          <p:cNvSpPr txBox="1"/>
          <p:nvPr/>
        </p:nvSpPr>
        <p:spPr>
          <a:xfrm>
            <a:off x="12082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Clutter ECA + CFAR</a:t>
            </a:r>
          </a:p>
        </p:txBody>
      </p:sp>
      <p:sp>
        <p:nvSpPr>
          <p:cNvPr id="51" name="A"/>
          <p:cNvSpPr txBox="1"/>
          <p:nvPr/>
        </p:nvSpPr>
        <p:spPr>
          <a:xfrm>
            <a:off x="17482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2" name="B"/>
          <p:cNvSpPr txBox="1"/>
          <p:nvPr/>
        </p:nvSpPr>
        <p:spPr>
          <a:xfrm>
            <a:off x="18264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Detection / tracking</a:t>
            </a:r>
          </a:p>
          <a:p>
            <a:pPr algn="ctr">
              <a:spcBef>
                <a:spcPts val="200"/>
              </a:spcBef>
            </a:pPr>
            <a:r>
              <a:rPr lang="en-US" altLang="ko-KR" sz="1700" b="0" i="1" dirty="0">
                <a:solidFill>
                  <a:srgbClr val="595959"/>
                </a:solidFill>
                <a:latin typeface="Avenir Next Medium"/>
                <a:ea typeface="Avenir Next Medium"/>
                <a:cs typeface="Avenir Next Medium"/>
              </a:rPr>
              <a:t>CFAR → MTT</a:t>
            </a:r>
          </a:p>
        </p:txBody>
      </p:sp>
      <p:sp>
        <p:nvSpPr>
          <p:cNvPr id="53" name="L"/>
          <p:cNvSpPr txBox="1"/>
          <p:nvPr/>
        </p:nvSpPr>
        <p:spPr>
          <a:xfrm>
            <a:off x="720000" y="78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Then</a:t>
            </a:r>
          </a:p>
        </p:txBody>
      </p:sp>
      <p:sp>
        <p:nvSpPr>
          <p:cNvPr id="54" name="B"/>
          <p:cNvSpPr txBox="1"/>
          <p:nvPr/>
        </p:nvSpPr>
        <p:spPr>
          <a:xfrm>
            <a:off x="5900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Export to PX4 / Gazebo</a:t>
            </a:r>
          </a:p>
        </p:txBody>
      </p:sp>
      <p:sp>
        <p:nvSpPr>
          <p:cNvPr id="55" name="A"/>
          <p:cNvSpPr txBox="1"/>
          <p:nvPr/>
        </p:nvSpPr>
        <p:spPr>
          <a:xfrm>
            <a:off x="11300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6" name="B"/>
          <p:cNvSpPr txBox="1"/>
          <p:nvPr/>
        </p:nvSpPr>
        <p:spPr>
          <a:xfrm>
            <a:off x="12082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Drone vs bird ID</a:t>
            </a:r>
          </a:p>
          <a:p>
            <a:pPr algn="ctr">
              <a:spcBef>
                <a:spcPts val="200"/>
              </a:spcBef>
            </a:pPr>
            <a:r>
              <a:rPr lang="en-US" altLang="ko-KR" sz="1700" b="0" i="1" dirty="0">
                <a:solidFill>
                  <a:srgbClr val="595959"/>
                </a:solidFill>
                <a:latin typeface="Avenir Next Medium"/>
                <a:ea typeface="Avenir Next Medium"/>
                <a:cs typeface="Avenir Next Medium"/>
              </a:rPr>
              <a:t>blade signature</a:t>
            </a:r>
          </a:p>
        </p:txBody>
      </p:sp>
      <p:sp>
        <p:nvSpPr>
          <p:cNvPr id="57" name="A"/>
          <p:cNvSpPr txBox="1"/>
          <p:nvPr/>
        </p:nvSpPr>
        <p:spPr>
          <a:xfrm>
            <a:off x="17482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8" name="B"/>
          <p:cNvSpPr txBox="1"/>
          <p:nvPr/>
        </p:nvSpPr>
        <p:spPr>
          <a:xfrm>
            <a:off x="18264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Wi-Fi/LTE/5G compare</a:t>
            </a:r>
          </a:p>
        </p:txBody>
      </p:sp>
      <p:sp>
        <p:nvSpPr>
          <p:cNvPr id="15" name="Takeaway"/>
          <p:cNvSpPr txBox="1">
            <a:spLocks/>
          </p:cNvSpPr>
          <p:nvPr/>
        </p:nvSpPr>
        <p:spPr>
          <a:xfrm>
            <a:off x="720000" y="11250000"/>
            <a:ext cx="22944000" cy="850000"/>
          </a:xfrm>
          <a:prstGeom prst="rect">
            <a:avLst/>
          </a:prstGeom>
        </p:spPr>
        <p:txBody>
          <a:bodyPr lIns="50800" tIns="30000" rIns="50800" bIns="30000" anchor="t">
            <a:noAutofit/>
          </a:bodyPr>
          <a:lstStyle/>
          <a:p>
            <a:pPr marL="0" indent="0" algn="l">
              <a:buNone/>
            </a:pPr>
            <a:r>
              <a:rPr lang="en-US" altLang="ko-KR" sz="2800" b="1" i="0" dirty="0">
                <a:solidFill>
                  <a:srgbClr val="26448A"/>
                </a:solidFill>
                <a:latin typeface="Avenir Next Medium"/>
                <a:ea typeface="Avenir Next Medium"/>
                <a:cs typeface="Avenir Next Medium"/>
              </a:rPr>
              <a:t>→ scene, RCS &amp; signatures are ready — next is the bistatic detection chain</a:t>
            </a:r>
          </a:p>
        </p:txBody>
      </p:sp>
      <p:sp>
        <p:nvSpPr>
          <p:cNvPr id="3" name="슬라이드 번호 개체 틀 2">
            <a:extLst>
              <a:ext uri="{FF2B5EF4-FFF2-40B4-BE49-F238E27FC236}">
                <a16:creationId xmlns:a16="http://schemas.microsoft.com/office/drawing/2014/main" id="{C23651DD-A64B-E665-C30F-0A12BF879CC3}"/>
              </a:ext>
            </a:extLst>
          </p:cNvPr>
          <p:cNvSpPr>
            <a:spLocks noGrp="1"/>
          </p:cNvSpPr>
          <p:nvPr>
            <p:ph type="sldNum" sz="quarter" idx="2"/>
          </p:nvPr>
        </p:nvSpPr>
        <p:spPr/>
        <p:txBody>
          <a:bodyPr/>
          <a:lstStyle/>
          <a:p>
            <a:fld id="{86CB4B4D-7CA3-9044-876B-883B54F8677D}" type="slidenum">
              <a:rPr lang="en-US" altLang="ko-KR" smtClean="0"/>
              <a:t>17</a:t>
            </a:fld>
            <a:r>
              <a:rPr lang="en-US" altLang="ko-KR"/>
              <a:t>/23</a:t>
            </a:r>
            <a:endParaRPr lang="ko-KR"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ivKicker"/>
          <p:cNvSpPr txBox="1">
            <a:spLocks/>
          </p:cNvSpPr>
          <p:nvPr/>
        </p:nvSpPr>
        <p:spPr>
          <a:xfrm>
            <a:off x="0" y="4050000"/>
            <a:ext cx="24384000" cy="760000"/>
          </a:xfrm>
          <a:prstGeom prst="rect">
            <a:avLst/>
          </a:prstGeom>
        </p:spPr>
        <p:txBody>
          <a:bodyPr lIns="50800" tIns="30000" rIns="50800" bIns="30000" anchor="ctr">
            <a:noAutofit/>
          </a:bodyPr>
          <a:lstStyle/>
          <a:p>
            <a:pPr algn="ctr"/>
            <a:r>
              <a:rPr lang="en-US" altLang="ko-KR" sz="3600" b="1" i="0" dirty="0">
                <a:solidFill>
                  <a:srgbClr val="2E74B5"/>
                </a:solidFill>
                <a:latin typeface="Avenir Next Medium"/>
                <a:ea typeface="Avenir Next Medium"/>
                <a:cs typeface="Avenir Next Medium"/>
              </a:rPr>
              <a:t>PAPER Introduction</a:t>
            </a:r>
          </a:p>
        </p:txBody>
      </p:sp>
      <p:sp>
        <p:nvSpPr>
          <p:cNvPr id="12" name="DivTitle"/>
          <p:cNvSpPr txBox="1">
            <a:spLocks/>
          </p:cNvSpPr>
          <p:nvPr/>
        </p:nvSpPr>
        <p:spPr>
          <a:xfrm>
            <a:off x="0" y="4850000"/>
            <a:ext cx="24384000" cy="1550000"/>
          </a:xfrm>
          <a:prstGeom prst="rect">
            <a:avLst/>
          </a:prstGeom>
        </p:spPr>
        <p:txBody>
          <a:bodyPr lIns="50800" tIns="30000" rIns="50800" bIns="30000" anchor="ctr">
            <a:noAutofit/>
          </a:bodyPr>
          <a:lstStyle/>
          <a:p>
            <a:pPr algn="ctr"/>
            <a:r>
              <a:rPr lang="en-US" altLang="ko-KR" sz="6400" b="1" i="0" dirty="0">
                <a:solidFill>
                  <a:srgbClr val="000000"/>
                </a:solidFill>
                <a:latin typeface="AvenirNext-DemiBold"/>
                <a:ea typeface="AvenirNext-DemiBold"/>
                <a:cs typeface="AvenirNext-DemiBold"/>
              </a:rPr>
              <a:t>From Denoising to De-Channeling</a:t>
            </a:r>
          </a:p>
        </p:txBody>
      </p:sp>
      <p:sp>
        <p:nvSpPr>
          <p:cNvPr id="13" name="DivSub"/>
          <p:cNvSpPr txBox="1">
            <a:spLocks/>
          </p:cNvSpPr>
          <p:nvPr/>
        </p:nvSpPr>
        <p:spPr>
          <a:xfrm>
            <a:off x="0" y="6560000"/>
            <a:ext cx="24384000" cy="820000"/>
          </a:xfrm>
          <a:prstGeom prst="rect">
            <a:avLst/>
          </a:prstGeom>
        </p:spPr>
        <p:txBody>
          <a:bodyPr lIns="50800" tIns="30000" rIns="50800" bIns="30000" anchor="ctr">
            <a:noAutofit/>
          </a:bodyPr>
          <a:lstStyle/>
          <a:p>
            <a:pPr algn="ctr"/>
            <a:r>
              <a:rPr lang="en-US" altLang="ko-KR" sz="4000" b="0" i="1" dirty="0">
                <a:solidFill>
                  <a:srgbClr val="595959"/>
                </a:solidFill>
                <a:latin typeface="Avenir Next Medium"/>
                <a:ea typeface="Avenir Next Medium"/>
                <a:cs typeface="Avenir Next Medium"/>
              </a:rPr>
              <a:t>Integrating physical channel priors into diffusion models</a:t>
            </a:r>
          </a:p>
        </p:txBody>
      </p:sp>
      <p:sp>
        <p:nvSpPr>
          <p:cNvPr id="14" name="DivRoad"/>
          <p:cNvSpPr txBox="1">
            <a:spLocks/>
          </p:cNvSpPr>
          <p:nvPr/>
        </p:nvSpPr>
        <p:spPr>
          <a:xfrm>
            <a:off x="0" y="7820000"/>
            <a:ext cx="24384000" cy="820000"/>
          </a:xfrm>
          <a:prstGeom prst="rect">
            <a:avLst/>
          </a:prstGeom>
        </p:spPr>
        <p:txBody>
          <a:bodyPr lIns="50800" tIns="30000" rIns="50800" bIns="30000" anchor="ctr">
            <a:noAutofit/>
          </a:bodyPr>
          <a:lstStyle/>
          <a:p>
            <a:pPr algn="ctr"/>
            <a:r>
              <a:rPr lang="en-US" altLang="ko-KR" sz="3600" b="1" i="0" dirty="0">
                <a:solidFill>
                  <a:srgbClr val="26448A"/>
                </a:solidFill>
                <a:latin typeface="Avenir Next Medium"/>
                <a:ea typeface="Avenir Next Medium"/>
                <a:cs typeface="Avenir Next Medium"/>
              </a:rPr>
              <a:t>Background    →    Idea    →    Pipeline    →    Results</a:t>
            </a:r>
          </a:p>
        </p:txBody>
      </p:sp>
      <p:sp>
        <p:nvSpPr>
          <p:cNvPr id="15" name="DivMeta"/>
          <p:cNvSpPr txBox="1">
            <a:spLocks/>
          </p:cNvSpPr>
          <p:nvPr/>
        </p:nvSpPr>
        <p:spPr>
          <a:xfrm>
            <a:off x="0" y="8950000"/>
            <a:ext cx="24384000" cy="600000"/>
          </a:xfrm>
          <a:prstGeom prst="rect">
            <a:avLst/>
          </a:prstGeom>
        </p:spPr>
        <p:txBody>
          <a:bodyPr lIns="50800" tIns="30000" rIns="50800" bIns="30000" anchor="ctr">
            <a:noAutofit/>
          </a:bodyPr>
          <a:lstStyle/>
          <a:p>
            <a:pPr algn="ctr"/>
            <a:r>
              <a:rPr lang="en-US" altLang="ko-KR" sz="2600" b="0" i="1" dirty="0">
                <a:solidFill>
                  <a:srgbClr val="595959"/>
                </a:solidFill>
                <a:latin typeface="Avenir Next Medium"/>
                <a:ea typeface="Avenir Next Medium"/>
                <a:cs typeface="Avenir Next Medium"/>
              </a:rPr>
              <a:t>Liu et al., BUPT &amp; Pengcheng Lab  ·  github.com/BUPT-GAMMA/FoundWSR</a:t>
            </a:r>
          </a:p>
        </p:txBody>
      </p:sp>
      <p:sp>
        <p:nvSpPr>
          <p:cNvPr id="3" name="슬라이드 번호 개체 틀 2">
            <a:extLst>
              <a:ext uri="{FF2B5EF4-FFF2-40B4-BE49-F238E27FC236}">
                <a16:creationId xmlns:a16="http://schemas.microsoft.com/office/drawing/2014/main" id="{1F36BBDC-1731-C7DF-F756-4B038C3A1A4D}"/>
              </a:ext>
            </a:extLst>
          </p:cNvPr>
          <p:cNvSpPr>
            <a:spLocks noGrp="1"/>
          </p:cNvSpPr>
          <p:nvPr>
            <p:ph type="sldNum" sz="quarter" idx="2"/>
          </p:nvPr>
        </p:nvSpPr>
        <p:spPr/>
        <p:txBody>
          <a:bodyPr/>
          <a:lstStyle/>
          <a:p>
            <a:fld id="{86CB4B4D-7CA3-9044-876B-883B54F8677D}" type="slidenum">
              <a:rPr lang="en-US" altLang="ko-KR" smtClean="0"/>
              <a:t>18</a:t>
            </a:fld>
            <a:r>
              <a:rPr lang="en-US" altLang="ko-KR"/>
              <a:t>/23</a:t>
            </a:r>
            <a:endParaRPr lang="ko-KR" altLang="en-US" dirty="0"/>
          </a:p>
        </p:txBody>
      </p:sp>
      <p:sp>
        <p:nvSpPr>
          <p:cNvPr id="4" name="DivMeta">
            <a:extLst>
              <a:ext uri="{FF2B5EF4-FFF2-40B4-BE49-F238E27FC236}">
                <a16:creationId xmlns:a16="http://schemas.microsoft.com/office/drawing/2014/main" id="{7F05014A-523F-87FB-1A21-2D28BA0A67C4}"/>
              </a:ext>
            </a:extLst>
          </p:cNvPr>
          <p:cNvSpPr txBox="1">
            <a:spLocks/>
          </p:cNvSpPr>
          <p:nvPr/>
        </p:nvSpPr>
        <p:spPr>
          <a:xfrm>
            <a:off x="114301" y="10477676"/>
            <a:ext cx="24384000" cy="600000"/>
          </a:xfrm>
          <a:prstGeom prst="rect">
            <a:avLst/>
          </a:prstGeom>
        </p:spPr>
        <p:txBody>
          <a:bodyPr lIns="50800" tIns="30000" rIns="50800" bIns="30000" anchor="ctr">
            <a:noAutofit/>
          </a:bodyPr>
          <a:lstStyle/>
          <a:p>
            <a:pPr algn="ctr"/>
            <a:r>
              <a:rPr lang="en-US" altLang="ko-KR" sz="2600" b="1" i="1" dirty="0">
                <a:solidFill>
                  <a:srgbClr val="595959"/>
                </a:solidFill>
              </a:rPr>
              <a:t>ICML 2026 Spotlight Poster</a:t>
            </a:r>
            <a:endParaRPr lang="en-US" altLang="ko-KR" sz="2600" b="1" i="1" dirty="0">
              <a:solidFill>
                <a:srgbClr val="595959"/>
              </a:solidFill>
              <a:latin typeface="Avenir Next Medium"/>
              <a:ea typeface="Avenir Next Medium"/>
              <a:cs typeface="Avenir Next Medium"/>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Background</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Wireless Signal Recognition, Meet Diffusion</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AI labels a received radio signal — but the channel distorts it first</a:t>
            </a:r>
          </a:p>
        </p:txBody>
      </p:sp>
      <p:sp>
        <p:nvSpPr>
          <p:cNvPr id="14" name="CardHdr"/>
          <p:cNvSpPr txBox="1"/>
          <p:nvPr/>
        </p:nvSpPr>
        <p:spPr>
          <a:xfrm>
            <a:off x="820000" y="2980000"/>
            <a:ext cx="10900000" cy="1120000"/>
          </a:xfrm>
          <a:prstGeom prst="rect">
            <a:avLst/>
          </a:prstGeom>
          <a:solidFill>
            <a:srgbClr val="2E74B5"/>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What WSR does</a:t>
            </a:r>
          </a:p>
        </p:txBody>
      </p:sp>
      <p:sp>
        <p:nvSpPr>
          <p:cNvPr id="15" name="CardBody"/>
          <p:cNvSpPr txBox="1"/>
          <p:nvPr/>
        </p:nvSpPr>
        <p:spPr>
          <a:xfrm>
            <a:off x="820000" y="4100000"/>
            <a:ext cx="10900000" cy="6450000"/>
          </a:xfrm>
          <a:prstGeom prst="rect">
            <a:avLst/>
          </a:prstGeom>
          <a:solidFill>
            <a:srgbClr val="EAF1FB"/>
          </a:solidFill>
          <a:ln w="12700">
            <a:solidFill>
              <a:srgbClr val="2E74B5"/>
            </a:solidFill>
          </a:ln>
        </p:spPr>
        <p:txBody>
          <a:bodyPr lIns="320000" tIns="240000" rIns="280000" bIns="200000" anchor="ctr">
            <a:noAutofit/>
          </a:bodyPr>
          <a:lstStyle/>
          <a:p>
            <a:pPr marL="0" indent="0" algn="l">
              <a:spcAft>
                <a:spcPts val="600"/>
              </a:spcAft>
              <a:buNone/>
            </a:pPr>
            <a:r>
              <a:rPr lang="en-US" altLang="ko-KR" sz="3500" b="1" i="1" dirty="0">
                <a:solidFill>
                  <a:srgbClr val="2E74B5"/>
                </a:solidFill>
                <a:latin typeface="Avenir Next Medium"/>
                <a:ea typeface="Avenir Next Medium"/>
                <a:cs typeface="Avenir Next Medium"/>
              </a:rPr>
              <a:t>Read the received signal</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AI labels a passively-received IQ signal</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Modulation type · wireless tech · anomaly</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A cornerstone task for spectrum use &amp; 6G</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But it arrives distorted:  y = h * x + n</a:t>
            </a:r>
          </a:p>
        </p:txBody>
      </p:sp>
      <p:sp>
        <p:nvSpPr>
          <p:cNvPr id="16" name="CardHdr"/>
          <p:cNvSpPr txBox="1"/>
          <p:nvPr/>
        </p:nvSpPr>
        <p:spPr>
          <a:xfrm>
            <a:off x="12660000" y="2980000"/>
            <a:ext cx="10900000" cy="1120000"/>
          </a:xfrm>
          <a:prstGeom prst="rect">
            <a:avLst/>
          </a:prstGeom>
          <a:solidFill>
            <a:srgbClr val="26448A"/>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Why bring in diffusion</a:t>
            </a:r>
          </a:p>
        </p:txBody>
      </p:sp>
      <p:sp>
        <p:nvSpPr>
          <p:cNvPr id="17" name="CardBody"/>
          <p:cNvSpPr txBox="1"/>
          <p:nvPr/>
        </p:nvSpPr>
        <p:spPr>
          <a:xfrm>
            <a:off x="12660000" y="4100000"/>
            <a:ext cx="10900000" cy="6450000"/>
          </a:xfrm>
          <a:prstGeom prst="rect">
            <a:avLst/>
          </a:prstGeom>
          <a:solidFill>
            <a:srgbClr val="E9EDF5"/>
          </a:solidFill>
          <a:ln w="12700">
            <a:solidFill>
              <a:srgbClr val="26448A"/>
            </a:solidFill>
          </a:ln>
        </p:spPr>
        <p:txBody>
          <a:bodyPr lIns="320000" tIns="240000" rIns="280000" bIns="200000" anchor="ctr">
            <a:noAutofit/>
          </a:bodyPr>
          <a:lstStyle/>
          <a:p>
            <a:pPr marL="0" indent="0" algn="l">
              <a:spcAft>
                <a:spcPts val="600"/>
              </a:spcAft>
              <a:buNone/>
            </a:pPr>
            <a:r>
              <a:rPr lang="en-US" altLang="ko-KR" sz="3500" b="1" i="1" dirty="0">
                <a:solidFill>
                  <a:srgbClr val="26448A"/>
                </a:solidFill>
                <a:latin typeface="Avenir Next Medium"/>
                <a:ea typeface="Avenir Next Medium"/>
                <a:cs typeface="Avenir Next Medium"/>
              </a:rPr>
              <a:t>Powerful denoisers</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 Gaussian noise, step by step</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a network learns to remove it</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Its learned features transfer well to WSR</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So: borrow that denoising power for WSR</a:t>
            </a:r>
          </a:p>
        </p:txBody>
      </p:sp>
      <p:sp>
        <p:nvSpPr>
          <p:cNvPr id="18" name="Takeaway"/>
          <p:cNvSpPr txBox="1">
            <a:spLocks/>
          </p:cNvSpPr>
          <p:nvPr/>
        </p:nvSpPr>
        <p:spPr>
          <a:xfrm>
            <a:off x="720000" y="11150000"/>
            <a:ext cx="22944000" cy="850000"/>
          </a:xfrm>
          <a:prstGeom prst="rect">
            <a:avLst/>
          </a:prstGeom>
        </p:spPr>
        <p:txBody>
          <a:bodyPr lIns="50800" tIns="30000" rIns="50800" bIns="30000" anchor="t">
            <a:noAutofit/>
          </a:bodyPr>
          <a:lstStyle/>
          <a:p>
            <a:pPr marL="0" indent="0" algn="ctr">
              <a:buNone/>
            </a:pPr>
            <a:r>
              <a:rPr lang="en-US" altLang="ko-KR" sz="3600" b="1" i="0" dirty="0">
                <a:solidFill>
                  <a:srgbClr val="26448A"/>
                </a:solidFill>
                <a:latin typeface="Avenir Next Medium"/>
                <a:ea typeface="Avenir Next Medium"/>
                <a:cs typeface="Avenir Next Medium"/>
              </a:rPr>
              <a:t>→ The plan: let a diffusion model clean the received signal before recognising it</a:t>
            </a:r>
          </a:p>
        </p:txBody>
      </p:sp>
      <p:sp>
        <p:nvSpPr>
          <p:cNvPr id="3" name="슬라이드 번호 개체 틀 2">
            <a:extLst>
              <a:ext uri="{FF2B5EF4-FFF2-40B4-BE49-F238E27FC236}">
                <a16:creationId xmlns:a16="http://schemas.microsoft.com/office/drawing/2014/main" id="{20E43994-EB3C-E6FA-7B7E-8811468E5919}"/>
              </a:ext>
            </a:extLst>
          </p:cNvPr>
          <p:cNvSpPr>
            <a:spLocks noGrp="1"/>
          </p:cNvSpPr>
          <p:nvPr>
            <p:ph type="sldNum" sz="quarter" idx="2"/>
          </p:nvPr>
        </p:nvSpPr>
        <p:spPr/>
        <p:txBody>
          <a:bodyPr/>
          <a:lstStyle/>
          <a:p>
            <a:fld id="{86CB4B4D-7CA3-9044-876B-883B54F8677D}" type="slidenum">
              <a:rPr lang="en-US" altLang="ko-KR" smtClean="0"/>
              <a:t>19</a:t>
            </a:fld>
            <a:r>
              <a:rPr lang="en-US" altLang="ko-KR"/>
              <a:t>/23</a:t>
            </a:r>
            <a:endParaRPr lang="ko-KR"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The Idea</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Idea — From Denoising to De-Channeling</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The channel isn’t Gaussian — so add a learned channel to the diffusion, not just noise</a:t>
            </a:r>
          </a:p>
        </p:txBody>
      </p:sp>
      <p:sp>
        <p:nvSpPr>
          <p:cNvPr id="14" name="CardHdr"/>
          <p:cNvSpPr txBox="1"/>
          <p:nvPr/>
        </p:nvSpPr>
        <p:spPr>
          <a:xfrm>
            <a:off x="820000" y="2980000"/>
            <a:ext cx="10900000" cy="1120000"/>
          </a:xfrm>
          <a:prstGeom prst="rect">
            <a:avLst/>
          </a:prstGeom>
          <a:solidFill>
            <a:srgbClr val="2E74B5"/>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Standard diffusion</a:t>
            </a:r>
          </a:p>
        </p:txBody>
      </p:sp>
      <p:sp>
        <p:nvSpPr>
          <p:cNvPr id="15" name="CardBody"/>
          <p:cNvSpPr txBox="1"/>
          <p:nvPr/>
        </p:nvSpPr>
        <p:spPr>
          <a:xfrm>
            <a:off x="820000" y="4100000"/>
            <a:ext cx="10900000" cy="6450000"/>
          </a:xfrm>
          <a:prstGeom prst="rect">
            <a:avLst/>
          </a:prstGeom>
          <a:solidFill>
            <a:srgbClr val="EAF1FB"/>
          </a:solidFill>
          <a:ln w="12700">
            <a:solidFill>
              <a:srgbClr val="2E74B5"/>
            </a:solidFill>
          </a:ln>
        </p:spPr>
        <p:txBody>
          <a:bodyPr lIns="320000" tIns="240000" rIns="280000" bIns="200000" anchor="ctr">
            <a:noAutofit/>
          </a:bodyPr>
          <a:lstStyle/>
          <a:p>
            <a:pPr marL="0" indent="0" algn="l">
              <a:spcAft>
                <a:spcPts val="600"/>
              </a:spcAft>
              <a:buNone/>
            </a:pPr>
            <a:r>
              <a:rPr lang="en-US" altLang="ko-KR" sz="3500" b="1" i="1" dirty="0">
                <a:solidFill>
                  <a:srgbClr val="2E74B5"/>
                </a:solidFill>
                <a:latin typeface="Avenir Next Medium"/>
                <a:ea typeface="Avenir Next Medium"/>
                <a:cs typeface="Avenir Next Medium"/>
              </a:rPr>
              <a:t>Denoising only</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adds only Gaussian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can’t undo the channel h</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 features stay channel-distorted</a:t>
            </a:r>
          </a:p>
        </p:txBody>
      </p:sp>
      <p:sp>
        <p:nvSpPr>
          <p:cNvPr id="16" name="CardHdr"/>
          <p:cNvSpPr txBox="1"/>
          <p:nvPr/>
        </p:nvSpPr>
        <p:spPr>
          <a:xfrm>
            <a:off x="12660000" y="2980000"/>
            <a:ext cx="10900000" cy="1120000"/>
          </a:xfrm>
          <a:prstGeom prst="rect">
            <a:avLst/>
          </a:prstGeom>
          <a:solidFill>
            <a:srgbClr val="26448A"/>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PWC-Diff (proposed)</a:t>
            </a:r>
          </a:p>
        </p:txBody>
      </p:sp>
      <p:sp>
        <p:nvSpPr>
          <p:cNvPr id="17" name="CardBody"/>
          <p:cNvSpPr txBox="1"/>
          <p:nvPr/>
        </p:nvSpPr>
        <p:spPr>
          <a:xfrm>
            <a:off x="12660000" y="4100000"/>
            <a:ext cx="10900000" cy="6450000"/>
          </a:xfrm>
          <a:prstGeom prst="rect">
            <a:avLst/>
          </a:prstGeom>
          <a:solidFill>
            <a:srgbClr val="E9EDF5"/>
          </a:solidFill>
          <a:ln w="12700">
            <a:solidFill>
              <a:srgbClr val="26448A"/>
            </a:solidFill>
          </a:ln>
        </p:spPr>
        <p:txBody>
          <a:bodyPr lIns="320000" tIns="240000" rIns="280000" bIns="200000" anchor="ctr">
            <a:noAutofit/>
          </a:bodyPr>
          <a:lstStyle/>
          <a:p>
            <a:pPr marL="0" indent="0" algn="l">
              <a:spcAft>
                <a:spcPts val="600"/>
              </a:spcAft>
              <a:buNone/>
            </a:pPr>
            <a:r>
              <a:rPr lang="en-US" altLang="ko-KR" sz="3500" b="1" i="1" dirty="0">
                <a:solidFill>
                  <a:srgbClr val="26448A"/>
                </a:solidFill>
                <a:latin typeface="Avenir Next Medium"/>
                <a:ea typeface="Avenir Next Medium"/>
                <a:cs typeface="Avenir Next Medium"/>
              </a:rPr>
              <a:t>De-channeling + denoising</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adds a learned channel, then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learns to undo the channel and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 recovers the transmitted signal x</a:t>
            </a:r>
          </a:p>
        </p:txBody>
      </p:sp>
      <p:sp>
        <p:nvSpPr>
          <p:cNvPr id="18" name="Takeaway"/>
          <p:cNvSpPr txBox="1">
            <a:spLocks/>
          </p:cNvSpPr>
          <p:nvPr/>
        </p:nvSpPr>
        <p:spPr>
          <a:xfrm>
            <a:off x="720000" y="11150000"/>
            <a:ext cx="22944000" cy="850000"/>
          </a:xfrm>
          <a:prstGeom prst="rect">
            <a:avLst/>
          </a:prstGeom>
        </p:spPr>
        <p:txBody>
          <a:bodyPr lIns="50800" tIns="30000" rIns="50800" bIns="30000" anchor="t">
            <a:noAutofit/>
          </a:bodyPr>
          <a:lstStyle/>
          <a:p>
            <a:pPr marL="0" indent="0" algn="ctr">
              <a:buNone/>
            </a:pPr>
            <a:r>
              <a:rPr lang="en-US" altLang="ko-KR" sz="3600" b="1" i="0" dirty="0">
                <a:solidFill>
                  <a:srgbClr val="26448A"/>
                </a:solidFill>
                <a:latin typeface="Avenir Next Medium"/>
                <a:ea typeface="Avenir Next Medium"/>
                <a:cs typeface="Avenir Next Medium"/>
              </a:rPr>
              <a:t>→ Move the goal from denoising to de-channeling: model the physical channel, not just the noise</a:t>
            </a:r>
          </a:p>
        </p:txBody>
      </p:sp>
      <p:sp>
        <p:nvSpPr>
          <p:cNvPr id="3" name="슬라이드 번호 개체 틀 2">
            <a:extLst>
              <a:ext uri="{FF2B5EF4-FFF2-40B4-BE49-F238E27FC236}">
                <a16:creationId xmlns:a16="http://schemas.microsoft.com/office/drawing/2014/main" id="{5720F100-E667-22D7-3AF2-328E5D711933}"/>
              </a:ext>
            </a:extLst>
          </p:cNvPr>
          <p:cNvSpPr>
            <a:spLocks noGrp="1"/>
          </p:cNvSpPr>
          <p:nvPr>
            <p:ph type="sldNum" sz="quarter" idx="2"/>
          </p:nvPr>
        </p:nvSpPr>
        <p:spPr/>
        <p:txBody>
          <a:bodyPr/>
          <a:lstStyle/>
          <a:p>
            <a:fld id="{86CB4B4D-7CA3-9044-876B-883B54F8677D}" type="slidenum">
              <a:rPr lang="en-US" altLang="ko-KR" smtClean="0"/>
              <a:t>20</a:t>
            </a:fld>
            <a:r>
              <a:rPr lang="en-US" altLang="ko-KR"/>
              <a:t>/23</a:t>
            </a:r>
            <a:endParaRPr lang="ko-KR"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Pipeline</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PWC-Diff Pipeline, End to End</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Forward corrupts with a learned channel + noise · Reverse (FusedFormer) recovers the signal</a:t>
            </a:r>
          </a:p>
        </p:txBody>
      </p:sp>
      <p:pic>
        <p:nvPicPr>
          <p:cNvPr id="20" name="fig2"/>
          <p:cNvPicPr>
            <a:picLocks noChangeAspect="1"/>
          </p:cNvPicPr>
          <p:nvPr/>
        </p:nvPicPr>
        <p:blipFill>
          <a:blip r:embed="rId3"/>
          <a:stretch>
            <a:fillRect/>
          </a:stretch>
        </p:blipFill>
        <p:spPr>
          <a:xfrm>
            <a:off x="3500440" y="2691330"/>
            <a:ext cx="17762362" cy="9984670"/>
          </a:xfrm>
          <a:prstGeom prst="rect">
            <a:avLst/>
          </a:prstGeom>
        </p:spPr>
      </p:pic>
      <p:sp>
        <p:nvSpPr>
          <p:cNvPr id="3" name="슬라이드 번호 개체 틀 2">
            <a:extLst>
              <a:ext uri="{FF2B5EF4-FFF2-40B4-BE49-F238E27FC236}">
                <a16:creationId xmlns:a16="http://schemas.microsoft.com/office/drawing/2014/main" id="{00B36DF1-9268-E966-942C-4204E95E4A0E}"/>
              </a:ext>
            </a:extLst>
          </p:cNvPr>
          <p:cNvSpPr>
            <a:spLocks noGrp="1"/>
          </p:cNvSpPr>
          <p:nvPr>
            <p:ph type="sldNum" sz="quarter" idx="2"/>
          </p:nvPr>
        </p:nvSpPr>
        <p:spPr/>
        <p:txBody>
          <a:bodyPr/>
          <a:lstStyle/>
          <a:p>
            <a:fld id="{86CB4B4D-7CA3-9044-876B-883B54F8677D}" type="slidenum">
              <a:rPr lang="en-US" altLang="ko-KR" smtClean="0"/>
              <a:t>21</a:t>
            </a:fld>
            <a:r>
              <a:rPr lang="en-US" altLang="ko-KR"/>
              <a:t>/23</a:t>
            </a:r>
            <a:endParaRPr lang="ko-KR"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Results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SOTA — Let’s Read the Table Together</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Rank 1.0 overall — the interesting part is where the margins are</a:t>
            </a:r>
          </a:p>
        </p:txBody>
      </p:sp>
      <p:pic>
        <p:nvPicPr>
          <p:cNvPr id="20" name="table2"/>
          <p:cNvPicPr>
            <a:picLocks noChangeAspect="1"/>
          </p:cNvPicPr>
          <p:nvPr/>
        </p:nvPicPr>
        <p:blipFill>
          <a:blip r:embed="rId3"/>
          <a:stretch>
            <a:fillRect/>
          </a:stretch>
        </p:blipFill>
        <p:spPr>
          <a:xfrm>
            <a:off x="2546176" y="2971450"/>
            <a:ext cx="18745199" cy="7453486"/>
          </a:xfrm>
          <a:prstGeom prst="rect">
            <a:avLst/>
          </a:prstGeom>
        </p:spPr>
      </p:pic>
      <p:sp>
        <p:nvSpPr>
          <p:cNvPr id="21" name="Disc"/>
          <p:cNvSpPr txBox="1">
            <a:spLocks/>
          </p:cNvSpPr>
          <p:nvPr/>
        </p:nvSpPr>
        <p:spPr>
          <a:xfrm>
            <a:off x="1240322" y="10897676"/>
            <a:ext cx="22864000" cy="2050000"/>
          </a:xfrm>
          <a:prstGeom prst="rect">
            <a:avLst/>
          </a:prstGeom>
        </p:spPr>
        <p:txBody>
          <a:bodyPr lIns="50800" tIns="30000" rIns="50800" bIns="30000" anchor="t">
            <a:noAutofit/>
          </a:bodyPr>
          <a:lstStyle/>
          <a:p>
            <a:pPr marL="520000" indent="-520000" algn="l">
              <a:spcBef>
                <a:spcPts val="300"/>
              </a:spcBef>
              <a:buFont typeface="Wingdings"/>
              <a:buChar char="Ø"/>
            </a:pPr>
            <a:r>
              <a:rPr lang="en-US" altLang="ko-KR" sz="2800" b="0" i="0" dirty="0">
                <a:solidFill>
                  <a:srgbClr val="000000"/>
                </a:solidFill>
                <a:latin typeface="Avenir Next Medium"/>
                <a:ea typeface="Avenir Next Medium"/>
                <a:cs typeface="Avenir Next Medium"/>
              </a:rPr>
              <a:t>Top rank on all four datasets — but some margins are thin (RML2016: 63.60 vs IQFormer 63.54)</a:t>
            </a:r>
          </a:p>
          <a:p>
            <a:pPr marL="520000" indent="-520000" algn="l">
              <a:spcBef>
                <a:spcPts val="900"/>
              </a:spcBef>
              <a:buFont typeface="Wingdings"/>
              <a:buChar char="Ø"/>
            </a:pPr>
            <a:r>
              <a:rPr lang="en-US" altLang="ko-KR" sz="2800" b="0" i="0" dirty="0">
                <a:solidFill>
                  <a:srgbClr val="000000"/>
                </a:solidFill>
                <a:latin typeface="Avenir Next Medium"/>
                <a:ea typeface="Avenir Next Medium"/>
                <a:cs typeface="Avenir Next Medium"/>
              </a:rPr>
              <a:t>Clearest win is TechRec (WTC): 91.0 avg vs 88.8 next best</a:t>
            </a:r>
          </a:p>
          <a:p>
            <a:pPr marL="520000" indent="-520000" algn="l">
              <a:spcBef>
                <a:spcPts val="900"/>
              </a:spcBef>
              <a:buFont typeface="Wingdings"/>
              <a:buChar char="Ø"/>
            </a:pPr>
            <a:r>
              <a:rPr lang="en-US" altLang="ko-KR" sz="2800" b="1" i="0" dirty="0">
                <a:solidFill>
                  <a:srgbClr val="26448A"/>
                </a:solidFill>
                <a:latin typeface="Avenir Next Medium"/>
                <a:ea typeface="Avenir Next Medium"/>
                <a:cs typeface="Avenir Next Medium"/>
              </a:rPr>
              <a:t>→ Worth discussing: how much of the gain is the de-channeling idea vs the FusedFormer backbone?</a:t>
            </a:r>
          </a:p>
        </p:txBody>
      </p:sp>
      <p:sp>
        <p:nvSpPr>
          <p:cNvPr id="3" name="슬라이드 번호 개체 틀 2">
            <a:extLst>
              <a:ext uri="{FF2B5EF4-FFF2-40B4-BE49-F238E27FC236}">
                <a16:creationId xmlns:a16="http://schemas.microsoft.com/office/drawing/2014/main" id="{20A7B3E4-9178-A3CE-36BE-6419E3709A61}"/>
              </a:ext>
            </a:extLst>
          </p:cNvPr>
          <p:cNvSpPr>
            <a:spLocks noGrp="1"/>
          </p:cNvSpPr>
          <p:nvPr>
            <p:ph type="sldNum" sz="quarter" idx="2"/>
          </p:nvPr>
        </p:nvSpPr>
        <p:spPr/>
        <p:txBody>
          <a:bodyPr/>
          <a:lstStyle/>
          <a:p>
            <a:fld id="{86CB4B4D-7CA3-9044-876B-883B54F8677D}" type="slidenum">
              <a:rPr lang="en-US" altLang="ko-KR" smtClean="0"/>
              <a:t>22</a:t>
            </a:fld>
            <a:r>
              <a:rPr lang="en-US" altLang="ko-KR"/>
              <a:t>/23</a:t>
            </a:r>
            <a:endParaRPr lang="ko-KR"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A7358-8D55-BC02-57A1-173A60DA2F90}"/>
            </a:ext>
          </a:extLst>
        </p:cNvPr>
        <p:cNvGrpSpPr/>
        <p:nvPr/>
      </p:nvGrpSpPr>
      <p:grpSpPr>
        <a:xfrm>
          <a:off x="0" y="0"/>
          <a:ext cx="0" cy="0"/>
          <a:chOff x="0" y="0"/>
          <a:chExt cx="0" cy="0"/>
        </a:xfrm>
      </p:grpSpPr>
      <p:sp>
        <p:nvSpPr>
          <p:cNvPr id="2" name="DivTitle">
            <a:extLst>
              <a:ext uri="{FF2B5EF4-FFF2-40B4-BE49-F238E27FC236}">
                <a16:creationId xmlns:a16="http://schemas.microsoft.com/office/drawing/2014/main" id="{D5D2A389-9FD3-9ABE-4A08-61B3969601AD}"/>
              </a:ext>
            </a:extLst>
          </p:cNvPr>
          <p:cNvSpPr txBox="1">
            <a:spLocks/>
          </p:cNvSpPr>
          <p:nvPr/>
        </p:nvSpPr>
        <p:spPr>
          <a:xfrm>
            <a:off x="0" y="6083000"/>
            <a:ext cx="24384000" cy="1550000"/>
          </a:xfrm>
          <a:prstGeom prst="rect">
            <a:avLst/>
          </a:prstGeom>
        </p:spPr>
        <p:txBody>
          <a:bodyPr lIns="50800" tIns="30000" rIns="50800" bIns="30000" anchor="ctr">
            <a:noAutofit/>
          </a:bodyPr>
          <a:lstStyle/>
          <a:p>
            <a:pPr algn="ctr"/>
            <a:r>
              <a:rPr lang="en-US" altLang="ko-KR" sz="10000" b="1" dirty="0">
                <a:latin typeface="AvenirNext-DemiBold"/>
                <a:ea typeface="AvenirNext-DemiBold"/>
                <a:cs typeface="AvenirNext-DemiBold"/>
              </a:rPr>
              <a:t>Thank you!</a:t>
            </a:r>
            <a:endParaRPr lang="en-US" altLang="ko-KR" sz="10000" b="1" i="0" dirty="0">
              <a:solidFill>
                <a:srgbClr val="000000"/>
              </a:solidFill>
              <a:latin typeface="AvenirNext-DemiBold"/>
              <a:ea typeface="AvenirNext-DemiBold"/>
              <a:cs typeface="AvenirNext-DemiBold"/>
            </a:endParaRPr>
          </a:p>
        </p:txBody>
      </p:sp>
    </p:spTree>
    <p:extLst>
      <p:ext uri="{BB962C8B-B14F-4D97-AF65-F5344CB8AC3E}">
        <p14:creationId xmlns:p14="http://schemas.microsoft.com/office/powerpoint/2010/main" val="566617519"/>
      </p:ext>
    </p:extLst>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29184</TotalTime>
  <Words>1660</Words>
  <Application>Microsoft Macintosh PowerPoint</Application>
  <PresentationFormat>사용자 지정</PresentationFormat>
  <Paragraphs>221</Paragraphs>
  <Slides>23</Slides>
  <Notes>23</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23</vt:i4>
      </vt:variant>
    </vt:vector>
  </HeadingPairs>
  <TitlesOfParts>
    <vt:vector size="33"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361</cp:revision>
  <dcterms:modified xsi:type="dcterms:W3CDTF">2026-07-13T16:18:24Z</dcterms:modified>
</cp:coreProperties>
</file>