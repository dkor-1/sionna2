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5"/>
  </p:notesMasterIdLst>
  <p:handoutMasterIdLst>
    <p:handoutMasterId r:id="rId26"/>
  </p:handoutMasterIdLst>
  <p:sldIdLst>
    <p:sldId id="368" r:id="rId2"/>
    <p:sldId id="996" r:id="rId3"/>
    <p:sldId id="997" r:id="rId4"/>
    <p:sldId id="998" r:id="rId5"/>
    <p:sldId id="999" r:id="rId6"/>
    <p:sldId id="1000" r:id="rId7"/>
    <p:sldId id="1001" r:id="rId8"/>
    <p:sldId id="1002" r:id="rId9"/>
    <p:sldId id="1016" r:id="rId10"/>
    <p:sldId id="1017" r:id="rId11"/>
    <p:sldId id="1005" r:id="rId14"/>
    <p:sldId id="1006" r:id="rId15"/>
    <p:sldId id="1007" r:id="rId16"/>
    <p:sldId id="1008" r:id="rId17"/>
    <p:sldId id="1010" r:id="rId18"/>
    <p:sldId id="1011" r:id="rId19"/>
    <p:sldId id="1012" r:id="rId20"/>
    <p:sldId id="1013" r:id="rId21"/>
    <p:sldId id="1014" r:id="rId22"/>
    <p:sldId id="1015" r:id="rId23"/>
    <p:sldId id="1018" r:id="rId24"/>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1pPr>
    <a:lvl2pPr marL="0" marR="0" indent="457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2pPr>
    <a:lvl3pPr marL="0" marR="0" indent="914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3pPr>
    <a:lvl4pPr marL="0" marR="0" indent="1371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4pPr>
    <a:lvl5pPr marL="0" marR="0" indent="18288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5pPr>
    <a:lvl6pPr marL="0" marR="0" indent="22860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6pPr>
    <a:lvl7pPr marL="0" marR="0" indent="2743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7pPr>
    <a:lvl8pPr marL="0" marR="0" indent="3200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8pPr>
    <a:lvl9pPr marL="0" marR="0" indent="3657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D3DA"/>
    <a:srgbClr val="FFFFFF"/>
    <a:srgbClr val="F2F2F2"/>
    <a:srgbClr val="00B0F0"/>
    <a:srgbClr val="4285F5"/>
    <a:srgbClr val="F7FAF7"/>
    <a:srgbClr val="434DD6"/>
    <a:srgbClr val="629AF7"/>
    <a:srgbClr val="8E8A8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CEEEE"/>
          </a:solidFill>
        </a:fill>
      </a:tcStyle>
    </a:band2H>
    <a:firstCol>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9036"/>
              <a:lumOff val="17111"/>
            </a:schemeClr>
          </a:solidFill>
        </a:fill>
      </a:tcStyle>
    </a:band2H>
    <a:firstCol>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a:tcStyle>
        <a:tcBdr/>
        <a:fill>
          <a:solidFill>
            <a:srgbClr val="ECEEEF"/>
          </a:solidFill>
        </a:fill>
      </a:tcStyle>
    </a:band2H>
    <a:firstCol>
      <a:tcTxStyle b="on" i="off">
        <a:font>
          <a:latin typeface="AvenirNext-DemiBold"/>
          <a:ea typeface="AvenirNext-DemiBold"/>
          <a:cs typeface="AvenirNext-Demi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AvenirNext-DemiBold"/>
          <a:ea typeface="AvenirNext-DemiBold"/>
          <a:cs typeface="AvenirNext-Demi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AvenirNext-DemiBold"/>
          <a:ea typeface="AvenirNext-DemiBold"/>
          <a:cs typeface="AvenirNext-Demi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F"/>
          </a:solidFill>
        </a:fill>
      </a:tcStyle>
    </a:band2H>
    <a:firstCol>
      <a:tcTxStyle b="on" i="off">
        <a:font>
          <a:latin typeface="AvenirNext-DemiBold"/>
          <a:ea typeface="AvenirNext-DemiBold"/>
          <a:cs typeface="AvenirNext-Demi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130"/>
    <p:restoredTop sz="80803" autoAdjust="0"/>
  </p:normalViewPr>
  <p:slideViewPr>
    <p:cSldViewPr snapToGrid="0">
      <p:cViewPr varScale="1">
        <p:scale>
          <a:sx n="89" d="100"/>
          <a:sy n="89" d="100"/>
        </p:scale>
        <p:origin x="2760" y="184"/>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67" d="100"/>
          <a:sy n="167" d="100"/>
        </p:scale>
        <p:origin x="543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notesMaster" Target="notesMasters/notesMaster1.xml"/><Relationship Id="rId26" Type="http://schemas.openxmlformats.org/officeDocument/2006/relationships/handoutMaster" Target="handoutMasters/handout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7AECBC2-CF38-51D1-D583-52A90E084F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a:extLst>
              <a:ext uri="{FF2B5EF4-FFF2-40B4-BE49-F238E27FC236}">
                <a16:creationId xmlns:a16="http://schemas.microsoft.com/office/drawing/2014/main" id="{696E9E40-1BF4-3EA0-BCD4-FC0B197060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582646-EBD2-134A-994F-649BE9EE867E}" type="datetimeFigureOut">
              <a:rPr kumimoji="1" lang="ko-KR" altLang="en-US" smtClean="0"/>
              <a:t>2026. 7. 14.</a:t>
            </a:fld>
            <a:endParaRPr kumimoji="1" lang="ko-KR" altLang="en-US"/>
          </a:p>
        </p:txBody>
      </p:sp>
      <p:sp>
        <p:nvSpPr>
          <p:cNvPr id="4" name="바닥글 개체 틀 3">
            <a:extLst>
              <a:ext uri="{FF2B5EF4-FFF2-40B4-BE49-F238E27FC236}">
                <a16:creationId xmlns:a16="http://schemas.microsoft.com/office/drawing/2014/main" id="{D7A6D90B-CC0E-8D2B-BBF2-786B86EFBE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5" name="슬라이드 번호 개체 틀 4">
            <a:extLst>
              <a:ext uri="{FF2B5EF4-FFF2-40B4-BE49-F238E27FC236}">
                <a16:creationId xmlns:a16="http://schemas.microsoft.com/office/drawing/2014/main" id="{2D4B1DE0-EB51-D131-A2B1-58E6EC45C0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2210B5E-AAB0-4E42-A7D8-1F877DA2206C}" type="slidenum">
              <a:rPr kumimoji="1" lang="ko-KR" altLang="en-US" smtClean="0"/>
              <a:t>‹#›</a:t>
            </a:fld>
            <a:endParaRPr kumimoji="1" lang="ko-KR" altLang="en-US"/>
          </a:p>
        </p:txBody>
      </p:sp>
    </p:spTree>
    <p:extLst>
      <p:ext uri="{BB962C8B-B14F-4D97-AF65-F5344CB8AC3E}">
        <p14:creationId xmlns:p14="http://schemas.microsoft.com/office/powerpoint/2010/main" val="215781963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1" name="Shape 171"/>
          <p:cNvSpPr>
            <a:spLocks noGrp="1" noRot="1" noChangeAspect="1"/>
          </p:cNvSpPr>
          <p:nvPr>
            <p:ph type="sldImg"/>
          </p:nvPr>
        </p:nvSpPr>
        <p:spPr>
          <a:xfrm>
            <a:off x="1143000" y="685800"/>
            <a:ext cx="4572000" cy="3429000"/>
          </a:xfrm>
          <a:prstGeom prst="rect">
            <a:avLst/>
          </a:prstGeom>
        </p:spPr>
        <p:txBody>
          <a:bodyPr/>
          <a:lstStyle/>
          <a:p>
            <a:endParaRPr/>
          </a:p>
        </p:txBody>
      </p:sp>
      <p:sp>
        <p:nvSpPr>
          <p:cNvPr id="172" name="Shape 17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hf sldNum="0" hdr="0" ftr="0" dt="0"/>
  <p:notesStyle>
    <a:lvl1pPr defTabSz="457200" latinLnBrk="0">
      <a:lnSpc>
        <a:spcPct val="117999"/>
      </a:lnSpc>
      <a:defRPr sz="1500">
        <a:latin typeface="Helvetica Neue"/>
        <a:ea typeface="Helvetica Neue"/>
        <a:cs typeface="Helvetica Neue"/>
        <a:sym typeface="Helvetica Neue"/>
      </a:defRPr>
    </a:lvl1pPr>
    <a:lvl2pPr indent="228600" defTabSz="457200" latinLnBrk="0">
      <a:lnSpc>
        <a:spcPct val="117999"/>
      </a:lnSpc>
      <a:defRPr sz="1500">
        <a:latin typeface="Helvetica Neue"/>
        <a:ea typeface="Helvetica Neue"/>
        <a:cs typeface="Helvetica Neue"/>
        <a:sym typeface="Helvetica Neue"/>
      </a:defRPr>
    </a:lvl2pPr>
    <a:lvl3pPr indent="457200" defTabSz="457200" latinLnBrk="0">
      <a:lnSpc>
        <a:spcPct val="117999"/>
      </a:lnSpc>
      <a:defRPr sz="1500">
        <a:latin typeface="Helvetica Neue"/>
        <a:ea typeface="Helvetica Neue"/>
        <a:cs typeface="Helvetica Neue"/>
        <a:sym typeface="Helvetica Neue"/>
      </a:defRPr>
    </a:lvl3pPr>
    <a:lvl4pPr indent="685800" defTabSz="457200" latinLnBrk="0">
      <a:lnSpc>
        <a:spcPct val="117999"/>
      </a:lnSpc>
      <a:defRPr sz="1500">
        <a:latin typeface="Helvetica Neue"/>
        <a:ea typeface="Helvetica Neue"/>
        <a:cs typeface="Helvetica Neue"/>
        <a:sym typeface="Helvetica Neue"/>
      </a:defRPr>
    </a:lvl4pPr>
    <a:lvl5pPr indent="914400" defTabSz="457200" latinLnBrk="0">
      <a:lnSpc>
        <a:spcPct val="117999"/>
      </a:lnSpc>
      <a:defRPr sz="1500">
        <a:latin typeface="Helvetica Neue"/>
        <a:ea typeface="Helvetica Neue"/>
        <a:cs typeface="Helvetica Neue"/>
        <a:sym typeface="Helvetica Neue"/>
      </a:defRPr>
    </a:lvl5pPr>
    <a:lvl6pPr indent="1143000" defTabSz="457200" latinLnBrk="0">
      <a:lnSpc>
        <a:spcPct val="117999"/>
      </a:lnSpc>
      <a:defRPr sz="1500">
        <a:latin typeface="Helvetica Neue"/>
        <a:ea typeface="Helvetica Neue"/>
        <a:cs typeface="Helvetica Neue"/>
        <a:sym typeface="Helvetica Neue"/>
      </a:defRPr>
    </a:lvl6pPr>
    <a:lvl7pPr indent="1371600" defTabSz="457200" latinLnBrk="0">
      <a:lnSpc>
        <a:spcPct val="117999"/>
      </a:lnSpc>
      <a:defRPr sz="1500">
        <a:latin typeface="Helvetica Neue"/>
        <a:ea typeface="Helvetica Neue"/>
        <a:cs typeface="Helvetica Neue"/>
        <a:sym typeface="Helvetica Neue"/>
      </a:defRPr>
    </a:lvl7pPr>
    <a:lvl8pPr indent="1600200" defTabSz="457200" latinLnBrk="0">
      <a:lnSpc>
        <a:spcPct val="117999"/>
      </a:lnSpc>
      <a:defRPr sz="1500">
        <a:latin typeface="Helvetica Neue"/>
        <a:ea typeface="Helvetica Neue"/>
        <a:cs typeface="Helvetica Neue"/>
        <a:sym typeface="Helvetica Neue"/>
      </a:defRPr>
    </a:lvl8pPr>
    <a:lvl9pPr indent="1828800" defTabSz="457200" latinLnBrk="0">
      <a:lnSpc>
        <a:spcPct val="117999"/>
      </a:lnSpc>
      <a:defRPr sz="15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Let me start today's team meeting.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Last time I did two things. First, drone selection — Mavic 4 Pro versus Matrice 4E, comparing echo strength against RTK ground truth. Second, a short review of LaSen, the SenSys paper that tracks a drone using 5G. Since then I was at ICML and had a few other things going on, so I prepared this meeting in a bit of a rush. Today I will show you the Sionna progress — three stages are now built — and then I will introduce one paper.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Today has two parts. First, what I built in Sionna, with a lot of pictures. Second, a short introduction to a paper from ICML that I found interesting.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Let me start with the Sionna simulation.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This is the overall path I took. First the chamber, and the five DJI meshes built from their real specs. Then the radar side: I built the actual Wi-Fi, LTE and 5G waveforms, and looked at which reference signals a passive receiver can really use. And then stage three, where I split the frame from the rotors so each propeller can spin on its own — that gives us the micro-Doppler, and it is also what we would need if we later want to fly these in PX4 or Gazebo. (If asked: I also compute the drone's RCS from the mesh, using physical optics, validated against plate and sphere theory — Sionna's ray tracer supplies the environment and the clutter. I am skipping those details today for time.)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For the chamber, I copied the specs of the RF playground we were planning to use for the real experiment. It is thirty by twenty by eleven meters. The walls absorb the echoes, so we see only the drone.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For the drone meshes, I first collected the detailed specs — this is the official DJI page on the left — and then I asked Claude to build the mesh from those numbers. Every part is modeled separately: body, arms, motors, propellers, gimbal, landing gear. Let me show you the visualizations.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These are the five meshes. Here they are drawn at the same size, so you can compare the shapes — four-rotor quads versus the eight-rotor S1000+. The real sizes are very different, and I show that on the next slide.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5773D-7CFE-E0E3-4675-89660C1EA6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1E615E-EF83-3CF2-9E22-54613E1B0C6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05A5205-B895-11D1-4158-239E09FD3CB1}"/>
              </a:ext>
            </a:extLst>
          </p:cNvPr>
          <p:cNvSpPr>
            <a:spLocks noGrp="1"/>
          </p:cNvSpPr>
          <p:nvPr>
            <p:ph type="body" sz="quarter" idx="1"/>
          </p:nvPr>
        </p:nvSpPr>
        <p:spPr/>
        <p:txBody>
          <a:bodyPr/>
          <a:lstStyle/>
          <a:p>
            <a:r>
              <a:t>This is the real size comparison, all at the same scale. The S1000+ is by far the largest — about one meter across — and the Mini 5 Pro fits in your hand, at 250 grams. The dashed circles are the propeller discs.</a:t>
            </a:r>
          </a:p>
        </p:txBody>
      </p:sp>
    </p:spTree>
    <p:extLst>
      <p:ext uri="{BB962C8B-B14F-4D97-AF65-F5344CB8AC3E}">
        <p14:creationId xmlns:p14="http://schemas.microsoft.com/office/powerpoint/2010/main" val="36513938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9BBC6-1E54-FF61-5B7D-55930DC4E1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99E34A-51FC-93F3-D506-675D2033D9E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25F917E-165D-377A-90B3-CE150EAE43AD}"/>
              </a:ext>
            </a:extLst>
          </p:cNvPr>
          <p:cNvSpPr>
            <a:spLocks noGrp="1"/>
          </p:cNvSpPr>
          <p:nvPr>
            <p:ph type="body" sz="quarter" idx="1"/>
          </p:nvPr>
        </p:nvSpPr>
        <p:spPr/>
        <p:txBody>
          <a:bodyPr/>
          <a:lstStyle/>
          <a:p>
            <a:r>
              <a:t>And this is what they look like inside the chamber. The point of this slide is scale: in a thirty meter room, these drones are really tiny.</a:t>
            </a:r>
          </a:p>
        </p:txBody>
      </p:sp>
    </p:spTree>
    <p:extLst>
      <p:ext uri="{BB962C8B-B14F-4D97-AF65-F5344CB8AC3E}">
        <p14:creationId xmlns:p14="http://schemas.microsoft.com/office/powerpoint/2010/main" val="19909120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These are the real Wi-Fi, LTE and 5G signals, built with the correct numerology and reference signals. Here is the key point. A passive radar can only use a signal it already knows — the reference signal. So the range resolution follows the bandwidth of that reference signal, not the bandwidth of the channel. Wi-Fi's preamble is always wideband, so about two meters. LTE's CRS — the cell reference signal — is always on, across the full band, so about eight meters. And 5G, in an idle cell, sends only the SSB — a narrow seven megahertz beacon sitting in the middle of a one hundred megahertz channel — so about twenty-one meters. So the widest channel gives the worst range.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Before the result, one word about PRS, because SSB is familiar but PRS may not be. PRS is the Positioning Reference Signal. Think of it as a survey beacon: it is wideband, it is spread across the whole channel with a comb pattern, and the network switches it on only when it is actually running a positioning session — for example, locating a phone indoors where GPS does not work. It is not always on, and that is the whole point of this slide. Now the three modes. In G1, the idle cell, 5G sends only the SSB, and the range profile is coarse. It becomes sharp at G2 — but not because the cell got busier. It is because a positioning session turns PRS on, and the reference bandwidth jumps from seven to ninety-eight megahertz. Then at G3, when the cell fills up with user data, nothing improves — because user data is unknown to us, we cannot use it as a matched-filter reference. Occupancy goes one percent, twenty-one percent, eighty percent — but the resolution stops improving after G2. One detail in case it comes up: PRS and user data never sit on the same resource element. The standard rate-matches the data around the PRS, so in those symbols PRS takes one quarter of the subcarriers and the data fills the rest. And in practice networks tend to keep positioning occasions light on data, to keep the positioning accurate — which, if anything, makes G2 the realistic case and G3 an upper bound on energy. Either way the conclusion holds: for a passive receiver borrowing someone else's cell, the honest baseline for 5G is the SSB.</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Stage three. I split the drone into a frame plus individually spinning rotors, so the body can tilt while the props spin independently — I verified that the frame vertices do not move at all when only the blades rotate. This is the basis for both micro-Doppler and, later, flight simulation.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Stage three, the micro-Doppler. I separated the rotors so the blades can spin on their own, and then I simply asked for the micro-Doppler pattern — and this is what came out. The vertical stripes are the blade flashes, and the spread around the centre is the Doppler from the blade tips. That is as far as I have taken it for now.</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This is where the work sits right now. Done: the environment — the chamber and the five meshes; the illuminators — Wi-Fi, LTE and 5G, with their reference signals and the occupancy modes; and the micro-Doppler. Next is the real passive radar chain: a bistatic geometry with the transmitter and the receiver apart, clutter cancellation, and CFAR detection with tracking. I have already started that part, so I can show detection results next time. After that: a fair benchmark of the three signals in terms of detection probability, drone versus bird from the blade signature, and exporting the articulated model to PX4 or Gazebo.</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Now let me briefly introduce the paper from ICML that I found interesting, and then wrap up.</a:t>
            </a:r>
          </a:p>
        </p:txBody>
      </p:sp>
    </p:spTree>
    <p:extLst>
      <p:ext uri="{BB962C8B-B14F-4D97-AF65-F5344CB8AC3E}">
        <p14:creationId xmlns:p14="http://schemas.microsoft.com/office/powerpoint/2010/main" val="30432324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The task is wireless signal recognition. An AI reads a passively received IQ signal and labels it — the modulation type, the wireless technology, or an anomaly. A lot of recent work does this with deep learning, and diffusion models in particular have been doing well, because they are strong denoisers and their learned features transfer nicely to this task.</a:t>
            </a:r>
          </a:p>
        </p:txBody>
      </p:sp>
    </p:spTree>
    <p:extLst>
      <p:ext uri="{BB962C8B-B14F-4D97-AF65-F5344CB8AC3E}">
        <p14:creationId xmlns:p14="http://schemas.microsoft.com/office/powerpoint/2010/main" val="3952428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But the authors point out a gap. Existing diffusion work only adds and removes Gaussian noise. A real channel is not Gaussian — it multiplies the signal, it does not just add to it. So they argue the physics is missing, and they put a physical channel model inside the forward process. The reverse process then learns to undo the channel, not just the noise. They call this de-channeling.</a:t>
            </a:r>
          </a:p>
        </p:txBody>
      </p:sp>
    </p:spTree>
    <p:extLst>
      <p:ext uri="{BB962C8B-B14F-4D97-AF65-F5344CB8AC3E}">
        <p14:creationId xmlns:p14="http://schemas.microsoft.com/office/powerpoint/2010/main" val="9949884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This is the overall pipeline. On the left they take the time-domain and the frequency-domain features and concatenate them — they call that part CPE-Net. Then, instead of letting the network learn any channel it likes, they mix a set of predefined physical channel candidates with softmax weights, and add Gaussian noise on top. That constraint actually matters: they prove that if the channel is a free network, the easiest way to minimize the loss is to switch the channel off completely. The reverse process uses attention. I have to admit I could not fully follow that part yet — that is part of the AI study I planned, and I will get there.</a:t>
            </a:r>
          </a:p>
        </p:txBody>
      </p:sp>
    </p:spTree>
    <p:extLst>
      <p:ext uri="{BB962C8B-B14F-4D97-AF65-F5344CB8AC3E}">
        <p14:creationId xmlns:p14="http://schemas.microsoft.com/office/powerpoint/2010/main" val="16441901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They report state of the art on all four datasets. But when you read the table, some of the margins are very thin — 63.60 versus 63.54 on RML2016 — and I honestly wonder whether that could flip just by changing the random seed. The clearest win is TechRec: 91.0 versus 88.8. So the fair question is how much of the gain comes from the de-channeling idea itself, and how much from the FusedFormer backbone. One thing I take from this paper for our own work: learning buys you a few percentage points, but physics — bandwidth and integration time — buys you tens of decibels. That is worth remembering when we look at the 5G problem from earlier.</a:t>
            </a:r>
          </a:p>
        </p:txBody>
      </p:sp>
    </p:spTree>
    <p:extLst>
      <p:ext uri="{BB962C8B-B14F-4D97-AF65-F5344CB8AC3E}">
        <p14:creationId xmlns:p14="http://schemas.microsoft.com/office/powerpoint/2010/main" val="36330826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3CC8C-5659-5EED-9405-F2284EE6BAF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29BCAC2-D6CC-31DC-56B7-78EE93837974}"/>
              </a:ext>
            </a:extLst>
          </p:cNvPr>
          <p:cNvSpPr>
            <a:spLocks noGrp="1" noRot="1" noChangeAspect="1"/>
          </p:cNvSpPr>
          <p:nvPr>
            <p:ph type="sldImg"/>
          </p:nvPr>
        </p:nvSpPr>
        <p:spPr>
          <a:xfrm>
            <a:off x="381000" y="685800"/>
            <a:ext cx="6096000" cy="3429000"/>
          </a:xfrm>
        </p:spPr>
      </p:sp>
      <p:sp>
        <p:nvSpPr>
          <p:cNvPr id="3" name="슬라이드 노트 개체 틀 2">
            <a:extLst>
              <a:ext uri="{FF2B5EF4-FFF2-40B4-BE49-F238E27FC236}">
                <a16:creationId xmlns:a16="http://schemas.microsoft.com/office/drawing/2014/main" id="{E544DC22-367D-F13F-9DC2-F9A4AFF037C9}"/>
              </a:ext>
            </a:extLst>
          </p:cNvPr>
          <p:cNvSpPr>
            <a:spLocks noGrp="1"/>
          </p:cNvSpPr>
          <p:nvPr>
            <p:ph type="body" idx="1"/>
          </p:nvPr>
        </p:nvSpPr>
        <p:spPr/>
        <p:txBody>
          <a:bodyPr/>
          <a:lstStyle/>
          <a:p>
            <a:r>
              <a:t>That is everything from me. Thank you.</a:t>
            </a:r>
          </a:p>
        </p:txBody>
      </p:sp>
    </p:spTree>
    <p:extLst>
      <p:ext uri="{BB962C8B-B14F-4D97-AF65-F5344CB8AC3E}">
        <p14:creationId xmlns:p14="http://schemas.microsoft.com/office/powerpoint/2010/main" val="2819627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제목">
    <p:spTree>
      <p:nvGrpSpPr>
        <p:cNvPr id="1" name=""/>
        <p:cNvGrpSpPr/>
        <p:nvPr/>
      </p:nvGrpSpPr>
      <p:grpSpPr>
        <a:xfrm>
          <a:off x="0" y="0"/>
          <a:ext cx="0" cy="0"/>
          <a:chOff x="0" y="0"/>
          <a:chExt cx="0" cy="0"/>
        </a:xfrm>
      </p:grpSpPr>
      <p:sp>
        <p:nvSpPr>
          <p:cNvPr id="11" name="저자 및 날짜"/>
          <p:cNvSpPr txBox="1">
            <a:spLocks noGrp="1"/>
          </p:cNvSpPr>
          <p:nvPr>
            <p:ph type="body" sz="quarter" idx="21" hasCustomPrompt="1"/>
          </p:nvPr>
        </p:nvSpPr>
        <p:spPr>
          <a:xfrm>
            <a:off x="1219200" y="11986162"/>
            <a:ext cx="21945599" cy="605791"/>
          </a:xfrm>
          <a:prstGeom prst="rect">
            <a:avLst/>
          </a:prstGeom>
        </p:spPr>
        <p:txBody>
          <a:bodyPr/>
          <a:lstStyle>
            <a:lvl1pPr marL="0" indent="0" algn="ctr" defTabSz="808990">
              <a:lnSpc>
                <a:spcPct val="100000"/>
              </a:lnSpc>
              <a:spcBef>
                <a:spcPts val="0"/>
              </a:spcBef>
              <a:buSzTx/>
              <a:buNone/>
              <a:defRPr sz="2940" spc="-29"/>
            </a:lvl1pPr>
          </a:lstStyle>
          <a:p>
            <a:r>
              <a:t>저자 및 날짜</a:t>
            </a:r>
          </a:p>
        </p:txBody>
      </p:sp>
      <p:sp>
        <p:nvSpPr>
          <p:cNvPr id="12" name="프레젠테이션 제목"/>
          <p:cNvSpPr txBox="1">
            <a:spLocks noGrp="1"/>
          </p:cNvSpPr>
          <p:nvPr>
            <p:ph type="title" hasCustomPrompt="1"/>
          </p:nvPr>
        </p:nvSpPr>
        <p:spPr>
          <a:xfrm>
            <a:off x="1219200" y="3543300"/>
            <a:ext cx="21945600" cy="4267200"/>
          </a:xfrm>
          <a:prstGeom prst="rect">
            <a:avLst/>
          </a:prstGeom>
        </p:spPr>
        <p:txBody>
          <a:bodyPr anchor="b"/>
          <a:lstStyle>
            <a:lvl1pPr>
              <a:defRPr sz="9000" b="1" spc="-90">
                <a:latin typeface="AvenirNext-DemiBold"/>
                <a:ea typeface="AvenirNext-DemiBold"/>
                <a:cs typeface="AvenirNext-DemiBold"/>
                <a:sym typeface="AvenirNext-DemiBold"/>
              </a:defRPr>
            </a:lvl1pPr>
          </a:lstStyle>
          <a:p>
            <a:r>
              <a:t>프레젠테이션 제목</a:t>
            </a:r>
          </a:p>
        </p:txBody>
      </p:sp>
      <p:sp>
        <p:nvSpPr>
          <p:cNvPr id="13" name="Body Level One…"/>
          <p:cNvSpPr txBox="1">
            <a:spLocks noGrp="1"/>
          </p:cNvSpPr>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z="6000" b="1" spc="-59">
                <a:latin typeface="AvenirNext-DemiBold"/>
                <a:ea typeface="AvenirNext-DemiBold"/>
                <a:cs typeface="AvenirNext-DemiBold"/>
                <a:sym typeface="AvenirNext-DemiBold"/>
              </a:defRPr>
            </a:lvl1pPr>
            <a:lvl2pPr marL="0" indent="457200" algn="ctr" defTabSz="825500">
              <a:lnSpc>
                <a:spcPct val="100000"/>
              </a:lnSpc>
              <a:spcBef>
                <a:spcPts val="0"/>
              </a:spcBef>
              <a:buSzTx/>
              <a:buNone/>
              <a:defRPr sz="6000" b="1" spc="-59">
                <a:latin typeface="AvenirNext-DemiBold"/>
                <a:ea typeface="AvenirNext-DemiBold"/>
                <a:cs typeface="AvenirNext-DemiBold"/>
                <a:sym typeface="AvenirNext-DemiBold"/>
              </a:defRPr>
            </a:lvl2pPr>
            <a:lvl3pPr marL="0" indent="914400" algn="ctr" defTabSz="825500">
              <a:lnSpc>
                <a:spcPct val="100000"/>
              </a:lnSpc>
              <a:spcBef>
                <a:spcPts val="0"/>
              </a:spcBef>
              <a:buSzTx/>
              <a:buNone/>
              <a:defRPr sz="6000" b="1" spc="-59">
                <a:latin typeface="AvenirNext-DemiBold"/>
                <a:ea typeface="AvenirNext-DemiBold"/>
                <a:cs typeface="AvenirNext-DemiBold"/>
                <a:sym typeface="AvenirNext-DemiBold"/>
              </a:defRPr>
            </a:lvl3pPr>
            <a:lvl4pPr marL="0" indent="1371600" algn="ctr" defTabSz="825500">
              <a:lnSpc>
                <a:spcPct val="100000"/>
              </a:lnSpc>
              <a:spcBef>
                <a:spcPts val="0"/>
              </a:spcBef>
              <a:buSzTx/>
              <a:buNone/>
              <a:defRPr sz="6000" b="1" spc="-59">
                <a:latin typeface="AvenirNext-DemiBold"/>
                <a:ea typeface="AvenirNext-DemiBold"/>
                <a:cs typeface="AvenirNext-DemiBold"/>
                <a:sym typeface="AvenirNext-DemiBold"/>
              </a:defRPr>
            </a:lvl4pPr>
            <a:lvl5pPr marL="0" indent="1828800" algn="ctr" defTabSz="825500">
              <a:lnSpc>
                <a:spcPct val="100000"/>
              </a:lnSpc>
              <a:spcBef>
                <a:spcPts val="0"/>
              </a:spcBef>
              <a:buSzTx/>
              <a:buNone/>
              <a:defRPr sz="6000" b="1" spc="-59">
                <a:latin typeface="AvenirNext-DemiBold"/>
                <a:ea typeface="AvenirNext-DemiBold"/>
                <a:cs typeface="AvenirNext-DemiBold"/>
                <a:sym typeface="AvenirNext-DemiBold"/>
              </a:defRPr>
            </a:lvl5pPr>
          </a:lstStyle>
          <a:p>
            <a:r>
              <a:t>프레젠테이션 부제</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제목 및 구분점">
    <p:spTree>
      <p:nvGrpSpPr>
        <p:cNvPr id="1" name=""/>
        <p:cNvGrpSpPr/>
        <p:nvPr/>
      </p:nvGrpSpPr>
      <p:grpSpPr>
        <a:xfrm>
          <a:off x="0" y="0"/>
          <a:ext cx="0" cy="0"/>
          <a:chOff x="0" y="0"/>
          <a:chExt cx="0" cy="0"/>
        </a:xfrm>
      </p:grpSpPr>
      <p:sp>
        <p:nvSpPr>
          <p:cNvPr id="42" name="슬라이드 제목"/>
          <p:cNvSpPr txBox="1">
            <a:spLocks noGrp="1"/>
          </p:cNvSpPr>
          <p:nvPr>
            <p:ph type="title" hasCustomPrompt="1"/>
          </p:nvPr>
        </p:nvSpPr>
        <p:spPr>
          <a:prstGeom prst="rect">
            <a:avLst/>
          </a:prstGeom>
        </p:spPr>
        <p:txBody>
          <a:bodyPr/>
          <a:lstStyle/>
          <a:p>
            <a:r>
              <a:t>슬라이드 제목</a:t>
            </a:r>
          </a:p>
        </p:txBody>
      </p:sp>
      <p:sp>
        <p:nvSpPr>
          <p:cNvPr id="43" name="Body Level One…"/>
          <p:cNvSpPr txBox="1">
            <a:spLocks noGrp="1"/>
          </p:cNvSpPr>
          <p:nvPr>
            <p:ph type="body" idx="1" hasCustomPrompt="1"/>
          </p:nvPr>
        </p:nvSpPr>
        <p:spPr>
          <a:prstGeom prst="rect">
            <a:avLst/>
          </a:prstGeom>
        </p:spPr>
        <p:txBody>
          <a:bodyPr/>
          <a:lstStyle/>
          <a:p>
            <a:r>
              <a:t>슬라이드 구분점 텍스트</a:t>
            </a:r>
          </a:p>
          <a:p>
            <a:pPr lvl="1"/>
            <a:endParaRPr/>
          </a:p>
          <a:p>
            <a:pPr lvl="2"/>
            <a:endParaRPr/>
          </a:p>
          <a:p>
            <a:pPr lvl="3"/>
            <a:endParaRPr/>
          </a:p>
          <a:p>
            <a:pPr lvl="4"/>
            <a:endParaRPr/>
          </a:p>
        </p:txBody>
      </p:sp>
      <p:sp>
        <p:nvSpPr>
          <p:cNvPr id="44"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제목, 구분점 및 사진">
    <p:spTree>
      <p:nvGrpSpPr>
        <p:cNvPr id="1" name=""/>
        <p:cNvGrpSpPr/>
        <p:nvPr/>
      </p:nvGrpSpPr>
      <p:grpSpPr>
        <a:xfrm>
          <a:off x="0" y="0"/>
          <a:ext cx="0" cy="0"/>
          <a:chOff x="0" y="0"/>
          <a:chExt cx="0" cy="0"/>
        </a:xfrm>
      </p:grpSpPr>
      <p:sp>
        <p:nvSpPr>
          <p:cNvPr id="60"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61" name="해 질 무렵의 하늘을 배경으로 둔 바다"/>
          <p:cNvSpPr>
            <a:spLocks noGrp="1"/>
          </p:cNvSpPr>
          <p:nvPr>
            <p:ph type="pic" idx="21"/>
          </p:nvPr>
        </p:nvSpPr>
        <p:spPr>
          <a:xfrm>
            <a:off x="12192644" y="718588"/>
            <a:ext cx="10972801" cy="12329624"/>
          </a:xfrm>
          <a:prstGeom prst="rect">
            <a:avLst/>
          </a:prstGeom>
        </p:spPr>
        <p:txBody>
          <a:bodyPr lIns="91439" tIns="45719" rIns="91439" bIns="45719">
            <a:noAutofit/>
          </a:bodyPr>
          <a:lstStyle/>
          <a:p>
            <a:endParaRPr/>
          </a:p>
        </p:txBody>
      </p:sp>
      <p:sp>
        <p:nvSpPr>
          <p:cNvPr id="62" name="슬라이드 부제"/>
          <p:cNvSpPr txBox="1">
            <a:spLocks noGrp="1"/>
          </p:cNvSpPr>
          <p:nvPr>
            <p:ph type="body" sz="quarter" idx="22"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6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6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제목, 구분점 및 작은 라이브 비디오">
    <p:spTree>
      <p:nvGrpSpPr>
        <p:cNvPr id="1" name=""/>
        <p:cNvGrpSpPr/>
        <p:nvPr/>
      </p:nvGrpSpPr>
      <p:grpSpPr>
        <a:xfrm>
          <a:off x="0" y="0"/>
          <a:ext cx="0" cy="0"/>
          <a:chOff x="0" y="0"/>
          <a:chExt cx="0" cy="0"/>
        </a:xfrm>
      </p:grpSpPr>
      <p:sp>
        <p:nvSpPr>
          <p:cNvPr id="7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7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7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7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제목, 구분점 및 큰 라이브 비디오">
    <p:spTree>
      <p:nvGrpSpPr>
        <p:cNvPr id="1" name=""/>
        <p:cNvGrpSpPr/>
        <p:nvPr/>
      </p:nvGrpSpPr>
      <p:grpSpPr>
        <a:xfrm>
          <a:off x="0" y="0"/>
          <a:ext cx="0" cy="0"/>
          <a:chOff x="0" y="0"/>
          <a:chExt cx="0" cy="0"/>
        </a:xfrm>
      </p:grpSpPr>
      <p:sp>
        <p:nvSpPr>
          <p:cNvPr id="8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8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8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8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섹션">
    <p:spTree>
      <p:nvGrpSpPr>
        <p:cNvPr id="1" name=""/>
        <p:cNvGrpSpPr/>
        <p:nvPr/>
      </p:nvGrpSpPr>
      <p:grpSpPr>
        <a:xfrm>
          <a:off x="0" y="0"/>
          <a:ext cx="0" cy="0"/>
          <a:chOff x="0" y="0"/>
          <a:chExt cx="0" cy="0"/>
        </a:xfrm>
      </p:grpSpPr>
      <p:sp>
        <p:nvSpPr>
          <p:cNvPr id="91" name="섹션 제목"/>
          <p:cNvSpPr txBox="1">
            <a:spLocks noGrp="1"/>
          </p:cNvSpPr>
          <p:nvPr>
            <p:ph type="title" hasCustomPrompt="1"/>
          </p:nvPr>
        </p:nvSpPr>
        <p:spPr>
          <a:xfrm>
            <a:off x="1219200" y="3242270"/>
            <a:ext cx="21945600" cy="6604001"/>
          </a:xfrm>
          <a:prstGeom prst="rect">
            <a:avLst/>
          </a:prstGeom>
        </p:spPr>
        <p:txBody>
          <a:bodyPr anchor="ctr"/>
          <a:lstStyle>
            <a:lvl1pPr algn="ctr">
              <a:defRPr sz="12800" spc="0">
                <a:latin typeface="Canela Bold"/>
                <a:ea typeface="Canela Bold"/>
                <a:cs typeface="Canela Bold"/>
                <a:sym typeface="Canela Bold"/>
              </a:defRPr>
            </a:lvl1pPr>
          </a:lstStyle>
          <a:p>
            <a:r>
              <a:t>섹션 제목</a:t>
            </a:r>
          </a:p>
        </p:txBody>
      </p:sp>
      <p:sp>
        <p:nvSpPr>
          <p:cNvPr id="92"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제목 전용">
    <p:spTree>
      <p:nvGrpSpPr>
        <p:cNvPr id="1" name=""/>
        <p:cNvGrpSpPr/>
        <p:nvPr/>
      </p:nvGrpSpPr>
      <p:grpSpPr>
        <a:xfrm>
          <a:off x="0" y="0"/>
          <a:ext cx="0" cy="0"/>
          <a:chOff x="0" y="0"/>
          <a:chExt cx="0" cy="0"/>
        </a:xfrm>
      </p:grpSpPr>
      <p:sp>
        <p:nvSpPr>
          <p:cNvPr id="99" name="슬라이드 제목"/>
          <p:cNvSpPr txBox="1">
            <a:spLocks noGrp="1"/>
          </p:cNvSpPr>
          <p:nvPr>
            <p:ph type="title" hasCustomPrompt="1"/>
          </p:nvPr>
        </p:nvSpPr>
        <p:spPr>
          <a:prstGeom prst="rect">
            <a:avLst/>
          </a:prstGeom>
        </p:spPr>
        <p:txBody>
          <a:bodyPr/>
          <a:lstStyle/>
          <a:p>
            <a:r>
              <a:t>슬라이드 제목</a:t>
            </a:r>
          </a:p>
        </p:txBody>
      </p:sp>
      <p:sp>
        <p:nvSpPr>
          <p:cNvPr id="100"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10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의제">
    <p:spTree>
      <p:nvGrpSpPr>
        <p:cNvPr id="1" name=""/>
        <p:cNvGrpSpPr/>
        <p:nvPr/>
      </p:nvGrpSpPr>
      <p:grpSpPr>
        <a:xfrm>
          <a:off x="0" y="0"/>
          <a:ext cx="0" cy="0"/>
          <a:chOff x="0" y="0"/>
          <a:chExt cx="0" cy="0"/>
        </a:xfrm>
      </p:grpSpPr>
      <p:sp>
        <p:nvSpPr>
          <p:cNvPr id="108" name="의제 제목"/>
          <p:cNvSpPr txBox="1">
            <a:spLocks noGrp="1"/>
          </p:cNvSpPr>
          <p:nvPr>
            <p:ph type="title" hasCustomPrompt="1"/>
          </p:nvPr>
        </p:nvSpPr>
        <p:spPr>
          <a:prstGeom prst="rect">
            <a:avLst/>
          </a:prstGeom>
        </p:spPr>
        <p:txBody>
          <a:bodyPr/>
          <a:lstStyle/>
          <a:p>
            <a:r>
              <a:t>의제 제목</a:t>
            </a:r>
          </a:p>
        </p:txBody>
      </p:sp>
      <p:sp>
        <p:nvSpPr>
          <p:cNvPr id="109" name="Body Level One…"/>
          <p:cNvSpPr txBox="1">
            <a:spLocks noGrp="1"/>
          </p:cNvSpPr>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z="6800" spc="-136">
                <a:latin typeface="Canela Deck Regular"/>
                <a:ea typeface="Canela Deck Regular"/>
                <a:cs typeface="Canela Deck Regular"/>
                <a:sym typeface="Canela Deck Regular"/>
              </a:defRPr>
            </a:lvl1pPr>
            <a:lvl2pPr marL="0" indent="457200" defTabSz="825500">
              <a:lnSpc>
                <a:spcPct val="100000"/>
              </a:lnSpc>
              <a:buSzTx/>
              <a:buNone/>
              <a:defRPr sz="6800" spc="-136">
                <a:latin typeface="Canela Deck Regular"/>
                <a:ea typeface="Canela Deck Regular"/>
                <a:cs typeface="Canela Deck Regular"/>
                <a:sym typeface="Canela Deck Regular"/>
              </a:defRPr>
            </a:lvl2pPr>
            <a:lvl3pPr marL="0" indent="914400" defTabSz="825500">
              <a:lnSpc>
                <a:spcPct val="100000"/>
              </a:lnSpc>
              <a:buSzTx/>
              <a:buNone/>
              <a:defRPr sz="6800" spc="-136">
                <a:latin typeface="Canela Deck Regular"/>
                <a:ea typeface="Canela Deck Regular"/>
                <a:cs typeface="Canela Deck Regular"/>
                <a:sym typeface="Canela Deck Regular"/>
              </a:defRPr>
            </a:lvl3pPr>
            <a:lvl4pPr marL="0" indent="1371600" defTabSz="825500">
              <a:lnSpc>
                <a:spcPct val="100000"/>
              </a:lnSpc>
              <a:buSzTx/>
              <a:buNone/>
              <a:defRPr sz="6800" spc="-136">
                <a:latin typeface="Canela Deck Regular"/>
                <a:ea typeface="Canela Deck Regular"/>
                <a:cs typeface="Canela Deck Regular"/>
                <a:sym typeface="Canela Deck Regular"/>
              </a:defRPr>
            </a:lvl4pPr>
            <a:lvl5pPr marL="0" indent="1828800" defTabSz="825500">
              <a:lnSpc>
                <a:spcPct val="100000"/>
              </a:lnSpc>
              <a:buSzTx/>
              <a:buNone/>
              <a:defRPr sz="6800" spc="-136">
                <a:latin typeface="Canela Deck Regular"/>
                <a:ea typeface="Canela Deck Regular"/>
                <a:cs typeface="Canela Deck Regular"/>
                <a:sym typeface="Canela Deck Regular"/>
              </a:defRPr>
            </a:lvl5pPr>
          </a:lstStyle>
          <a:p>
            <a:r>
              <a:t>의제 주제</a:t>
            </a:r>
          </a:p>
          <a:p>
            <a:pPr lvl="1"/>
            <a:endParaRPr/>
          </a:p>
          <a:p>
            <a:pPr lvl="2"/>
            <a:endParaRPr/>
          </a:p>
          <a:p>
            <a:pPr lvl="3"/>
            <a:endParaRPr/>
          </a:p>
          <a:p>
            <a:pPr lvl="4"/>
            <a:endParaRPr/>
          </a:p>
        </p:txBody>
      </p:sp>
      <p:sp>
        <p:nvSpPr>
          <p:cNvPr id="110" name="의제 부제"/>
          <p:cNvSpPr txBox="1">
            <a:spLocks noGrp="1"/>
          </p:cNvSpPr>
          <p:nvPr>
            <p:ph type="body" sz="quarter" idx="21" hasCustomPrompt="1"/>
          </p:nvPr>
        </p:nvSpPr>
        <p:spPr>
          <a:xfrm>
            <a:off x="1219200" y="2387115"/>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의제 부제</a:t>
            </a:r>
          </a:p>
        </p:txBody>
      </p:sp>
      <p:sp>
        <p:nvSpPr>
          <p:cNvPr id="11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내역서">
    <p:spTree>
      <p:nvGrpSpPr>
        <p:cNvPr id="1" name=""/>
        <p:cNvGrpSpPr/>
        <p:nvPr/>
      </p:nvGrpSpPr>
      <p:grpSpPr>
        <a:xfrm>
          <a:off x="0" y="0"/>
          <a:ext cx="0" cy="0"/>
          <a:chOff x="0" y="0"/>
          <a:chExt cx="0" cy="0"/>
        </a:xfrm>
      </p:grpSpPr>
      <p:sp>
        <p:nvSpPr>
          <p:cNvPr id="118" name="Body Level One…"/>
          <p:cNvSpPr txBox="1">
            <a:spLocks noGrp="1"/>
          </p:cNvSpPr>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r>
              <a:t>내역서</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중요한 사실">
    <p:spTree>
      <p:nvGrpSpPr>
        <p:cNvPr id="1" name=""/>
        <p:cNvGrpSpPr/>
        <p:nvPr/>
      </p:nvGrpSpPr>
      <p:grpSpPr>
        <a:xfrm>
          <a:off x="0" y="0"/>
          <a:ext cx="0" cy="0"/>
          <a:chOff x="0" y="0"/>
          <a:chExt cx="0" cy="0"/>
        </a:xfrm>
      </p:grpSpPr>
      <p:sp>
        <p:nvSpPr>
          <p:cNvPr id="126" name="사실 정보"/>
          <p:cNvSpPr txBox="1">
            <a:spLocks noGrp="1"/>
          </p:cNvSpPr>
          <p:nvPr>
            <p:ph type="body" sz="quarter" idx="21" hasCustomPrompt="1"/>
          </p:nvPr>
        </p:nvSpPr>
        <p:spPr>
          <a:xfrm>
            <a:off x="1219200" y="8462239"/>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사실 정보</a:t>
            </a:r>
          </a:p>
        </p:txBody>
      </p:sp>
      <p:sp>
        <p:nvSpPr>
          <p:cNvPr id="127" name="Body Level One…"/>
          <p:cNvSpPr txBox="1">
            <a:spLocks noGrp="1"/>
          </p:cNvSpPr>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Canela Bold"/>
                <a:ea typeface="Canela Bold"/>
                <a:cs typeface="Canela Bold"/>
                <a:sym typeface="Canela Bold"/>
              </a:defRPr>
            </a:lvl1pPr>
            <a:lvl2pPr marL="0" indent="457200" algn="ctr" defTabSz="2438400">
              <a:lnSpc>
                <a:spcPct val="80000"/>
              </a:lnSpc>
              <a:spcBef>
                <a:spcPts val="0"/>
              </a:spcBef>
              <a:buSzTx/>
              <a:buNone/>
              <a:defRPr sz="22400">
                <a:latin typeface="Canela Bold"/>
                <a:ea typeface="Canela Bold"/>
                <a:cs typeface="Canela Bold"/>
                <a:sym typeface="Canela Bold"/>
              </a:defRPr>
            </a:lvl2pPr>
            <a:lvl3pPr marL="0" indent="914400" algn="ctr" defTabSz="2438400">
              <a:lnSpc>
                <a:spcPct val="80000"/>
              </a:lnSpc>
              <a:spcBef>
                <a:spcPts val="0"/>
              </a:spcBef>
              <a:buSzTx/>
              <a:buNone/>
              <a:defRPr sz="22400">
                <a:latin typeface="Canela Bold"/>
                <a:ea typeface="Canela Bold"/>
                <a:cs typeface="Canela Bold"/>
                <a:sym typeface="Canela Bold"/>
              </a:defRPr>
            </a:lvl3pPr>
            <a:lvl4pPr marL="0" indent="1371600" algn="ctr" defTabSz="2438400">
              <a:lnSpc>
                <a:spcPct val="80000"/>
              </a:lnSpc>
              <a:spcBef>
                <a:spcPts val="0"/>
              </a:spcBef>
              <a:buSzTx/>
              <a:buNone/>
              <a:defRPr sz="22400">
                <a:latin typeface="Canela Bold"/>
                <a:ea typeface="Canela Bold"/>
                <a:cs typeface="Canela Bold"/>
                <a:sym typeface="Canela Bold"/>
              </a:defRPr>
            </a:lvl4pPr>
            <a:lvl5pPr marL="0" indent="1828800" algn="ctr" defTabSz="2438400">
              <a:lnSpc>
                <a:spcPct val="80000"/>
              </a:lnSpc>
              <a:spcBef>
                <a:spcPts val="0"/>
              </a:spcBef>
              <a:buSzTx/>
              <a:buNone/>
              <a:defRPr sz="22400">
                <a:latin typeface="Canela Bold"/>
                <a:ea typeface="Canela Bold"/>
                <a:cs typeface="Canela Bold"/>
                <a:sym typeface="Canela Bold"/>
              </a:defRPr>
            </a:lvl5pPr>
          </a:lstStyle>
          <a:p>
            <a:r>
              <a:t>100%</a:t>
            </a:r>
          </a:p>
          <a:p>
            <a:pPr lvl="1"/>
            <a:endParaRPr/>
          </a:p>
          <a:p>
            <a:pPr lvl="2"/>
            <a:endParaRPr/>
          </a:p>
          <a:p>
            <a:pPr lvl="3"/>
            <a:endParaRPr/>
          </a:p>
          <a:p>
            <a:pPr lvl="4"/>
            <a:endParaRP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인용">
    <p:spTree>
      <p:nvGrpSpPr>
        <p:cNvPr id="1" name=""/>
        <p:cNvGrpSpPr/>
        <p:nvPr/>
      </p:nvGrpSpPr>
      <p:grpSpPr>
        <a:xfrm>
          <a:off x="0" y="0"/>
          <a:ext cx="0" cy="0"/>
          <a:chOff x="0" y="0"/>
          <a:chExt cx="0" cy="0"/>
        </a:xfrm>
      </p:grpSpPr>
      <p:sp>
        <p:nvSpPr>
          <p:cNvPr id="135" name="속성"/>
          <p:cNvSpPr txBox="1">
            <a:spLocks noGrp="1"/>
          </p:cNvSpPr>
          <p:nvPr>
            <p:ph type="body" sz="quarter" idx="21" hasCustomPrompt="1"/>
          </p:nvPr>
        </p:nvSpPr>
        <p:spPr>
          <a:xfrm>
            <a:off x="1219200" y="11100053"/>
            <a:ext cx="21945602" cy="832613"/>
          </a:xfrm>
          <a:prstGeom prst="rect">
            <a:avLst/>
          </a:prstGeom>
        </p:spPr>
        <p:txBody>
          <a:bodyPr anchor="ctr"/>
          <a:lstStyle>
            <a:lvl1pPr marL="0" indent="0" algn="ctr" defTabSz="825500">
              <a:lnSpc>
                <a:spcPct val="100000"/>
              </a:lnSpc>
              <a:spcBef>
                <a:spcPts val="0"/>
              </a:spcBef>
              <a:buSzTx/>
              <a:buNone/>
              <a:defRPr b="1" spc="-44">
                <a:latin typeface="AvenirNext-DemiBold"/>
                <a:ea typeface="AvenirNext-DemiBold"/>
                <a:cs typeface="AvenirNext-DemiBold"/>
                <a:sym typeface="AvenirNext-DemiBold"/>
              </a:defRPr>
            </a:lvl1pPr>
          </a:lstStyle>
          <a:p>
            <a:r>
              <a:t>속성</a:t>
            </a:r>
          </a:p>
        </p:txBody>
      </p:sp>
      <p:sp>
        <p:nvSpPr>
          <p:cNvPr id="136" name="Body Level One…"/>
          <p:cNvSpPr txBox="1">
            <a:spLocks noGrp="1"/>
          </p:cNvSpPr>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Canela Bold"/>
                <a:ea typeface="Canela Bold"/>
                <a:cs typeface="Canela Bold"/>
                <a:sym typeface="Canela Bold"/>
              </a:defRPr>
            </a:lvl1pPr>
            <a:lvl2pPr marL="0" indent="457200" algn="ctr" defTabSz="2438400">
              <a:lnSpc>
                <a:spcPct val="80000"/>
              </a:lnSpc>
              <a:spcBef>
                <a:spcPts val="0"/>
              </a:spcBef>
              <a:buSzTx/>
              <a:buNone/>
              <a:defRPr sz="8400">
                <a:latin typeface="Canela Bold"/>
                <a:ea typeface="Canela Bold"/>
                <a:cs typeface="Canela Bold"/>
                <a:sym typeface="Canela Bold"/>
              </a:defRPr>
            </a:lvl2pPr>
            <a:lvl3pPr marL="0" indent="914400" algn="ctr" defTabSz="2438400">
              <a:lnSpc>
                <a:spcPct val="80000"/>
              </a:lnSpc>
              <a:spcBef>
                <a:spcPts val="0"/>
              </a:spcBef>
              <a:buSzTx/>
              <a:buNone/>
              <a:defRPr sz="8400">
                <a:latin typeface="Canela Bold"/>
                <a:ea typeface="Canela Bold"/>
                <a:cs typeface="Canela Bold"/>
                <a:sym typeface="Canela Bold"/>
              </a:defRPr>
            </a:lvl3pPr>
            <a:lvl4pPr marL="0" indent="1371600" algn="ctr" defTabSz="2438400">
              <a:lnSpc>
                <a:spcPct val="80000"/>
              </a:lnSpc>
              <a:spcBef>
                <a:spcPts val="0"/>
              </a:spcBef>
              <a:buSzTx/>
              <a:buNone/>
              <a:defRPr sz="8400">
                <a:latin typeface="Canela Bold"/>
                <a:ea typeface="Canela Bold"/>
                <a:cs typeface="Canela Bold"/>
                <a:sym typeface="Canela Bold"/>
              </a:defRPr>
            </a:lvl4pPr>
            <a:lvl5pPr marL="0" indent="1828800" algn="ctr" defTabSz="2438400">
              <a:lnSpc>
                <a:spcPct val="80000"/>
              </a:lnSpc>
              <a:spcBef>
                <a:spcPts val="0"/>
              </a:spcBef>
              <a:buSzTx/>
              <a:buNone/>
              <a:defRPr sz="8400">
                <a:latin typeface="Canela Bold"/>
                <a:ea typeface="Canela Bold"/>
                <a:cs typeface="Canela Bold"/>
                <a:sym typeface="Canela Bold"/>
              </a:defRPr>
            </a:lvl5pPr>
          </a:lstStyle>
          <a:p>
            <a:r>
              <a:t>“멋진 인용구”</a:t>
            </a:r>
          </a:p>
          <a:p>
            <a:pPr lvl="1"/>
            <a:endParaRPr/>
          </a:p>
          <a:p>
            <a:pPr lvl="2"/>
            <a:endParaRPr/>
          </a:p>
          <a:p>
            <a:pPr lvl="3"/>
            <a:endParaRPr/>
          </a:p>
          <a:p>
            <a:pPr lvl="4"/>
            <a:endParaRPr/>
          </a:p>
        </p:txBody>
      </p:sp>
      <p:sp>
        <p:nvSpPr>
          <p:cNvPr id="13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사진 - 3장">
    <p:spTree>
      <p:nvGrpSpPr>
        <p:cNvPr id="1" name=""/>
        <p:cNvGrpSpPr/>
        <p:nvPr/>
      </p:nvGrpSpPr>
      <p:grpSpPr>
        <a:xfrm>
          <a:off x="0" y="0"/>
          <a:ext cx="0" cy="0"/>
          <a:chOff x="0" y="0"/>
          <a:chExt cx="0" cy="0"/>
        </a:xfrm>
      </p:grpSpPr>
      <p:sp>
        <p:nvSpPr>
          <p:cNvPr id="144" name="해 질 무렵의 하늘을 배경으로 둔 바다 2"/>
          <p:cNvSpPr>
            <a:spLocks noGrp="1"/>
          </p:cNvSpPr>
          <p:nvPr>
            <p:ph type="pic" sz="quarter" idx="21"/>
          </p:nvPr>
        </p:nvSpPr>
        <p:spPr>
          <a:xfrm>
            <a:off x="15744825" y="5581752"/>
            <a:ext cx="7365408" cy="8280401"/>
          </a:xfrm>
          <a:prstGeom prst="rect">
            <a:avLst/>
          </a:prstGeom>
        </p:spPr>
        <p:txBody>
          <a:bodyPr lIns="91439" tIns="45719" rIns="91439" bIns="45719">
            <a:noAutofit/>
          </a:bodyPr>
          <a:lstStyle/>
          <a:p>
            <a:endParaRPr/>
          </a:p>
        </p:txBody>
      </p:sp>
      <p:sp>
        <p:nvSpPr>
          <p:cNvPr id="145" name="해 질 무렵의 하늘을 배경으로 둔 바다 1"/>
          <p:cNvSpPr>
            <a:spLocks noGrp="1"/>
          </p:cNvSpPr>
          <p:nvPr>
            <p:ph type="pic" sz="quarter" idx="22"/>
          </p:nvPr>
        </p:nvSpPr>
        <p:spPr>
          <a:xfrm>
            <a:off x="15363825" y="1270000"/>
            <a:ext cx="8115300" cy="5409006"/>
          </a:xfrm>
          <a:prstGeom prst="rect">
            <a:avLst/>
          </a:prstGeom>
        </p:spPr>
        <p:txBody>
          <a:bodyPr lIns="91439" tIns="45719" rIns="91439" bIns="45719">
            <a:noAutofit/>
          </a:bodyPr>
          <a:lstStyle/>
          <a:p>
            <a:endParaRPr/>
          </a:p>
        </p:txBody>
      </p:sp>
      <p:sp>
        <p:nvSpPr>
          <p:cNvPr id="146" name="해 질 무렵의 해변과 바다"/>
          <p:cNvSpPr>
            <a:spLocks noGrp="1"/>
          </p:cNvSpPr>
          <p:nvPr>
            <p:ph type="pic" idx="23"/>
          </p:nvPr>
        </p:nvSpPr>
        <p:spPr>
          <a:xfrm>
            <a:off x="-63500" y="1270000"/>
            <a:ext cx="16764000" cy="111760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사진">
    <p:spTree>
      <p:nvGrpSpPr>
        <p:cNvPr id="1" name=""/>
        <p:cNvGrpSpPr/>
        <p:nvPr/>
      </p:nvGrpSpPr>
      <p:grpSpPr>
        <a:xfrm>
          <a:off x="0" y="0"/>
          <a:ext cx="0" cy="0"/>
          <a:chOff x="0" y="0"/>
          <a:chExt cx="0" cy="0"/>
        </a:xfrm>
      </p:grpSpPr>
      <p:sp>
        <p:nvSpPr>
          <p:cNvPr id="154" name="해 질 무렵의 해변과 바다"/>
          <p:cNvSpPr>
            <a:spLocks noGrp="1"/>
          </p:cNvSpPr>
          <p:nvPr>
            <p:ph type="pic" idx="21"/>
          </p:nvPr>
        </p:nvSpPr>
        <p:spPr>
          <a:xfrm>
            <a:off x="1270000" y="-423334"/>
            <a:ext cx="21844000" cy="14562668"/>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
        <p:nvSpPr>
          <p:cNvPr id="2" name="Body Level One…">
            <a:extLst>
              <a:ext uri="{FF2B5EF4-FFF2-40B4-BE49-F238E27FC236}">
                <a16:creationId xmlns:a16="http://schemas.microsoft.com/office/drawing/2014/main" id="{A8802055-71B5-DD4C-5F5C-42B4155A4E7D}"/>
              </a:ext>
            </a:extLst>
          </p:cNvPr>
          <p:cNvSpPr txBox="1">
            <a:spLocks noGrp="1"/>
          </p:cNvSpPr>
          <p:nvPr>
            <p:ph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571500" indent="-571500">
              <a:buFont typeface="Wingdings" panose="05000000000000000000" pitchFamily="2" charset="2"/>
              <a:buChar char="§"/>
              <a:defRPr/>
            </a:lvl1pPr>
            <a:lvl2pPr marL="1440000" indent="-546100">
              <a:spcBef>
                <a:spcPts val="2400"/>
              </a:spcBef>
              <a:buFont typeface="Arial" panose="020B0604020202020204" pitchFamily="34" charset="0"/>
              <a:buChar char="•"/>
              <a:defRPr sz="4000"/>
            </a:lvl2pPr>
            <a:lvl3pPr marL="2160000" indent="-546100">
              <a:buSzPct val="130000"/>
              <a:buFont typeface="Wingdings" panose="05000000000000000000" pitchFamily="2" charset="2"/>
              <a:buChar char="Ø"/>
              <a:defRPr sz="3600"/>
            </a:lvl3pPr>
          </a:lstStyle>
          <a:p>
            <a:r>
              <a:rPr dirty="0" err="1"/>
              <a:t>슬라이드</a:t>
            </a:r>
            <a:r>
              <a:rPr dirty="0"/>
              <a:t> </a:t>
            </a:r>
            <a:r>
              <a:rPr dirty="0" err="1"/>
              <a:t>구분점</a:t>
            </a:r>
            <a:r>
              <a:rPr dirty="0"/>
              <a:t> </a:t>
            </a:r>
            <a:r>
              <a:rPr dirty="0" err="1"/>
              <a:t>텍스트</a:t>
            </a:r>
            <a:endParaRPr lang="en-US" dirty="0"/>
          </a:p>
          <a:p>
            <a:pPr lvl="1"/>
            <a:r>
              <a:rPr lang="en-US" dirty="0"/>
              <a:t>TEXT</a:t>
            </a:r>
          </a:p>
          <a:p>
            <a:pPr lvl="2"/>
            <a:r>
              <a:rPr lang="en-US" dirty="0"/>
              <a:t>TEXT</a:t>
            </a:r>
          </a:p>
          <a:p>
            <a:pPr lvl="1"/>
            <a:endParaRPr lang="en-US" dirty="0"/>
          </a:p>
          <a:p>
            <a:pPr lvl="2"/>
            <a:endParaRPr dirty="0"/>
          </a:p>
          <a:p>
            <a:pPr lvl="1"/>
            <a:endParaRPr dirty="0"/>
          </a:p>
          <a:p>
            <a:pPr lvl="2"/>
            <a:endParaRPr dirty="0"/>
          </a:p>
          <a:p>
            <a:pPr lvl="3"/>
            <a:endParaRPr dirty="0"/>
          </a:p>
          <a:p>
            <a:pPr lvl="4"/>
            <a:endParaRPr dirty="0"/>
          </a:p>
        </p:txBody>
      </p:sp>
    </p:spTree>
    <p:extLst>
      <p:ext uri="{BB962C8B-B14F-4D97-AF65-F5344CB8AC3E}">
        <p14:creationId xmlns:p14="http://schemas.microsoft.com/office/powerpoint/2010/main" val="187757154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22493885" y="12947676"/>
            <a:ext cx="1320874" cy="641201"/>
          </a:xfrm>
          <a:prstGeom prst="rect">
            <a:avLst/>
          </a:prstGeom>
        </p:spPr>
        <p:txBody>
          <a:bodyPr wrap="none"/>
          <a:lstStyle/>
          <a:p>
            <a:fld id="{86CB4B4D-7CA3-9044-876B-883B54F8677D}" type="slidenum">
              <a:rPr smtClean="0"/>
              <a:t>‹#›</a:t>
            </a:fld>
            <a:r>
              <a:rPr lang="en-US" dirty="0"/>
              <a:t>/2</a:t>
            </a:r>
            <a:r>
              <a:rPr lang="en-US" altLang="ko-KR" dirty="0"/>
              <a:t>3</a:t>
            </a:r>
          </a:p>
        </p:txBody>
      </p:sp>
    </p:spTree>
    <p:extLst>
      <p:ext uri="{BB962C8B-B14F-4D97-AF65-F5344CB8AC3E}">
        <p14:creationId xmlns:p14="http://schemas.microsoft.com/office/powerpoint/2010/main" val="314698487"/>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슬라이드 제목"/>
          <p:cNvSpPr txBox="1">
            <a:spLocks noGrp="1"/>
          </p:cNvSpPr>
          <p:nvPr>
            <p:ph type="title" hasCustomPrompt="1"/>
          </p:nvPr>
        </p:nvSpPr>
        <p:spPr>
          <a:xfrm>
            <a:off x="1219200" y="774700"/>
            <a:ext cx="21945600" cy="17272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슬라이드 제목</a:t>
            </a:r>
          </a:p>
        </p:txBody>
      </p:sp>
      <p:sp>
        <p:nvSpPr>
          <p:cNvPr id="3" name="Body Level One…"/>
          <p:cNvSpPr txBox="1">
            <a:spLocks noGrp="1"/>
          </p:cNvSpPr>
          <p:nvPr>
            <p:ph type="body"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err="1"/>
              <a:t>슬라이드</a:t>
            </a:r>
            <a:r>
              <a:rPr dirty="0"/>
              <a:t> </a:t>
            </a:r>
            <a:r>
              <a:rPr dirty="0" err="1"/>
              <a:t>구분점</a:t>
            </a:r>
            <a:r>
              <a:rPr dirty="0"/>
              <a:t> </a:t>
            </a:r>
            <a:r>
              <a:rPr dirty="0" err="1"/>
              <a:t>텍스트</a:t>
            </a:r>
            <a:endParaRPr dirty="0"/>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877040" y="12418060"/>
            <a:ext cx="629921" cy="71120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3500">
                <a:solidFill>
                  <a:srgbClr val="5E5E5E"/>
                </a:solidFill>
                <a:latin typeface="+mn-lt"/>
                <a:ea typeface="+mn-ea"/>
                <a:cs typeface="+mn-cs"/>
                <a:sym typeface="Avenir Next Regular"/>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6" r:id="rId14"/>
    <p:sldLayoutId id="2147483667" r:id="rId15"/>
  </p:sldLayoutIdLst>
  <p:transition spd="med"/>
  <p:hf hdr="0" ftr="0" dt="0"/>
  <p:txStyles>
    <p:titleStyle>
      <a:lvl1pPr marL="0" marR="0" indent="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1pPr>
      <a:lvl2pPr marL="0" marR="0" indent="457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2pPr>
      <a:lvl3pPr marL="0" marR="0" indent="914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3pPr>
      <a:lvl4pPr marL="0" marR="0" indent="1371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4pPr>
      <a:lvl5pPr marL="0" marR="0" indent="18288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5pPr>
      <a:lvl6pPr marL="0" marR="0" indent="22860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6pPr>
      <a:lvl7pPr marL="0" marR="0" indent="2743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7pPr>
      <a:lvl8pPr marL="0" marR="0" indent="3200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8pPr>
      <a:lvl9pPr marL="0" marR="0" indent="3657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9pPr>
    </p:titleStyle>
    <p:bodyStyle>
      <a:lvl1pPr marL="5461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1pPr>
      <a:lvl2pPr marL="10922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2pPr>
      <a:lvl3pPr marL="16383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3pPr>
      <a:lvl4pPr marL="21844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4pPr>
      <a:lvl5pPr marL="27305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p:bodyStyle>
    <p:otherStyle>
      <a:lvl1pPr marL="0" marR="0" indent="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1pPr>
      <a:lvl2pPr marL="0" marR="0" indent="457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2pPr>
      <a:lvl3pPr marL="0" marR="0" indent="914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3pPr>
      <a:lvl4pPr marL="0" marR="0" indent="1371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4pPr>
      <a:lvl5pPr marL="0" marR="0" indent="18288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5pPr>
      <a:lvl6pPr marL="0" marR="0" indent="22860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6pPr>
      <a:lvl7pPr marL="0" marR="0" indent="2743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7pPr>
      <a:lvl8pPr marL="0" marR="0" indent="3200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8pPr>
      <a:lvl9pPr marL="0" marR="0" indent="3657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7.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14.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15.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image" Target="../media/image16.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22755-6404-6BD5-C1E7-7E97B8626164}"/>
            </a:ext>
          </a:extLst>
        </p:cNvPr>
        <p:cNvGrpSpPr/>
        <p:nvPr/>
      </p:nvGrpSpPr>
      <p:grpSpPr>
        <a:xfrm>
          <a:off x="0" y="0"/>
          <a:ext cx="0" cy="0"/>
          <a:chOff x="0" y="0"/>
          <a:chExt cx="0" cy="0"/>
        </a:xfrm>
      </p:grpSpPr>
      <p:sp>
        <p:nvSpPr>
          <p:cNvPr id="174" name="Intelligent Radio Sensing Lab. (IRS Lab)…">
            <a:extLst>
              <a:ext uri="{FF2B5EF4-FFF2-40B4-BE49-F238E27FC236}">
                <a16:creationId xmlns:a16="http://schemas.microsoft.com/office/drawing/2014/main" id="{2A0768BC-77C5-2C8F-FD38-7C79DD42D6D4}"/>
              </a:ext>
            </a:extLst>
          </p:cNvPr>
          <p:cNvSpPr txBox="1">
            <a:spLocks noGrp="1"/>
          </p:cNvSpPr>
          <p:nvPr>
            <p:ph type="body" idx="21"/>
          </p:nvPr>
        </p:nvSpPr>
        <p:spPr>
          <a:xfrm>
            <a:off x="1219200" y="8535303"/>
            <a:ext cx="21945600" cy="255061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a:bodyPr>
          <a:lstStyle/>
          <a:p>
            <a:pPr defTabSz="775969">
              <a:defRPr sz="4700" spc="-47"/>
            </a:pPr>
            <a:r>
              <a:rPr dirty="0">
                <a:latin typeface="Arial" panose="020B0604020202020204" pitchFamily="34" charset="0"/>
                <a:cs typeface="Arial" panose="020B0604020202020204" pitchFamily="34" charset="0"/>
              </a:rPr>
              <a:t>Intelligent Radio Sensing Lab. (IRS Lab)</a:t>
            </a:r>
            <a:endParaRPr lang="en-US" dirty="0">
              <a:latin typeface="Arial" panose="020B0604020202020204" pitchFamily="34" charset="0"/>
              <a:cs typeface="Arial" panose="020B0604020202020204" pitchFamily="34" charset="0"/>
            </a:endParaRPr>
          </a:p>
          <a:p>
            <a:pPr defTabSz="775969">
              <a:defRPr sz="4700" spc="-47"/>
            </a:pPr>
            <a:r>
              <a:rPr lang="en-US" dirty="0">
                <a:latin typeface="Arial" panose="020B0604020202020204" pitchFamily="34" charset="0"/>
                <a:cs typeface="Arial" panose="020B0604020202020204" pitchFamily="34" charset="0"/>
              </a:rPr>
              <a:t>Department of Electrical Engineering and Computer Science</a:t>
            </a:r>
          </a:p>
          <a:p>
            <a:pPr defTabSz="775969">
              <a:defRPr sz="4700" spc="-47"/>
            </a:pPr>
            <a:r>
              <a:rPr lang="en-US" dirty="0">
                <a:latin typeface="Arial" panose="020B0604020202020204" pitchFamily="34" charset="0"/>
                <a:cs typeface="Arial" panose="020B0604020202020204" pitchFamily="34" charset="0"/>
              </a:rPr>
              <a:t>DGIST</a:t>
            </a:r>
            <a:endParaRPr lang="ko-KR" altLang="en-US" dirty="0">
              <a:latin typeface="Arial" panose="020B0604020202020204" pitchFamily="34" charset="0"/>
              <a:cs typeface="Arial" panose="020B0604020202020204" pitchFamily="34" charset="0"/>
            </a:endParaRPr>
          </a:p>
        </p:txBody>
      </p:sp>
      <p:sp>
        <p:nvSpPr>
          <p:cNvPr id="175" name="Title">
            <a:extLst>
              <a:ext uri="{FF2B5EF4-FFF2-40B4-BE49-F238E27FC236}">
                <a16:creationId xmlns:a16="http://schemas.microsoft.com/office/drawing/2014/main" id="{FEF69C24-0A71-478B-4622-AF755BE20C66}"/>
              </a:ext>
            </a:extLst>
          </p:cNvPr>
          <p:cNvSpPr txBox="1">
            <a:spLocks noGrp="1"/>
          </p:cNvSpPr>
          <p:nvPr>
            <p:ph type="ctrTitle"/>
          </p:nvPr>
        </p:nvSpPr>
        <p:spPr>
          <a:xfrm>
            <a:off x="1219200" y="3358256"/>
            <a:ext cx="21945600" cy="2412647"/>
          </a:xfrm>
          <a:prstGeom prst="rect">
            <a:avLst/>
          </a:prstGeom>
        </p:spPr>
        <p:txBody>
          <a:bodyPr>
            <a:normAutofit/>
          </a:bodyPr>
          <a:lstStyle>
            <a:lvl1pPr algn="ctr">
              <a:defRPr sz="11500" spc="-115">
                <a:latin typeface="+mn-lt"/>
                <a:ea typeface="+mn-ea"/>
                <a:cs typeface="+mn-cs"/>
                <a:sym typeface="Avenir Next Regular"/>
              </a:defRPr>
            </a:lvl1pPr>
          </a:lstStyle>
          <a:p>
            <a:r>
              <a:rPr lang="en-US" altLang="ko-KR" sz="8800" dirty="0"/>
              <a:t>Team Meeting</a:t>
            </a:r>
            <a:endParaRPr lang="ko-KR" altLang="en-US" sz="8800" dirty="0">
              <a:latin typeface="Arial" panose="020B0604020202020204" pitchFamily="34" charset="0"/>
              <a:cs typeface="Arial" panose="020B0604020202020204" pitchFamily="34" charset="0"/>
            </a:endParaRPr>
          </a:p>
        </p:txBody>
      </p:sp>
      <p:sp>
        <p:nvSpPr>
          <p:cNvPr id="176" name="Name">
            <a:extLst>
              <a:ext uri="{FF2B5EF4-FFF2-40B4-BE49-F238E27FC236}">
                <a16:creationId xmlns:a16="http://schemas.microsoft.com/office/drawing/2014/main" id="{0BF5DE56-8C9C-68F7-1AAA-48628C929F2B}"/>
              </a:ext>
            </a:extLst>
          </p:cNvPr>
          <p:cNvSpPr txBox="1">
            <a:spLocks noGrp="1"/>
          </p:cNvSpPr>
          <p:nvPr>
            <p:ph type="subTitle" sz="quarter" idx="1"/>
          </p:nvPr>
        </p:nvSpPr>
        <p:spPr>
          <a:xfrm>
            <a:off x="1196898" y="6342708"/>
            <a:ext cx="21945600" cy="2475652"/>
          </a:xfrm>
          <a:prstGeom prst="rect">
            <a:avLst/>
          </a:prstGeom>
        </p:spPr>
        <p:txBody>
          <a:bodyPr>
            <a:normAutofit/>
          </a:bodyPr>
          <a:lstStyle>
            <a:lvl1pPr>
              <a:defRPr sz="6800" spc="-68"/>
            </a:lvl1pPr>
          </a:lstStyle>
          <a:p>
            <a:r>
              <a:rPr lang="en-US" sz="4400" dirty="0" err="1">
                <a:latin typeface="Arial" panose="020B0604020202020204" pitchFamily="34" charset="0"/>
                <a:cs typeface="Arial" panose="020B0604020202020204" pitchFamily="34" charset="0"/>
              </a:rPr>
              <a:t>Yunjung</a:t>
            </a:r>
            <a:r>
              <a:rPr lang="en-US" sz="4400" dirty="0">
                <a:latin typeface="Arial" panose="020B0604020202020204" pitchFamily="34" charset="0"/>
                <a:cs typeface="Arial" panose="020B0604020202020204" pitchFamily="34" charset="0"/>
              </a:rPr>
              <a:t> Jeong</a:t>
            </a:r>
          </a:p>
        </p:txBody>
      </p:sp>
      <p:pic>
        <p:nvPicPr>
          <p:cNvPr id="178" name="ui_kor_eng.svg" descr="ui_kor_eng.svg">
            <a:extLst>
              <a:ext uri="{FF2B5EF4-FFF2-40B4-BE49-F238E27FC236}">
                <a16:creationId xmlns:a16="http://schemas.microsoft.com/office/drawing/2014/main" id="{D19F379D-ACF2-BC9C-AC4C-88D448E95317}"/>
              </a:ext>
            </a:extLst>
          </p:cNvPr>
          <p:cNvPicPr>
            <a:picLocks noChangeAspect="1"/>
          </p:cNvPicPr>
          <p:nvPr/>
        </p:nvPicPr>
        <p:blipFill>
          <a:blip r:embed="rId3"/>
          <a:srcRect l="20301" t="62673" r="49648" b="28626"/>
          <a:stretch>
            <a:fillRect/>
          </a:stretch>
        </p:blipFill>
        <p:spPr>
          <a:xfrm>
            <a:off x="290004" y="123643"/>
            <a:ext cx="3109180" cy="1227469"/>
          </a:xfrm>
          <a:prstGeom prst="rect">
            <a:avLst/>
          </a:prstGeom>
          <a:ln w="12700">
            <a:miter lim="400000"/>
          </a:ln>
        </p:spPr>
      </p:pic>
      <p:sp>
        <p:nvSpPr>
          <p:cNvPr id="4" name="Name">
            <a:extLst>
              <a:ext uri="{FF2B5EF4-FFF2-40B4-BE49-F238E27FC236}">
                <a16:creationId xmlns:a16="http://schemas.microsoft.com/office/drawing/2014/main" id="{DCA5BEBF-35EA-CB12-2A3F-CA4921AF5198}"/>
              </a:ext>
            </a:extLst>
          </p:cNvPr>
          <p:cNvSpPr txBox="1">
            <a:spLocks/>
          </p:cNvSpPr>
          <p:nvPr/>
        </p:nvSpPr>
        <p:spPr>
          <a:xfrm>
            <a:off x="1219200" y="7410006"/>
            <a:ext cx="21945600" cy="22505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ctr" defTabSz="825500" rtl="0" latinLnBrk="0">
              <a:lnSpc>
                <a:spcPct val="100000"/>
              </a:lnSpc>
              <a:spcBef>
                <a:spcPts val="0"/>
              </a:spcBef>
              <a:spcAft>
                <a:spcPts val="0"/>
              </a:spcAft>
              <a:buClrTx/>
              <a:buSzTx/>
              <a:buFontTx/>
              <a:buNone/>
              <a:tabLst/>
              <a:defRPr sz="6800" b="1" i="0" u="none" strike="noStrike" cap="none" spc="-68" baseline="0">
                <a:solidFill>
                  <a:srgbClr val="000000"/>
                </a:solidFill>
                <a:uFillTx/>
                <a:latin typeface="AvenirNext-DemiBold"/>
                <a:ea typeface="AvenirNext-DemiBold"/>
                <a:cs typeface="AvenirNext-DemiBold"/>
                <a:sym typeface="AvenirNext-DemiBold"/>
              </a:defRPr>
            </a:lvl1pPr>
            <a:lvl2pPr marL="0" marR="0" indent="4572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2pPr>
            <a:lvl3pPr marL="0" marR="0" indent="9144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3pPr>
            <a:lvl4pPr marL="0" marR="0" indent="13716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4pPr>
            <a:lvl5pPr marL="0" marR="0" indent="18288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a:lstStyle>
          <a:p>
            <a:pPr hangingPunct="1"/>
            <a:r>
              <a:rPr lang="en-US" sz="4000" dirty="0">
                <a:latin typeface="Arial" panose="020B0604020202020204" pitchFamily="34" charset="0"/>
                <a:cs typeface="Arial" panose="020B0604020202020204" pitchFamily="34" charset="0"/>
              </a:rPr>
              <a:t>2026. 07. 14</a:t>
            </a:r>
          </a:p>
        </p:txBody>
      </p:sp>
    </p:spTree>
    <p:extLst>
      <p:ext uri="{BB962C8B-B14F-4D97-AF65-F5344CB8AC3E}">
        <p14:creationId xmlns:p14="http://schemas.microsoft.com/office/powerpoint/2010/main" val="2562497968"/>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dirty="0">
                <a:latin typeface="AvenirNext-DemiBold"/>
                <a:ea typeface="AvenirNext-DemiBold"/>
                <a:cs typeface="AvenirNext-DemiBold"/>
              </a:rPr>
              <a:t>Last Meeting</a:t>
            </a:r>
            <a:endParaRPr lang="en-US" altLang="ko-KR" sz="5200" b="1" i="0" dirty="0">
              <a:solidFill>
                <a:srgbClr val="000000"/>
              </a:solidFill>
              <a:latin typeface="AvenirNext-DemiBold"/>
              <a:ea typeface="AvenirNext-DemiBold"/>
              <a:cs typeface="AvenirNext-DemiBold"/>
            </a:endParaRPr>
          </a:p>
        </p:txBody>
      </p:sp>
      <p:sp>
        <p:nvSpPr>
          <p:cNvPr id="14" name="Bullets"/>
          <p:cNvSpPr txBox="1">
            <a:spLocks/>
          </p:cNvSpPr>
          <p:nvPr/>
        </p:nvSpPr>
        <p:spPr>
          <a:xfrm>
            <a:off x="720000" y="2820000"/>
            <a:ext cx="22944000" cy="8400000"/>
          </a:xfrm>
          <a:prstGeom prst="rect">
            <a:avLst/>
          </a:prstGeom>
        </p:spPr>
        <p:txBody>
          <a:bodyPr lIns="50800" tIns="30000" rIns="50800" bIns="30000" anchor="t">
            <a:noAutofit/>
          </a:bodyPr>
          <a:lstStyle/>
          <a:p>
            <a:pPr marL="600000" indent="-600000" algn="l">
              <a:spcBef>
                <a:spcPts val="1900"/>
              </a:spcBef>
              <a:buFont typeface="Arial"/>
              <a:buChar char="•"/>
            </a:pPr>
            <a:r>
              <a:rPr lang="en-US" altLang="ko-KR" sz="4000" b="1" i="0" dirty="0">
                <a:solidFill>
                  <a:srgbClr val="26448A"/>
                </a:solidFill>
                <a:latin typeface="Avenir Next Medium"/>
                <a:ea typeface="Avenir Next Medium"/>
                <a:cs typeface="Avenir Next Medium"/>
              </a:rPr>
              <a:t>What I </a:t>
            </a:r>
            <a:r>
              <a:rPr lang="en-US" altLang="ko-KR" sz="4000" b="1" dirty="0">
                <a:solidFill>
                  <a:srgbClr val="26448A"/>
                </a:solidFill>
              </a:rPr>
              <a:t>did</a:t>
            </a:r>
            <a:endParaRPr lang="en-US" altLang="ko-KR" sz="4000" b="1" i="0" dirty="0">
              <a:solidFill>
                <a:srgbClr val="26448A"/>
              </a:solidFill>
              <a:latin typeface="Avenir Next Medium"/>
              <a:ea typeface="Avenir Next Medium"/>
              <a:cs typeface="Avenir Next Medium"/>
            </a:endParaRPr>
          </a:p>
          <a:p>
            <a:pPr marL="1260000" indent="-660000" algn="l">
              <a:spcBef>
                <a:spcPts val="900"/>
              </a:spcBef>
              <a:buFont typeface="Wingdings"/>
              <a:buChar char="Ø"/>
            </a:pPr>
            <a:r>
              <a:rPr lang="en-US" altLang="ko-KR" sz="3400" b="0" i="0" dirty="0">
                <a:solidFill>
                  <a:srgbClr val="000000"/>
                </a:solidFill>
                <a:latin typeface="Avenir Next Medium"/>
                <a:ea typeface="Avenir Next Medium"/>
                <a:cs typeface="Avenir Next Medium"/>
              </a:rPr>
              <a:t>Drone selection — Mavic 4 Pro vs Matrice 4E (echo vs RTK ground truth)</a:t>
            </a:r>
          </a:p>
          <a:p>
            <a:pPr marL="1260000" indent="-660000" algn="l">
              <a:spcBef>
                <a:spcPts val="900"/>
              </a:spcBef>
              <a:buFont typeface="Wingdings"/>
              <a:buChar char="Ø"/>
            </a:pPr>
            <a:r>
              <a:rPr lang="en-US" altLang="ko-KR" sz="3400" dirty="0"/>
              <a:t>Reviewed LaSen (SenSys '26) — the one 5G tracking paper, with RTK ground truth</a:t>
            </a:r>
            <a:endParaRPr lang="en-US" altLang="ko-KR" sz="3400" b="0" i="0" dirty="0">
              <a:solidFill>
                <a:srgbClr val="000000"/>
              </a:solidFill>
              <a:latin typeface="Avenir Next Medium"/>
              <a:ea typeface="Avenir Next Medium"/>
              <a:cs typeface="Avenir Next Medium"/>
            </a:endParaRPr>
          </a:p>
          <a:p>
            <a:pPr marL="600000" indent="-600000" algn="l">
              <a:spcBef>
                <a:spcPts val="1900"/>
              </a:spcBef>
              <a:buFont typeface="Arial"/>
              <a:buChar char="•"/>
            </a:pPr>
            <a:endParaRPr lang="en-US" altLang="ko-KR" sz="4000" b="1" i="0" dirty="0">
              <a:solidFill>
                <a:srgbClr val="26448A"/>
              </a:solidFill>
              <a:latin typeface="Avenir Next Medium"/>
              <a:ea typeface="Avenir Next Medium"/>
              <a:cs typeface="Avenir Next Medium"/>
            </a:endParaRPr>
          </a:p>
          <a:p>
            <a:pPr marL="600000" indent="-600000" algn="l">
              <a:spcBef>
                <a:spcPts val="1900"/>
              </a:spcBef>
              <a:buFont typeface="Arial"/>
              <a:buChar char="•"/>
            </a:pPr>
            <a:r>
              <a:rPr lang="en-US" altLang="ko-KR" sz="4000" b="1" i="0" dirty="0">
                <a:solidFill>
                  <a:srgbClr val="26448A"/>
                </a:solidFill>
                <a:latin typeface="Avenir Next Medium"/>
                <a:ea typeface="Avenir Next Medium"/>
                <a:cs typeface="Avenir Next Medium"/>
              </a:rPr>
              <a:t>What I planned</a:t>
            </a:r>
          </a:p>
          <a:p>
            <a:pPr marL="1260000" indent="-660000" algn="l">
              <a:spcBef>
                <a:spcPts val="900"/>
              </a:spcBef>
              <a:buFont typeface="Wingdings"/>
              <a:buChar char="Ø"/>
            </a:pPr>
            <a:r>
              <a:rPr lang="en-US" altLang="ko-KR" sz="3400" b="0" i="0" dirty="0">
                <a:solidFill>
                  <a:srgbClr val="000000"/>
                </a:solidFill>
                <a:latin typeface="Avenir Next Medium"/>
                <a:ea typeface="Avenir Next Medium"/>
                <a:cs typeface="Avenir Next Medium"/>
              </a:rPr>
              <a:t>Three parallel tracks — PHY anatomy, AI self-study, and the Sionna simulation</a:t>
            </a:r>
          </a:p>
          <a:p>
            <a:pPr marL="1260000" indent="-660000" algn="l">
              <a:spcBef>
                <a:spcPts val="900"/>
              </a:spcBef>
              <a:buFont typeface="Wingdings"/>
              <a:buChar char="Ø"/>
            </a:pPr>
            <a:r>
              <a:rPr lang="en-US" altLang="ko-KR" sz="3400" b="0" i="0" dirty="0">
                <a:solidFill>
                  <a:srgbClr val="000000"/>
                </a:solidFill>
                <a:latin typeface="Avenir Next Medium"/>
                <a:ea typeface="Avenir Next Medium"/>
                <a:cs typeface="Avenir Next Medium"/>
              </a:rPr>
              <a:t>Sionna: a controlled RD-map detection benchmark</a:t>
            </a:r>
          </a:p>
          <a:p>
            <a:pPr marL="1260000" indent="-660000" algn="l">
              <a:spcBef>
                <a:spcPts val="900"/>
              </a:spcBef>
              <a:buFont typeface="Wingdings"/>
              <a:buChar char="Ø"/>
            </a:pPr>
            <a:endParaRPr lang="en-US" altLang="ko-KR" sz="4000" b="1" i="0" dirty="0">
              <a:solidFill>
                <a:srgbClr val="26448A"/>
              </a:solidFill>
              <a:latin typeface="Avenir Next Medium"/>
              <a:ea typeface="Avenir Next Medium"/>
              <a:cs typeface="Avenir Next Medium"/>
            </a:endParaRPr>
          </a:p>
          <a:p>
            <a:pPr marL="600000" indent="-600000" algn="l">
              <a:spcBef>
                <a:spcPts val="1900"/>
              </a:spcBef>
              <a:buFont typeface="Arial"/>
              <a:buChar char="•"/>
            </a:pPr>
            <a:r>
              <a:rPr lang="en-US" altLang="ko-KR" sz="4000" b="1" i="0" dirty="0">
                <a:solidFill>
                  <a:srgbClr val="26448A"/>
                </a:solidFill>
                <a:latin typeface="Avenir Next Medium"/>
                <a:ea typeface="Avenir Next Medium"/>
                <a:cs typeface="Avenir Next Medium"/>
              </a:rPr>
              <a:t>Today</a:t>
            </a:r>
          </a:p>
          <a:p>
            <a:pPr marL="1260000" indent="-660000" algn="l">
              <a:spcBef>
                <a:spcPts val="900"/>
              </a:spcBef>
              <a:buFont typeface="Wingdings"/>
              <a:buChar char="Ø"/>
            </a:pPr>
            <a:r>
              <a:rPr lang="en-US" altLang="ko-KR" sz="3400" b="0" i="0" dirty="0">
                <a:solidFill>
                  <a:srgbClr val="000000"/>
                </a:solidFill>
                <a:latin typeface="Avenir Next Medium"/>
                <a:ea typeface="Avenir Next Medium"/>
                <a:cs typeface="Avenir Next Medium"/>
              </a:rPr>
              <a:t>Progress on Sionna — three stages now built (environment → radar → micro-Doppler)</a:t>
            </a:r>
          </a:p>
          <a:p>
            <a:pPr marL="1260000" indent="-660000" algn="l">
              <a:spcBef>
                <a:spcPts val="900"/>
              </a:spcBef>
              <a:buFont typeface="Wingdings"/>
              <a:buChar char="Ø"/>
            </a:pPr>
            <a:r>
              <a:rPr lang="en-US" altLang="ko-KR" sz="3400" dirty="0"/>
              <a:t>Paper Introduction  </a:t>
            </a:r>
            <a:r>
              <a:rPr lang="en-US" altLang="ko-KR" sz="3400" b="0" i="0" dirty="0">
                <a:solidFill>
                  <a:srgbClr val="000000"/>
                </a:solidFill>
                <a:latin typeface="Avenir Next Medium"/>
                <a:ea typeface="Avenir Next Medium"/>
                <a:cs typeface="Avenir Next Medium"/>
              </a:rPr>
              <a:t>— From Denoising to De-Channeling (ICML 2026 Spotlight)</a:t>
            </a:r>
          </a:p>
        </p:txBody>
      </p:sp>
      <p:sp>
        <p:nvSpPr>
          <p:cNvPr id="3" name="Tag">
            <a:extLst>
              <a:ext uri="{FF2B5EF4-FFF2-40B4-BE49-F238E27FC236}">
                <a16:creationId xmlns:a16="http://schemas.microsoft.com/office/drawing/2014/main" id="{1FB3B99C-7F01-F4A5-EB67-C11BE3507E1A}"/>
              </a:ext>
            </a:extLst>
          </p:cNvPr>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Recap</a:t>
            </a:r>
          </a:p>
        </p:txBody>
      </p:sp>
      <p:sp>
        <p:nvSpPr>
          <p:cNvPr id="4" name="슬라이드 번호 개체 틀 3">
            <a:extLst>
              <a:ext uri="{FF2B5EF4-FFF2-40B4-BE49-F238E27FC236}">
                <a16:creationId xmlns:a16="http://schemas.microsoft.com/office/drawing/2014/main" id="{6F31C79B-AA14-B5C0-E1E5-438903C06C75}"/>
              </a:ext>
            </a:extLst>
          </p:cNvPr>
          <p:cNvSpPr>
            <a:spLocks noGrp="1"/>
          </p:cNvSpPr>
          <p:nvPr>
            <p:ph type="sldNum" sz="quarter" idx="2"/>
          </p:nvPr>
        </p:nvSpPr>
        <p:spPr/>
        <p:txBody>
          <a:bodyPr/>
          <a:lstStyle/>
          <a:p>
            <a:fld id="{86CB4B4D-7CA3-9044-876B-883B54F8677D}" type="slidenum">
              <a:rPr lang="en-US" altLang="ko-KR" smtClean="0"/>
              <a:t>2</a:t>
            </a:fld>
            <a:r>
              <a:rPr lang="en-US" altLang="ko-KR"/>
              <a:t>/21</a:t>
            </a:r>
            <a:endParaRPr lang="ko-KR"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Today</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dirty="0">
                <a:latin typeface="AvenirNext-DemiBold"/>
                <a:ea typeface="AvenirNext-DemiBold"/>
                <a:cs typeface="AvenirNext-DemiBold"/>
              </a:rPr>
              <a:t>Contents</a:t>
            </a:r>
            <a:endParaRPr lang="en-US" altLang="ko-KR" sz="5200" b="1" i="0" dirty="0">
              <a:solidFill>
                <a:srgbClr val="000000"/>
              </a:solidFill>
              <a:latin typeface="AvenirNext-DemiBold"/>
              <a:ea typeface="AvenirNext-DemiBold"/>
              <a:cs typeface="AvenirNext-DemiBold"/>
            </a:endParaRPr>
          </a:p>
        </p:txBody>
      </p:sp>
      <p:sp>
        <p:nvSpPr>
          <p:cNvPr id="14" name="Bullets"/>
          <p:cNvSpPr txBox="1">
            <a:spLocks/>
          </p:cNvSpPr>
          <p:nvPr/>
        </p:nvSpPr>
        <p:spPr>
          <a:xfrm>
            <a:off x="720000" y="2850000"/>
            <a:ext cx="22944000" cy="8600000"/>
          </a:xfrm>
          <a:prstGeom prst="rect">
            <a:avLst/>
          </a:prstGeom>
        </p:spPr>
        <p:txBody>
          <a:bodyPr lIns="50800" tIns="30000" rIns="50800" bIns="30000" anchor="t">
            <a:noAutofit/>
          </a:bodyPr>
          <a:lstStyle/>
          <a:p>
            <a:pPr marL="600000" indent="-600000" algn="l">
              <a:spcBef>
                <a:spcPts val="1900"/>
              </a:spcBef>
              <a:buFont typeface="Arial"/>
              <a:buChar char="•"/>
            </a:pPr>
            <a:r>
              <a:rPr lang="en-US" altLang="ko-KR" sz="4800" b="1" i="0" dirty="0">
                <a:solidFill>
                  <a:srgbClr val="26448A"/>
                </a:solidFill>
                <a:latin typeface="Avenir Next Medium"/>
                <a:ea typeface="Avenir Next Medium"/>
                <a:cs typeface="Avenir Next Medium"/>
              </a:rPr>
              <a:t>1 · Sionna Progress</a:t>
            </a:r>
          </a:p>
          <a:p>
            <a:pPr marL="1260000" indent="-660000" algn="l">
              <a:spcBef>
                <a:spcPts val="900"/>
              </a:spcBef>
              <a:buFont typeface="Wingdings"/>
              <a:buChar char="Ø"/>
            </a:pPr>
            <a:r>
              <a:rPr lang="en-US" altLang="ko-KR" sz="4000" b="0" i="0" dirty="0">
                <a:solidFill>
                  <a:srgbClr val="000000"/>
                </a:solidFill>
                <a:latin typeface="Avenir Next Medium"/>
                <a:ea typeface="Avenir Next Medium"/>
                <a:cs typeface="Avenir Next Medium"/>
              </a:rPr>
              <a:t>Three stages — environment, illuminators (Wi-Fi / LTE / 5G), and micro-Doppler</a:t>
            </a:r>
          </a:p>
          <a:p>
            <a:pPr marL="600000" indent="-600000" algn="l">
              <a:spcBef>
                <a:spcPts val="1000"/>
              </a:spcBef>
              <a:buFont typeface="Arial"/>
              <a:buChar char="•"/>
            </a:pPr>
            <a:endParaRPr lang="en-US" altLang="ko-KR" sz="2400" b="1" i="0" dirty="0">
              <a:solidFill>
                <a:srgbClr val="26448A"/>
              </a:solidFill>
              <a:latin typeface="Avenir Next Medium"/>
              <a:ea typeface="Avenir Next Medium"/>
              <a:cs typeface="Avenir Next Medium"/>
            </a:endParaRPr>
          </a:p>
          <a:p>
            <a:pPr marL="600000" indent="-600000" algn="l">
              <a:spcBef>
                <a:spcPts val="1900"/>
              </a:spcBef>
              <a:buFont typeface="Arial"/>
              <a:buChar char="•"/>
            </a:pPr>
            <a:endParaRPr lang="en-US" altLang="ko-KR" sz="4800" b="1" i="0" dirty="0">
              <a:solidFill>
                <a:srgbClr val="26448A"/>
              </a:solidFill>
              <a:latin typeface="Avenir Next Medium"/>
              <a:ea typeface="Avenir Next Medium"/>
              <a:cs typeface="Avenir Next Medium"/>
            </a:endParaRPr>
          </a:p>
          <a:p>
            <a:pPr marL="600000" indent="-600000" algn="l">
              <a:spcBef>
                <a:spcPts val="1900"/>
              </a:spcBef>
              <a:buFont typeface="Arial"/>
              <a:buChar char="•"/>
            </a:pPr>
            <a:r>
              <a:rPr lang="en-US" altLang="ko-KR" sz="4800" b="1" i="0" dirty="0">
                <a:solidFill>
                  <a:srgbClr val="26448A"/>
                </a:solidFill>
                <a:latin typeface="Avenir Next Medium"/>
                <a:ea typeface="Avenir Next Medium"/>
                <a:cs typeface="Avenir Next Medium"/>
              </a:rPr>
              <a:t>2 · Paper </a:t>
            </a:r>
            <a:r>
              <a:rPr lang="en-US" altLang="ko-KR" sz="4800" b="1" dirty="0">
                <a:solidFill>
                  <a:srgbClr val="26448A"/>
                </a:solidFill>
              </a:rPr>
              <a:t>Introduction</a:t>
            </a:r>
            <a:endParaRPr lang="en-US" altLang="ko-KR" sz="4800" b="1" i="0" dirty="0">
              <a:solidFill>
                <a:srgbClr val="26448A"/>
              </a:solidFill>
              <a:latin typeface="Avenir Next Medium"/>
              <a:ea typeface="Avenir Next Medium"/>
              <a:cs typeface="Avenir Next Medium"/>
            </a:endParaRPr>
          </a:p>
          <a:p>
            <a:pPr marL="1260000" indent="-660000" algn="l">
              <a:spcBef>
                <a:spcPts val="900"/>
              </a:spcBef>
              <a:buFont typeface="Wingdings"/>
              <a:buChar char="Ø"/>
            </a:pPr>
            <a:r>
              <a:rPr lang="en-US" altLang="ko-KR" sz="4000" b="0" i="0" dirty="0">
                <a:solidFill>
                  <a:srgbClr val="000000"/>
                </a:solidFill>
                <a:latin typeface="Avenir Next Medium"/>
                <a:ea typeface="Avenir Next Medium"/>
                <a:cs typeface="Avenir Next Medium"/>
              </a:rPr>
              <a:t>From Denoising to De-Channeling (ICML 2026) — physics-informed diffusion for WSR</a:t>
            </a:r>
          </a:p>
          <a:p>
            <a:pPr algn="l">
              <a:spcBef>
                <a:spcPts val="1000"/>
              </a:spcBef>
            </a:pPr>
            <a:endParaRPr lang="en-US" altLang="ko-KR" sz="2400" b="1" i="0" dirty="0">
              <a:solidFill>
                <a:srgbClr val="26448A"/>
              </a:solidFill>
              <a:latin typeface="Avenir Next Medium"/>
              <a:ea typeface="Avenir Next Medium"/>
              <a:cs typeface="Avenir Next Medium"/>
            </a:endParaRPr>
          </a:p>
        </p:txBody>
      </p:sp>
      <p:sp>
        <p:nvSpPr>
          <p:cNvPr id="3" name="슬라이드 번호 개체 틀 2">
            <a:extLst>
              <a:ext uri="{FF2B5EF4-FFF2-40B4-BE49-F238E27FC236}">
                <a16:creationId xmlns:a16="http://schemas.microsoft.com/office/drawing/2014/main" id="{453567E7-E142-0BFE-09F3-D69F04CEBBB4}"/>
              </a:ext>
            </a:extLst>
          </p:cNvPr>
          <p:cNvSpPr>
            <a:spLocks noGrp="1"/>
          </p:cNvSpPr>
          <p:nvPr>
            <p:ph type="sldNum" sz="quarter" idx="2"/>
          </p:nvPr>
        </p:nvSpPr>
        <p:spPr/>
        <p:txBody>
          <a:bodyPr/>
          <a:lstStyle/>
          <a:p>
            <a:fld id="{86CB4B4D-7CA3-9044-876B-883B54F8677D}" type="slidenum">
              <a:rPr lang="en-US" altLang="ko-KR" smtClean="0"/>
              <a:t>3</a:t>
            </a:fld>
            <a:r>
              <a:rPr lang="en-US" altLang="ko-KR"/>
              <a:t>/21</a:t>
            </a:r>
            <a:endParaRPr lang="ko-KR"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DivKicker"/>
          <p:cNvSpPr txBox="1">
            <a:spLocks/>
          </p:cNvSpPr>
          <p:nvPr/>
        </p:nvSpPr>
        <p:spPr>
          <a:xfrm>
            <a:off x="0" y="4050000"/>
            <a:ext cx="24384000" cy="760000"/>
          </a:xfrm>
          <a:prstGeom prst="rect">
            <a:avLst/>
          </a:prstGeom>
        </p:spPr>
        <p:txBody>
          <a:bodyPr lIns="50800" tIns="30000" rIns="50800" bIns="30000" anchor="ctr">
            <a:noAutofit/>
          </a:bodyPr>
          <a:lstStyle/>
          <a:p>
            <a:pPr algn="ctr"/>
            <a:r>
              <a:rPr lang="en-US" altLang="ko-KR" sz="3600" b="1" i="0" dirty="0">
                <a:solidFill>
                  <a:srgbClr val="2E74B5"/>
                </a:solidFill>
                <a:latin typeface="Avenir Next Medium"/>
                <a:ea typeface="Avenir Next Medium"/>
                <a:cs typeface="Avenir Next Medium"/>
              </a:rPr>
              <a:t>PROGRESS REPORT</a:t>
            </a:r>
          </a:p>
        </p:txBody>
      </p:sp>
      <p:sp>
        <p:nvSpPr>
          <p:cNvPr id="12" name="DivTitle"/>
          <p:cNvSpPr txBox="1">
            <a:spLocks/>
          </p:cNvSpPr>
          <p:nvPr/>
        </p:nvSpPr>
        <p:spPr>
          <a:xfrm>
            <a:off x="0" y="4850000"/>
            <a:ext cx="24384000" cy="1550000"/>
          </a:xfrm>
          <a:prstGeom prst="rect">
            <a:avLst/>
          </a:prstGeom>
        </p:spPr>
        <p:txBody>
          <a:bodyPr lIns="50800" tIns="30000" rIns="50800" bIns="30000" anchor="ctr">
            <a:noAutofit/>
          </a:bodyPr>
          <a:lstStyle/>
          <a:p>
            <a:pPr algn="ctr"/>
            <a:r>
              <a:rPr lang="en-US" altLang="ko-KR" sz="7200" b="1" i="0" dirty="0">
                <a:solidFill>
                  <a:srgbClr val="000000"/>
                </a:solidFill>
                <a:latin typeface="AvenirNext-DemiBold"/>
                <a:ea typeface="AvenirNext-DemiBold"/>
                <a:cs typeface="AvenirNext-DemiBold"/>
              </a:rPr>
              <a:t>Sionna Simulation</a:t>
            </a:r>
          </a:p>
        </p:txBody>
      </p:sp>
      <p:sp>
        <p:nvSpPr>
          <p:cNvPr id="13" name="DivSub"/>
          <p:cNvSpPr txBox="1">
            <a:spLocks/>
          </p:cNvSpPr>
          <p:nvPr/>
        </p:nvSpPr>
        <p:spPr>
          <a:xfrm>
            <a:off x="0" y="6520000"/>
            <a:ext cx="24384000" cy="820000"/>
          </a:xfrm>
          <a:prstGeom prst="rect">
            <a:avLst/>
          </a:prstGeom>
        </p:spPr>
        <p:txBody>
          <a:bodyPr lIns="50800" tIns="30000" rIns="50800" bIns="30000" anchor="ctr">
            <a:noAutofit/>
          </a:bodyPr>
          <a:lstStyle/>
          <a:p>
            <a:pPr algn="ctr"/>
            <a:r>
              <a:rPr lang="en-US" altLang="ko-KR" sz="4000" b="0" i="1" dirty="0">
                <a:solidFill>
                  <a:srgbClr val="595959"/>
                </a:solidFill>
                <a:latin typeface="Avenir Next Medium"/>
                <a:ea typeface="Avenir Next Medium"/>
                <a:cs typeface="Avenir Next Medium"/>
              </a:rPr>
              <a:t>From an empty chamber to a drone's radar signature — in three stages</a:t>
            </a:r>
          </a:p>
        </p:txBody>
      </p:sp>
      <p:sp>
        <p:nvSpPr>
          <p:cNvPr id="14" name="DivRoad"/>
          <p:cNvSpPr txBox="1">
            <a:spLocks/>
          </p:cNvSpPr>
          <p:nvPr/>
        </p:nvSpPr>
        <p:spPr>
          <a:xfrm>
            <a:off x="0" y="7780000"/>
            <a:ext cx="24384000" cy="820000"/>
          </a:xfrm>
          <a:prstGeom prst="rect">
            <a:avLst/>
          </a:prstGeom>
        </p:spPr>
        <p:txBody>
          <a:bodyPr lIns="50800" tIns="30000" rIns="50800" bIns="30000" anchor="ctr">
            <a:noAutofit/>
          </a:bodyPr>
          <a:lstStyle/>
          <a:p>
            <a:pPr algn="ctr"/>
            <a:r>
              <a:rPr lang="en-US" altLang="ko-KR" sz="3600" b="1" i="0" dirty="0">
                <a:solidFill>
                  <a:srgbClr val="26448A"/>
                </a:solidFill>
                <a:latin typeface="Avenir Next Medium"/>
                <a:ea typeface="Avenir Next Medium"/>
                <a:cs typeface="Avenir Next Medium"/>
              </a:rPr>
              <a:t>①  Environment    →    ②  Illuminators    →    ③  Micro-Doppler</a:t>
            </a:r>
          </a:p>
        </p:txBody>
      </p:sp>
      <p:sp>
        <p:nvSpPr>
          <p:cNvPr id="3" name="슬라이드 번호 개체 틀 2">
            <a:extLst>
              <a:ext uri="{FF2B5EF4-FFF2-40B4-BE49-F238E27FC236}">
                <a16:creationId xmlns:a16="http://schemas.microsoft.com/office/drawing/2014/main" id="{38FF3B5A-98E6-0FC7-3827-D88D91057EFB}"/>
              </a:ext>
            </a:extLst>
          </p:cNvPr>
          <p:cNvSpPr>
            <a:spLocks noGrp="1"/>
          </p:cNvSpPr>
          <p:nvPr>
            <p:ph type="sldNum" sz="quarter" idx="2"/>
          </p:nvPr>
        </p:nvSpPr>
        <p:spPr/>
        <p:txBody>
          <a:bodyPr/>
          <a:lstStyle/>
          <a:p>
            <a:fld id="{86CB4B4D-7CA3-9044-876B-883B54F8677D}" type="slidenum">
              <a:rPr lang="en-US" altLang="ko-KR" smtClean="0"/>
              <a:t>4</a:t>
            </a:fld>
            <a:r>
              <a:rPr lang="en-US" altLang="ko-KR"/>
              <a:t>/21</a:t>
            </a:r>
            <a:endParaRPr lang="ko-KR"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Sionna Progress · Overview</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dirty="0">
                <a:latin typeface="AvenirNext-DemiBold"/>
                <a:ea typeface="AvenirNext-DemiBold"/>
                <a:cs typeface="AvenirNext-DemiBold"/>
              </a:rPr>
              <a:t>Three Stages, Built on One Scene</a:t>
            </a:r>
            <a:endParaRPr lang="en-US" altLang="ko-KR" sz="5200" b="1" i="0" dirty="0">
              <a:solidFill>
                <a:srgbClr val="000000"/>
              </a:solidFill>
              <a:latin typeface="AvenirNext-DemiBold"/>
              <a:ea typeface="AvenirNext-DemiBold"/>
              <a:cs typeface="AvenirNext-DemiBold"/>
            </a:endParaRP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Each stage reuses the same chamber and the dimension-accurate drone meshes</a:t>
            </a:r>
          </a:p>
        </p:txBody>
      </p:sp>
      <p:sp>
        <p:nvSpPr>
          <p:cNvPr id="41" name="L"/>
          <p:cNvSpPr txBox="1"/>
          <p:nvPr/>
        </p:nvSpPr>
        <p:spPr>
          <a:xfrm>
            <a:off x="720000" y="315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① Environment</a:t>
            </a:r>
          </a:p>
        </p:txBody>
      </p:sp>
      <p:sp>
        <p:nvSpPr>
          <p:cNvPr id="42" name="B"/>
          <p:cNvSpPr txBox="1"/>
          <p:nvPr/>
        </p:nvSpPr>
        <p:spPr>
          <a:xfrm>
            <a:off x="5900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Shielded chamber</a:t>
            </a:r>
          </a:p>
        </p:txBody>
      </p:sp>
      <p:sp>
        <p:nvSpPr>
          <p:cNvPr id="43" name="A"/>
          <p:cNvSpPr txBox="1"/>
          <p:nvPr/>
        </p:nvSpPr>
        <p:spPr>
          <a:xfrm>
            <a:off x="11300000" y="31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44" name="B"/>
          <p:cNvSpPr txBox="1"/>
          <p:nvPr/>
        </p:nvSpPr>
        <p:spPr>
          <a:xfrm>
            <a:off x="12082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5 DJI meshes</a:t>
            </a:r>
          </a:p>
        </p:txBody>
      </p:sp>
      <p:sp>
        <p:nvSpPr>
          <p:cNvPr id="45" name="A"/>
          <p:cNvSpPr txBox="1"/>
          <p:nvPr/>
        </p:nvSpPr>
        <p:spPr>
          <a:xfrm>
            <a:off x="17482000" y="31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46" name="B"/>
          <p:cNvSpPr txBox="1"/>
          <p:nvPr/>
        </p:nvSpPr>
        <p:spPr>
          <a:xfrm>
            <a:off x="18264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RF materials</a:t>
            </a:r>
          </a:p>
        </p:txBody>
      </p:sp>
      <p:sp>
        <p:nvSpPr>
          <p:cNvPr id="47" name="L"/>
          <p:cNvSpPr txBox="1"/>
          <p:nvPr/>
        </p:nvSpPr>
        <p:spPr>
          <a:xfrm>
            <a:off x="720000" y="550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② Illuminators</a:t>
            </a:r>
          </a:p>
        </p:txBody>
      </p:sp>
      <p:sp>
        <p:nvSpPr>
          <p:cNvPr id="48" name="B"/>
          <p:cNvSpPr txBox="1"/>
          <p:nvPr/>
        </p:nvSpPr>
        <p:spPr>
          <a:xfrm>
            <a:off x="5900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Wi-Fi / LTE / 5G</a:t>
            </a:r>
          </a:p>
          <a:p>
            <a:pPr algn="ctr"/>
            <a:r>
              <a:rPr lang="en-US" altLang="ko-KR" sz="2400" b="1" i="0" dirty="0">
                <a:solidFill>
                  <a:srgbClr val="26448A"/>
                </a:solidFill>
                <a:latin typeface="Avenir Next Medium"/>
                <a:ea typeface="Avenir Next Medium"/>
                <a:cs typeface="Avenir Next Medium"/>
              </a:rPr>
              <a:t>real waveforms</a:t>
            </a:r>
          </a:p>
        </p:txBody>
      </p:sp>
      <p:sp>
        <p:nvSpPr>
          <p:cNvPr id="49" name="A"/>
          <p:cNvSpPr txBox="1"/>
          <p:nvPr/>
        </p:nvSpPr>
        <p:spPr>
          <a:xfrm>
            <a:off x="11300000" y="550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0" name="B"/>
          <p:cNvSpPr txBox="1"/>
          <p:nvPr/>
        </p:nvSpPr>
        <p:spPr>
          <a:xfrm>
            <a:off x="12082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Reference signals</a:t>
            </a:r>
          </a:p>
          <a:p>
            <a:pPr algn="ctr"/>
            <a:r>
              <a:rPr lang="en-US" altLang="ko-KR" sz="2400" b="1" i="0" dirty="0">
                <a:solidFill>
                  <a:srgbClr val="26448A"/>
                </a:solidFill>
                <a:latin typeface="Avenir Next Medium"/>
                <a:ea typeface="Avenir Next Medium"/>
                <a:cs typeface="Avenir Next Medium"/>
              </a:rPr>
              <a:t>CRS vs SSB</a:t>
            </a:r>
          </a:p>
        </p:txBody>
      </p:sp>
      <p:sp>
        <p:nvSpPr>
          <p:cNvPr id="51" name="A"/>
          <p:cNvSpPr txBox="1"/>
          <p:nvPr/>
        </p:nvSpPr>
        <p:spPr>
          <a:xfrm>
            <a:off x="17482000" y="550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2" name="B"/>
          <p:cNvSpPr txBox="1"/>
          <p:nvPr/>
        </p:nvSpPr>
        <p:spPr>
          <a:xfrm>
            <a:off x="18264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Occupancy</a:t>
            </a:r>
          </a:p>
          <a:p>
            <a:pPr algn="ctr">
              <a:spcBef>
                <a:spcPts val="200"/>
              </a:spcBef>
            </a:pPr>
            <a:r>
              <a:rPr lang="en-US" altLang="ko-KR" sz="1700" b="0" i="1" dirty="0">
                <a:solidFill>
                  <a:srgbClr val="595959"/>
                </a:solidFill>
                <a:latin typeface="Avenir Next Medium"/>
                <a:ea typeface="Avenir Next Medium"/>
                <a:cs typeface="Avenir Next Medium"/>
              </a:rPr>
              <a:t>G1 – G3</a:t>
            </a:r>
          </a:p>
        </p:txBody>
      </p:sp>
      <p:sp>
        <p:nvSpPr>
          <p:cNvPr id="53" name="L"/>
          <p:cNvSpPr txBox="1"/>
          <p:nvPr/>
        </p:nvSpPr>
        <p:spPr>
          <a:xfrm>
            <a:off x="720000" y="785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③ Micro-Doppler</a:t>
            </a:r>
          </a:p>
        </p:txBody>
      </p:sp>
      <p:sp>
        <p:nvSpPr>
          <p:cNvPr id="54" name="B"/>
          <p:cNvSpPr txBox="1"/>
          <p:nvPr/>
        </p:nvSpPr>
        <p:spPr>
          <a:xfrm>
            <a:off x="5900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Articulated drone</a:t>
            </a:r>
          </a:p>
        </p:txBody>
      </p:sp>
      <p:sp>
        <p:nvSpPr>
          <p:cNvPr id="55" name="A"/>
          <p:cNvSpPr txBox="1"/>
          <p:nvPr/>
        </p:nvSpPr>
        <p:spPr>
          <a:xfrm>
            <a:off x="11300000" y="78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6" name="B"/>
          <p:cNvSpPr txBox="1"/>
          <p:nvPr/>
        </p:nvSpPr>
        <p:spPr>
          <a:xfrm>
            <a:off x="12082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Blade flash</a:t>
            </a:r>
          </a:p>
          <a:p>
            <a:pPr algn="ctr">
              <a:spcBef>
                <a:spcPts val="200"/>
              </a:spcBef>
            </a:pPr>
            <a:r>
              <a:rPr lang="en-US" altLang="ko-KR" sz="1700" b="0" i="1" dirty="0">
                <a:solidFill>
                  <a:srgbClr val="595959"/>
                </a:solidFill>
                <a:latin typeface="Avenir Next Medium"/>
                <a:ea typeface="Avenir Next Medium"/>
                <a:cs typeface="Avenir Next Medium"/>
              </a:rPr>
              <a:t>+ tip Doppler</a:t>
            </a:r>
          </a:p>
        </p:txBody>
      </p:sp>
      <p:sp>
        <p:nvSpPr>
          <p:cNvPr id="57" name="A"/>
          <p:cNvSpPr txBox="1"/>
          <p:nvPr/>
        </p:nvSpPr>
        <p:spPr>
          <a:xfrm>
            <a:off x="17482000" y="78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8" name="B"/>
          <p:cNvSpPr txBox="1"/>
          <p:nvPr/>
        </p:nvSpPr>
        <p:spPr>
          <a:xfrm>
            <a:off x="18264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PX4 / Gazebo basis</a:t>
            </a:r>
          </a:p>
        </p:txBody>
      </p:sp>
      <p:sp>
        <p:nvSpPr>
          <p:cNvPr id="15" name="Takeaway"/>
          <p:cNvSpPr txBox="1">
            <a:spLocks/>
          </p:cNvSpPr>
          <p:nvPr/>
        </p:nvSpPr>
        <p:spPr>
          <a:xfrm>
            <a:off x="720000" y="11250000"/>
            <a:ext cx="22944000" cy="850000"/>
          </a:xfrm>
          <a:prstGeom prst="rect">
            <a:avLst/>
          </a:prstGeom>
        </p:spPr>
        <p:txBody>
          <a:bodyPr lIns="50800" tIns="30000" rIns="50800" bIns="30000" anchor="t">
            <a:noAutofit/>
          </a:bodyPr>
          <a:lstStyle/>
          <a:p>
            <a:pPr marL="0" indent="0" algn="l">
              <a:buNone/>
            </a:pPr>
            <a:r>
              <a:rPr lang="en-US" altLang="ko-KR" sz="2800" b="1" i="0" dirty="0">
                <a:solidFill>
                  <a:srgbClr val="26448A"/>
                </a:solidFill>
                <a:latin typeface="Avenir Next Medium"/>
                <a:ea typeface="Avenir Next Medium"/>
                <a:cs typeface="Avenir Next Medium"/>
              </a:rPr>
              <a:t>→ report1 · report2 · report3 — each a runnable notebook full of figures</a:t>
            </a:r>
          </a:p>
        </p:txBody>
      </p:sp>
      <p:sp>
        <p:nvSpPr>
          <p:cNvPr id="3" name="슬라이드 번호 개체 틀 2">
            <a:extLst>
              <a:ext uri="{FF2B5EF4-FFF2-40B4-BE49-F238E27FC236}">
                <a16:creationId xmlns:a16="http://schemas.microsoft.com/office/drawing/2014/main" id="{B4D319FC-14F6-DB38-5437-13D5AAD32ED3}"/>
              </a:ext>
            </a:extLst>
          </p:cNvPr>
          <p:cNvSpPr>
            <a:spLocks noGrp="1"/>
          </p:cNvSpPr>
          <p:nvPr>
            <p:ph type="sldNum" sz="quarter" idx="2"/>
          </p:nvPr>
        </p:nvSpPr>
        <p:spPr/>
        <p:txBody>
          <a:bodyPr/>
          <a:lstStyle/>
          <a:p>
            <a:fld id="{86CB4B4D-7CA3-9044-876B-883B54F8677D}" type="slidenum">
              <a:rPr lang="en-US" altLang="ko-KR" smtClean="0"/>
              <a:t>5</a:t>
            </a:fld>
            <a:r>
              <a:rPr lang="en-US" altLang="ko-KR"/>
              <a:t>/21</a:t>
            </a:r>
            <a:endParaRPr lang="ko-KR"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Environment</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RF Playground — a Shielded Chamber</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A 30 × 20 × 11 m shielded room — the walls soak up echoes, so we see only the drone</a:t>
            </a:r>
          </a:p>
        </p:txBody>
      </p:sp>
      <p:pic>
        <p:nvPicPr>
          <p:cNvPr id="20" name="chamber_render"/>
          <p:cNvPicPr>
            <a:picLocks noChangeAspect="1"/>
          </p:cNvPicPr>
          <p:nvPr/>
        </p:nvPicPr>
        <p:blipFill>
          <a:blip r:embed="rId3"/>
          <a:stretch>
            <a:fillRect/>
          </a:stretch>
        </p:blipFill>
        <p:spPr>
          <a:xfrm>
            <a:off x="-485775" y="2753814"/>
            <a:ext cx="10748513" cy="8061385"/>
          </a:xfrm>
          <a:prstGeom prst="rect">
            <a:avLst/>
          </a:prstGeom>
        </p:spPr>
      </p:pic>
      <p:pic>
        <p:nvPicPr>
          <p:cNvPr id="21" name="chamber_plan"/>
          <p:cNvPicPr>
            <a:picLocks noChangeAspect="1"/>
          </p:cNvPicPr>
          <p:nvPr/>
        </p:nvPicPr>
        <p:blipFill>
          <a:blip r:embed="rId4"/>
          <a:stretch>
            <a:fillRect/>
          </a:stretch>
        </p:blipFill>
        <p:spPr>
          <a:xfrm>
            <a:off x="10262738" y="3511153"/>
            <a:ext cx="14184537" cy="6546709"/>
          </a:xfrm>
          <a:prstGeom prst="rect">
            <a:avLst/>
          </a:prstGeom>
        </p:spPr>
      </p:pic>
      <p:sp>
        <p:nvSpPr>
          <p:cNvPr id="14" name="Cap"/>
          <p:cNvSpPr txBox="1">
            <a:spLocks/>
          </p:cNvSpPr>
          <p:nvPr/>
        </p:nvSpPr>
        <p:spPr>
          <a:xfrm>
            <a:off x="760000" y="10697676"/>
            <a:ext cx="22944000" cy="560000"/>
          </a:xfrm>
          <a:prstGeom prst="rect">
            <a:avLst/>
          </a:prstGeom>
        </p:spPr>
        <p:txBody>
          <a:bodyPr lIns="50800" tIns="30000" rIns="50800" bIns="30000" anchor="ctr">
            <a:noAutofit/>
          </a:bodyPr>
          <a:lstStyle/>
          <a:p>
            <a:pPr algn="ctr"/>
            <a:r>
              <a:rPr lang="en-US" altLang="ko-KR" sz="2000" b="0" i="1" dirty="0">
                <a:solidFill>
                  <a:srgbClr val="595959"/>
                </a:solidFill>
                <a:latin typeface="Avenir Next Medium"/>
                <a:ea typeface="Avenir Next Medium"/>
                <a:cs typeface="Avenir Next Medium"/>
              </a:rPr>
              <a:t>Sionna render of the chamber (left) · dimensioned plan &amp; elevation (right) — modelled on a real facility</a:t>
            </a:r>
          </a:p>
        </p:txBody>
      </p:sp>
      <p:sp>
        <p:nvSpPr>
          <p:cNvPr id="3" name="슬라이드 번호 개체 틀 2">
            <a:extLst>
              <a:ext uri="{FF2B5EF4-FFF2-40B4-BE49-F238E27FC236}">
                <a16:creationId xmlns:a16="http://schemas.microsoft.com/office/drawing/2014/main" id="{0F15EBE6-09B6-5771-515C-2528A12FBAD8}"/>
              </a:ext>
            </a:extLst>
          </p:cNvPr>
          <p:cNvSpPr>
            <a:spLocks noGrp="1"/>
          </p:cNvSpPr>
          <p:nvPr>
            <p:ph type="sldNum" sz="quarter" idx="2"/>
          </p:nvPr>
        </p:nvSpPr>
        <p:spPr/>
        <p:txBody>
          <a:bodyPr/>
          <a:lstStyle/>
          <a:p>
            <a:fld id="{86CB4B4D-7CA3-9044-876B-883B54F8677D}" type="slidenum">
              <a:rPr lang="en-US" altLang="ko-KR" smtClean="0"/>
              <a:t>6</a:t>
            </a:fld>
            <a:r>
              <a:rPr lang="en-US" altLang="ko-KR"/>
              <a:t>/21</a:t>
            </a:r>
            <a:endParaRPr lang="ko-KR"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Spec-Driven Meshes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From a Spec Sheet to a 3D Mesh</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Real published specs → double-checked → built into an exact 3D model, part by part</a:t>
            </a:r>
          </a:p>
        </p:txBody>
      </p:sp>
      <p:pic>
        <p:nvPicPr>
          <p:cNvPr id="20" name="build_card"/>
          <p:cNvPicPr>
            <a:picLocks noChangeAspect="1"/>
          </p:cNvPicPr>
          <p:nvPr/>
        </p:nvPicPr>
        <p:blipFill>
          <a:blip r:embed="rId3"/>
          <a:stretch>
            <a:fillRect/>
          </a:stretch>
        </p:blipFill>
        <p:spPr>
          <a:xfrm>
            <a:off x="11566924" y="3621952"/>
            <a:ext cx="12355964" cy="7793761"/>
          </a:xfrm>
          <a:prstGeom prst="rect">
            <a:avLst/>
          </a:prstGeom>
        </p:spPr>
      </p:pic>
      <p:pic>
        <p:nvPicPr>
          <p:cNvPr id="3" name="그림 2">
            <a:extLst>
              <a:ext uri="{FF2B5EF4-FFF2-40B4-BE49-F238E27FC236}">
                <a16:creationId xmlns:a16="http://schemas.microsoft.com/office/drawing/2014/main" id="{B1E7B2DA-7EE1-034C-51F6-ECD7206C1B33}"/>
              </a:ext>
            </a:extLst>
          </p:cNvPr>
          <p:cNvPicPr>
            <a:picLocks noChangeAspect="1"/>
          </p:cNvPicPr>
          <p:nvPr/>
        </p:nvPicPr>
        <p:blipFill>
          <a:blip r:embed="rId4"/>
          <a:stretch>
            <a:fillRect/>
          </a:stretch>
        </p:blipFill>
        <p:spPr>
          <a:xfrm>
            <a:off x="1024000" y="2740000"/>
            <a:ext cx="9986962" cy="9794013"/>
          </a:xfrm>
          <a:prstGeom prst="rect">
            <a:avLst/>
          </a:prstGeom>
        </p:spPr>
      </p:pic>
      <p:sp>
        <p:nvSpPr>
          <p:cNvPr id="4" name="슬라이드 번호 개체 틀 3">
            <a:extLst>
              <a:ext uri="{FF2B5EF4-FFF2-40B4-BE49-F238E27FC236}">
                <a16:creationId xmlns:a16="http://schemas.microsoft.com/office/drawing/2014/main" id="{89C8FDE4-4A56-1279-9E11-D50D8F0632F8}"/>
              </a:ext>
            </a:extLst>
          </p:cNvPr>
          <p:cNvSpPr>
            <a:spLocks noGrp="1"/>
          </p:cNvSpPr>
          <p:nvPr>
            <p:ph type="sldNum" sz="quarter" idx="2"/>
          </p:nvPr>
        </p:nvSpPr>
        <p:spPr/>
        <p:txBody>
          <a:bodyPr/>
          <a:lstStyle/>
          <a:p>
            <a:fld id="{86CB4B4D-7CA3-9044-876B-883B54F8677D}" type="slidenum">
              <a:rPr lang="en-US" altLang="ko-KR" smtClean="0"/>
              <a:t>7</a:t>
            </a:fld>
            <a:r>
              <a:rPr lang="en-US" altLang="ko-KR"/>
              <a:t>/21</a:t>
            </a:r>
            <a:endParaRPr lang="ko-KR"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Drone Meshes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DJI Drone Meshes — Five Real Models</a:t>
            </a:r>
          </a:p>
        </p:txBody>
      </p:sp>
      <p:pic>
        <p:nvPicPr>
          <p:cNvPr id="20" name="turntable"/>
          <p:cNvPicPr>
            <a:picLocks noChangeAspect="1"/>
          </p:cNvPicPr>
          <p:nvPr/>
        </p:nvPicPr>
        <p:blipFill>
          <a:blip r:embed="rId3"/>
          <a:srcRect l="14677" r="11891"/>
          <a:stretch>
            <a:fillRect/>
          </a:stretch>
        </p:blipFill>
        <p:spPr>
          <a:xfrm>
            <a:off x="2079504" y="3500000"/>
            <a:ext cx="20304991" cy="6267676"/>
          </a:xfrm>
          <a:prstGeom prst="rect">
            <a:avLst/>
          </a:prstGeom>
        </p:spPr>
      </p:pic>
      <p:sp>
        <p:nvSpPr>
          <p:cNvPr id="14" name="Cap"/>
          <p:cNvSpPr txBox="1">
            <a:spLocks/>
          </p:cNvSpPr>
          <p:nvPr/>
        </p:nvSpPr>
        <p:spPr>
          <a:xfrm>
            <a:off x="760000" y="10697676"/>
            <a:ext cx="22944000" cy="560000"/>
          </a:xfrm>
          <a:prstGeom prst="rect">
            <a:avLst/>
          </a:prstGeom>
        </p:spPr>
        <p:txBody>
          <a:bodyPr lIns="50800" tIns="30000" rIns="50800" bIns="30000" anchor="ctr">
            <a:noAutofit/>
          </a:bodyPr>
          <a:lstStyle/>
          <a:p>
            <a:pPr algn="ctr"/>
            <a:r>
              <a:rPr lang="en-US" altLang="ko-KR" sz="2000" b="0" i="1" dirty="0">
                <a:solidFill>
                  <a:srgbClr val="595959"/>
                </a:solidFill>
                <a:latin typeface="Avenir Next Medium"/>
                <a:ea typeface="Avenir Next Medium"/>
                <a:cs typeface="Avenir Next Medium"/>
              </a:rPr>
              <a:t>Meshes rotating (shape comparison) — 4-rotor quads vs the 8-rotor S1000+; each part is its own RF material</a:t>
            </a:r>
          </a:p>
        </p:txBody>
      </p:sp>
      <p:sp>
        <p:nvSpPr>
          <p:cNvPr id="3" name="슬라이드 번호 개체 틀 2">
            <a:extLst>
              <a:ext uri="{FF2B5EF4-FFF2-40B4-BE49-F238E27FC236}">
                <a16:creationId xmlns:a16="http://schemas.microsoft.com/office/drawing/2014/main" id="{F427BCB5-B590-C175-2AEA-3ACFCAD50783}"/>
              </a:ext>
            </a:extLst>
          </p:cNvPr>
          <p:cNvSpPr>
            <a:spLocks noGrp="1"/>
          </p:cNvSpPr>
          <p:nvPr>
            <p:ph type="sldNum" sz="quarter" idx="2"/>
          </p:nvPr>
        </p:nvSpPr>
        <p:spPr/>
        <p:txBody>
          <a:bodyPr/>
          <a:lstStyle/>
          <a:p>
            <a:fld id="{86CB4B4D-7CA3-9044-876B-883B54F8677D}" type="slidenum">
              <a:rPr lang="en-US" altLang="ko-KR" smtClean="0"/>
              <a:t>8</a:t>
            </a:fld>
            <a:r>
              <a:rPr lang="en-US" altLang="ko-KR"/>
              <a:t>/21</a:t>
            </a:r>
            <a:endParaRPr lang="ko-KR"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C4A21-6FFB-0E0C-C794-084CEB8A01C9}"/>
            </a:ext>
          </a:extLst>
        </p:cNvPr>
        <p:cNvGrpSpPr/>
        <p:nvPr/>
      </p:nvGrpSpPr>
      <p:grpSpPr>
        <a:xfrm>
          <a:off x="0" y="0"/>
          <a:ext cx="0" cy="0"/>
          <a:chOff x="0" y="0"/>
          <a:chExt cx="0" cy="0"/>
        </a:xfrm>
      </p:grpSpPr>
      <p:sp>
        <p:nvSpPr>
          <p:cNvPr id="11" name="Tag">
            <a:extLst>
              <a:ext uri="{FF2B5EF4-FFF2-40B4-BE49-F238E27FC236}">
                <a16:creationId xmlns:a16="http://schemas.microsoft.com/office/drawing/2014/main" id="{A81D60AF-3409-42AC-33DB-83171C4C956B}"/>
              </a:ext>
            </a:extLst>
          </p:cNvPr>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Drone Meshes</a:t>
            </a:r>
          </a:p>
        </p:txBody>
      </p:sp>
      <p:sp>
        <p:nvSpPr>
          <p:cNvPr id="12" name="Title">
            <a:extLst>
              <a:ext uri="{FF2B5EF4-FFF2-40B4-BE49-F238E27FC236}">
                <a16:creationId xmlns:a16="http://schemas.microsoft.com/office/drawing/2014/main" id="{17162CFD-6A59-4360-EE81-72E194C1D721}"/>
              </a:ext>
            </a:extLst>
          </p:cNvPr>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DJI Drone Meshes — Five Real Models</a:t>
            </a:r>
          </a:p>
        </p:txBody>
      </p:sp>
      <p:pic>
        <p:nvPicPr>
          <p:cNvPr id="3" name="그림 2">
            <a:extLst>
              <a:ext uri="{FF2B5EF4-FFF2-40B4-BE49-F238E27FC236}">
                <a16:creationId xmlns:a16="http://schemas.microsoft.com/office/drawing/2014/main" id="{31A76158-953A-2AA4-E2D0-1B8E0E64BF09}"/>
              </a:ext>
            </a:extLst>
          </p:cNvPr>
          <p:cNvPicPr>
            <a:picLocks noChangeAspect="1"/>
          </p:cNvPicPr>
          <p:nvPr/>
        </p:nvPicPr>
        <p:blipFill>
          <a:blip r:embed="rId3"/>
          <a:stretch>
            <a:fillRect/>
          </a:stretch>
        </p:blipFill>
        <p:spPr>
          <a:xfrm>
            <a:off x="3890401" y="1980000"/>
            <a:ext cx="16599199" cy="10073694"/>
          </a:xfrm>
          <a:prstGeom prst="rect">
            <a:avLst/>
          </a:prstGeom>
        </p:spPr>
      </p:pic>
      <p:sp>
        <p:nvSpPr>
          <p:cNvPr id="4" name="슬라이드 번호 개체 틀 3">
            <a:extLst>
              <a:ext uri="{FF2B5EF4-FFF2-40B4-BE49-F238E27FC236}">
                <a16:creationId xmlns:a16="http://schemas.microsoft.com/office/drawing/2014/main" id="{C45839B7-DD88-3BBD-97A3-E51BFE7E4BF6}"/>
              </a:ext>
            </a:extLst>
          </p:cNvPr>
          <p:cNvSpPr>
            <a:spLocks noGrp="1"/>
          </p:cNvSpPr>
          <p:nvPr>
            <p:ph type="sldNum" sz="quarter" idx="2"/>
          </p:nvPr>
        </p:nvSpPr>
        <p:spPr/>
        <p:txBody>
          <a:bodyPr/>
          <a:lstStyle/>
          <a:p>
            <a:fld id="{86CB4B4D-7CA3-9044-876B-883B54F8677D}" type="slidenum">
              <a:rPr lang="en-US" altLang="ko-KR" smtClean="0"/>
              <a:t>9</a:t>
            </a:fld>
            <a:r>
              <a:rPr lang="en-US" altLang="ko-KR"/>
              <a:t>/21</a:t>
            </a:r>
            <a:endParaRPr lang="ko-KR" altLang="en-US" dirty="0"/>
          </a:p>
        </p:txBody>
      </p:sp>
    </p:spTree>
    <p:extLst>
      <p:ext uri="{BB962C8B-B14F-4D97-AF65-F5344CB8AC3E}">
        <p14:creationId xmlns:p14="http://schemas.microsoft.com/office/powerpoint/2010/main" val="30863198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92DD3-0297-1320-BE63-3A308AE34431}"/>
            </a:ext>
          </a:extLst>
        </p:cNvPr>
        <p:cNvGrpSpPr/>
        <p:nvPr/>
      </p:nvGrpSpPr>
      <p:grpSpPr>
        <a:xfrm>
          <a:off x="0" y="0"/>
          <a:ext cx="0" cy="0"/>
          <a:chOff x="0" y="0"/>
          <a:chExt cx="0" cy="0"/>
        </a:xfrm>
      </p:grpSpPr>
      <p:sp>
        <p:nvSpPr>
          <p:cNvPr id="11" name="Tag">
            <a:extLst>
              <a:ext uri="{FF2B5EF4-FFF2-40B4-BE49-F238E27FC236}">
                <a16:creationId xmlns:a16="http://schemas.microsoft.com/office/drawing/2014/main" id="{DBBE20D7-65C6-E9F5-BD3C-3E79489D0860}"/>
              </a:ext>
            </a:extLst>
          </p:cNvPr>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Drone Meshes</a:t>
            </a:r>
          </a:p>
        </p:txBody>
      </p:sp>
      <p:sp>
        <p:nvSpPr>
          <p:cNvPr id="12" name="Title">
            <a:extLst>
              <a:ext uri="{FF2B5EF4-FFF2-40B4-BE49-F238E27FC236}">
                <a16:creationId xmlns:a16="http://schemas.microsoft.com/office/drawing/2014/main" id="{A34C369D-8F9D-B5CD-5CD8-FB8EC2C9DA19}"/>
              </a:ext>
            </a:extLst>
          </p:cNvPr>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DJI Drone Meshes — Five Real Models</a:t>
            </a:r>
          </a:p>
        </p:txBody>
      </p:sp>
      <p:pic>
        <p:nvPicPr>
          <p:cNvPr id="4" name="그림 3">
            <a:extLst>
              <a:ext uri="{FF2B5EF4-FFF2-40B4-BE49-F238E27FC236}">
                <a16:creationId xmlns:a16="http://schemas.microsoft.com/office/drawing/2014/main" id="{70B24D19-B346-7DAD-4E41-01CD62121F2C}"/>
              </a:ext>
            </a:extLst>
          </p:cNvPr>
          <p:cNvPicPr>
            <a:picLocks noChangeAspect="1"/>
          </p:cNvPicPr>
          <p:nvPr/>
        </p:nvPicPr>
        <p:blipFill>
          <a:blip r:embed="rId3"/>
          <a:stretch>
            <a:fillRect/>
          </a:stretch>
        </p:blipFill>
        <p:spPr>
          <a:xfrm>
            <a:off x="3254964" y="2404521"/>
            <a:ext cx="17664523" cy="9892133"/>
          </a:xfrm>
          <a:prstGeom prst="rect">
            <a:avLst/>
          </a:prstGeom>
        </p:spPr>
      </p:pic>
      <p:sp>
        <p:nvSpPr>
          <p:cNvPr id="3" name="슬라이드 번호 개체 틀 2">
            <a:extLst>
              <a:ext uri="{FF2B5EF4-FFF2-40B4-BE49-F238E27FC236}">
                <a16:creationId xmlns:a16="http://schemas.microsoft.com/office/drawing/2014/main" id="{DA32AFEF-DF1C-F780-362D-B3B0255CE957}"/>
              </a:ext>
            </a:extLst>
          </p:cNvPr>
          <p:cNvSpPr>
            <a:spLocks noGrp="1"/>
          </p:cNvSpPr>
          <p:nvPr>
            <p:ph type="sldNum" sz="quarter" idx="2"/>
          </p:nvPr>
        </p:nvSpPr>
        <p:spPr/>
        <p:txBody>
          <a:bodyPr/>
          <a:lstStyle/>
          <a:p>
            <a:fld id="{86CB4B4D-7CA3-9044-876B-883B54F8677D}" type="slidenum">
              <a:rPr lang="en-US" altLang="ko-KR" smtClean="0"/>
              <a:t>10</a:t>
            </a:fld>
            <a:r>
              <a:rPr lang="en-US" altLang="ko-KR"/>
              <a:t>/21</a:t>
            </a:r>
            <a:endParaRPr lang="ko-KR" altLang="en-US" dirty="0"/>
          </a:p>
        </p:txBody>
      </p:sp>
    </p:spTree>
    <p:extLst>
      <p:ext uri="{BB962C8B-B14F-4D97-AF65-F5344CB8AC3E}">
        <p14:creationId xmlns:p14="http://schemas.microsoft.com/office/powerpoint/2010/main" val="37023224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2 · Waveforms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Lighting It Up — Wi-Fi vs LTE vs 5G</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Range resolution follows the reference signal's bandwidth — not the channel's (LTE CRS 18 MHz vs 5G SSB 7 MHz)</a:t>
            </a:r>
          </a:p>
        </p:txBody>
      </p:sp>
      <p:sp>
        <p:nvSpPr>
          <p:cNvPr id="3" name="슬라이드 번호 개체 틀 2">
            <a:extLst>
              <a:ext uri="{FF2B5EF4-FFF2-40B4-BE49-F238E27FC236}">
                <a16:creationId xmlns:a16="http://schemas.microsoft.com/office/drawing/2014/main" id="{90ECAB32-0169-A7B4-3631-10B68423CB7C}"/>
              </a:ext>
            </a:extLst>
          </p:cNvPr>
          <p:cNvSpPr>
            <a:spLocks noGrp="1"/>
          </p:cNvSpPr>
          <p:nvPr>
            <p:ph type="sldNum" sz="quarter" idx="2"/>
          </p:nvPr>
        </p:nvSpPr>
        <p:spPr/>
        <p:txBody>
          <a:bodyPr/>
          <a:lstStyle/>
          <a:p>
            <a:fld id="{86CB4B4D-7CA3-9044-876B-883B54F8677D}" type="slidenum">
              <a:rPr lang="en-US" altLang="ko-KR" smtClean="0"/>
              <a:t>13</a:t>
            </a:fld>
            <a:r>
              <a:rPr lang="en-US" altLang="ko-KR"/>
              <a:t>/21</a:t>
            </a:r>
            <a:endParaRPr lang="ko-KR" altLang="en-US" dirty="0"/>
          </a:p>
        </p:txBody>
      </p:sp>
      <p:pic>
        <p:nvPicPr>
          <p:cNvPr id="2" name="그림 1">
            <a:extLst>
              <a:ext uri="{FF2B5EF4-FFF2-40B4-BE49-F238E27FC236}">
                <a16:creationId xmlns:a16="http://schemas.microsoft.com/office/drawing/2014/main" id="{D7EA450C-283E-6579-8AAD-BE43BD8DBD78}"/>
              </a:ext>
            </a:extLst>
          </p:cNvPr>
          <p:cNvPicPr>
            <a:picLocks noChangeAspect="1"/>
          </p:cNvPicPr>
          <p:nvPr/>
        </p:nvPicPr>
        <p:blipFill>
          <a:blip r:embed="rId3"/>
          <a:stretch>
            <a:fillRect/>
          </a:stretch>
        </p:blipFill>
        <p:spPr>
          <a:xfrm>
            <a:off x="2387772" y="2835619"/>
            <a:ext cx="19730519" cy="95881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2 · Reality Check</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Cells Aren’t Always Full — G1 / G2 / G3</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G1→G2 sharpens only because a positioning session turns PRS on (7 → 98 MHz) — filling the cell with user data (G3) changes nothing</a:t>
            </a:r>
          </a:p>
        </p:txBody>
      </p:sp>
      <p:sp>
        <p:nvSpPr>
          <p:cNvPr id="3" name="슬라이드 번호 개체 틀 2">
            <a:extLst>
              <a:ext uri="{FF2B5EF4-FFF2-40B4-BE49-F238E27FC236}">
                <a16:creationId xmlns:a16="http://schemas.microsoft.com/office/drawing/2014/main" id="{61176FD1-60DC-9470-F2BB-602582A4D17B}"/>
              </a:ext>
            </a:extLst>
          </p:cNvPr>
          <p:cNvSpPr>
            <a:spLocks noGrp="1"/>
          </p:cNvSpPr>
          <p:nvPr>
            <p:ph type="sldNum" sz="quarter" idx="2"/>
          </p:nvPr>
        </p:nvSpPr>
        <p:spPr/>
        <p:txBody>
          <a:bodyPr/>
          <a:lstStyle/>
          <a:p>
            <a:fld id="{86CB4B4D-7CA3-9044-876B-883B54F8677D}" type="slidenum">
              <a:rPr lang="en-US" altLang="ko-KR" smtClean="0"/>
              <a:t>14</a:t>
            </a:fld>
            <a:r>
              <a:rPr lang="en-US" altLang="ko-KR"/>
              <a:t>/21</a:t>
            </a:r>
            <a:endParaRPr lang="ko-KR" altLang="en-US" dirty="0"/>
          </a:p>
        </p:txBody>
      </p:sp>
      <p:pic>
        <p:nvPicPr>
          <p:cNvPr id="4" name="그림 3">
            <a:extLst>
              <a:ext uri="{FF2B5EF4-FFF2-40B4-BE49-F238E27FC236}">
                <a16:creationId xmlns:a16="http://schemas.microsoft.com/office/drawing/2014/main" id="{EEFE8BC0-45C7-005F-9AC5-0C270792C243}"/>
              </a:ext>
            </a:extLst>
          </p:cNvPr>
          <p:cNvPicPr>
            <a:picLocks noChangeAspect="1"/>
          </p:cNvPicPr>
          <p:nvPr/>
        </p:nvPicPr>
        <p:blipFill>
          <a:blip r:embed="rId3"/>
          <a:stretch>
            <a:fillRect/>
          </a:stretch>
        </p:blipFill>
        <p:spPr>
          <a:xfrm>
            <a:off x="1678883" y="3608782"/>
            <a:ext cx="21022235" cy="840889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3 · Articulation</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An Articulated Drone — Body ⟂ Props</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Body tilt and rotor spin move on their own — here, both at once</a:t>
            </a:r>
          </a:p>
        </p:txBody>
      </p:sp>
      <p:pic>
        <p:nvPicPr>
          <p:cNvPr id="20" name="articulation_gif"/>
          <p:cNvPicPr>
            <a:picLocks noChangeAspect="1"/>
          </p:cNvPicPr>
          <p:nvPr/>
        </p:nvPicPr>
        <p:blipFill>
          <a:blip r:embed="rId3"/>
          <a:stretch>
            <a:fillRect/>
          </a:stretch>
        </p:blipFill>
        <p:spPr>
          <a:xfrm>
            <a:off x="7797137" y="2964274"/>
            <a:ext cx="8869725" cy="8869725"/>
          </a:xfrm>
          <a:prstGeom prst="rect">
            <a:avLst/>
          </a:prstGeom>
        </p:spPr>
      </p:pic>
      <p:sp>
        <p:nvSpPr>
          <p:cNvPr id="14" name="Cap"/>
          <p:cNvSpPr txBox="1">
            <a:spLocks/>
          </p:cNvSpPr>
          <p:nvPr/>
        </p:nvSpPr>
        <p:spPr>
          <a:xfrm>
            <a:off x="760000" y="10697676"/>
            <a:ext cx="22944000" cy="560000"/>
          </a:xfrm>
          <a:prstGeom prst="rect">
            <a:avLst/>
          </a:prstGeom>
        </p:spPr>
        <p:txBody>
          <a:bodyPr lIns="50800" tIns="30000" rIns="50800" bIns="30000" anchor="ctr">
            <a:noAutofit/>
          </a:bodyPr>
          <a:lstStyle/>
          <a:p>
            <a:pPr algn="ctr"/>
            <a:r>
              <a:rPr lang="en-US" altLang="ko-KR" sz="2000" b="0" i="1" dirty="0">
                <a:solidFill>
                  <a:srgbClr val="595959"/>
                </a:solidFill>
                <a:latin typeface="Avenir Next Medium"/>
                <a:ea typeface="Avenir Next Medium"/>
                <a:cs typeface="Avenir Next Medium"/>
              </a:rPr>
              <a:t>Mavic 4 Pro: the body wobbles (roll/pitch/yaw) while the props keep spinning — two independent degrees of freedom</a:t>
            </a:r>
          </a:p>
        </p:txBody>
      </p:sp>
      <p:sp>
        <p:nvSpPr>
          <p:cNvPr id="3" name="슬라이드 번호 개체 틀 2">
            <a:extLst>
              <a:ext uri="{FF2B5EF4-FFF2-40B4-BE49-F238E27FC236}">
                <a16:creationId xmlns:a16="http://schemas.microsoft.com/office/drawing/2014/main" id="{655C329E-8B86-F877-AC64-312D58303332}"/>
              </a:ext>
            </a:extLst>
          </p:cNvPr>
          <p:cNvSpPr>
            <a:spLocks noGrp="1"/>
          </p:cNvSpPr>
          <p:nvPr>
            <p:ph type="sldNum" sz="quarter" idx="2"/>
          </p:nvPr>
        </p:nvSpPr>
        <p:spPr/>
        <p:txBody>
          <a:bodyPr/>
          <a:lstStyle/>
          <a:p>
            <a:fld id="{86CB4B4D-7CA3-9044-876B-883B54F8677D}" type="slidenum">
              <a:rPr lang="en-US" altLang="ko-KR" smtClean="0"/>
              <a:t>15</a:t>
            </a:fld>
            <a:r>
              <a:rPr lang="en-US" altLang="ko-KR"/>
              <a:t>/21</a:t>
            </a:r>
            <a:endParaRPr lang="ko-KR"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3 · Micro-Doppler</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Spinning-Blade Signature</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Even while hovering, the spinning blades ripple the echo — a fingerprint we can read</a:t>
            </a:r>
          </a:p>
        </p:txBody>
      </p:sp>
      <p:sp>
        <p:nvSpPr>
          <p:cNvPr id="3" name="슬라이드 번호 개체 틀 2">
            <a:extLst>
              <a:ext uri="{FF2B5EF4-FFF2-40B4-BE49-F238E27FC236}">
                <a16:creationId xmlns:a16="http://schemas.microsoft.com/office/drawing/2014/main" id="{2A7DAF3A-D8F2-CF9F-CC71-65E86C69CF7B}"/>
              </a:ext>
            </a:extLst>
          </p:cNvPr>
          <p:cNvSpPr>
            <a:spLocks noGrp="1"/>
          </p:cNvSpPr>
          <p:nvPr>
            <p:ph type="sldNum" sz="quarter" idx="2"/>
          </p:nvPr>
        </p:nvSpPr>
        <p:spPr/>
        <p:txBody>
          <a:bodyPr/>
          <a:lstStyle/>
          <a:p>
            <a:fld id="{86CB4B4D-7CA3-9044-876B-883B54F8677D}" type="slidenum">
              <a:rPr lang="en-US" altLang="ko-KR" smtClean="0"/>
              <a:t>16</a:t>
            </a:fld>
            <a:r>
              <a:rPr lang="en-US" altLang="ko-KR"/>
              <a:t>/21</a:t>
            </a:r>
            <a:endParaRPr lang="ko-KR" altLang="en-US" dirty="0"/>
          </a:p>
        </p:txBody>
      </p:sp>
      <p:pic>
        <p:nvPicPr>
          <p:cNvPr id="2" name="그림 1">
            <a:extLst>
              <a:ext uri="{FF2B5EF4-FFF2-40B4-BE49-F238E27FC236}">
                <a16:creationId xmlns:a16="http://schemas.microsoft.com/office/drawing/2014/main" id="{AEB9B4B3-7A83-1380-E3AF-A0447FD22280}"/>
              </a:ext>
            </a:extLst>
          </p:cNvPr>
          <p:cNvPicPr>
            <a:picLocks noChangeAspect="1"/>
          </p:cNvPicPr>
          <p:nvPr/>
        </p:nvPicPr>
        <p:blipFill>
          <a:blip r:embed="rId3"/>
          <a:stretch>
            <a:fillRect/>
          </a:stretch>
        </p:blipFill>
        <p:spPr>
          <a:xfrm>
            <a:off x="1873124" y="3495018"/>
            <a:ext cx="19400964" cy="837399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Sionna Progress · Where This Sits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dirty="0">
                <a:latin typeface="AvenirNext-DemiBold"/>
                <a:ea typeface="AvenirNext-DemiBold"/>
                <a:cs typeface="AvenirNext-DemiBold"/>
              </a:rPr>
              <a:t>Done in Three Stages — Next: Real Passive Radar</a:t>
            </a:r>
            <a:endParaRPr lang="en-US" altLang="ko-KR" sz="5200" b="1" i="0" dirty="0">
              <a:solidFill>
                <a:srgbClr val="000000"/>
              </a:solidFill>
              <a:latin typeface="AvenirNext-DemiBold"/>
              <a:ea typeface="AvenirNext-DemiBold"/>
              <a:cs typeface="AvenirNext-DemiBold"/>
            </a:endParaRP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From a static scene toward a full bistatic detection chain</a:t>
            </a:r>
          </a:p>
        </p:txBody>
      </p:sp>
      <p:sp>
        <p:nvSpPr>
          <p:cNvPr id="41" name="L"/>
          <p:cNvSpPr txBox="1"/>
          <p:nvPr/>
        </p:nvSpPr>
        <p:spPr>
          <a:xfrm>
            <a:off x="720000" y="315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Done ✓</a:t>
            </a:r>
          </a:p>
        </p:txBody>
      </p:sp>
      <p:sp>
        <p:nvSpPr>
          <p:cNvPr id="42" name="B"/>
          <p:cNvSpPr txBox="1"/>
          <p:nvPr/>
        </p:nvSpPr>
        <p:spPr>
          <a:xfrm>
            <a:off x="5900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Environment</a:t>
            </a:r>
          </a:p>
        </p:txBody>
      </p:sp>
      <p:sp>
        <p:nvSpPr>
          <p:cNvPr id="43" name="A"/>
          <p:cNvSpPr txBox="1"/>
          <p:nvPr/>
        </p:nvSpPr>
        <p:spPr>
          <a:xfrm>
            <a:off x="11300000" y="31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44" name="B"/>
          <p:cNvSpPr txBox="1"/>
          <p:nvPr/>
        </p:nvSpPr>
        <p:spPr>
          <a:xfrm>
            <a:off x="12082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Illuminators</a:t>
            </a:r>
          </a:p>
          <a:p>
            <a:pPr algn="ctr"/>
            <a:r>
              <a:rPr lang="en-US" altLang="ko-KR" sz="2400" b="1" i="0" dirty="0">
                <a:solidFill>
                  <a:srgbClr val="26448A"/>
                </a:solidFill>
                <a:latin typeface="Avenir Next Medium"/>
                <a:ea typeface="Avenir Next Medium"/>
                <a:cs typeface="Avenir Next Medium"/>
              </a:rPr>
              <a:t>Wi-Fi / LTE / 5G</a:t>
            </a:r>
          </a:p>
        </p:txBody>
      </p:sp>
      <p:sp>
        <p:nvSpPr>
          <p:cNvPr id="45" name="A"/>
          <p:cNvSpPr txBox="1"/>
          <p:nvPr/>
        </p:nvSpPr>
        <p:spPr>
          <a:xfrm>
            <a:off x="17482000" y="31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46" name="B"/>
          <p:cNvSpPr txBox="1"/>
          <p:nvPr/>
        </p:nvSpPr>
        <p:spPr>
          <a:xfrm>
            <a:off x="18264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Micro-Doppler</a:t>
            </a:r>
          </a:p>
        </p:txBody>
      </p:sp>
      <p:sp>
        <p:nvSpPr>
          <p:cNvPr id="47" name="L"/>
          <p:cNvSpPr txBox="1"/>
          <p:nvPr/>
        </p:nvSpPr>
        <p:spPr>
          <a:xfrm>
            <a:off x="720000" y="550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Next</a:t>
            </a:r>
          </a:p>
        </p:txBody>
      </p:sp>
      <p:sp>
        <p:nvSpPr>
          <p:cNvPr id="48" name="B"/>
          <p:cNvSpPr txBox="1"/>
          <p:nvPr/>
        </p:nvSpPr>
        <p:spPr>
          <a:xfrm>
            <a:off x="5900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Bistatic (Tx ≠ Rx)</a:t>
            </a:r>
          </a:p>
        </p:txBody>
      </p:sp>
      <p:sp>
        <p:nvSpPr>
          <p:cNvPr id="49" name="A"/>
          <p:cNvSpPr txBox="1"/>
          <p:nvPr/>
        </p:nvSpPr>
        <p:spPr>
          <a:xfrm>
            <a:off x="11300000" y="550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0" name="B"/>
          <p:cNvSpPr txBox="1"/>
          <p:nvPr/>
        </p:nvSpPr>
        <p:spPr>
          <a:xfrm>
            <a:off x="12082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Clutter ECA + CFAR</a:t>
            </a:r>
          </a:p>
        </p:txBody>
      </p:sp>
      <p:sp>
        <p:nvSpPr>
          <p:cNvPr id="51" name="A"/>
          <p:cNvSpPr txBox="1"/>
          <p:nvPr/>
        </p:nvSpPr>
        <p:spPr>
          <a:xfrm>
            <a:off x="17482000" y="550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2" name="B"/>
          <p:cNvSpPr txBox="1"/>
          <p:nvPr/>
        </p:nvSpPr>
        <p:spPr>
          <a:xfrm>
            <a:off x="18264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Detection / tracking</a:t>
            </a:r>
          </a:p>
          <a:p>
            <a:pPr algn="ctr">
              <a:spcBef>
                <a:spcPts val="200"/>
              </a:spcBef>
            </a:pPr>
            <a:r>
              <a:rPr lang="en-US" altLang="ko-KR" sz="1700" b="0" i="1" dirty="0">
                <a:solidFill>
                  <a:srgbClr val="595959"/>
                </a:solidFill>
                <a:latin typeface="Avenir Next Medium"/>
                <a:ea typeface="Avenir Next Medium"/>
                <a:cs typeface="Avenir Next Medium"/>
              </a:rPr>
              <a:t>CFAR → MTT</a:t>
            </a:r>
          </a:p>
        </p:txBody>
      </p:sp>
      <p:sp>
        <p:nvSpPr>
          <p:cNvPr id="53" name="L"/>
          <p:cNvSpPr txBox="1"/>
          <p:nvPr/>
        </p:nvSpPr>
        <p:spPr>
          <a:xfrm>
            <a:off x="720000" y="785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Then</a:t>
            </a:r>
          </a:p>
        </p:txBody>
      </p:sp>
      <p:sp>
        <p:nvSpPr>
          <p:cNvPr id="54" name="B"/>
          <p:cNvSpPr txBox="1"/>
          <p:nvPr/>
        </p:nvSpPr>
        <p:spPr>
          <a:xfrm>
            <a:off x="5900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Export to PX4 / Gazebo</a:t>
            </a:r>
          </a:p>
        </p:txBody>
      </p:sp>
      <p:sp>
        <p:nvSpPr>
          <p:cNvPr id="55" name="A"/>
          <p:cNvSpPr txBox="1"/>
          <p:nvPr/>
        </p:nvSpPr>
        <p:spPr>
          <a:xfrm>
            <a:off x="11300000" y="78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6" name="B"/>
          <p:cNvSpPr txBox="1"/>
          <p:nvPr/>
        </p:nvSpPr>
        <p:spPr>
          <a:xfrm>
            <a:off x="12082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Drone vs bird ID</a:t>
            </a:r>
          </a:p>
          <a:p>
            <a:pPr algn="ctr">
              <a:spcBef>
                <a:spcPts val="200"/>
              </a:spcBef>
            </a:pPr>
            <a:r>
              <a:rPr lang="en-US" altLang="ko-KR" sz="1700" b="0" i="1" dirty="0">
                <a:solidFill>
                  <a:srgbClr val="595959"/>
                </a:solidFill>
                <a:latin typeface="Avenir Next Medium"/>
                <a:ea typeface="Avenir Next Medium"/>
                <a:cs typeface="Avenir Next Medium"/>
              </a:rPr>
              <a:t>blade signature</a:t>
            </a:r>
          </a:p>
        </p:txBody>
      </p:sp>
      <p:sp>
        <p:nvSpPr>
          <p:cNvPr id="57" name="A"/>
          <p:cNvSpPr txBox="1"/>
          <p:nvPr/>
        </p:nvSpPr>
        <p:spPr>
          <a:xfrm>
            <a:off x="17482000" y="78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8" name="B"/>
          <p:cNvSpPr txBox="1"/>
          <p:nvPr/>
        </p:nvSpPr>
        <p:spPr>
          <a:xfrm>
            <a:off x="18264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Fair Pd benchmark</a:t>
            </a:r>
          </a:p>
          <a:p>
            <a:pPr algn="ctr"/>
            <a:r>
              <a:rPr lang="en-US" altLang="ko-KR" sz="2400" b="1" i="0" dirty="0">
                <a:solidFill>
                  <a:srgbClr val="26448A"/>
                </a:solidFill>
                <a:latin typeface="Avenir Next Medium"/>
                <a:ea typeface="Avenir Next Medium"/>
                <a:cs typeface="Avenir Next Medium"/>
              </a:rPr>
              <a:t>across signals</a:t>
            </a:r>
          </a:p>
        </p:txBody>
      </p:sp>
      <p:sp>
        <p:nvSpPr>
          <p:cNvPr id="15" name="Takeaway"/>
          <p:cNvSpPr txBox="1">
            <a:spLocks/>
          </p:cNvSpPr>
          <p:nvPr/>
        </p:nvSpPr>
        <p:spPr>
          <a:xfrm>
            <a:off x="720000" y="11250000"/>
            <a:ext cx="22944000" cy="850000"/>
          </a:xfrm>
          <a:prstGeom prst="rect">
            <a:avLst/>
          </a:prstGeom>
        </p:spPr>
        <p:txBody>
          <a:bodyPr lIns="50800" tIns="30000" rIns="50800" bIns="30000" anchor="t">
            <a:noAutofit/>
          </a:bodyPr>
          <a:lstStyle/>
          <a:p>
            <a:pPr marL="0" indent="0" algn="l">
              <a:buNone/>
            </a:pPr>
            <a:r>
              <a:rPr lang="en-US" altLang="ko-KR" sz="2800" b="1" i="0" dirty="0">
                <a:solidFill>
                  <a:srgbClr val="26448A"/>
                </a:solidFill>
                <a:latin typeface="Avenir Next Medium"/>
                <a:ea typeface="Avenir Next Medium"/>
                <a:cs typeface="Avenir Next Medium"/>
              </a:rPr>
              <a:t>→ scene, illuminators &amp; signatures are ready — next is the bistatic detection chain</a:t>
            </a:r>
          </a:p>
        </p:txBody>
      </p:sp>
      <p:sp>
        <p:nvSpPr>
          <p:cNvPr id="3" name="슬라이드 번호 개체 틀 2">
            <a:extLst>
              <a:ext uri="{FF2B5EF4-FFF2-40B4-BE49-F238E27FC236}">
                <a16:creationId xmlns:a16="http://schemas.microsoft.com/office/drawing/2014/main" id="{C23651DD-A64B-E665-C30F-0A12BF879CC3}"/>
              </a:ext>
            </a:extLst>
          </p:cNvPr>
          <p:cNvSpPr>
            <a:spLocks noGrp="1"/>
          </p:cNvSpPr>
          <p:nvPr>
            <p:ph type="sldNum" sz="quarter" idx="2"/>
          </p:nvPr>
        </p:nvSpPr>
        <p:spPr/>
        <p:txBody>
          <a:bodyPr/>
          <a:lstStyle/>
          <a:p>
            <a:fld id="{86CB4B4D-7CA3-9044-876B-883B54F8677D}" type="slidenum">
              <a:rPr lang="en-US" altLang="ko-KR" smtClean="0"/>
              <a:t>17</a:t>
            </a:fld>
            <a:r>
              <a:rPr lang="en-US" altLang="ko-KR"/>
              <a:t>/21</a:t>
            </a:r>
            <a:endParaRPr lang="ko-KR"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DivKicker"/>
          <p:cNvSpPr txBox="1">
            <a:spLocks/>
          </p:cNvSpPr>
          <p:nvPr/>
        </p:nvSpPr>
        <p:spPr>
          <a:xfrm>
            <a:off x="0" y="4050000"/>
            <a:ext cx="24384000" cy="760000"/>
          </a:xfrm>
          <a:prstGeom prst="rect">
            <a:avLst/>
          </a:prstGeom>
        </p:spPr>
        <p:txBody>
          <a:bodyPr lIns="50800" tIns="30000" rIns="50800" bIns="30000" anchor="ctr">
            <a:noAutofit/>
          </a:bodyPr>
          <a:lstStyle/>
          <a:p>
            <a:pPr algn="ctr"/>
            <a:r>
              <a:rPr lang="en-US" altLang="ko-KR" sz="3600" b="1" i="0" dirty="0">
                <a:solidFill>
                  <a:srgbClr val="2E74B5"/>
                </a:solidFill>
                <a:latin typeface="Avenir Next Medium"/>
                <a:ea typeface="Avenir Next Medium"/>
                <a:cs typeface="Avenir Next Medium"/>
              </a:rPr>
              <a:t>PAPER Introduction</a:t>
            </a:r>
          </a:p>
        </p:txBody>
      </p:sp>
      <p:sp>
        <p:nvSpPr>
          <p:cNvPr id="12" name="DivTitle"/>
          <p:cNvSpPr txBox="1">
            <a:spLocks/>
          </p:cNvSpPr>
          <p:nvPr/>
        </p:nvSpPr>
        <p:spPr>
          <a:xfrm>
            <a:off x="0" y="4850000"/>
            <a:ext cx="24384000" cy="1550000"/>
          </a:xfrm>
          <a:prstGeom prst="rect">
            <a:avLst/>
          </a:prstGeom>
        </p:spPr>
        <p:txBody>
          <a:bodyPr lIns="50800" tIns="30000" rIns="50800" bIns="30000" anchor="ctr">
            <a:noAutofit/>
          </a:bodyPr>
          <a:lstStyle/>
          <a:p>
            <a:pPr algn="ctr"/>
            <a:r>
              <a:rPr lang="en-US" altLang="ko-KR" sz="6400" b="1" i="0" dirty="0">
                <a:solidFill>
                  <a:srgbClr val="000000"/>
                </a:solidFill>
                <a:latin typeface="AvenirNext-DemiBold"/>
                <a:ea typeface="AvenirNext-DemiBold"/>
                <a:cs typeface="AvenirNext-DemiBold"/>
              </a:rPr>
              <a:t>From Denoising to De-Channeling</a:t>
            </a:r>
          </a:p>
        </p:txBody>
      </p:sp>
      <p:sp>
        <p:nvSpPr>
          <p:cNvPr id="13" name="DivSub"/>
          <p:cNvSpPr txBox="1">
            <a:spLocks/>
          </p:cNvSpPr>
          <p:nvPr/>
        </p:nvSpPr>
        <p:spPr>
          <a:xfrm>
            <a:off x="0" y="6560000"/>
            <a:ext cx="24384000" cy="820000"/>
          </a:xfrm>
          <a:prstGeom prst="rect">
            <a:avLst/>
          </a:prstGeom>
        </p:spPr>
        <p:txBody>
          <a:bodyPr lIns="50800" tIns="30000" rIns="50800" bIns="30000" anchor="ctr">
            <a:noAutofit/>
          </a:bodyPr>
          <a:lstStyle/>
          <a:p>
            <a:pPr algn="ctr"/>
            <a:r>
              <a:rPr lang="en-US" altLang="ko-KR" sz="4000" b="0" i="1" dirty="0">
                <a:solidFill>
                  <a:srgbClr val="595959"/>
                </a:solidFill>
                <a:latin typeface="Avenir Next Medium"/>
                <a:ea typeface="Avenir Next Medium"/>
                <a:cs typeface="Avenir Next Medium"/>
              </a:rPr>
              <a:t>Integrating physical channel priors into diffusion models</a:t>
            </a:r>
          </a:p>
        </p:txBody>
      </p:sp>
      <p:sp>
        <p:nvSpPr>
          <p:cNvPr id="14" name="DivRoad"/>
          <p:cNvSpPr txBox="1">
            <a:spLocks/>
          </p:cNvSpPr>
          <p:nvPr/>
        </p:nvSpPr>
        <p:spPr>
          <a:xfrm>
            <a:off x="0" y="7820000"/>
            <a:ext cx="24384000" cy="820000"/>
          </a:xfrm>
          <a:prstGeom prst="rect">
            <a:avLst/>
          </a:prstGeom>
        </p:spPr>
        <p:txBody>
          <a:bodyPr lIns="50800" tIns="30000" rIns="50800" bIns="30000" anchor="ctr">
            <a:noAutofit/>
          </a:bodyPr>
          <a:lstStyle/>
          <a:p>
            <a:pPr algn="ctr"/>
            <a:r>
              <a:rPr lang="en-US" altLang="ko-KR" sz="3600" b="1" i="0" dirty="0">
                <a:solidFill>
                  <a:srgbClr val="26448A"/>
                </a:solidFill>
                <a:latin typeface="Avenir Next Medium"/>
                <a:ea typeface="Avenir Next Medium"/>
                <a:cs typeface="Avenir Next Medium"/>
              </a:rPr>
              <a:t>Background    →    Idea    →    Pipeline    →    Results</a:t>
            </a:r>
          </a:p>
        </p:txBody>
      </p:sp>
      <p:sp>
        <p:nvSpPr>
          <p:cNvPr id="15" name="DivMeta"/>
          <p:cNvSpPr txBox="1">
            <a:spLocks/>
          </p:cNvSpPr>
          <p:nvPr/>
        </p:nvSpPr>
        <p:spPr>
          <a:xfrm>
            <a:off x="0" y="8950000"/>
            <a:ext cx="24384000" cy="600000"/>
          </a:xfrm>
          <a:prstGeom prst="rect">
            <a:avLst/>
          </a:prstGeom>
        </p:spPr>
        <p:txBody>
          <a:bodyPr lIns="50800" tIns="30000" rIns="50800" bIns="30000" anchor="ctr">
            <a:noAutofit/>
          </a:bodyPr>
          <a:lstStyle/>
          <a:p>
            <a:pPr algn="ctr"/>
            <a:r>
              <a:rPr lang="en-US" altLang="ko-KR" sz="2600" b="0" i="1" dirty="0">
                <a:solidFill>
                  <a:srgbClr val="595959"/>
                </a:solidFill>
                <a:latin typeface="Avenir Next Medium"/>
                <a:ea typeface="Avenir Next Medium"/>
                <a:cs typeface="Avenir Next Medium"/>
              </a:rPr>
              <a:t>Liu et al., BUPT &amp; Pengcheng Lab  ·  github.com/BUPT-GAMMA/FoundWSR</a:t>
            </a:r>
          </a:p>
        </p:txBody>
      </p:sp>
      <p:sp>
        <p:nvSpPr>
          <p:cNvPr id="3" name="슬라이드 번호 개체 틀 2">
            <a:extLst>
              <a:ext uri="{FF2B5EF4-FFF2-40B4-BE49-F238E27FC236}">
                <a16:creationId xmlns:a16="http://schemas.microsoft.com/office/drawing/2014/main" id="{1F36BBDC-1731-C7DF-F756-4B038C3A1A4D}"/>
              </a:ext>
            </a:extLst>
          </p:cNvPr>
          <p:cNvSpPr>
            <a:spLocks noGrp="1"/>
          </p:cNvSpPr>
          <p:nvPr>
            <p:ph type="sldNum" sz="quarter" idx="2"/>
          </p:nvPr>
        </p:nvSpPr>
        <p:spPr/>
        <p:txBody>
          <a:bodyPr/>
          <a:lstStyle/>
          <a:p>
            <a:fld id="{86CB4B4D-7CA3-9044-876B-883B54F8677D}" type="slidenum">
              <a:rPr lang="en-US" altLang="ko-KR" smtClean="0"/>
              <a:t>18</a:t>
            </a:fld>
            <a:r>
              <a:rPr lang="en-US" altLang="ko-KR"/>
              <a:t>/21</a:t>
            </a:r>
            <a:endParaRPr lang="ko-KR" altLang="en-US" dirty="0"/>
          </a:p>
        </p:txBody>
      </p:sp>
      <p:sp>
        <p:nvSpPr>
          <p:cNvPr id="4" name="DivMeta">
            <a:extLst>
              <a:ext uri="{FF2B5EF4-FFF2-40B4-BE49-F238E27FC236}">
                <a16:creationId xmlns:a16="http://schemas.microsoft.com/office/drawing/2014/main" id="{7F05014A-523F-87FB-1A21-2D28BA0A67C4}"/>
              </a:ext>
            </a:extLst>
          </p:cNvPr>
          <p:cNvSpPr txBox="1">
            <a:spLocks/>
          </p:cNvSpPr>
          <p:nvPr/>
        </p:nvSpPr>
        <p:spPr>
          <a:xfrm>
            <a:off x="114301" y="10477676"/>
            <a:ext cx="24384000" cy="600000"/>
          </a:xfrm>
          <a:prstGeom prst="rect">
            <a:avLst/>
          </a:prstGeom>
        </p:spPr>
        <p:txBody>
          <a:bodyPr lIns="50800" tIns="30000" rIns="50800" bIns="30000" anchor="ctr">
            <a:noAutofit/>
          </a:bodyPr>
          <a:lstStyle/>
          <a:p>
            <a:pPr algn="ctr"/>
            <a:r>
              <a:rPr lang="en-US" altLang="ko-KR" sz="2600" b="1" i="1" dirty="0">
                <a:solidFill>
                  <a:srgbClr val="595959"/>
                </a:solidFill>
              </a:rPr>
              <a:t>ICML 2026 Spotlight Poster</a:t>
            </a:r>
            <a:endParaRPr lang="en-US" altLang="ko-KR" sz="2600" b="1" i="1" dirty="0">
              <a:solidFill>
                <a:srgbClr val="595959"/>
              </a:solidFill>
              <a:latin typeface="Avenir Next Medium"/>
              <a:ea typeface="Avenir Next Medium"/>
              <a:cs typeface="Avenir Next Medium"/>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Paper Review · Background</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Wireless Signal Recognition, Meet Diffusion</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AI labels a received radio signal — but the channel distorts it first</a:t>
            </a:r>
          </a:p>
        </p:txBody>
      </p:sp>
      <p:sp>
        <p:nvSpPr>
          <p:cNvPr id="14" name="CardHdr"/>
          <p:cNvSpPr txBox="1"/>
          <p:nvPr/>
        </p:nvSpPr>
        <p:spPr>
          <a:xfrm>
            <a:off x="820000" y="2980000"/>
            <a:ext cx="10900000" cy="1120000"/>
          </a:xfrm>
          <a:prstGeom prst="rect">
            <a:avLst/>
          </a:prstGeom>
          <a:solidFill>
            <a:srgbClr val="2E74B5"/>
          </a:solidFill>
        </p:spPr>
        <p:txBody>
          <a:bodyPr lIns="91440" tIns="20000" rIns="50800" bIns="20000" anchor="ctr">
            <a:noAutofit/>
          </a:bodyPr>
          <a:lstStyle/>
          <a:p>
            <a:pPr algn="ctr"/>
            <a:r>
              <a:rPr lang="en-US" altLang="ko-KR" sz="3500" b="1" i="0" dirty="0">
                <a:solidFill>
                  <a:srgbClr val="FFFFFF"/>
                </a:solidFill>
                <a:latin typeface="AvenirNext-DemiBold"/>
                <a:ea typeface="AvenirNext-DemiBold"/>
                <a:cs typeface="AvenirNext-DemiBold"/>
              </a:rPr>
              <a:t>What WSR does</a:t>
            </a:r>
          </a:p>
        </p:txBody>
      </p:sp>
      <p:sp>
        <p:nvSpPr>
          <p:cNvPr id="15" name="CardBody"/>
          <p:cNvSpPr txBox="1"/>
          <p:nvPr/>
        </p:nvSpPr>
        <p:spPr>
          <a:xfrm>
            <a:off x="820000" y="4100000"/>
            <a:ext cx="10900000" cy="6450000"/>
          </a:xfrm>
          <a:prstGeom prst="rect">
            <a:avLst/>
          </a:prstGeom>
          <a:solidFill>
            <a:srgbClr val="EAF1FB"/>
          </a:solidFill>
          <a:ln w="12700">
            <a:solidFill>
              <a:srgbClr val="2E74B5"/>
            </a:solidFill>
          </a:ln>
        </p:spPr>
        <p:txBody>
          <a:bodyPr lIns="320000" tIns="240000" rIns="280000" bIns="200000" anchor="ctr">
            <a:noAutofit/>
          </a:bodyPr>
          <a:lstStyle/>
          <a:p>
            <a:pPr marL="0" indent="0" algn="l">
              <a:spcAft>
                <a:spcPts val="600"/>
              </a:spcAft>
              <a:buNone/>
            </a:pPr>
            <a:r>
              <a:rPr lang="en-US" altLang="ko-KR" sz="3500" b="1" i="1" dirty="0">
                <a:solidFill>
                  <a:srgbClr val="2E74B5"/>
                </a:solidFill>
                <a:latin typeface="Avenir Next Medium"/>
                <a:ea typeface="Avenir Next Medium"/>
                <a:cs typeface="Avenir Next Medium"/>
              </a:rPr>
              <a:t>Read the received signal</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AI labels a passively-received IQ signal</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Modulation type · wireless tech · anomaly</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A cornerstone task for spectrum use &amp; 6G</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But it arrives distorted:  y = h * x + n</a:t>
            </a:r>
          </a:p>
        </p:txBody>
      </p:sp>
      <p:sp>
        <p:nvSpPr>
          <p:cNvPr id="16" name="CardHdr"/>
          <p:cNvSpPr txBox="1"/>
          <p:nvPr/>
        </p:nvSpPr>
        <p:spPr>
          <a:xfrm>
            <a:off x="12660000" y="2980000"/>
            <a:ext cx="10900000" cy="1120000"/>
          </a:xfrm>
          <a:prstGeom prst="rect">
            <a:avLst/>
          </a:prstGeom>
          <a:solidFill>
            <a:srgbClr val="26448A"/>
          </a:solidFill>
        </p:spPr>
        <p:txBody>
          <a:bodyPr lIns="91440" tIns="20000" rIns="50800" bIns="20000" anchor="ctr">
            <a:noAutofit/>
          </a:bodyPr>
          <a:lstStyle/>
          <a:p>
            <a:pPr algn="ctr"/>
            <a:r>
              <a:rPr lang="en-US" altLang="ko-KR" sz="3500" b="1" i="0" dirty="0">
                <a:solidFill>
                  <a:srgbClr val="FFFFFF"/>
                </a:solidFill>
                <a:latin typeface="AvenirNext-DemiBold"/>
                <a:ea typeface="AvenirNext-DemiBold"/>
                <a:cs typeface="AvenirNext-DemiBold"/>
              </a:rPr>
              <a:t>Why bring in diffusion</a:t>
            </a:r>
          </a:p>
        </p:txBody>
      </p:sp>
      <p:sp>
        <p:nvSpPr>
          <p:cNvPr id="17" name="CardBody"/>
          <p:cNvSpPr txBox="1"/>
          <p:nvPr/>
        </p:nvSpPr>
        <p:spPr>
          <a:xfrm>
            <a:off x="12660000" y="4100000"/>
            <a:ext cx="10900000" cy="6450000"/>
          </a:xfrm>
          <a:prstGeom prst="rect">
            <a:avLst/>
          </a:prstGeom>
          <a:solidFill>
            <a:srgbClr val="E9EDF5"/>
          </a:solidFill>
          <a:ln w="12700">
            <a:solidFill>
              <a:srgbClr val="26448A"/>
            </a:solidFill>
          </a:ln>
        </p:spPr>
        <p:txBody>
          <a:bodyPr lIns="320000" tIns="240000" rIns="280000" bIns="200000" anchor="ctr">
            <a:noAutofit/>
          </a:bodyPr>
          <a:lstStyle/>
          <a:p>
            <a:pPr marL="0" indent="0" algn="l">
              <a:spcAft>
                <a:spcPts val="600"/>
              </a:spcAft>
              <a:buNone/>
            </a:pPr>
            <a:r>
              <a:rPr lang="en-US" altLang="ko-KR" sz="3500" b="1" i="1" dirty="0">
                <a:solidFill>
                  <a:srgbClr val="26448A"/>
                </a:solidFill>
                <a:latin typeface="Avenir Next Medium"/>
                <a:ea typeface="Avenir Next Medium"/>
                <a:cs typeface="Avenir Next Medium"/>
              </a:rPr>
              <a:t>Powerful denoisers</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Forward: add Gaussian noise, step by step</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Reverse: a network learns to remove it</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Its learned features transfer well to WSR</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So: borrow that denoising power for WSR</a:t>
            </a:r>
          </a:p>
        </p:txBody>
      </p:sp>
      <p:sp>
        <p:nvSpPr>
          <p:cNvPr id="18" name="Takeaway"/>
          <p:cNvSpPr txBox="1">
            <a:spLocks/>
          </p:cNvSpPr>
          <p:nvPr/>
        </p:nvSpPr>
        <p:spPr>
          <a:xfrm>
            <a:off x="720000" y="11150000"/>
            <a:ext cx="22944000" cy="850000"/>
          </a:xfrm>
          <a:prstGeom prst="rect">
            <a:avLst/>
          </a:prstGeom>
        </p:spPr>
        <p:txBody>
          <a:bodyPr lIns="50800" tIns="30000" rIns="50800" bIns="30000" anchor="t">
            <a:noAutofit/>
          </a:bodyPr>
          <a:lstStyle/>
          <a:p>
            <a:pPr marL="0" indent="0" algn="ctr">
              <a:buNone/>
            </a:pPr>
            <a:r>
              <a:rPr lang="en-US" altLang="ko-KR" sz="3600" b="1" i="0" dirty="0">
                <a:solidFill>
                  <a:srgbClr val="26448A"/>
                </a:solidFill>
                <a:latin typeface="Avenir Next Medium"/>
                <a:ea typeface="Avenir Next Medium"/>
                <a:cs typeface="Avenir Next Medium"/>
              </a:rPr>
              <a:t>→ The plan: let a diffusion model clean the received signal before recognising it</a:t>
            </a:r>
          </a:p>
        </p:txBody>
      </p:sp>
      <p:sp>
        <p:nvSpPr>
          <p:cNvPr id="3" name="슬라이드 번호 개체 틀 2">
            <a:extLst>
              <a:ext uri="{FF2B5EF4-FFF2-40B4-BE49-F238E27FC236}">
                <a16:creationId xmlns:a16="http://schemas.microsoft.com/office/drawing/2014/main" id="{20E43994-EB3C-E6FA-7B7E-8811468E5919}"/>
              </a:ext>
            </a:extLst>
          </p:cNvPr>
          <p:cNvSpPr>
            <a:spLocks noGrp="1"/>
          </p:cNvSpPr>
          <p:nvPr>
            <p:ph type="sldNum" sz="quarter" idx="2"/>
          </p:nvPr>
        </p:nvSpPr>
        <p:spPr/>
        <p:txBody>
          <a:bodyPr/>
          <a:lstStyle/>
          <a:p>
            <a:fld id="{86CB4B4D-7CA3-9044-876B-883B54F8677D}" type="slidenum">
              <a:rPr lang="en-US" altLang="ko-KR" smtClean="0"/>
              <a:t>19</a:t>
            </a:fld>
            <a:r>
              <a:rPr lang="en-US" altLang="ko-KR"/>
              <a:t>/21</a:t>
            </a:r>
            <a:endParaRPr lang="ko-KR"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Paper Review · The Idea</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Idea — From Denoising to De-Channeling</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The channel isn’t Gaussian — so add a learned channel to the diffusion, not just noise</a:t>
            </a:r>
          </a:p>
        </p:txBody>
      </p:sp>
      <p:sp>
        <p:nvSpPr>
          <p:cNvPr id="14" name="CardHdr"/>
          <p:cNvSpPr txBox="1"/>
          <p:nvPr/>
        </p:nvSpPr>
        <p:spPr>
          <a:xfrm>
            <a:off x="820000" y="2980000"/>
            <a:ext cx="10900000" cy="1120000"/>
          </a:xfrm>
          <a:prstGeom prst="rect">
            <a:avLst/>
          </a:prstGeom>
          <a:solidFill>
            <a:srgbClr val="2E74B5"/>
          </a:solidFill>
        </p:spPr>
        <p:txBody>
          <a:bodyPr lIns="91440" tIns="20000" rIns="50800" bIns="20000" anchor="ctr">
            <a:noAutofit/>
          </a:bodyPr>
          <a:lstStyle/>
          <a:p>
            <a:pPr algn="ctr"/>
            <a:r>
              <a:rPr lang="en-US" altLang="ko-KR" sz="3500" b="1" i="0" dirty="0">
                <a:solidFill>
                  <a:srgbClr val="FFFFFF"/>
                </a:solidFill>
                <a:latin typeface="AvenirNext-DemiBold"/>
                <a:ea typeface="AvenirNext-DemiBold"/>
                <a:cs typeface="AvenirNext-DemiBold"/>
              </a:rPr>
              <a:t>Standard diffusion</a:t>
            </a:r>
          </a:p>
        </p:txBody>
      </p:sp>
      <p:sp>
        <p:nvSpPr>
          <p:cNvPr id="15" name="CardBody"/>
          <p:cNvSpPr txBox="1"/>
          <p:nvPr/>
        </p:nvSpPr>
        <p:spPr>
          <a:xfrm>
            <a:off x="820000" y="4100000"/>
            <a:ext cx="10900000" cy="6450000"/>
          </a:xfrm>
          <a:prstGeom prst="rect">
            <a:avLst/>
          </a:prstGeom>
          <a:solidFill>
            <a:srgbClr val="EAF1FB"/>
          </a:solidFill>
          <a:ln w="12700">
            <a:solidFill>
              <a:srgbClr val="2E74B5"/>
            </a:solidFill>
          </a:ln>
        </p:spPr>
        <p:txBody>
          <a:bodyPr lIns="320000" tIns="240000" rIns="280000" bIns="200000" anchor="ctr">
            <a:noAutofit/>
          </a:bodyPr>
          <a:lstStyle/>
          <a:p>
            <a:pPr marL="0" indent="0" algn="l">
              <a:spcAft>
                <a:spcPts val="600"/>
              </a:spcAft>
              <a:buNone/>
            </a:pPr>
            <a:r>
              <a:rPr lang="en-US" altLang="ko-KR" sz="3500" b="1" i="1" dirty="0">
                <a:solidFill>
                  <a:srgbClr val="2E74B5"/>
                </a:solidFill>
                <a:latin typeface="Avenir Next Medium"/>
                <a:ea typeface="Avenir Next Medium"/>
                <a:cs typeface="Avenir Next Medium"/>
              </a:rPr>
              <a:t>Denoising only</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Forward adds only Gaussian noise</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Reverse can’t undo the channel h</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 features stay channel-distorted</a:t>
            </a:r>
          </a:p>
        </p:txBody>
      </p:sp>
      <p:sp>
        <p:nvSpPr>
          <p:cNvPr id="16" name="CardHdr"/>
          <p:cNvSpPr txBox="1"/>
          <p:nvPr/>
        </p:nvSpPr>
        <p:spPr>
          <a:xfrm>
            <a:off x="12660000" y="2980000"/>
            <a:ext cx="10900000" cy="1120000"/>
          </a:xfrm>
          <a:prstGeom prst="rect">
            <a:avLst/>
          </a:prstGeom>
          <a:solidFill>
            <a:srgbClr val="26448A"/>
          </a:solidFill>
        </p:spPr>
        <p:txBody>
          <a:bodyPr lIns="91440" tIns="20000" rIns="50800" bIns="20000" anchor="ctr">
            <a:noAutofit/>
          </a:bodyPr>
          <a:lstStyle/>
          <a:p>
            <a:pPr algn="ctr"/>
            <a:r>
              <a:rPr lang="en-US" altLang="ko-KR" sz="3500" b="1" i="0" dirty="0">
                <a:solidFill>
                  <a:srgbClr val="FFFFFF"/>
                </a:solidFill>
                <a:latin typeface="AvenirNext-DemiBold"/>
                <a:ea typeface="AvenirNext-DemiBold"/>
                <a:cs typeface="AvenirNext-DemiBold"/>
              </a:rPr>
              <a:t>PWC-Diff (proposed)</a:t>
            </a:r>
          </a:p>
        </p:txBody>
      </p:sp>
      <p:sp>
        <p:nvSpPr>
          <p:cNvPr id="17" name="CardBody"/>
          <p:cNvSpPr txBox="1"/>
          <p:nvPr/>
        </p:nvSpPr>
        <p:spPr>
          <a:xfrm>
            <a:off x="12660000" y="4100000"/>
            <a:ext cx="10900000" cy="6450000"/>
          </a:xfrm>
          <a:prstGeom prst="rect">
            <a:avLst/>
          </a:prstGeom>
          <a:solidFill>
            <a:srgbClr val="E9EDF5"/>
          </a:solidFill>
          <a:ln w="12700">
            <a:solidFill>
              <a:srgbClr val="26448A"/>
            </a:solidFill>
          </a:ln>
        </p:spPr>
        <p:txBody>
          <a:bodyPr lIns="320000" tIns="240000" rIns="280000" bIns="200000" anchor="ctr">
            <a:noAutofit/>
          </a:bodyPr>
          <a:lstStyle/>
          <a:p>
            <a:pPr marL="0" indent="0" algn="l">
              <a:spcAft>
                <a:spcPts val="600"/>
              </a:spcAft>
              <a:buNone/>
            </a:pPr>
            <a:r>
              <a:rPr lang="en-US" altLang="ko-KR" sz="3500" b="1" i="1" dirty="0">
                <a:solidFill>
                  <a:srgbClr val="26448A"/>
                </a:solidFill>
                <a:latin typeface="Avenir Next Medium"/>
                <a:ea typeface="Avenir Next Medium"/>
                <a:cs typeface="Avenir Next Medium"/>
              </a:rPr>
              <a:t>De-channeling + denoising</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Forward adds a learned channel, then noise</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Reverse learns to undo the channel and noise</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 recovers the transmitted signal x</a:t>
            </a:r>
          </a:p>
        </p:txBody>
      </p:sp>
      <p:sp>
        <p:nvSpPr>
          <p:cNvPr id="18" name="Takeaway"/>
          <p:cNvSpPr txBox="1">
            <a:spLocks/>
          </p:cNvSpPr>
          <p:nvPr/>
        </p:nvSpPr>
        <p:spPr>
          <a:xfrm>
            <a:off x="720000" y="11150000"/>
            <a:ext cx="22944000" cy="850000"/>
          </a:xfrm>
          <a:prstGeom prst="rect">
            <a:avLst/>
          </a:prstGeom>
        </p:spPr>
        <p:txBody>
          <a:bodyPr lIns="50800" tIns="30000" rIns="50800" bIns="30000" anchor="t">
            <a:noAutofit/>
          </a:bodyPr>
          <a:lstStyle/>
          <a:p>
            <a:pPr marL="0" indent="0" algn="ctr">
              <a:buNone/>
            </a:pPr>
            <a:r>
              <a:rPr lang="en-US" altLang="ko-KR" sz="3600" b="1" i="0" dirty="0">
                <a:solidFill>
                  <a:srgbClr val="26448A"/>
                </a:solidFill>
                <a:latin typeface="Avenir Next Medium"/>
                <a:ea typeface="Avenir Next Medium"/>
                <a:cs typeface="Avenir Next Medium"/>
              </a:rPr>
              <a:t>→ Move the goal from denoising to de-channeling: model the physical channel, not just the noise</a:t>
            </a:r>
          </a:p>
        </p:txBody>
      </p:sp>
      <p:sp>
        <p:nvSpPr>
          <p:cNvPr id="3" name="슬라이드 번호 개체 틀 2">
            <a:extLst>
              <a:ext uri="{FF2B5EF4-FFF2-40B4-BE49-F238E27FC236}">
                <a16:creationId xmlns:a16="http://schemas.microsoft.com/office/drawing/2014/main" id="{5720F100-E667-22D7-3AF2-328E5D711933}"/>
              </a:ext>
            </a:extLst>
          </p:cNvPr>
          <p:cNvSpPr>
            <a:spLocks noGrp="1"/>
          </p:cNvSpPr>
          <p:nvPr>
            <p:ph type="sldNum" sz="quarter" idx="2"/>
          </p:nvPr>
        </p:nvSpPr>
        <p:spPr/>
        <p:txBody>
          <a:bodyPr/>
          <a:lstStyle/>
          <a:p>
            <a:fld id="{86CB4B4D-7CA3-9044-876B-883B54F8677D}" type="slidenum">
              <a:rPr lang="en-US" altLang="ko-KR" smtClean="0"/>
              <a:t>20</a:t>
            </a:fld>
            <a:r>
              <a:rPr lang="en-US" altLang="ko-KR"/>
              <a:t>/21</a:t>
            </a:r>
            <a:endParaRPr lang="ko-KR"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Paper Review · Pipeline</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PWC-Diff Pipeline, End to End</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Forward corrupts with a learned channel + noise · Reverse (FusedFormer) recovers the signal</a:t>
            </a:r>
          </a:p>
        </p:txBody>
      </p:sp>
      <p:pic>
        <p:nvPicPr>
          <p:cNvPr id="20" name="fig2"/>
          <p:cNvPicPr>
            <a:picLocks noChangeAspect="1"/>
          </p:cNvPicPr>
          <p:nvPr/>
        </p:nvPicPr>
        <p:blipFill>
          <a:blip r:embed="rId3"/>
          <a:stretch>
            <a:fillRect/>
          </a:stretch>
        </p:blipFill>
        <p:spPr>
          <a:xfrm>
            <a:off x="3500440" y="2691330"/>
            <a:ext cx="17762362" cy="9984670"/>
          </a:xfrm>
          <a:prstGeom prst="rect">
            <a:avLst/>
          </a:prstGeom>
        </p:spPr>
      </p:pic>
      <p:sp>
        <p:nvSpPr>
          <p:cNvPr id="3" name="슬라이드 번호 개체 틀 2">
            <a:extLst>
              <a:ext uri="{FF2B5EF4-FFF2-40B4-BE49-F238E27FC236}">
                <a16:creationId xmlns:a16="http://schemas.microsoft.com/office/drawing/2014/main" id="{00B36DF1-9268-E966-942C-4204E95E4A0E}"/>
              </a:ext>
            </a:extLst>
          </p:cNvPr>
          <p:cNvSpPr>
            <a:spLocks noGrp="1"/>
          </p:cNvSpPr>
          <p:nvPr>
            <p:ph type="sldNum" sz="quarter" idx="2"/>
          </p:nvPr>
        </p:nvSpPr>
        <p:spPr/>
        <p:txBody>
          <a:bodyPr/>
          <a:lstStyle/>
          <a:p>
            <a:fld id="{86CB4B4D-7CA3-9044-876B-883B54F8677D}" type="slidenum">
              <a:rPr lang="en-US" altLang="ko-KR" smtClean="0"/>
              <a:t>21</a:t>
            </a:fld>
            <a:r>
              <a:rPr lang="en-US" altLang="ko-KR"/>
              <a:t>/21</a:t>
            </a:r>
            <a:endParaRPr lang="ko-KR"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Paper Review · Results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SOTA — Let’s Read the Table Together</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Rank 1.0 overall — the interesting part is where the margins are</a:t>
            </a:r>
          </a:p>
        </p:txBody>
      </p:sp>
      <p:pic>
        <p:nvPicPr>
          <p:cNvPr id="20" name="table2"/>
          <p:cNvPicPr>
            <a:picLocks noChangeAspect="1"/>
          </p:cNvPicPr>
          <p:nvPr/>
        </p:nvPicPr>
        <p:blipFill>
          <a:blip r:embed="rId3"/>
          <a:stretch>
            <a:fillRect/>
          </a:stretch>
        </p:blipFill>
        <p:spPr>
          <a:xfrm>
            <a:off x="2546176" y="2971450"/>
            <a:ext cx="18745199" cy="7453486"/>
          </a:xfrm>
          <a:prstGeom prst="rect">
            <a:avLst/>
          </a:prstGeom>
        </p:spPr>
      </p:pic>
      <p:sp>
        <p:nvSpPr>
          <p:cNvPr id="21" name="Disc"/>
          <p:cNvSpPr txBox="1">
            <a:spLocks/>
          </p:cNvSpPr>
          <p:nvPr/>
        </p:nvSpPr>
        <p:spPr>
          <a:xfrm>
            <a:off x="1240322" y="10897676"/>
            <a:ext cx="22864000" cy="2050000"/>
          </a:xfrm>
          <a:prstGeom prst="rect">
            <a:avLst/>
          </a:prstGeom>
        </p:spPr>
        <p:txBody>
          <a:bodyPr lIns="50800" tIns="30000" rIns="50800" bIns="30000" anchor="t">
            <a:noAutofit/>
          </a:bodyPr>
          <a:lstStyle/>
          <a:p>
            <a:pPr marL="520000" indent="-520000" algn="l">
              <a:spcBef>
                <a:spcPts val="300"/>
              </a:spcBef>
              <a:buFont typeface="Wingdings"/>
              <a:buChar char="Ø"/>
            </a:pPr>
            <a:r>
              <a:rPr lang="en-US" altLang="ko-KR" sz="2800" b="0" i="0" dirty="0">
                <a:solidFill>
                  <a:srgbClr val="000000"/>
                </a:solidFill>
                <a:latin typeface="Avenir Next Medium"/>
                <a:ea typeface="Avenir Next Medium"/>
                <a:cs typeface="Avenir Next Medium"/>
              </a:rPr>
              <a:t>Top rank on all four datasets — but some margins are thin (RML2016: 63.60 vs IQFormer 63.54)</a:t>
            </a:r>
          </a:p>
          <a:p>
            <a:pPr marL="520000" indent="-520000" algn="l">
              <a:spcBef>
                <a:spcPts val="900"/>
              </a:spcBef>
              <a:buFont typeface="Wingdings"/>
              <a:buChar char="Ø"/>
            </a:pPr>
            <a:r>
              <a:rPr lang="en-US" altLang="ko-KR" sz="2800" b="0" i="0" dirty="0">
                <a:solidFill>
                  <a:srgbClr val="000000"/>
                </a:solidFill>
                <a:latin typeface="Avenir Next Medium"/>
                <a:ea typeface="Avenir Next Medium"/>
                <a:cs typeface="Avenir Next Medium"/>
              </a:rPr>
              <a:t>Clearest win is TechRec (WTC): 91.0 avg vs 88.8 next best</a:t>
            </a:r>
          </a:p>
          <a:p>
            <a:pPr marL="520000" indent="-520000" algn="l">
              <a:spcBef>
                <a:spcPts val="900"/>
              </a:spcBef>
              <a:buFont typeface="Wingdings"/>
              <a:buChar char="Ø"/>
            </a:pPr>
            <a:r>
              <a:rPr lang="en-US" altLang="ko-KR" sz="2800" b="1" i="0" dirty="0">
                <a:solidFill>
                  <a:srgbClr val="26448A"/>
                </a:solidFill>
                <a:latin typeface="Avenir Next Medium"/>
                <a:ea typeface="Avenir Next Medium"/>
                <a:cs typeface="Avenir Next Medium"/>
              </a:rPr>
              <a:t>→ Worth discussing: how much of the gain is the de-channeling idea vs the FusedFormer backbone?</a:t>
            </a:r>
          </a:p>
        </p:txBody>
      </p:sp>
      <p:sp>
        <p:nvSpPr>
          <p:cNvPr id="3" name="슬라이드 번호 개체 틀 2">
            <a:extLst>
              <a:ext uri="{FF2B5EF4-FFF2-40B4-BE49-F238E27FC236}">
                <a16:creationId xmlns:a16="http://schemas.microsoft.com/office/drawing/2014/main" id="{20A7B3E4-9178-A3CE-36BE-6419E3709A61}"/>
              </a:ext>
            </a:extLst>
          </p:cNvPr>
          <p:cNvSpPr>
            <a:spLocks noGrp="1"/>
          </p:cNvSpPr>
          <p:nvPr>
            <p:ph type="sldNum" sz="quarter" idx="2"/>
          </p:nvPr>
        </p:nvSpPr>
        <p:spPr/>
        <p:txBody>
          <a:bodyPr/>
          <a:lstStyle/>
          <a:p>
            <a:fld id="{86CB4B4D-7CA3-9044-876B-883B54F8677D}" type="slidenum">
              <a:rPr lang="en-US" altLang="ko-KR" smtClean="0"/>
              <a:t>22</a:t>
            </a:fld>
            <a:r>
              <a:rPr lang="en-US" altLang="ko-KR"/>
              <a:t>/21</a:t>
            </a:r>
            <a:endParaRPr lang="ko-KR"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A7358-8D55-BC02-57A1-173A60DA2F90}"/>
            </a:ext>
          </a:extLst>
        </p:cNvPr>
        <p:cNvGrpSpPr/>
        <p:nvPr/>
      </p:nvGrpSpPr>
      <p:grpSpPr>
        <a:xfrm>
          <a:off x="0" y="0"/>
          <a:ext cx="0" cy="0"/>
          <a:chOff x="0" y="0"/>
          <a:chExt cx="0" cy="0"/>
        </a:xfrm>
      </p:grpSpPr>
      <p:sp>
        <p:nvSpPr>
          <p:cNvPr id="2" name="DivTitle">
            <a:extLst>
              <a:ext uri="{FF2B5EF4-FFF2-40B4-BE49-F238E27FC236}">
                <a16:creationId xmlns:a16="http://schemas.microsoft.com/office/drawing/2014/main" id="{D5D2A389-9FD3-9ABE-4A08-61B3969601AD}"/>
              </a:ext>
            </a:extLst>
          </p:cNvPr>
          <p:cNvSpPr txBox="1">
            <a:spLocks/>
          </p:cNvSpPr>
          <p:nvPr/>
        </p:nvSpPr>
        <p:spPr>
          <a:xfrm>
            <a:off x="0" y="6083000"/>
            <a:ext cx="24384000" cy="1550000"/>
          </a:xfrm>
          <a:prstGeom prst="rect">
            <a:avLst/>
          </a:prstGeom>
        </p:spPr>
        <p:txBody>
          <a:bodyPr lIns="50800" tIns="30000" rIns="50800" bIns="30000" anchor="ctr">
            <a:noAutofit/>
          </a:bodyPr>
          <a:lstStyle/>
          <a:p>
            <a:pPr algn="ctr"/>
            <a:r>
              <a:rPr lang="en-US" altLang="ko-KR" sz="10000" b="1" dirty="0">
                <a:latin typeface="AvenirNext-DemiBold"/>
                <a:ea typeface="AvenirNext-DemiBold"/>
                <a:cs typeface="AvenirNext-DemiBold"/>
              </a:rPr>
              <a:t>Thank you!</a:t>
            </a:r>
            <a:endParaRPr lang="en-US" altLang="ko-KR" sz="10000" b="1" i="0" dirty="0">
              <a:solidFill>
                <a:srgbClr val="000000"/>
              </a:solidFill>
              <a:latin typeface="AvenirNext-DemiBold"/>
              <a:ea typeface="AvenirNext-DemiBold"/>
              <a:cs typeface="AvenirNext-DemiBold"/>
            </a:endParaRPr>
          </a:p>
        </p:txBody>
      </p:sp>
    </p:spTree>
    <p:extLst>
      <p:ext uri="{BB962C8B-B14F-4D97-AF65-F5344CB8AC3E}">
        <p14:creationId xmlns:p14="http://schemas.microsoft.com/office/powerpoint/2010/main" val="566617519"/>
      </p:ext>
    </p:extLst>
  </p:cSld>
  <p:clrMapOvr>
    <a:masterClrMapping/>
  </p:clrMapOvr>
</p:sld>
</file>

<file path=ppt/theme/theme1.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29184</TotalTime>
  <Words>1660</Words>
  <Application>Microsoft Macintosh PowerPoint</Application>
  <PresentationFormat>사용자 지정</PresentationFormat>
  <Paragraphs>221</Paragraphs>
  <Slides>23</Slides>
  <Notes>23</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23</vt:i4>
      </vt:variant>
    </vt:vector>
  </HeadingPairs>
  <TitlesOfParts>
    <vt:vector size="33" baseType="lpstr">
      <vt:lpstr>Canela Bold</vt:lpstr>
      <vt:lpstr>Canela Deck Regular</vt:lpstr>
      <vt:lpstr>Canela Regular</vt:lpstr>
      <vt:lpstr>Arial</vt:lpstr>
      <vt:lpstr>Avenir Next Medium</vt:lpstr>
      <vt:lpstr>Avenir Next Regular</vt:lpstr>
      <vt:lpstr>AvenirNext-DemiBold</vt:lpstr>
      <vt:lpstr>Helvetica Neue</vt:lpstr>
      <vt:lpstr>Wingdings</vt:lpstr>
      <vt:lpstr>23_ClassicWhite</vt:lpstr>
      <vt:lpstr>Team Meeting</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김재현</dc:creator>
  <cp:lastModifiedBy>Jeong Yunjung</cp:lastModifiedBy>
  <cp:revision>361</cp:revision>
  <dcterms:modified xsi:type="dcterms:W3CDTF">2026-07-13T16:18:24Z</dcterms:modified>
</cp:coreProperties>
</file>