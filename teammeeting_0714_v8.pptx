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368" r:id="rId2"/>
    <p:sldId id="996" r:id="rId3"/>
    <p:sldId id="997" r:id="rId4"/>
    <p:sldId id="998" r:id="rId5"/>
    <p:sldId id="999" r:id="rId6"/>
    <p:sldId id="1000" r:id="rId7"/>
    <p:sldId id="1001" r:id="rId8"/>
    <p:sldId id="1002" r:id="rId9"/>
    <p:sldId id="1016" r:id="rId10"/>
    <p:sldId id="1017" r:id="rId11"/>
    <p:sldId id="1005" r:id="rId14"/>
    <p:sldId id="1006" r:id="rId15"/>
    <p:sldId id="1007" r:id="rId16"/>
    <p:sldId id="1008" r:id="rId17"/>
    <p:sldId id="1010" r:id="rId18"/>
    <p:sldId id="1011" r:id="rId19"/>
    <p:sldId id="1012" r:id="rId20"/>
    <p:sldId id="1013" r:id="rId21"/>
    <p:sldId id="1014" r:id="rId22"/>
    <p:sldId id="1015" r:id="rId23"/>
    <p:sldId id="1018"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30"/>
    <p:restoredTop sz="80803" autoAdjust="0"/>
  </p:normalViewPr>
  <p:slideViewPr>
    <p:cSldViewPr snapToGrid="0">
      <p:cViewPr varScale="1">
        <p:scale>
          <a:sx n="89" d="100"/>
          <a:sy n="89" d="100"/>
        </p:scale>
        <p:origin x="2760"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time I did two things. First, drone selection — Mavic 4 Pro versus Matrice 4E, comparing echo strength against RTK ground truth. Second, a short review of LaSen, the SenSys paper that tracks a drone using 5G. Since then I was at ICML and had a few other things going on, so I prepared this meeting in a bit of a rush. Today I will show you the Sionna progress — three stages are now built — and then I will introduce one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 First, what I built in Sionna, with a lot of pictures. Second, a short introduction to a paper from ICML that I found interesting.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overall path I took. First the chamber, and the five DJI meshes built from their real specs. Then the radar side: I built the actual Wi-Fi, LTE and 5G waveforms, and looked at which reference signals a passive receiver can really use. And then stage three, where I split the frame from the rotors so each propeller can spin on its own — that gives us the micro-Doppler, and it is also what we would need if we later want to fly these in PX4 or Gazebo. (If asked: I also compute the drone's RCS from the mesh, using physical optics, validated against plate and sphere theory — Sionna's ray tracer supplies the environment and the clutter. I am skipping those details today for time.)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chamber, I copied the specs of the RF playground we were planning to use for the real experiment. It is thirty by twenty by eleven meters. The walls absorb the echoes, so we see only the drone.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drone meshes, I first collected the detailed specs — this is the official DJI page on the left — and then I asked Claude to build the mesh from those numbers. Every part is modeled separately: body, arms, motors, propellers, gimbal, landing gear. Let me show you the visualizations.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five meshes. Here they are drawn at the same size, so you can compare the shapes — four-rotor quads versus the eight-rotor S1000+. The real sizes are very different, and I show that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t>This is the real size comparison, all at the same scale. The S1000+ is by far the largest — about one meter across — and the Mini 5 Pro fits in your hand, at 250 grams. The dashed circles are the propeller discs.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t>And this is what they look like inside the chamber. The point of this slide is scale: in a thirty meter room, these drones are really tiny.</a:t>
            </a:r>
          </a:p>
        </p:txBody>
      </p:sp>
    </p:spTree>
    <p:extLst>
      <p:ext uri="{BB962C8B-B14F-4D97-AF65-F5344CB8AC3E}">
        <p14:creationId xmlns:p14="http://schemas.microsoft.com/office/powerpoint/2010/main" val="1990912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These are the real Wi-Fi, LTE and 5G signals, built with the correct numerology and reference signals. Here is the key point. A passive radar can only use a signal it already knows — the reference signal. So the range resolution follows the bandwidth of that reference signal, not the bandwidth of the channel. Wi-Fi's preamble is always wideband, so about two meters. LTE's CRS — the cell reference signal — is always on, across the full band, so about eight meters. And 5G, in an idle cell, sends only the SSB — a narrow seven megahertz beacon sitting in the middle of a one hundred megahertz channel — so about twenty-one meters. So the widest channel gives the worst range.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One word on PRS first, since SSB is familiar but PRS may not be. PRS is the Positioning Reference Signal — a wideband signal the network switches on only when it is actually locating a device. It is not always on.</a:t>
            </a:r>
          </a:p>
          <a:p/>
          <a:p>
            <a:r>
              <a:t>Now the three modes. In G1, the idle cell, 5G sends only the SSB, so the range is coarse. It gets sharp at G2 — not because the cell is busier, but because PRS turns on and the reference bandwidth jumps from seven to ninety-eight megahertz. At G3 the cell fills up with user data, and nothing improves: we do not know that data, so we cannot use it as a reference.</a:t>
            </a:r>
          </a:p>
          <a:p/>
          <a:p>
            <a:r>
              <a:t>So for a passive receiver borrowing someone else's cell, the honest baseline for 5G is the SSB.</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Stage three. I split the drone into a frame plus individually spinning rotors, so the body can tilt while the props spin independently — I verified that the frame vertices do not move at all when only the blades rotate. This is the basis for both micro-Doppler and, later, flight simulation.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Stage three, the micro-Doppler. I separated the rotors so the blades can spin on their own, and then I simply asked for the micro-Doppler pattern — and this is what came out. The vertical stripes are the blade flashes, and the spread around the centre is the Doppler from the blade tips. That is as far as I have taken it for now.</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where the work sits right now. Done: the environment — the chamber and the five meshes; the illuminators — Wi-Fi, LTE and 5G, with their reference signals and the occupancy modes; and the micro-Doppler. Next is the real passive radar chain: a bistatic geometry with the transmitter and the receiver apart, clutter cancellation, and CFAR detection with tracking. I have already started that part, so I can show detection results next time. After that: a fair benchmark of the three signals in terms of detection probability, drone versus bird from the blade signature, and exporting the articulated model to PX4 or Gazebo.</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is wireless signal recognition. An AI reads a passively received IQ signal and labels it — the modulation type, the wireless technology, or an anomaly. A lot of recent work does this with deep learning, and diffusion models in particular have been doing well, because they are strong denoisers and their learned features transfer nicely to this task.</a:t>
            </a:r>
          </a:p>
        </p:txBody>
      </p:sp>
    </p:spTree>
    <p:extLst>
      <p:ext uri="{BB962C8B-B14F-4D97-AF65-F5344CB8AC3E}">
        <p14:creationId xmlns:p14="http://schemas.microsoft.com/office/powerpoint/2010/main" val="395242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But the authors point out a gap. Existing diffusion work only adds and removes Gaussian noise. A real channel is not Gaussian — it multiplies the signal, it does not just add to it. So they argue the physics is missing, and they put a physical channel model inside the forward process. The reverse process then learns to undo the channel, not just the noise. They call this de-channeling.</a:t>
            </a:r>
          </a:p>
        </p:txBody>
      </p:sp>
    </p:spTree>
    <p:extLst>
      <p:ext uri="{BB962C8B-B14F-4D97-AF65-F5344CB8AC3E}">
        <p14:creationId xmlns:p14="http://schemas.microsoft.com/office/powerpoint/2010/main" val="994988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overall pipeline. On the left they take the time-domain and the frequency-domain features and concatenate them — they call that part CPE-Net. Then, instead of letting the network learn any channel it likes, they mix a set of predefined physical channel candidates with softmax weights, and add Gaussian noise on top. That constraint actually matters: they prove that if the channel is a free network, the easiest way to minimize the loss is to switch the channel off completely. The reverse process uses attention. I have to admit I could not fully follow that part yet — that is part of the AI study I planned, and I will get there.</a:t>
            </a:r>
          </a:p>
        </p:txBody>
      </p:sp>
    </p:spTree>
    <p:extLst>
      <p:ext uri="{BB962C8B-B14F-4D97-AF65-F5344CB8AC3E}">
        <p14:creationId xmlns:p14="http://schemas.microsoft.com/office/powerpoint/2010/main" val="1644190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They report state of the art on all four datasets. But when you read the table, some of the margins are very thin — 63.60 versus 63.54 on RML2016 — and I honestly wonder whether that could flip just by changing the random seed. The clearest win is TechRec: 91.0 versus 88.8. So the fair question is how much of the gain comes from the de-channeling idea itself, and how much from the FusedFormer backbone. One thing I take from this paper for our own work: learning buys you a few percentage points, but physics — bandwidth and integration time — buys you tens of decibels. That is worth remembering when we look at the 5G problem from earlier.</a:t>
            </a:r>
          </a:p>
        </p:txBody>
      </p:sp>
    </p:spTree>
    <p:extLst>
      <p:ext uri="{BB962C8B-B14F-4D97-AF65-F5344CB8AC3E}">
        <p14:creationId xmlns:p14="http://schemas.microsoft.com/office/powerpoint/2010/main" val="3633082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/2</a:t>
            </a:r>
            <a:r>
              <a:rPr lang="en-US" altLang="ko-KR" dirty="0"/>
              <a:t>3</a:t>
            </a:r>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4.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5.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6.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three stages now built (environment → radar → micro-Doppler)</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4" name="슬라이드 번호 개체 틀 3">
            <a:extLst>
              <a:ext uri="{FF2B5EF4-FFF2-40B4-BE49-F238E27FC236}">
                <a16:creationId xmlns:a16="http://schemas.microsoft.com/office/drawing/2014/main" id="{6F31C79B-AA14-B5C0-E1E5-438903C06C75}"/>
              </a:ext>
            </a:extLst>
          </p:cNvPr>
          <p:cNvSpPr>
            <a:spLocks noGrp="1"/>
          </p:cNvSpPr>
          <p:nvPr>
            <p:ph type="sldNum" sz="quarter" idx="2"/>
          </p:nvPr>
        </p:nvSpPr>
        <p:spPr/>
        <p:txBody>
          <a:bodyPr/>
          <a:lstStyle/>
          <a:p>
            <a:fld id="{86CB4B4D-7CA3-9044-876B-883B54F8677D}" type="slidenum">
              <a:rPr lang="en-US" altLang="ko-KR" smtClean="0"/>
              <a:t>2</a:t>
            </a:fld>
            <a:r>
              <a:rPr lang="en-US" altLang="ko-KR"/>
              <a:t>/21</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Three stages — environment, illuminators (Wi-Fi / LTE / 5G),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3" name="슬라이드 번호 개체 틀 2">
            <a:extLst>
              <a:ext uri="{FF2B5EF4-FFF2-40B4-BE49-F238E27FC236}">
                <a16:creationId xmlns:a16="http://schemas.microsoft.com/office/drawing/2014/main" id="{453567E7-E142-0BFE-09F3-D69F04CEBBB4}"/>
              </a:ext>
            </a:extLst>
          </p:cNvPr>
          <p:cNvSpPr>
            <a:spLocks noGrp="1"/>
          </p:cNvSpPr>
          <p:nvPr>
            <p:ph type="sldNum" sz="quarter" idx="2"/>
          </p:nvPr>
        </p:nvSpPr>
        <p:spPr/>
        <p:txBody>
          <a:bodyPr/>
          <a:lstStyle/>
          <a:p>
            <a:fld id="{86CB4B4D-7CA3-9044-876B-883B54F8677D}" type="slidenum">
              <a:rPr lang="en-US" altLang="ko-KR" smtClean="0"/>
              <a:t>3</a:t>
            </a:fld>
            <a:r>
              <a:rPr lang="en-US" altLang="ko-KR"/>
              <a:t>/21</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three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Illuminators    →    ③  Micro-Doppler</a:t>
            </a:r>
          </a:p>
        </p:txBody>
      </p:sp>
      <p:sp>
        <p:nvSpPr>
          <p:cNvPr id="3" name="슬라이드 번호 개체 틀 2">
            <a:extLst>
              <a:ext uri="{FF2B5EF4-FFF2-40B4-BE49-F238E27FC236}">
                <a16:creationId xmlns:a16="http://schemas.microsoft.com/office/drawing/2014/main" id="{38FF3B5A-98E6-0FC7-3827-D88D91057EFB}"/>
              </a:ext>
            </a:extLst>
          </p:cNvPr>
          <p:cNvSpPr>
            <a:spLocks noGrp="1"/>
          </p:cNvSpPr>
          <p:nvPr>
            <p:ph type="sldNum" sz="quarter" idx="2"/>
          </p:nvPr>
        </p:nvSpPr>
        <p:spPr/>
        <p:txBody>
          <a:bodyPr/>
          <a:lstStyle/>
          <a:p>
            <a:fld id="{86CB4B4D-7CA3-9044-876B-883B54F8677D}" type="slidenum">
              <a:rPr lang="en-US" altLang="ko-KR" smtClean="0"/>
              <a:t>4</a:t>
            </a:fld>
            <a:r>
              <a:rPr lang="en-US" altLang="ko-KR"/>
              <a:t>/21</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Three Stages, Built on One Scene</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Each stage reuses the same chamber and the dimension-accurate drone meshes</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Illuminators</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Wi-Fi / LTE / 5G</a:t>
            </a:r>
          </a:p>
          <a:p>
            <a:pPr algn="ctr"/>
            <a:r>
              <a:rPr lang="en-US" altLang="ko-KR" sz="2400" b="1" i="0" dirty="0">
                <a:solidFill>
                  <a:srgbClr val="26448A"/>
                </a:solidFill>
                <a:latin typeface="Avenir Next Medium"/>
                <a:ea typeface="Avenir Next Medium"/>
                <a:cs typeface="Avenir Next Medium"/>
              </a:rPr>
              <a:t>real waveforms</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Reference signals</a:t>
            </a:r>
          </a:p>
          <a:p>
            <a:pPr algn="ctr"/>
            <a:r>
              <a:rPr lang="en-US" altLang="ko-KR" sz="2400" b="1" i="0" dirty="0">
                <a:solidFill>
                  <a:srgbClr val="26448A"/>
                </a:solidFill>
                <a:latin typeface="Avenir Next Medium"/>
                <a:ea typeface="Avenir Next Medium"/>
                <a:cs typeface="Avenir Next Medium"/>
              </a:rPr>
              <a:t>CRS vs SSB</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Occupancy</a:t>
            </a:r>
          </a:p>
          <a:p>
            <a:pPr algn="ctr">
              <a:spcBef>
                <a:spcPts val="200"/>
              </a:spcBef>
            </a:pPr>
            <a:r>
              <a:rPr lang="en-US" altLang="ko-KR" sz="1700" b="0" i="1" dirty="0">
                <a:solidFill>
                  <a:srgbClr val="595959"/>
                </a:solidFill>
                <a:latin typeface="Avenir Next Medium"/>
                <a:ea typeface="Avenir Next Medium"/>
                <a:cs typeface="Avenir Next Medium"/>
              </a:rPr>
              <a:t>G1 – G3</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③ Micro-Doppler</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report1 · report2 · report3 — each a runnable notebook full of figures</a:t>
            </a:r>
          </a:p>
        </p:txBody>
      </p:sp>
      <p:sp>
        <p:nvSpPr>
          <p:cNvPr id="3" name="슬라이드 번호 개체 틀 2">
            <a:extLst>
              <a:ext uri="{FF2B5EF4-FFF2-40B4-BE49-F238E27FC236}">
                <a16:creationId xmlns:a16="http://schemas.microsoft.com/office/drawing/2014/main" id="{B4D319FC-14F6-DB38-5437-13D5AAD32ED3}"/>
              </a:ext>
            </a:extLst>
          </p:cNvPr>
          <p:cNvSpPr>
            <a:spLocks noGrp="1"/>
          </p:cNvSpPr>
          <p:nvPr>
            <p:ph type="sldNum" sz="quarter" idx="2"/>
          </p:nvPr>
        </p:nvSpPr>
        <p:spPr/>
        <p:txBody>
          <a:bodyPr/>
          <a:lstStyle/>
          <a:p>
            <a:fld id="{86CB4B4D-7CA3-9044-876B-883B54F8677D}" type="slidenum">
              <a:rPr lang="en-US" altLang="ko-KR" smtClean="0"/>
              <a:t>5</a:t>
            </a:fld>
            <a:r>
              <a:rPr lang="en-US" altLang="ko-KR"/>
              <a:t>/21</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 30 × 20 × 11 m shielded room — the walls soak up echoes, so we see only the drone</a:t>
            </a:r>
          </a:p>
        </p:txBody>
      </p:sp>
      <p:pic>
        <p:nvPicPr>
          <p:cNvPr id="20" name="chamber_render"/>
          <p:cNvPicPr>
            <a:picLocks noChangeAspect="1"/>
          </p:cNvPicPr>
          <p:nvPr/>
        </p:nvPicPr>
        <p:blipFill>
          <a:blip r:embed="rId3"/>
          <a:stretch>
            <a:fillRect/>
          </a:stretch>
        </p:blipFill>
        <p:spPr>
          <a:xfrm>
            <a:off x="-485775" y="2753814"/>
            <a:ext cx="10748513" cy="8061385"/>
          </a:xfrm>
          <a:prstGeom prst="rect">
            <a:avLst/>
          </a:prstGeom>
        </p:spPr>
      </p:pic>
      <p:pic>
        <p:nvPicPr>
          <p:cNvPr id="21" name="chamber_plan"/>
          <p:cNvPicPr>
            <a:picLocks noChangeAspect="1"/>
          </p:cNvPicPr>
          <p:nvPr/>
        </p:nvPicPr>
        <p:blipFill>
          <a:blip r:embed="rId4"/>
          <a:stretch>
            <a:fillRect/>
          </a:stretch>
        </p:blipFill>
        <p:spPr>
          <a:xfrm>
            <a:off x="10262738" y="3511153"/>
            <a:ext cx="14184537" cy="654670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3" name="슬라이드 번호 개체 틀 2">
            <a:extLst>
              <a:ext uri="{FF2B5EF4-FFF2-40B4-BE49-F238E27FC236}">
                <a16:creationId xmlns:a16="http://schemas.microsoft.com/office/drawing/2014/main" id="{0F15EBE6-09B6-5771-515C-2528A12FBAD8}"/>
              </a:ext>
            </a:extLst>
          </p:cNvPr>
          <p:cNvSpPr>
            <a:spLocks noGrp="1"/>
          </p:cNvSpPr>
          <p:nvPr>
            <p:ph type="sldNum" sz="quarter" idx="2"/>
          </p:nvPr>
        </p:nvSpPr>
        <p:spPr/>
        <p:txBody>
          <a:bodyPr/>
          <a:lstStyle/>
          <a:p>
            <a:fld id="{86CB4B4D-7CA3-9044-876B-883B54F8677D}" type="slidenum">
              <a:rPr lang="en-US" altLang="ko-KR" smtClean="0"/>
              <a:t>6</a:t>
            </a:fld>
            <a:r>
              <a:rPr lang="en-US" altLang="ko-KR"/>
              <a:t>/21</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Real published specs → double-checked → built into an exact 3D model, part by part</a:t>
            </a:r>
          </a:p>
        </p:txBody>
      </p:sp>
      <p:pic>
        <p:nvPicPr>
          <p:cNvPr id="20" name="build_card"/>
          <p:cNvPicPr>
            <a:picLocks noChangeAspect="1"/>
          </p:cNvPicPr>
          <p:nvPr/>
        </p:nvPicPr>
        <p:blipFill>
          <a:blip r:embed="rId3"/>
          <a:stretch>
            <a:fillRect/>
          </a:stretch>
        </p:blipFill>
        <p:spPr>
          <a:xfrm>
            <a:off x="11566924" y="3621952"/>
            <a:ext cx="12355964" cy="7793761"/>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740000"/>
            <a:ext cx="9986962" cy="9794013"/>
          </a:xfrm>
          <a:prstGeom prst="rect">
            <a:avLst/>
          </a:prstGeom>
        </p:spPr>
      </p:pic>
      <p:sp>
        <p:nvSpPr>
          <p:cNvPr id="4" name="슬라이드 번호 개체 틀 3">
            <a:extLst>
              <a:ext uri="{FF2B5EF4-FFF2-40B4-BE49-F238E27FC236}">
                <a16:creationId xmlns:a16="http://schemas.microsoft.com/office/drawing/2014/main" id="{89C8FDE4-4A56-1279-9E11-D50D8F0632F8}"/>
              </a:ext>
            </a:extLst>
          </p:cNvPr>
          <p:cNvSpPr>
            <a:spLocks noGrp="1"/>
          </p:cNvSpPr>
          <p:nvPr>
            <p:ph type="sldNum" sz="quarter" idx="2"/>
          </p:nvPr>
        </p:nvSpPr>
        <p:spPr/>
        <p:txBody>
          <a:bodyPr/>
          <a:lstStyle/>
          <a:p>
            <a:fld id="{86CB4B4D-7CA3-9044-876B-883B54F8677D}" type="slidenum">
              <a:rPr lang="en-US" altLang="ko-KR" smtClean="0"/>
              <a:t>7</a:t>
            </a:fld>
            <a:r>
              <a:rPr lang="en-US" altLang="ko-KR"/>
              <a:t>/21</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20" name="turntable"/>
          <p:cNvPicPr>
            <a:picLocks noChangeAspect="1"/>
          </p:cNvPicPr>
          <p:nvPr/>
        </p:nvPicPr>
        <p:blipFill>
          <a:blip r:embed="rId3"/>
          <a:srcRect l="14677" r="11891"/>
          <a:stretch>
            <a:fillRect/>
          </a:stretch>
        </p:blipFill>
        <p:spPr>
          <a:xfrm>
            <a:off x="2079504" y="3500000"/>
            <a:ext cx="20304991" cy="6267676"/>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3" name="슬라이드 번호 개체 틀 2">
            <a:extLst>
              <a:ext uri="{FF2B5EF4-FFF2-40B4-BE49-F238E27FC236}">
                <a16:creationId xmlns:a16="http://schemas.microsoft.com/office/drawing/2014/main" id="{F427BCB5-B590-C175-2AEA-3ACFCAD50783}"/>
              </a:ext>
            </a:extLst>
          </p:cNvPr>
          <p:cNvSpPr>
            <a:spLocks noGrp="1"/>
          </p:cNvSpPr>
          <p:nvPr>
            <p:ph type="sldNum" sz="quarter" idx="2"/>
          </p:nvPr>
        </p:nvSpPr>
        <p:spPr/>
        <p:txBody>
          <a:bodyPr/>
          <a:lstStyle/>
          <a:p>
            <a:fld id="{86CB4B4D-7CA3-9044-876B-883B54F8677D}" type="slidenum">
              <a:rPr lang="en-US" altLang="ko-KR" smtClean="0"/>
              <a:t>8</a:t>
            </a:fld>
            <a:r>
              <a:rPr lang="en-US" altLang="ko-KR"/>
              <a:t>/21</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1" y="1980000"/>
            <a:ext cx="16599199" cy="10073694"/>
          </a:xfrm>
          <a:prstGeom prst="rect">
            <a:avLst/>
          </a:prstGeom>
        </p:spPr>
      </p:pic>
      <p:sp>
        <p:nvSpPr>
          <p:cNvPr id="4" name="슬라이드 번호 개체 틀 3">
            <a:extLst>
              <a:ext uri="{FF2B5EF4-FFF2-40B4-BE49-F238E27FC236}">
                <a16:creationId xmlns:a16="http://schemas.microsoft.com/office/drawing/2014/main" id="{C45839B7-DD88-3BBD-97A3-E51BFE7E4BF6}"/>
              </a:ext>
            </a:extLst>
          </p:cNvPr>
          <p:cNvSpPr>
            <a:spLocks noGrp="1"/>
          </p:cNvSpPr>
          <p:nvPr>
            <p:ph type="sldNum" sz="quarter" idx="2"/>
          </p:nvPr>
        </p:nvSpPr>
        <p:spPr/>
        <p:txBody>
          <a:bodyPr/>
          <a:lstStyle/>
          <a:p>
            <a:fld id="{86CB4B4D-7CA3-9044-876B-883B54F8677D}" type="slidenum">
              <a:rPr lang="en-US" altLang="ko-KR" smtClean="0"/>
              <a:t>9</a:t>
            </a:fld>
            <a:r>
              <a:rPr lang="en-US" altLang="ko-KR"/>
              <a:t>/21</a:t>
            </a:r>
            <a:endParaRPr lang="ko-KR" altLang="en-US" dirty="0"/>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3"/>
          </a:xfrm>
          <a:prstGeom prst="rect">
            <a:avLst/>
          </a:prstGeom>
        </p:spPr>
      </p:pic>
      <p:sp>
        <p:nvSpPr>
          <p:cNvPr id="3" name="슬라이드 번호 개체 틀 2">
            <a:extLst>
              <a:ext uri="{FF2B5EF4-FFF2-40B4-BE49-F238E27FC236}">
                <a16:creationId xmlns:a16="http://schemas.microsoft.com/office/drawing/2014/main" id="{DA32AFEF-DF1C-F780-362D-B3B0255CE957}"/>
              </a:ext>
            </a:extLst>
          </p:cNvPr>
          <p:cNvSpPr>
            <a:spLocks noGrp="1"/>
          </p:cNvSpPr>
          <p:nvPr>
            <p:ph type="sldNum" sz="quarter" idx="2"/>
          </p:nvPr>
        </p:nvSpPr>
        <p:spPr/>
        <p:txBody>
          <a:bodyPr/>
          <a:lstStyle/>
          <a:p>
            <a:fld id="{86CB4B4D-7CA3-9044-876B-883B54F8677D}" type="slidenum">
              <a:rPr lang="en-US" altLang="ko-KR" smtClean="0"/>
              <a:t>10</a:t>
            </a:fld>
            <a:r>
              <a:rPr lang="en-US" altLang="ko-KR"/>
              <a:t>/21</a:t>
            </a:r>
            <a:endParaRPr lang="ko-KR" altLang="en-US" dirty="0"/>
          </a:p>
        </p:txBody>
      </p:sp>
    </p:spTree>
    <p:extLst>
      <p:ext uri="{BB962C8B-B14F-4D97-AF65-F5344CB8AC3E}">
        <p14:creationId xmlns:p14="http://schemas.microsoft.com/office/powerpoint/2010/main" val="370232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Waveforms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Lighting It Up — Wi-Fi vs LTE vs 5G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Range resolution follows the reference signal's bandwidth — not the channel's (LTE CRS 18 MHz vs 5G SSB 7 MHz)</a:t>
            </a:r>
          </a:p>
        </p:txBody>
      </p:sp>
      <p:sp>
        <p:nvSpPr>
          <p:cNvPr id="3" name="슬라이드 번호 개체 틀 2">
            <a:extLst>
              <a:ext uri="{FF2B5EF4-FFF2-40B4-BE49-F238E27FC236}">
                <a16:creationId xmlns:a16="http://schemas.microsoft.com/office/drawing/2014/main" id="{90ECAB32-0169-A7B4-3631-10B68423CB7C}"/>
              </a:ext>
            </a:extLst>
          </p:cNvPr>
          <p:cNvSpPr>
            <a:spLocks noGrp="1"/>
          </p:cNvSpPr>
          <p:nvPr>
            <p:ph type="sldNum" sz="quarter" idx="2"/>
          </p:nvPr>
        </p:nvSpPr>
        <p:spPr/>
        <p:txBody>
          <a:bodyPr/>
          <a:lstStyle/>
          <a:p>
            <a:fld id="{86CB4B4D-7CA3-9044-876B-883B54F8677D}" type="slidenum">
              <a:rPr lang="en-US" altLang="ko-KR" smtClean="0"/>
              <a:t>13</a:t>
            </a:fld>
            <a:r>
              <a:rPr lang="en-US" altLang="ko-KR"/>
              <a:t>/21</a:t>
            </a:r>
            <a:endParaRPr lang="ko-KR" altLang="en-US" dirty="0"/>
          </a:p>
        </p:txBody>
      </p:sp>
      <p:pic>
        <p:nvPicPr>
          <p:cNvPr id="2" name="그림 1">
            <a:extLst>
              <a:ext uri="{FF2B5EF4-FFF2-40B4-BE49-F238E27FC236}">
                <a16:creationId xmlns:a16="http://schemas.microsoft.com/office/drawing/2014/main" id="{D7EA450C-283E-6579-8AAD-BE43BD8DBD78}"/>
              </a:ext>
            </a:extLst>
          </p:cNvPr>
          <p:cNvPicPr>
            <a:picLocks noChangeAspect="1"/>
          </p:cNvPicPr>
          <p:nvPr/>
        </p:nvPicPr>
        <p:blipFill>
          <a:blip r:embed="rId3"/>
          <a:stretch>
            <a:fillRect/>
          </a:stretch>
        </p:blipFill>
        <p:spPr>
          <a:xfrm>
            <a:off x="2387772" y="2835619"/>
            <a:ext cx="19730519" cy="9588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Reality Check</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Cells Aren’t Always Full — G1 / G2 / G3</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G1→G2 sharpens only because a positioning session turns PRS on (7 → 98 MHz) — filling the cell with user data (G3) changes nothing</a:t>
            </a:r>
          </a:p>
        </p:txBody>
      </p:sp>
      <p:sp>
        <p:nvSpPr>
          <p:cNvPr id="3" name="슬라이드 번호 개체 틀 2">
            <a:extLst>
              <a:ext uri="{FF2B5EF4-FFF2-40B4-BE49-F238E27FC236}">
                <a16:creationId xmlns:a16="http://schemas.microsoft.com/office/drawing/2014/main" id="{61176FD1-60DC-9470-F2BB-602582A4D17B}"/>
              </a:ext>
            </a:extLst>
          </p:cNvPr>
          <p:cNvSpPr>
            <a:spLocks noGrp="1"/>
          </p:cNvSpPr>
          <p:nvPr>
            <p:ph type="sldNum" sz="quarter" idx="2"/>
          </p:nvPr>
        </p:nvSpPr>
        <p:spPr/>
        <p:txBody>
          <a:bodyPr/>
          <a:lstStyle/>
          <a:p>
            <a:fld id="{86CB4B4D-7CA3-9044-876B-883B54F8677D}" type="slidenum">
              <a:rPr lang="en-US" altLang="ko-KR" smtClean="0"/>
              <a:t>14</a:t>
            </a:fld>
            <a:r>
              <a:rPr lang="en-US" altLang="ko-KR"/>
              <a:t>/21</a:t>
            </a:r>
            <a:endParaRPr lang="ko-KR" altLang="en-US" dirty="0"/>
          </a:p>
        </p:txBody>
      </p:sp>
      <p:pic>
        <p:nvPicPr>
          <p:cNvPr id="4" name="그림 3">
            <a:extLst>
              <a:ext uri="{FF2B5EF4-FFF2-40B4-BE49-F238E27FC236}">
                <a16:creationId xmlns:a16="http://schemas.microsoft.com/office/drawing/2014/main" id="{EEFE8BC0-45C7-005F-9AC5-0C270792C243}"/>
              </a:ext>
            </a:extLst>
          </p:cNvPr>
          <p:cNvPicPr>
            <a:picLocks noChangeAspect="1"/>
          </p:cNvPicPr>
          <p:nvPr/>
        </p:nvPicPr>
        <p:blipFill>
          <a:blip r:embed="rId3"/>
          <a:stretch>
            <a:fillRect/>
          </a:stretch>
        </p:blipFill>
        <p:spPr>
          <a:xfrm>
            <a:off x="1678883" y="3608782"/>
            <a:ext cx="21022235" cy="84088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3" name="슬라이드 번호 개체 틀 2">
            <a:extLst>
              <a:ext uri="{FF2B5EF4-FFF2-40B4-BE49-F238E27FC236}">
                <a16:creationId xmlns:a16="http://schemas.microsoft.com/office/drawing/2014/main" id="{655C329E-8B86-F877-AC64-312D58303332}"/>
              </a:ext>
            </a:extLst>
          </p:cNvPr>
          <p:cNvSpPr>
            <a:spLocks noGrp="1"/>
          </p:cNvSpPr>
          <p:nvPr>
            <p:ph type="sldNum" sz="quarter" idx="2"/>
          </p:nvPr>
        </p:nvSpPr>
        <p:spPr/>
        <p:txBody>
          <a:bodyPr/>
          <a:lstStyle/>
          <a:p>
            <a:fld id="{86CB4B4D-7CA3-9044-876B-883B54F8677D}" type="slidenum">
              <a:rPr lang="en-US" altLang="ko-KR" smtClean="0"/>
              <a:t>15</a:t>
            </a:fld>
            <a:r>
              <a:rPr lang="en-US" altLang="ko-KR"/>
              <a:t>/21</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Even while hovering, the spinning blades ripple the echo — a fingerprint we can read</a:t>
            </a:r>
          </a:p>
        </p:txBody>
      </p:sp>
      <p:sp>
        <p:nvSpPr>
          <p:cNvPr id="3" name="슬라이드 번호 개체 틀 2">
            <a:extLst>
              <a:ext uri="{FF2B5EF4-FFF2-40B4-BE49-F238E27FC236}">
                <a16:creationId xmlns:a16="http://schemas.microsoft.com/office/drawing/2014/main" id="{2A7DAF3A-D8F2-CF9F-CC71-65E86C69CF7B}"/>
              </a:ext>
            </a:extLst>
          </p:cNvPr>
          <p:cNvSpPr>
            <a:spLocks noGrp="1"/>
          </p:cNvSpPr>
          <p:nvPr>
            <p:ph type="sldNum" sz="quarter" idx="2"/>
          </p:nvPr>
        </p:nvSpPr>
        <p:spPr/>
        <p:txBody>
          <a:bodyPr/>
          <a:lstStyle/>
          <a:p>
            <a:fld id="{86CB4B4D-7CA3-9044-876B-883B54F8677D}" type="slidenum">
              <a:rPr lang="en-US" altLang="ko-KR" smtClean="0"/>
              <a:t>16</a:t>
            </a:fld>
            <a:r>
              <a:rPr lang="en-US" altLang="ko-KR"/>
              <a:t>/21</a:t>
            </a:r>
            <a:endParaRPr lang="ko-KR" altLang="en-US" dirty="0"/>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4" y="3495018"/>
            <a:ext cx="19400964" cy="83739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Done in Three Stages — Next: Real Passive Radar</a:t>
            </a:r>
            <a:endParaRPr lang="en-US" altLang="ko-KR" sz="5200" b="1" i="0" dirty="0">
              <a:solidFill>
                <a:srgbClr val="000000"/>
              </a:solidFill>
              <a:latin typeface="AvenirNext-DemiBold"/>
              <a:ea typeface="AvenirNext-DemiBold"/>
              <a:cs typeface="AvenirNext-DemiBold"/>
            </a:endParaRP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From a static scene toward a full bistatic detection chain</a:t>
            </a: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Illuminators</a:t>
            </a:r>
          </a:p>
          <a:p>
            <a:pPr algn="ctr"/>
            <a:r>
              <a:rPr lang="en-US" altLang="ko-KR" sz="2400" b="1" i="0" dirty="0">
                <a:solidFill>
                  <a:srgbClr val="26448A"/>
                </a:solidFill>
                <a:latin typeface="Avenir Next Medium"/>
                <a:ea typeface="Avenir Next Medium"/>
                <a:cs typeface="Avenir Next Medium"/>
              </a:rPr>
              <a:t>Wi-Fi / LTE / 5G</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ECA + CFAR</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 tracking</a:t>
            </a:r>
          </a:p>
          <a:p>
            <a:pPr algn="ctr">
              <a:spcBef>
                <a:spcPts val="200"/>
              </a:spcBef>
            </a:pPr>
            <a:r>
              <a:rPr lang="en-US" altLang="ko-KR" sz="1700" b="0" i="1" dirty="0">
                <a:solidFill>
                  <a:srgbClr val="595959"/>
                </a:solidFill>
                <a:latin typeface="Avenir Next Medium"/>
                <a:ea typeface="Avenir Next Medium"/>
                <a:cs typeface="Avenir Next Medium"/>
              </a:rPr>
              <a:t>CFAR → MTT</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Fair Pd benchmark</a:t>
            </a:r>
          </a:p>
          <a:p>
            <a:pPr algn="ctr"/>
            <a:r>
              <a:rPr lang="en-US" altLang="ko-KR" sz="2400" b="1" i="0" dirty="0">
                <a:solidFill>
                  <a:srgbClr val="26448A"/>
                </a:solidFill>
                <a:latin typeface="Avenir Next Medium"/>
                <a:ea typeface="Avenir Next Medium"/>
                <a:cs typeface="Avenir Next Medium"/>
              </a:rPr>
              <a:t>across signals</a:t>
            </a:r>
          </a:p>
        </p:txBody>
      </p:sp>
      <p:sp>
        <p:nvSpPr>
          <p:cNvPr id="15" name="Takeaway"/>
          <p:cNvSpPr txBox="1">
            <a:spLocks/>
          </p:cNvSpPr>
          <p:nvPr/>
        </p:nvSpPr>
        <p:spPr>
          <a:xfrm>
            <a:off x="720000" y="11250000"/>
            <a:ext cx="22944000" cy="850000"/>
          </a:xfrm>
          <a:prstGeom prst="rect">
            <a:avLst/>
          </a:prstGeom>
        </p:spPr>
        <p:txBody>
          <a:bodyPr lIns="50800" tIns="30000" rIns="50800" bIns="30000" anchor="t">
            <a:noAutofit/>
          </a:bodyPr>
          <a:lstStyle/>
          <a:p>
            <a:pPr marL="0" indent="0" algn="l">
              <a:buNone/>
            </a:pPr>
            <a:r>
              <a:rPr lang="en-US" altLang="ko-KR" sz="2800" b="1" i="0" dirty="0">
                <a:solidFill>
                  <a:srgbClr val="26448A"/>
                </a:solidFill>
                <a:latin typeface="Avenir Next Medium"/>
                <a:ea typeface="Avenir Next Medium"/>
                <a:cs typeface="Avenir Next Medium"/>
              </a:rPr>
              <a:t>→ scene, illuminators &amp; signatures are ready — next is the bistatic detection chain</a:t>
            </a:r>
          </a:p>
        </p:txBody>
      </p:sp>
      <p:sp>
        <p:nvSpPr>
          <p:cNvPr id="3" name="슬라이드 번호 개체 틀 2">
            <a:extLst>
              <a:ext uri="{FF2B5EF4-FFF2-40B4-BE49-F238E27FC236}">
                <a16:creationId xmlns:a16="http://schemas.microsoft.com/office/drawing/2014/main" id="{C23651DD-A64B-E665-C30F-0A12BF879CC3}"/>
              </a:ext>
            </a:extLst>
          </p:cNvPr>
          <p:cNvSpPr>
            <a:spLocks noGrp="1"/>
          </p:cNvSpPr>
          <p:nvPr>
            <p:ph type="sldNum" sz="quarter" idx="2"/>
          </p:nvPr>
        </p:nvSpPr>
        <p:spPr/>
        <p:txBody>
          <a:bodyPr/>
          <a:lstStyle/>
          <a:p>
            <a:fld id="{86CB4B4D-7CA3-9044-876B-883B54F8677D}" type="slidenum">
              <a:rPr lang="en-US" altLang="ko-KR" smtClean="0"/>
              <a:t>17</a:t>
            </a:fld>
            <a:r>
              <a:rPr lang="en-US" altLang="ko-KR"/>
              <a:t>/21</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3" name="슬라이드 번호 개체 틀 2">
            <a:extLst>
              <a:ext uri="{FF2B5EF4-FFF2-40B4-BE49-F238E27FC236}">
                <a16:creationId xmlns:a16="http://schemas.microsoft.com/office/drawing/2014/main" id="{1F36BBDC-1731-C7DF-F756-4B038C3A1A4D}"/>
              </a:ext>
            </a:extLst>
          </p:cNvPr>
          <p:cNvSpPr>
            <a:spLocks noGrp="1"/>
          </p:cNvSpPr>
          <p:nvPr>
            <p:ph type="sldNum" sz="quarter" idx="2"/>
          </p:nvPr>
        </p:nvSpPr>
        <p:spPr/>
        <p:txBody>
          <a:bodyPr/>
          <a:lstStyle/>
          <a:p>
            <a:fld id="{86CB4B4D-7CA3-9044-876B-883B54F8677D}" type="slidenum">
              <a:rPr lang="en-US" altLang="ko-KR" smtClean="0"/>
              <a:t>18</a:t>
            </a:fld>
            <a:r>
              <a:rPr lang="en-US" altLang="ko-KR"/>
              <a:t>/21</a:t>
            </a:r>
            <a:endParaRPr lang="ko-KR" altLang="en-US" dirty="0"/>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3" name="슬라이드 번호 개체 틀 2">
            <a:extLst>
              <a:ext uri="{FF2B5EF4-FFF2-40B4-BE49-F238E27FC236}">
                <a16:creationId xmlns:a16="http://schemas.microsoft.com/office/drawing/2014/main" id="{20E43994-EB3C-E6FA-7B7E-8811468E5919}"/>
              </a:ext>
            </a:extLst>
          </p:cNvPr>
          <p:cNvSpPr>
            <a:spLocks noGrp="1"/>
          </p:cNvSpPr>
          <p:nvPr>
            <p:ph type="sldNum" sz="quarter" idx="2"/>
          </p:nvPr>
        </p:nvSpPr>
        <p:spPr/>
        <p:txBody>
          <a:bodyPr/>
          <a:lstStyle/>
          <a:p>
            <a:fld id="{86CB4B4D-7CA3-9044-876B-883B54F8677D}" type="slidenum">
              <a:rPr lang="en-US" altLang="ko-KR" smtClean="0"/>
              <a:t>19</a:t>
            </a:fld>
            <a:r>
              <a:rPr lang="en-US" altLang="ko-KR"/>
              <a:t>/21</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3" name="슬라이드 번호 개체 틀 2">
            <a:extLst>
              <a:ext uri="{FF2B5EF4-FFF2-40B4-BE49-F238E27FC236}">
                <a16:creationId xmlns:a16="http://schemas.microsoft.com/office/drawing/2014/main" id="{5720F100-E667-22D7-3AF2-328E5D711933}"/>
              </a:ext>
            </a:extLst>
          </p:cNvPr>
          <p:cNvSpPr>
            <a:spLocks noGrp="1"/>
          </p:cNvSpPr>
          <p:nvPr>
            <p:ph type="sldNum" sz="quarter" idx="2"/>
          </p:nvPr>
        </p:nvSpPr>
        <p:spPr/>
        <p:txBody>
          <a:bodyPr/>
          <a:lstStyle/>
          <a:p>
            <a:fld id="{86CB4B4D-7CA3-9044-876B-883B54F8677D}" type="slidenum">
              <a:rPr lang="en-US" altLang="ko-KR" smtClean="0"/>
              <a:t>20</a:t>
            </a:fld>
            <a:r>
              <a:rPr lang="en-US" altLang="ko-KR"/>
              <a:t>/21</a:t>
            </a:r>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3" name="슬라이드 번호 개체 틀 2">
            <a:extLst>
              <a:ext uri="{FF2B5EF4-FFF2-40B4-BE49-F238E27FC236}">
                <a16:creationId xmlns:a16="http://schemas.microsoft.com/office/drawing/2014/main" id="{00B36DF1-9268-E966-942C-4204E95E4A0E}"/>
              </a:ext>
            </a:extLst>
          </p:cNvPr>
          <p:cNvSpPr>
            <a:spLocks noGrp="1"/>
          </p:cNvSpPr>
          <p:nvPr>
            <p:ph type="sldNum" sz="quarter" idx="2"/>
          </p:nvPr>
        </p:nvSpPr>
        <p:spPr/>
        <p:txBody>
          <a:bodyPr/>
          <a:lstStyle/>
          <a:p>
            <a:fld id="{86CB4B4D-7CA3-9044-876B-883B54F8677D}" type="slidenum">
              <a:rPr lang="en-US" altLang="ko-KR" smtClean="0"/>
              <a:t>21</a:t>
            </a:fld>
            <a:r>
              <a:rPr lang="en-US" altLang="ko-KR"/>
              <a:t>/21</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SOTA — Let’s Read the Table Together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Worth discussing: how much of the gain is the de-channeling idea vs the FusedFormer backbone?</a:t>
            </a:r>
          </a:p>
        </p:txBody>
      </p:sp>
      <p:sp>
        <p:nvSpPr>
          <p:cNvPr id="3" name="슬라이드 번호 개체 틀 2">
            <a:extLst>
              <a:ext uri="{FF2B5EF4-FFF2-40B4-BE49-F238E27FC236}">
                <a16:creationId xmlns:a16="http://schemas.microsoft.com/office/drawing/2014/main" id="{20A7B3E4-9178-A3CE-36BE-6419E3709A61}"/>
              </a:ext>
            </a:extLst>
          </p:cNvPr>
          <p:cNvSpPr>
            <a:spLocks noGrp="1"/>
          </p:cNvSpPr>
          <p:nvPr>
            <p:ph type="sldNum" sz="quarter" idx="2"/>
          </p:nvPr>
        </p:nvSpPr>
        <p:spPr/>
        <p:txBody>
          <a:bodyPr/>
          <a:lstStyle/>
          <a:p>
            <a:fld id="{86CB4B4D-7CA3-9044-876B-883B54F8677D}" type="slidenum">
              <a:rPr lang="en-US" altLang="ko-KR" smtClean="0"/>
              <a:t>22</a:t>
            </a:fld>
            <a:r>
              <a:rPr lang="en-US" altLang="ko-KR"/>
              <a:t>/21</a:t>
            </a:r>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29184</TotalTime>
  <Words>1660</Words>
  <Application>Microsoft Macintosh PowerPoint</Application>
  <PresentationFormat>사용자 지정</PresentationFormat>
  <Paragraphs>221</Paragraphs>
  <Slides>23</Slides>
  <Notes>23</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23</vt:i4>
      </vt:variant>
    </vt:vector>
  </HeadingPairs>
  <TitlesOfParts>
    <vt:vector size="33"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361</cp:revision>
  <dcterms:modified xsi:type="dcterms:W3CDTF">2026-07-13T16:18:24Z</dcterms:modified>
</cp:coreProperties>
</file>