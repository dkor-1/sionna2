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 id="381" r:id="rId5"/>
    <p:sldId id="382" r:id="rId4"/>
    <p:sldId id="383" r:id="rId3"/>
    <p:sldId id="384" r:id="rId24"/>
    <p:sldId id="385" r:id="rId25"/>
    <p:sldId id="386" r:id="rId26"/>
    <p:sldId id="387" r:id="rId27"/>
    <p:sldId id="388" r:id="rId28"/>
    <p:sldId id="389" r:id="rId29"/>
    <p:sldId id="390" r:id="rId30"/>
    <p:sldId id="391" r:id="rId31"/>
    <p:sldId id="392" r:id="rId32"/>
    <p:sldId id="393" r:id="rId33"/>
    <p:sldId id="394" r:id="rId3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a:t>
            </a:r>
          </a:p>
          <a:p>
            <a:r>
              <a:t>Today is a short update on the Sionna simulator work.</a:t>
            </a:r>
          </a:p>
          <a:p>
            <a:r>
              <a:t>Five parts, and one rule that governs all of them.</a:t>
            </a:r>
          </a:p>
          <a:p/>
          <a:p>
            <a:r>
              <a:t>— 한국어 해설 —</a:t>
            </a:r>
          </a:p>
          <a:p>
            <a:r>
              <a:t>오늘은 Sionna 시뮬레이터 작업을 짧게 가져왔습니다.</a:t>
            </a:r>
          </a:p>
          <a:p>
            <a:r>
              <a:t>다섯 부분이고, 전체를 지배하는 규칙이 하나 있습니다.</a:t>
            </a:r>
          </a:p>
          <a:p>
            <a:r>
              <a:t>표지는 기존 팀미팅 표지 그대로이고 날짜만 08. 04 로 바꿨습니다.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a short deck by design.</a:t>
            </a:r>
          </a:p>
          <a:p>
            <a:r>
              <a:t>Part 1 is the strongest single result we have, a velocity table across four standards.</a:t>
            </a:r>
          </a:p>
          <a:p>
            <a:r>
              <a:t>Part 2 places us against the papers we actually opened.</a:t>
            </a:r>
          </a:p>
          <a:p>
            <a:r>
              <a:t>Part 3 is the engine, which is the part I spent longest on and the part I put late on purpose.</a:t>
            </a:r>
          </a:p>
          <a:p>
            <a:r>
              <a:t>Part 4 is new this week. Two papers that print measured drone radar cross section, and the check we will run with them.</a:t>
            </a:r>
          </a:p>
          <a:p>
            <a:r>
              <a:t>Part 5 is the list of claims I withdrew.</a:t>
            </a:r>
          </a:p>
          <a:p>
            <a:r>
              <a:t>The rule at the bottom is the reason this deck is shorter than the last one.</a:t>
            </a:r>
          </a:p>
          <a:p>
            <a:r>
              <a:t>Q: Why is the engine last if it is the most work?</a:t>
            </a:r>
          </a:p>
          <a:p>
            <a:r>
              <a:t>A: Because effort is not the same as interest. The velocity table changes what someone else would do next, and the engine only supports it.</a:t>
            </a:r>
          </a:p>
          <a:p/>
          <a:p>
            <a:r>
              <a:t>— 한국어 해설 —</a:t>
            </a:r>
          </a:p>
          <a:p>
            <a:r>
              <a:t>의도적으로 짧게 만든 덱입니다.</a:t>
            </a:r>
          </a:p>
          <a:p>
            <a:r>
              <a:t>1부는 우리가 가진 가장 강한 단일 결과인 네 표준 무모호 속도표입니다.</a:t>
            </a:r>
          </a:p>
          <a:p>
            <a:r>
              <a:t>2부는 우리가 실제로 연 논문들 사이에서 우리 위치를 놓습니다.</a:t>
            </a:r>
          </a:p>
          <a:p>
            <a:r>
              <a:t>3부는 엔진인데, 가장 오래 붙든 부분이지만 일부러 뒤에 뒀습니다.</a:t>
            </a:r>
          </a:p>
          <a:p>
            <a:r>
              <a:t>⭐ 4부가 이번 주에 새로 붙은 절입니다. 드론 실측 RCS 를 인쇄한 논문 두 편과, 그걸로 우리 메시 제작 방법을 검증하겠다는 계획입니다. 결과는 다음 주입니다.</a:t>
            </a:r>
          </a:p>
          <a:p>
            <a:r>
              <a:t>5부는 이번 라운드에 철회한 주장 목록입니다.</a:t>
            </a:r>
          </a:p>
          <a:p>
            <a:r>
              <a:t>맨 아래 규칙이 이 덱이 지난번보다 짧아진 이유입니다.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slide on what the whole thing is.</a:t>
            </a:r>
          </a:p>
          <a:p>
            <a:r>
              <a:t>We take a drone airframe as a surface mesh, compute how it scatters, and carry that number through a grid of geometries and illuminators into a detector.</a:t>
            </a:r>
          </a:p>
          <a:p>
            <a:r>
              <a:t>Radar cross section, which I will write as sigma, is the quantity that connects the two ends.</a:t>
            </a:r>
          </a:p>
          <a:p>
            <a:r>
              <a:t>Nothing on this slide is new physics. The claim is about the chain being complete and traceable.</a:t>
            </a:r>
          </a:p>
          <a:p>
            <a:r>
              <a:t>Q: Why not just use the ray tracer's own output?</a:t>
            </a:r>
          </a:p>
          <a:p>
            <a:r>
              <a:t>A: That is Part 3. The short answer is that the stock solver returns path coefficients, not a scattering cross section.</a:t>
            </a:r>
          </a:p>
          <a:p/>
          <a:p>
            <a:r>
              <a:t>— 한국어 해설 —</a:t>
            </a:r>
          </a:p>
          <a:p>
            <a:r>
              <a:t>전체가 무엇인지 한 장으로 놓습니다.</a:t>
            </a:r>
          </a:p>
          <a:p>
            <a:r>
              <a:t>드론 기체를 표면 메시로 받아 산란을 계산하고, 그 값을 기하와 조명원 격자를 지나 검출기까지 나릅니다.</a:t>
            </a:r>
          </a:p>
          <a:p>
            <a:r>
              <a:t>레이다 단면적, 즉 σ 가 두 끝을 잇는 양입니다.</a:t>
            </a:r>
          </a:p>
          <a:p>
            <a:r>
              <a:t>이 슬라이드에 새 물리는 없습니다. 주장은 사슬이 끊기지 않고 추적 가능하다는 것입니다.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1.</a:t>
            </a:r>
          </a:p>
          <a:p>
            <a:r>
              <a:t>This is the result I would put first if I had only one slide.</a:t>
            </a:r>
          </a:p>
          <a:p>
            <a:r>
              <a:t>It is also the one where I have to say, early, that the underlying law belongs to someone else.</a:t>
            </a:r>
          </a:p>
          <a:p/>
          <a:p>
            <a:r>
              <a:t>— 한국어 해설 —</a:t>
            </a:r>
          </a:p>
          <a:p>
            <a:r>
              <a:t>1부입니다.</a:t>
            </a:r>
          </a:p>
          <a:p>
            <a:r>
              <a:t>한 장만 보여줄 수 있다면 이걸 고르겠습니다.</a:t>
            </a:r>
          </a:p>
          <a:p>
            <a:r>
              <a:t>동시에 그 밑의 법칙이 남의 것이라고 일찍 말해야 하는 슬라이드이기도 합니다.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ambient signals, one convention, one table.</a:t>
            </a:r>
          </a:p>
          <a:p>
            <a:r>
              <a:t>The repetition rate of the reference signal sets how fast a target may move before its Doppler shift folds.</a:t>
            </a:r>
          </a:p>
          <a:p>
            <a:r>
              <a:t>LTE cell-specific reference signals repeat at a kilohertz and reach forty metres per second.</a:t>
            </a:r>
          </a:p>
          <a:p>
            <a:r>
              <a:t>The 5G synchronization signal block repeats at fifty hertz and stops at one metre per second.</a:t>
            </a:r>
          </a:p>
          <a:p>
            <a:r>
              <a:t>That is a factor of two hundred and eighty-nine between the best and the worst ambient choice.</a:t>
            </a:r>
          </a:p>
          <a:p>
            <a:r>
              <a:t>Q: Where do the repetition rates come from?</a:t>
            </a:r>
          </a:p>
          <a:p>
            <a:r>
              <a:t>A: Honestly, only the 5G row is anchored to an outside primary source this round. The LTE and WiFi rates are assumptions inside our waveform module and I have not re-checked them against the primary specifications. That is an open item.</a:t>
            </a:r>
          </a:p>
          <a:p/>
          <a:p>
            <a:r>
              <a:t>— 한국어 해설 —</a:t>
            </a:r>
          </a:p>
          <a:p>
            <a:r>
              <a:t>조명원 넷, 규약 하나, 표 하나입니다.</a:t>
            </a:r>
          </a:p>
          <a:p>
            <a:r>
              <a:t>기준신호 반복률이 도플러가 접히기 전까지 표적이 얼마나 빨리 움직여도 되는지를 정합니다.</a:t>
            </a:r>
          </a:p>
          <a:p>
            <a:r>
              <a:t>LTE CRS 는 1 kHz 로 반복해 40 m/s 까지 가고, 5G SSB 는 50 Hz 라 1 m/s 에서 멈춥니다.</a:t>
            </a:r>
          </a:p>
          <a:p>
            <a:r>
              <a:t>최선과 최악 사이가 289 배입니다.</a:t>
            </a:r>
          </a:p>
          <a:p>
            <a:r>
              <a:t>⚠ 정직하게: 이번 라운드에 외부 1차 문헌으로 앵커된 것은 5G 행뿐입니다. LTE·WiFi 반복률은 우리 waveform 모듈 가정이고 열린 항목입니다.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same table as a picture, with the aircraft laid on top of it.</a:t>
            </a:r>
          </a:p>
          <a:p>
            <a:r>
              <a:t>The pink band is the published maximum speed of the five airframes we model, from 13.5 to 25 metres per second.</a:t>
            </a:r>
          </a:p>
          <a:p>
            <a:r>
              <a:t>Ambient 5G sits at 1.07, an order of magnitude below the band.</a:t>
            </a:r>
          </a:p>
          <a:p>
            <a:r>
              <a:t>The light blue dot is the ceiling an active sensor may request from the specification, 500 hertz, and it lands at 10.71, still under the band.</a:t>
            </a:r>
          </a:p>
          <a:p>
            <a:r>
              <a:t>The last line matters most. This is a sampling-rate limit, so integrating longer does not fix it. We measured that: the alias fraction stays at 0.861 for 5G regardless of integration time.</a:t>
            </a:r>
          </a:p>
          <a:p>
            <a:r>
              <a:t>Q: A folded target is still detected, is it not?</a:t>
            </a:r>
          </a:p>
          <a:p>
            <a:r>
              <a:t>A: Correct, and we keep those two words apart. Aliasing and blindness are different quantities and we report them separately. We also do not propose a dealiasing fix. Equations 17 to 20 of the 2023 paper already do that.</a:t>
            </a:r>
          </a:p>
          <a:p/>
          <a:p>
            <a:r>
              <a:t>— 한국어 해설 —</a:t>
            </a:r>
          </a:p>
          <a:p>
            <a:r>
              <a:t>앞의 표를 그림으로 만들고 그 위에 실기체를 얹은 것입니다.</a:t>
            </a:r>
          </a:p>
          <a:p>
            <a:r>
              <a:t>분홍 띠가 우리가 모형화한 5기체의 공개 최고속도 13.5~25 m/s 입니다.</a:t>
            </a:r>
          </a:p>
          <a:p>
            <a:r>
              <a:t>상시 5G 는 1.07 로 띠보다 한 자릿수 아래이고, 규격 천장 500 Hz 로 올려도 10.71 로 여전히 띠 아래입니다.</a:t>
            </a:r>
          </a:p>
          <a:p>
            <a:r>
              <a:t>마지막 줄이 핵심입니다. 표본화율 한계라 적분시간으로 못 없앱니다. 접힘 비율 0.861 은 CPI 와 무관한 상수입니다.</a:t>
            </a:r>
          </a:p>
          <a:p>
            <a:r>
              <a:t>⚠ 접힘(alias)과 블라인드(blind)는 다른 양이고 따로 보고합니다. 접힘 해제 대책은 우리가 제안하지 않습니다.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 am putting this second rather than last, and that placement is the point.</a:t>
            </a:r>
          </a:p>
          <a:p>
            <a:r>
              <a:t>The unambiguous-velocity law we use is equation 16 of a 2023 journal paper. Not ours.</a:t>
            </a:r>
          </a:p>
          <a:p>
            <a:r>
              <a:t>Worse, our previous correction was also wrong. We had said Chen 2024 owned it. Chen cites the 2023 paper and prints no closed form at all, only a worked number.</a:t>
            </a:r>
          </a:p>
          <a:p>
            <a:r>
              <a:t>We found this by finally obtaining both PDFs and reading them, which had been the largest open gap on the last deck.</a:t>
            </a:r>
          </a:p>
          <a:p>
            <a:r>
              <a:t>Q: Two wrong attributions in a row does not sound like a careful survey.</a:t>
            </a:r>
          </a:p>
          <a:p>
            <a:r>
              <a:t>A: The three quotations in the first round were verbatim correct. What was wrong was drawing a conclusion about a paper we had not obtained. That is exactly why the rule on slide two now exists.</a:t>
            </a:r>
          </a:p>
          <a:p/>
          <a:p>
            <a:r>
              <a:t>— 한국어 해설 —</a:t>
            </a:r>
          </a:p>
          <a:p>
            <a:r>
              <a:t>이 슬라이드를 마지막이 아니라 두 번째에 두는 것이 요점입니다.</a:t>
            </a:r>
          </a:p>
          <a:p>
            <a:r>
              <a:t>우리가 쓰는 무모호 속도 법칙은 2023 년 저널 논문 eq.(16) 입니다. 우리 것이 아닙니다.</a:t>
            </a:r>
          </a:p>
          <a:p>
            <a:r>
              <a:t>게다가 직전 정정도 틀렸습니다. Chen 2024 에 돌렸는데, Chen 은 그 2023 논문을 인용하고 닫힌 식을 아예 표시하지 않습니다.</a:t>
            </a:r>
          </a:p>
          <a:p>
            <a:r>
              <a:t>지난 덱의 최대 공백이었던 두 PDF 를 이번에 확보해 읽고 잡았습니다.</a:t>
            </a:r>
          </a:p>
          <a:p>
            <a:r>
              <a:t>⛔ 절대 하면 안 되는 말: '무모호 속도 식을 우리가 제시한다'.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If the equation is theirs, what is ours.</a:t>
            </a:r>
          </a:p>
          <a:p>
            <a:r>
              <a:t>Four things, and I want to state them narrowly enough that they survive a hostile reading.</a:t>
            </a:r>
          </a:p>
          <a:p>
            <a:r>
              <a:t>The table, the overlay onto real aircraft, the adjudication of the three obvious escape hatches, and the chain that carries the same grid into a calibrated detector.</a:t>
            </a:r>
          </a:p>
          <a:p>
            <a:r>
              <a:t>The quotation at the top is from the conclusion of the 2023 paper. They used a Volvo XC90. The 2024 paper used a stepper-motor rotating model. Neither used a drone, and one of them wrote drones into their future work in those words.</a:t>
            </a:r>
          </a:p>
          <a:p>
            <a:r>
              <a:t>Q: A 2023 future-work line gives three years for someone else to have done it.</a:t>
            </a:r>
          </a:p>
          <a:p>
            <a:r>
              <a:t>A: Which is why we counted. In the 26 rows of the matrix in Part 2, no row does drone mesh, scattering integral, amplitude validation and publication at once. That is bounded by the corpus we opened, and I will say so on that slide.</a:t>
            </a:r>
          </a:p>
          <a:p/>
          <a:p>
            <a:r>
              <a:t>— 한국어 해설 —</a:t>
            </a:r>
          </a:p>
          <a:p>
            <a:r>
              <a:t>식이 그들 것이라면 우리 것은 무엇인가.</a:t>
            </a:r>
          </a:p>
          <a:p>
            <a:r>
              <a:t>네 가지이고, 적대적으로 읽어도 버티도록 좁게 진술합니다.</a:t>
            </a:r>
          </a:p>
          <a:p>
            <a:r>
              <a:t>표, 실기체 위 겹치기, 명백한 탈출구 세 개의 판정, 그리고 같은 격자를 교정된 검출기까지 잇는 사슬입니다.</a:t>
            </a:r>
          </a:p>
          <a:p>
            <a:r>
              <a:t>위 인용문은 2023 논문 결론입니다. 그들 표적은 Volvo XC90, Chen 은 스테퍼 모터 회전 모형이었습니다.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2.</a:t>
            </a:r>
          </a:p>
          <a:p>
            <a:r>
              <a:t>The format of this part came from a tracking table, and it does in one picture what ten lines of prose would do badly.</a:t>
            </a:r>
          </a:p>
          <a:p/>
          <a:p>
            <a:r>
              <a:t>— 한국어 해설 —</a:t>
            </a:r>
          </a:p>
          <a:p>
            <a:r>
              <a:t>2부입니다.</a:t>
            </a:r>
          </a:p>
          <a:p>
            <a:r>
              <a:t>이 부분의 형식은 추적표에서 왔고, 산문 열 줄이 어설프게 할 일을 한 장이 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Twenty-six papers, nine capability columns.</a:t>
            </a:r>
          </a:p>
          <a:p>
            <a:r>
              <a:t>The six columns on the left came from the tracking table, so they are not columns we invented to win. We added three: amplitude validation, geometry, and unambiguous velocity.</a:t>
            </a:r>
          </a:p>
          <a:p>
            <a:r>
              <a:t>Every mark is graded evidence rather than an opinion. Eighty of the cells are verbatim quotations, and the build re-opens the PDFs and re-checks them on every run. All eighty passed this run, and no cell is unverified.</a:t>
            </a:r>
          </a:p>
          <a:p>
            <a:r>
              <a:t>The bottom row is ours, boxed in green. Note that it is not the fullest row on the slide by capability count, and note the two empty cells in it.</a:t>
            </a:r>
          </a:p>
          <a:p>
            <a:r>
              <a:t>Q: You scored yourself, so of course you look good.</a:t>
            </a:r>
          </a:p>
          <a:p>
            <a:r>
              <a:t>A: That is why the output is an evidence table rather than a score. Disagree with a call and you can read the quotation behind it. And our row keeps two absent cells and one partial.</a:t>
            </a:r>
          </a:p>
          <a:p/>
          <a:p>
            <a:r>
              <a:t>— 한국어 해설 —</a:t>
            </a:r>
          </a:p>
          <a:p>
            <a:r>
              <a:t>논문 26 편, 능력 9 열입니다.</a:t>
            </a:r>
          </a:p>
          <a:p>
            <a:r>
              <a:t>왼쪽 여섯 열은 추적표에서 왔습니다. 우리가 이기려고 만든 열이 아닙니다. 우리가 더한 것은 진폭 검증·기하·무모호 속도 세 열입니다.</a:t>
            </a:r>
          </a:p>
          <a:p>
            <a:r>
              <a:t>모든 칸은 의견이 아니라 등급이 붙은 근거이고, 80 칸은 축자 인용이라 빌드가 매 실행 PDF 를 다시 열어 대조합니다. 이번 실행 80/80 통과, UNVERIFIED 0 입니다.</a:t>
            </a:r>
          </a:p>
          <a:p>
            <a:r>
              <a:t>맨 아래 초록 테두리가 우리 행이고, 빈칸이 둘 있습니다.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Reading the matrix out loud.</a:t>
            </a:r>
          </a:p>
          <a:p>
            <a:r>
              <a:t>We are the only row that is full on engine, mesh, material, aspect, geometry and unambiguous velocity simultaneously. That is the sentence I would defend.</a:t>
            </a:r>
          </a:p>
          <a:p>
            <a:r>
              <a:t>The row that comes closest on the physics side, RadarTwin, has no geometry axis and no velocity axis. The rows that own the velocity axis compute no scattering. Nobody currently holds both halves, and that is the opening.</a:t>
            </a:r>
          </a:p>
          <a:p>
            <a:r>
              <a:t>Our nearest tie is Ziganshin at EuCAP 2025, published. They beat us on diffraction and their target is a car.</a:t>
            </a:r>
          </a:p>
          <a:p>
            <a:r>
              <a:t>Q: You chose the columns, so of course a combination exists where you win.</a:t>
            </a:r>
          </a:p>
          <a:p>
            <a:r>
              <a:t>A: Six of the nine came from the tracking table, not from us. Of the three we added, we are partial on one and tied on another. And we are not nine of nine on our own column set.</a:t>
            </a:r>
          </a:p>
          <a:p/>
          <a:p>
            <a:r>
              <a:t>— 한국어 해설 —</a:t>
            </a:r>
          </a:p>
          <a:p>
            <a:r>
              <a:t>매트릭스를 소리 내어 읽습니다.</a:t>
            </a:r>
          </a:p>
          <a:p>
            <a:r>
              <a:t>엔진·메시·재질·자세·기하·무모호속도 여섯을 동시에 채운 행은 우리뿐입니다. 이 문장은 방어할 수 있습니다.</a:t>
            </a:r>
          </a:p>
          <a:p>
            <a:r>
              <a:t>물리 쪽에서 가장 가까운 RadarTwin 은 기하 축도 속도 축도 없고, 속도 축을 가진 선행들은 산란을 아예 계산하지 않습니다. 양쪽을 다 쥔 곳이 아직 없다는 것이 열린 자리입니다.</a:t>
            </a:r>
          </a:p>
          <a:p>
            <a:r>
              <a:t>가장 가까운 동점은 Ziganshin EuCAP 2025(게재)이고, 회절에서 우리보다 앞서며 표적은 자동차입니다.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our weakest column, and it is also the emptiest column in the field.</a:t>
            </a:r>
          </a:p>
          <a:p>
            <a:r>
              <a:t>Three rows of twenty-six model diffraction at all. Two Ziganshin papers with the uniform theory plus vertex diffraction, and one 2019 paper folding the physical theory into shooting and bouncing rays. We are in the other twenty-three.</a:t>
            </a:r>
          </a:p>
          <a:p>
            <a:r>
              <a:t>Two things must be said precisely. Our kernel has no edge term at all, verified by a term count. And Sionna does have first-order wedge diffraction, so the sentence Sionna has no diffraction is false. It ships off by default.</a:t>
            </a:r>
          </a:p>
          <a:p>
            <a:r>
              <a:t>The measurable consequence is our frequency slope. We are steeper than every measured anchor by a factor of three and a half to eight, though still under the pure plate limit.</a:t>
            </a:r>
          </a:p>
          <a:p>
            <a:r>
              <a:t>Q: Then why not simply switch diffraction on?</a:t>
            </a:r>
          </a:p>
          <a:p>
            <a:r>
              <a:t>A: Because the thing it would feed, a scattering integral, is not in Sionna. And on a tessellated shell the wedge angles are a property of our meshing rather than of the drone. The structural candidate is a physical-theory-of-diffraction term inside our own kernel, and whether that improves the slope is untested.</a:t>
            </a:r>
          </a:p>
          <a:p/>
          <a:p>
            <a:r>
              <a:t>— 한국어 해설 —</a:t>
            </a:r>
          </a:p>
          <a:p>
            <a:r>
              <a:t>우리의 가장 약한 열이자 분야 전체가 가장 빈 열입니다.</a:t>
            </a:r>
          </a:p>
          <a:p>
            <a:r>
              <a:t>26 행 중 회절을 모형에 넣은 것은 3 편뿐이고 우리는 나머지 23 에 속합니다.</a:t>
            </a:r>
          </a:p>
          <a:p>
            <a:r>
              <a:t>두 가지를 정확히 말해야 합니다. 우리 커널에는 에지항이 아예 없고(용어 카운트로 검증), Sionna 에는 1 차 UTD 쐐기 회절이 있으므로 'Sionna 에 회절이 없다'는 거짓입니다. 기본값이 꺼져 있을 뿐입니다.</a:t>
            </a:r>
          </a:p>
          <a:p>
            <a:r>
              <a:t>측정 가능한 대가는 밴드 기울기입니다. 실측 앵커보다 3.5~8.1 배 가파릅니다.</a:t>
            </a:r>
          </a:p>
          <a:p>
            <a:r>
              <a:t>⛔ '회절을 붙이면 기울기가 좋아진다'는 약속은 금지.</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3, briefly.</a:t>
            </a:r>
          </a:p>
          <a:p>
            <a:r>
              <a:t>This is the part I spent longest on, and it is deliberately not the headline.</a:t>
            </a:r>
          </a:p>
          <a:p/>
          <a:p>
            <a:r>
              <a:t>— 한국어 해설 —</a:t>
            </a:r>
          </a:p>
          <a:p>
            <a:r>
              <a:t>3부를 짧게.</a:t>
            </a:r>
          </a:p>
          <a:p>
            <a:r>
              <a:t>가장 오래 붙든 부분이지만 일부러 헤드라인으로 두지 않았습니다.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Why write a kernel at all.</a:t>
            </a:r>
          </a:p>
          <a:p>
            <a:r>
              <a:t>The honest reason fits in one grep. The installed ray-tracing package has no occurrence of rcs and no occurrence of radar cross section. It returns path coefficients, not a cross section.</a:t>
            </a:r>
          </a:p>
          <a:p>
            <a:r>
              <a:t>So we add shooting and bouncing rays on the same engine, and close them with our own physical-optics surface integral weighted by materials.</a:t>
            </a:r>
          </a:p>
          <a:p>
            <a:r>
              <a:t>The check that matters is card three. Against the analytic physical-optics sphere we agree to two tenths of a decibel. That establishes that our integral converges numerically to the approximation it implements.</a:t>
            </a:r>
          </a:p>
          <a:p>
            <a:r>
              <a:t>Card four is the part I have to say out loud. Against the exact Mie solution we are off by up to six point seven decibels, concentrated at low kr, which is the few-wavelength regime.</a:t>
            </a:r>
          </a:p>
          <a:p>
            <a:r>
              <a:t>Q: Is quoting the 0.2 dB and not the 6.7 dB choosing the flattering reference?</a:t>
            </a:r>
          </a:p>
          <a:p>
            <a:r>
              <a:t>A: Which is why both are on the slide. The target of numerical convergence is analytic physical optics, because that is what the kernel implements. The Mie residual is the price of the approximation itself, and it falls to under two percent spread above kr thirty.</a:t>
            </a:r>
          </a:p>
          <a:p/>
          <a:p>
            <a:r>
              <a:t>— 한국어 해설 —</a:t>
            </a:r>
          </a:p>
          <a:p>
            <a:r>
              <a:t>왜 커널을 직접 썼는가.</a:t>
            </a:r>
          </a:p>
          <a:p>
            <a:r>
              <a:t>정직한 이유는 grep 한 줄입니다. 설치된 rt 패키지에 rcs 도 radar cross section 도 0 회입니다. 경로 계수를 주지 σ 를 주지 않습니다.</a:t>
            </a:r>
          </a:p>
          <a:p>
            <a:r>
              <a:t>그래서 같은 엔진 위에 SBR 을 얹고 재질 가중 PO 표면적분으로 닫습니다.</a:t>
            </a:r>
          </a:p>
          <a:p>
            <a:r>
              <a:t>카드 3 이 핵심 검증이고, 카드 4 는 반드시 같이 말해야 하는 대가입니다.</a:t>
            </a:r>
          </a:p>
          <a:p>
            <a:r>
              <a:t>⛔ '광선추적은 RCS 를 못 낸다'는 거짓. 참인 문장은 'Sionna 기본 solver 에 산란적분이 없다' 뿐.</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checks, and what each one is worth.</a:t>
            </a:r>
          </a:p>
          <a:p>
            <a:r>
              <a:t>Row three is the one that changed our own wording. We used to say our absolute sigma was anchored to published measurements. Then we computed what the anchor actually moves, and the mean level shift over seven airframes is zero to fourteen decimal places. The anchor rotates the frequency slope about a pivot and leaves the level exactly where our physical-optics output put it.</a:t>
            </a:r>
          </a:p>
          <a:p>
            <a:r>
              <a:t>That is why the amplitude validation cell in our matrix row is partial rather than full, and why we hold the absolute sigma verdict open.</a:t>
            </a:r>
          </a:p>
          <a:p>
            <a:r>
              <a:t>Q: There is a mode that anchors the level too, so why not use it?</a:t>
            </a:r>
          </a:p>
          <a:p>
            <a:r>
              <a:t>A: Because it requires assuming a size scaling law, and our own size exponent is one point two four to one point three two with a correlation of only zero point six four to zero point seven. That is the weakest link in the anchor, so the headline uses the mode with the fewest assumptions.</a:t>
            </a:r>
          </a:p>
          <a:p/>
          <a:p>
            <a:r>
              <a:t>— 한국어 해설 —</a:t>
            </a:r>
          </a:p>
          <a:p>
            <a:r>
              <a:t>검증 넷과 각각의 값어치입니다.</a:t>
            </a:r>
          </a:p>
          <a:p>
            <a:r>
              <a:t>셋째 줄이 우리 표현을 바꾼 항목입니다. 절대 σ 가 실측에 앵커되어 있다고 말해 왔는데, 앵커가 실제로 옮기는 레벨을 계산하니 7 기체 평균 이동이 소수 14 자리까지 0 이었습니다.</a:t>
            </a:r>
          </a:p>
          <a:p>
            <a:r>
              <a:t>앵커는 기울기만 돌리고 절대 레벨은 우리 PO 출력 그대로입니다. 그래서 매트릭스의 진폭 검증 칸이 PARTIAL 이고 절대 σ 판정을 보류합니다.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Geometry is on the slide because it is the first thing someone will offer as a way out.</a:t>
            </a:r>
          </a:p>
          <a:p>
            <a:r>
              <a:t>It is not a way out for velocity. Monostatic equals bistatic at zero bistatic angle, exactly, in all three bands. So the numbers we publish are already the worst case of both geometries.</a:t>
            </a:r>
          </a:p>
          <a:p>
            <a:r>
              <a:t>We also used to frame monostatic as free to choose its own repetition rate. That was wrong. The specification caps the sub-six reference signal at five hundred hertz, and the commercial networks that have been measured run between fifty and two hundred.</a:t>
            </a:r>
          </a:p>
          <a:p>
            <a:r>
              <a:t>The last line used to be a caveat about one scene azimuth. We swept it this round, seventy-two azimuths over the full circle with the cross section held constant, and the ninety percent detection range moves by under half a percent. Ninety degrees is the minimum of that sweep, so the published cut is the conservative end.</a:t>
            </a:r>
          </a:p>
          <a:p>
            <a:r>
              <a:t>Q: Does that invalidate the detection results?</a:t>
            </a:r>
          </a:p>
          <a:p>
            <a:r>
              <a:t>A: It does the opposite for the azimuth axis. What the sweep did expose is a different axis, which is on the open-items slide.</a:t>
            </a:r>
          </a:p>
          <a:p/>
          <a:p>
            <a:r>
              <a:t>— 한국어 해설 —</a:t>
            </a:r>
          </a:p>
          <a:p>
            <a:r>
              <a:t>기하는 청중이 가장 먼저 내밀 탈출구라 슬라이드에 올립니다.</a:t>
            </a:r>
          </a:p>
          <a:p>
            <a:r>
              <a:t>속도에는 탈출구가 아닙니다. β=0 에서 모노와 바이가 정확히 같고 세 밴드 모두 차이 0 입니다.</a:t>
            </a:r>
          </a:p>
          <a:p>
            <a:r>
              <a:t>'모노스태틱은 반복률을 자유롭게 고른다'는 프레이밍도 틀렸습니다. 규격이 sub-6 기준신호를 500 Hz 로 막고, 실측 상용망은 50~200 Hz 입니다.</a:t>
            </a:r>
          </a:p>
          <a:p>
            <a:r>
              <a:t>⚠ 마지막 줄은 지난 판에서 'φ=90° 한 컷이라 위험하다' 는 caveat 였고, 그때 인용한 23.17 dB 는 이번에 **철회**했습니다. φ 를 72 점 실제로 쓸어보니 상수-σ 에서 R90 이동은 0.48 % 뿐이고 φ=90° 가 세 팔 모두 **최소**였습니다. 23.17 dB 는 φ 의 성질이 아니라 함께 움직인 고도차의 값이었습니다(outputs/phi_sweep.json).</a:t>
            </a:r>
          </a:p>
          <a:p>
            <a:r>
              <a:t>⛔ 이제 '스윕하면 23 dB' 라고 말하지 않습니다.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4, and this one is a plan rather than a result.</a:t>
            </a:r>
          </a:p>
          <a:p>
            <a:r>
              <a:t>Two papers, what they measured, and what we will do with them.</a:t>
            </a:r>
          </a:p>
          <a:p>
            <a:r>
              <a:t>I will say at the end of the section what did not get done this week and when it lands.</a:t>
            </a:r>
          </a:p>
          <a:p/>
          <a:p>
            <a:r>
              <a:t>— 한국어 해설 —</a:t>
            </a:r>
          </a:p>
          <a:p>
            <a:r>
              <a:t>4부입니다. 결과편이 아니라 **계획 보고**입니다.</a:t>
            </a:r>
          </a:p>
          <a:p>
            <a:r>
              <a:t>논문 두 편, 그들이 무엇을 쟀는지, 그걸로 우리가 무엇을 할지입니다.</a:t>
            </a:r>
          </a:p>
          <a:p>
            <a:r>
              <a:t>⭐ 절 끝에서 이번 주에 못 한 것과 언제 가져올지를 분명히 말합니다.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item that has been bothering me since the engine section was written.</a:t>
            </a:r>
          </a:p>
          <a:p>
            <a:r>
              <a:t>Everything in Part 3 grades the kernel. The physical-optics sphere grades the numerics, the Mie residual grades the approximation, and the anchor rotates a slope. Not one of them touches the airframe geometry that the kernel runs on.</a:t>
            </a:r>
          </a:p>
          <a:p>
            <a:r>
              <a:t>Our seven meshes were built from CAD parts rather than stacked primitives, which is a method, and a method with no grade on it is a liability.</a:t>
            </a:r>
          </a:p>
          <a:p>
            <a:r>
              <a:t>What closes that is somebody else's measured cross section for a drone we can rebuild.</a:t>
            </a:r>
          </a:p>
          <a:p>
            <a:r>
              <a:t>Q: Why not just measure one yourselves?</a:t>
            </a:r>
          </a:p>
          <a:p>
            <a:r>
              <a:t>A: We will, outdoors with the X410, but that is a field campaign with its own error budget. A published anechoic measurement is available now and it is a cleaner grader.</a:t>
            </a:r>
          </a:p>
          <a:p/>
          <a:p>
            <a:r>
              <a:t>— 한국어 해설 —</a:t>
            </a:r>
          </a:p>
          <a:p>
            <a:r>
              <a:t>엔진 절을 쓰면서 계속 걸렸던 항목입니다.</a:t>
            </a:r>
          </a:p>
          <a:p>
            <a:r>
              <a:t>3부의 검증은 전부 **커널**을 채점합니다. PO 구는 수치, Mie 잔차는 근사, 앵커는 기울기입니다. ⭐ 그중 어느 것도 그 커널이 올라타는 **기체 형상**을 채점하지 않습니다.</a:t>
            </a:r>
          </a:p>
          <a:p>
            <a:r>
              <a:t>우리 7 기체는 CAD 부품 기반으로 만든 것이고, 그 **제작 방법 자체가 아직 무등급**입니다.</a:t>
            </a:r>
          </a:p>
          <a:p>
            <a:r>
              <a:t>그걸 닫는 것은 우리가 다시 만들 수 있는 기종의 **남이 인쇄한 실측 RCS** 입니다.</a:t>
            </a:r>
          </a:p>
          <a:p>
            <a:r>
              <a:t>그래서 찾아다녔고, 이번 주에 두 편을 찾았습니다.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papers, and I will read the citations out because the authorship matters in a moment.</a:t>
            </a:r>
          </a:p>
          <a:p>
            <a:r>
              <a:t>The first is a letter in IEEE Wireless Communications Letters this year. Four DJI airframes, monostatic and bistatic, seven bistatic angles, and the output is a set of fitted statistical models meant to drop into a 3GPP channel model.</a:t>
            </a:r>
          </a:p>
          <a:p>
            <a:r>
              <a:t>The second is a EuCAP paper from Southeast University. One airframe, the Phantom 3, but measured densely, two degrees of azimuth across a hundred and eighty, three elevation sides, sixteen gigahertz of bandwidth.</a:t>
            </a:r>
          </a:p>
          <a:p>
            <a:r>
              <a:t>Now the amber bar. The letter's acknowledgement thanks Professor Wei Fan of Southeast University for providing the measured data for the Mini 2, the Phantom 3 and the M350 RTK. That is the second group. So three of the four datasets are the same measurement, and we hold one anchor rather than two. The Phantom 2 is the only newly measured airframe in the letter, and it was taken in a non-anechoic indoor hall in the near field.</a:t>
            </a:r>
          </a:p>
          <a:p>
            <a:r>
              <a:t>One more honesty note. The two papers summarise that shared dataset with different averaging conventions, and the summaries sit about two and a half to three decibels apart until you match the convention. That number is a convention, not a disagreement about the drone.</a:t>
            </a:r>
          </a:p>
          <a:p>
            <a:r>
              <a:t>Q: If it is one measurement, is the second paper worth anything to us?</a:t>
            </a:r>
          </a:p>
          <a:p>
            <a:r>
              <a:t>A: Yes, for two reasons. It prints the bistatic angles, which the chamber paper does not, and it prints the fitted distributions. But we will never call them two independent anchors.</a:t>
            </a:r>
          </a:p>
          <a:p/>
          <a:p>
            <a:r>
              <a:t>— 한국어 해설 —</a:t>
            </a:r>
          </a:p>
          <a:p>
            <a:r>
              <a:t>논문 두 편이고, 저자를 다 읽는 이유는 잠시 뒤에 나옵니다.</a:t>
            </a:r>
          </a:p>
          <a:p>
            <a:r>
              <a:t>첫째는 올해 IEEE WCL 레터입니다. DJI 4 기체, 모노+바이스태틱, 바이스태틱각 7 개, 출력은 3GPP 채널모델에 바로 꽂을 통계 적합입니다.</a:t>
            </a:r>
          </a:p>
          <a:p>
            <a:r>
              <a:t>둘째는 동남대(Southeast University) EuCAP 논문입니다. 기체는 Phantom 3 하나지만 방위 2° 간격·고도 3 면·16 GHz 대역으로 촘촘합니다.</a:t>
            </a:r>
          </a:p>
          <a:p>
            <a:r>
              <a:t>⭐ 호박색 바가 핵심입니다. 레터 사사에 *"thank Prof. Wei Fan ... for providing the measured RCS data"* 가 있습니다. 즉 4 개 중 3 개 데이터셋이 **같은 측정**이고, 우리는 앵커를 둘이 아니라 **하나** 쥐고 있습니다. 새로 잰 것은 Phantom 2 뿐인데 그건 **근거리장·비무향 실내**라 앵커 자격이 없습니다.</a:t>
            </a:r>
          </a:p>
          <a:p>
            <a:r>
              <a:t>⚠ 그리고 같은 데이터를 두 논문이 다른 평균 규약으로 요약해서, 규약을 맞추기 전에는 요약값이 2.3~3.0 dB 어긋납니다(outputs/correction_sweep.json). 드론에 대한 이견이 아니라 **평균 규약 차이**입니다.</a:t>
            </a:r>
          </a:p>
          <a:p>
            <a:r>
              <a:t>· EuCAP 2025 라는 게재처는 PDF 앞면이 아니라 우리 문헌 라이브러리 기록에서 온 것입니다.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What we will actually do.</a:t>
            </a:r>
          </a:p>
          <a:p>
            <a:r>
              <a:t>Rebuild their four airframes with the same pipeline that produced our seven, run the same kernel at the bands where their sweep and our carriers overlap, and put our number next to their printed number.</a:t>
            </a:r>
          </a:p>
          <a:p>
            <a:r>
              <a:t>The thing on trial is the build method. If the meshes we make from CAD parts land near a chamber measurement, that grades the method for all seven airframes at once. If they do not, that is worth more to us than another convergence check.</a:t>
            </a:r>
          </a:p>
          <a:p>
            <a:r>
              <a:t>Two rules I am setting before the result exists. We report the disagreement rather than fitting an offset that hides it. And we carry the caveat from the previous slide, one measurement and a two and a half to three decibel averaging spread, into every number.</a:t>
            </a:r>
          </a:p>
          <a:p>
            <a:r>
              <a:t>Last line, and I would rather say it plainly. Most of this did not run this week because the group meeting took the time. The result comes next week.</a:t>
            </a:r>
          </a:p>
          <a:p>
            <a:r>
              <a:t>Q: What would count as a pass?</a:t>
            </a:r>
          </a:p>
          <a:p>
            <a:r>
              <a:t>A: I will not set the threshold after seeing the number, so I will bring the criterion and the result together next week.</a:t>
            </a:r>
          </a:p>
          <a:p/>
          <a:p>
            <a:r>
              <a:t>— 한국어 해설 —</a:t>
            </a:r>
          </a:p>
          <a:p>
            <a:r>
              <a:t>실제로 무엇을 할 것인가.</a:t>
            </a:r>
          </a:p>
          <a:p>
            <a:r>
              <a:t>그 네 기종을 우리 7 기체와 **같은 파이프라인**으로 다시 만들고, 그들 측정대역과 우리 반송파가 겹치는 자리에서 같은 커널을 돌려, 인쇄된 값 옆에 우리 값을 놓습니다.</a:t>
            </a:r>
          </a:p>
          <a:p>
            <a:r>
              <a:t>⭐ 재판정 대상은 특정 드론이 아니라 **메시 제작 방법론**입니다. CAD 부품 기반으로 만든 메시가 무향실 실측 근처에 떨어지면 7 기체 전부의 방법이 한 번에 채점됩니다. 안 떨어지면 그게 또 하나의 수렴 검증보다 우리에게 더 값집니다.</a:t>
            </a:r>
          </a:p>
          <a:p>
            <a:r>
              <a:t>결과가 나오기 **전에** 정하는 규칙 둘 - 오프셋으로 맞춰 감추지 않고 **불일치를 그대로 보고**, 그리고 앞 장의 caveat(측정 1 건 · 평균규약 2.3~3.0 dB)를 모든 수치에 달고 다닙니다.</a:t>
            </a:r>
          </a:p>
          <a:p>
            <a:r>
              <a:t>⚠ 마지막 줄은 변명이 아니라 **일정 보고**입니다. 이번 주는 그룹미팅 준비에 시간이 갔고, **결과는 다음 주에 가져옵니다.** 이 문장을 얼버무리지 말고 그대로 말할 것.</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slide on OpenISAC, and deliberately at a different angle from the last team meeting.</a:t>
            </a:r>
          </a:p>
          <a:p>
            <a:r>
              <a:t>Last time this was a related-work entry. This time I read it as a parts list for our own X410 measurement, because it is an open-source real-time platform and we are about to build the same kind of thing.</a:t>
            </a:r>
          </a:p>
          <a:p>
            <a:r>
              <a:t>Four parts. Their over-the-air synchronisation pipeline, which removes the wired clock between two separated nodes and is exactly the failure our field setup will hit. Their MTI suppression ratio, which turns cancellation quality into one reportable number. Their demodulate-and-reconstruct reference, which is a cleaner reference than a raw capture. And their micro-Doppler spectrogram front end.</a:t>
            </a:r>
          </a:p>
          <a:p>
            <a:r>
              <a:t>Card four is where they stop, and it is where we would have to take over. Their receive path is the bottleneck and it passes one full core at two hundred megahertz, which is half the bandwidth our X410 can run. And the word CFAR does not appear in the paper at all, so their detection is a peak pick with no false-alarm control.</a:t>
            </a:r>
          </a:p>
          <a:p>
            <a:r>
              <a:t>Q: If it is active and cooperative, does it transfer to a passive receiver?</a:t>
            </a:r>
          </a:p>
          <a:p>
            <a:r>
              <a:t>A: The signal processing does not, and I am not claiming it. The synchronisation, the cancellation metric and the instrumentation do, and those are the parts I listed.</a:t>
            </a:r>
          </a:p>
          <a:p/>
          <a:p>
            <a:r>
              <a:t>— 한국어 해설 —</a:t>
            </a:r>
          </a:p>
          <a:p>
            <a:r>
              <a:t>OpenISAC 은 한 장이고, 지난 팀미팅과 **일부러 다른 각도**로 봅니다.</a:t>
            </a:r>
          </a:p>
          <a:p>
            <a:r>
              <a:t>지난번엔 관련연구 항목이었고, 이번엔 우리 X410 실측에 그대로 옮겨 붙일 **엔지니어링 부품 목록**으로 읽습니다. 오픈소스 실시간 플랫폼이고 우리가 곧 같은 걸 만들 참이기 때문입니다.</a:t>
            </a:r>
          </a:p>
          <a:p>
            <a:r>
              <a:t>부품 넷 - ① OTA 동기 파이프라인(분리된 두 노드의 유선 클록 제거, 우리 필드셋업의 첫 실패모드) ② MSR(MTI 전후 에너지비, 소거 품질을 한 숫자로) ③ demod-and-reconstruct 레퍼런스 ④ 마이크로도플러 STFT 프런트엔드.</a:t>
            </a:r>
          </a:p>
          <a:p>
            <a:r>
              <a:t>⚠ 카드 4 가 그들이 멈추는 자리입니다. 수신 경로가 병목이고 200 MHz 에서 코어 1 개를 넘깁니다(50 MHz 42.3 % → 200 MHz 100.5 %). 우리 X410 은 400 MHz 라 그 경계 바깥입니다. 그리고 논문 전문에 CFAR 이 **0 회**라 검출은 peak-pick 이고 오경보 통제가 없습니다.</a:t>
            </a:r>
          </a:p>
          <a:p>
            <a:r>
              <a:t>· 능동 협조 플랫폼이라 신호처리 자체는 패시브로 이전되지 않습니다. 이전되는 것은 동기·소거지표·계측이고, 그것만 주장합니다.</a:t>
            </a:r>
          </a:p>
          <a:p>
            <a:r>
              <a:t>· DOI 10.1109/JIOT.2026.3710751</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5.</a:t>
            </a:r>
          </a:p>
          <a:p>
            <a:r>
              <a:t>Nobody in this room puts their own corrections on a slide, which is exactly why I do.</a:t>
            </a:r>
          </a:p>
          <a:p/>
          <a:p>
            <a:r>
              <a:t>— 한국어 해설 —</a:t>
            </a:r>
          </a:p>
          <a:p>
            <a:r>
              <a:t>5부입니다.</a:t>
            </a:r>
          </a:p>
          <a:p>
            <a:r>
              <a:t>이 방의 누구도 자기 정정을 슬라이드에 올리지 않습니다. 그래서 올립니다.</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Six withdrawals.</a:t>
            </a:r>
          </a:p>
          <a:p>
            <a:r>
              <a:t>The first is the priority story from Part 1.</a:t>
            </a:r>
          </a:p>
          <a:p>
            <a:r>
              <a:t>The second is a headline I liked too much. Zero coverage at every heading turned out to hold only at one integration time under one guard rule. We replaced the zero with a structural ratio that survives, the constant alias fraction.</a:t>
            </a:r>
          </a:p>
          <a:p>
            <a:r>
              <a:t>The third is the one I would ask you to look at. Thirteen point seven decibels was labelled a reciprocity violation. It was not. It was a bisector-approximation error for a single cell. When we corrected the label the number went up, to twenty decibels, which strengthens the case for the monostatic arm. We corrected a number that was working in our favour to correct it.</a:t>
            </a:r>
          </a:p>
          <a:p>
            <a:r>
              <a:t>The fourth is the ten log ten N ceiling for combining receivers. A published 2025 paper in IEEE Transactions on Aerospace and Electronic Systems states it directly, page 8814. We cannot call it ours.</a:t>
            </a:r>
          </a:p>
          <a:p>
            <a:r>
              <a:t>The fifth and sixth are from this week. We had named our own edge term after a published method whose distinctive part we did not implement, so the honest name is the untruncated Michaeli formulation, first order, and it is not wired into the production kernel yet. And the twenty-three decibel azimuth figure I printed on the geometry slide belonged to an axis we had not swept.</a:t>
            </a:r>
          </a:p>
          <a:p>
            <a:r>
              <a:t>Q: If the extreme numbers keep failing, why should we trust the rest?</a:t>
            </a:r>
          </a:p>
          <a:p>
            <a:r>
              <a:t>A: The direction of each conclusion survived. What changed each time was the magnitude and the label. And an extreme number is precisely the kind a listener remembers and an opponent checks, so those are the ones worth destroying first.</a:t>
            </a:r>
          </a:p>
          <a:p/>
          <a:p>
            <a:r>
              <a:t>— 한국어 해설 —</a:t>
            </a:r>
          </a:p>
          <a:p>
            <a:r>
              <a:t>철회 여섯 건입니다.</a:t>
            </a:r>
          </a:p>
          <a:p>
            <a:r>
              <a:t>첫째는 1부의 우선권 이야기.</a:t>
            </a:r>
          </a:p>
          <a:p>
            <a:r>
              <a:t>둘째는 제가 너무 좋아했던 헤드라인입니다. '모든 헤딩에서 0' 은 특정 CPI·가드에서만 참인 단일-CPI 아티팩트였고, 살아남는 구조적 비율(접힘 상수 0.861)로 바꿨습니다.</a:t>
            </a:r>
          </a:p>
          <a:p>
            <a:r>
              <a:t>셋째를 봐 주십시오. 13.7 dB 는 상반성 위반이 아니라 단일 셀의 이등분선 근사오차였습니다. 라벨을 고치자 값이 20 dB 로 올라 우리에게 오히려 유리해졌습니다.</a:t>
            </a:r>
          </a:p>
          <a:p>
            <a:r>
              <a:t>넷째, 10log10(N) 상한은 2025 년 IEEE TAES 게재 논문 p.8814 에 이미 있습니다.</a:t>
            </a:r>
          </a:p>
          <a:p>
            <a:r>
              <a:t>⭐ 다섯째·여섯째가 이번 주 것입니다(RETRACTION_LOG R13·R14).</a:t>
            </a:r>
          </a:p>
          <a:p>
            <a:r>
              <a:t>· R13 — 우리가 만든 에지항 이름이 틀렸습니다. 'TW' 가 Gao 의 기여 전부인데 우리는 그걸 안 만들었습니다. 정직한 이름은 '비절단 Michaeli PTD-EEC 1차' 이고, 아직 생산 커널에 배선되지 않았습니다.</a:t>
            </a:r>
          </a:p>
          <a:p>
            <a:r>
              <a:t>· R14 — 기하 슬라이드의 23.17 dB 는 φ 의 성질이 아니었습니다. 실제 φ 의존은 R90 0.48 % 입니다.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corrections on the previous slide are less interesting than what caught them.</a:t>
            </a:r>
          </a:p>
          <a:p>
            <a:r>
              <a:t>Quotations are re-checked against the PDF at build time, so a wrong venue and a misquoted sentence were caught before they reached this room.</a:t>
            </a:r>
          </a:p>
          <a:p>
            <a:r>
              <a:t>Headline numbers are recomputed from the upstream file rather than typed in, and that caught two errors inside my own draft of the fact base.</a:t>
            </a:r>
          </a:p>
          <a:p>
            <a:r>
              <a:t>Every count now names its corpus. Counting how often diffraction appears gives three different numbers depending on whether you mean the bibliography text, the full-text corpus, or the matrix rows. Mixing those in one breath is the mistake this project has repeated most.</a:t>
            </a:r>
          </a:p>
          <a:p>
            <a:r>
              <a:t>Q: This is process, not results.</a:t>
            </a:r>
          </a:p>
          <a:p>
            <a:r>
              <a:t>A: Agreed, and process is the reason to believe the results. Four record errors were caught this round without anyone noticing them by eye.</a:t>
            </a:r>
          </a:p>
          <a:p/>
          <a:p>
            <a:r>
              <a:t>— 한국어 해설 —</a:t>
            </a:r>
          </a:p>
          <a:p>
            <a:r>
              <a:t>앞 슬라이드의 정정보다 그것을 잡은 장치가 더 중요합니다.</a:t>
            </a:r>
          </a:p>
          <a:p>
            <a:r>
              <a:t>인용문은 빌드 때 PDF 와 재대조되어, 잘못된 게재처와 오인용이 이 방에 오기 전에 걸렸습니다.</a:t>
            </a:r>
          </a:p>
          <a:p>
            <a:r>
              <a:t>헤드라인 수는 저장하지 않고 상류 파일에서 매번 다시 계산해, 제 초안 안의 오류 둘을 잡았습니다.</a:t>
            </a:r>
          </a:p>
          <a:p>
            <a:r>
              <a:t>모든 개수는 코퍼스 이름을 답니다. 코퍼스를 섞는 것이 이 프로젝트가 가장 자주 반복한 실수입니다.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What is still open.</a:t>
            </a:r>
          </a:p>
          <a:p>
            <a:r>
              <a:t>Card two is the one that matters most for a novelty claim. The automated venue sweep used dblp, and dblp does not index the antenna and propagation venues, which is exactly where radar cross section and diffraction papers live. In those venues, not found means not looked at, and I will keep saying it that way.</a:t>
            </a:r>
          </a:p>
          <a:p>
            <a:r>
              <a:t>Card three replaced the single-azimuth item, because we swept the azimuth this round and it moved the ninety percent range by under half a percent. What that sweep exposed instead is that our cross-section grid does not store the elevation angles those geometries look at, so it is the largest recomputation item we have.</a:t>
            </a:r>
          </a:p>
          <a:p>
            <a:r>
              <a:t>Q: Then can you claim novelty at all?</a:t>
            </a:r>
          </a:p>
          <a:p>
            <a:r>
              <a:t>A: Not world-first. What the matrix supports is narrower and still useful: within the papers we opened, no row fills these axes at once. That sentence is checkable by anyone in the room, because the evidence is printed on the figure.</a:t>
            </a:r>
          </a:p>
          <a:p/>
          <a:p>
            <a:r>
              <a:t>— 한국어 해설 —</a:t>
            </a:r>
          </a:p>
          <a:p>
            <a:r>
              <a:t>아직 열린 것들입니다.</a:t>
            </a:r>
          </a:p>
          <a:p>
            <a:r>
              <a:t>둘째 카드가 novelty 주장에 가장 중요합니다. 자동 지면 스윕이 dblp 를 썼는데 dblp 는 안테나·전파 지면을 색인하지 않고, 거기가 바로 RCS·회절 논문이 사는 곳입니다. '못 찾았다'는 '안 봤다'라는 뜻으로 말합니다.</a:t>
            </a:r>
          </a:p>
          <a:p>
            <a:r>
              <a:t>⚠ 셋째 카드는 원래 '단일 방위각' 이었는데 이번에 φ 를 실제로 쓸어서 닫혔습니다(R90 0.48 %). 대신 그 스윕이 드러낸 것이 σ 격자의 고도 범위 미달이고, 이것이 최대 재계산 항목입니다.</a:t>
            </a:r>
          </a:p>
          <a:p>
            <a:r>
              <a:t>⛔ '세계 최초'는 말하지 않습니다.</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directions, and both of them come from a blank on this deck rather than from a new idea.</a:t>
            </a:r>
          </a:p>
          <a:p>
            <a:r>
              <a:t>Direction A used to be the azimuth sweep. That sweep has now run, and it moved the ninety percent range by under half a percent, so the caveat is closed. What it exposed instead is that our cross-section grid does not store the elevation angles the steep geometries look at, so those lookups clamp. Recomputing them needs no new physics and it can only move numbers we have already published.</a:t>
            </a:r>
          </a:p>
          <a:p>
            <a:r>
              <a:t>Direction B is the edge term. I am deliberately framing it as a diagnostic rather than as a fix, because we have no evidence that adding diffraction narrows our frequency slope. If we frame it as a fix and it fails, we have promised something we could not deliver.</a:t>
            </a:r>
          </a:p>
          <a:p>
            <a:r>
              <a:t>Rotor motion stays where it is. It is a real capability gap, the matrix prints it empty, and I would rather leave it empty than half-claim it.</a:t>
            </a:r>
          </a:p>
          <a:p>
            <a:r>
              <a:t>Q: Which one first?</a:t>
            </a:r>
          </a:p>
          <a:p>
            <a:r>
              <a:t>A: A, because it is cheap, it is bounded, and it can only move numbers we have already published. B is open-ended.</a:t>
            </a:r>
          </a:p>
          <a:p>
            <a:r>
              <a:t>⚠ And both of these sit behind Part 4. The mesh check is what I owe next week.</a:t>
            </a:r>
          </a:p>
          <a:p/>
          <a:p>
            <a:r>
              <a:t>— 한국어 해설 —</a:t>
            </a:r>
          </a:p>
          <a:p>
            <a:r>
              <a:t>두 방향 모두 새 아이디어가 아니라 이 덱의 빈칸에서 나왔습니다.</a:t>
            </a:r>
          </a:p>
          <a:p>
            <a:r>
              <a:t>⚠ A 는 원래 '방위각 스윕' 이었는데 이번에 돌렸습니다. R90 이동 0.48 % 로 caveat 는 닫혔고, 대신 그 스윕이 σ 격자의 고도 범위 미달을 드러냈습니다. 그 조회들이 클램프되므로 해당 검출 수치를 다시 계산해야 합니다. 새 물리가 필요 없고 이미 발표한 수만 움직입니다.</a:t>
            </a:r>
          </a:p>
          <a:p>
            <a:r>
              <a:t>B 는 에지항입니다. '해결'이 아니라 '진단'으로 틀을 잡습니다. 회절을 붙이면 기울기가 좋아진다는 근거가 없기 때문입니다.</a:t>
            </a:r>
          </a:p>
          <a:p>
            <a:r>
              <a:t>로터 운동은 그대로 future work 에 둡니다.</a:t>
            </a:r>
          </a:p>
          <a:p>
            <a:r>
              <a:t>⭐ 그리고 둘 다 4부 뒤 순위입니다. 다음 주에 갚아야 하는 것은 메시 검증입니다.</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sentence to close on.</a:t>
            </a:r>
          </a:p>
          <a:p>
            <a:r>
              <a:t>We claim no new physics. The claim is the chain, end to end, with every link traceable to a source we opened or a file on disk.</a:t>
            </a:r>
          </a:p>
          <a:p>
            <a:r>
              <a:t>The two qualifiers on the amber bar are not decoration. Drop illuminator type and a published 2025 paper is an immediate counterexample, because they compared signal resources inside one LTE downlink on one target at a calibrated false-alarm rate. Drop through a scattering integral and several papers have already put drone and vehicle meshes into ray-traced scenes with materials.</a:t>
            </a:r>
          </a:p>
          <a:p>
            <a:r>
              <a:t>With both qualifiers the sentence holds inside the corpus we opened, and I would rather have a narrow sentence that survives than a wide one that gets corrected in front of you.</a:t>
            </a:r>
          </a:p>
          <a:p>
            <a:r>
              <a:t>Q: What is genuinely new, then?</a:t>
            </a:r>
          </a:p>
          <a:p>
            <a:r>
              <a:t>A: The connection. A per-airframe material-weighted sigma travelling through a geometry and illuminator grid into a calibrated probability of detection, in one pipeline, with the empty cells printed.</a:t>
            </a:r>
          </a:p>
          <a:p/>
          <a:p>
            <a:r>
              <a:t>— 한국어 해설 —</a:t>
            </a:r>
          </a:p>
          <a:p>
            <a:r>
              <a:t>한 문장으로 닫습니다.</a:t>
            </a:r>
          </a:p>
          <a:p>
            <a:r>
              <a:t>새 물리는 주장하지 않습니다. 주장은 사슬이고, 모든 고리가 우리가 연 출처 또는 디스크의 파일로 추적됩니다.</a:t>
            </a:r>
          </a:p>
          <a:p>
            <a:r>
              <a:t>호박색 바의 한정어 둘은 장식이 아닙니다. '조명원 종류'를 빼면 2025 년 게재 논문이 즉시 반례이고, '산란적분을 통과'를 빼면 드론·차량 메시를 씬에 넣은 선행이 여럿 반례입니다.</a:t>
            </a:r>
          </a:p>
          <a:p>
            <a:r>
              <a:t>둘 다 붙이면 우리가 연 코퍼스 안에서 문장이 성립합니다. 넓고 정정당하는 문장보다 좁고 살아남는 문장을 택합니다.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2026. 08. 04</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CONTENTS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Five parts, and </a:t>
            </a:r>
            <a:r>
              <a:rPr sz="3700" b="1" i="0">
                <a:solidFill>
                  <a:srgbClr val="E22146"/>
                </a:solidFill>
                <a:latin typeface="AvenirNext-DemiBold"/>
              </a:rPr>
              <a:t>one rule</a:t>
            </a:r>
            <a:r>
              <a:rPr sz="3700" b="1" i="0">
                <a:solidFill>
                  <a:srgbClr val="000000"/>
                </a:solidFill>
                <a:latin typeface="AvenirNext-DemiBold"/>
              </a:rPr>
              <a:t> that governs all of them</a:t>
            </a:r>
          </a:p>
        </p:txBody>
      </p:sp>
      <p:sp>
        <p:nvSpPr>
          <p:cNvPr id="5" name="Rectangle 4"/>
          <p:cNvSpPr/>
          <p:nvPr/>
        </p:nvSpPr>
        <p:spPr>
          <a:xfrm>
            <a:off x="719328" y="3307179"/>
            <a:ext cx="121920" cy="68568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008364"/>
          </a:xfrm>
          <a:prstGeom prst="rect">
            <a:avLst/>
          </a:prstGeom>
          <a:noFill/>
        </p:spPr>
        <p:txBody>
          <a:bodyPr wrap="square" anchor="ctr" lIns="0" rIns="0" tIns="0" bIns="0">
            <a:spAutoFit/>
          </a:bodyPr>
          <a:lstStyle/>
          <a:p>
            <a:pPr algn="l"/>
            <a:r>
              <a:rPr sz="3300" b="0" i="0">
                <a:solidFill>
                  <a:srgbClr val="000000"/>
                </a:solidFill>
                <a:latin typeface="Avenir Next Medium"/>
              </a:rPr>
              <a:t>Part 1  What ambient signals can measure, and who owns that law</a:t>
            </a:r>
          </a:p>
        </p:txBody>
      </p:sp>
      <p:sp>
        <p:nvSpPr>
          <p:cNvPr id="7" name="Rectangle 6"/>
          <p:cNvSpPr/>
          <p:nvPr/>
        </p:nvSpPr>
        <p:spPr>
          <a:xfrm>
            <a:off x="719328" y="4672159"/>
            <a:ext cx="121920" cy="68568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510821"/>
            <a:ext cx="22213824" cy="1008364"/>
          </a:xfrm>
          <a:prstGeom prst="rect">
            <a:avLst/>
          </a:prstGeom>
          <a:noFill/>
        </p:spPr>
        <p:txBody>
          <a:bodyPr wrap="square" anchor="ctr" lIns="0" rIns="0" tIns="0" bIns="0">
            <a:spAutoFit/>
          </a:bodyPr>
          <a:lstStyle/>
          <a:p>
            <a:pPr algn="l"/>
            <a:r>
              <a:rPr sz="3300" b="0" i="0">
                <a:solidFill>
                  <a:srgbClr val="000000"/>
                </a:solidFill>
                <a:latin typeface="Avenir Next Medium"/>
              </a:rPr>
              <a:t>Part 2  Where our work sits against the 26 papers we opened</a:t>
            </a:r>
          </a:p>
        </p:txBody>
      </p:sp>
      <p:sp>
        <p:nvSpPr>
          <p:cNvPr id="9" name="Rectangle 8"/>
          <p:cNvSpPr/>
          <p:nvPr/>
        </p:nvSpPr>
        <p:spPr>
          <a:xfrm>
            <a:off x="719328" y="6037139"/>
            <a:ext cx="121920" cy="68568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5875801"/>
            <a:ext cx="22213824" cy="1008364"/>
          </a:xfrm>
          <a:prstGeom prst="rect">
            <a:avLst/>
          </a:prstGeom>
          <a:noFill/>
        </p:spPr>
        <p:txBody>
          <a:bodyPr wrap="square" anchor="ctr" lIns="0" rIns="0" tIns="0" bIns="0">
            <a:spAutoFit/>
          </a:bodyPr>
          <a:lstStyle/>
          <a:p>
            <a:pPr algn="l"/>
            <a:r>
              <a:rPr sz="3300" b="0" i="0">
                <a:solidFill>
                  <a:srgbClr val="000000"/>
                </a:solidFill>
                <a:latin typeface="Avenir Next Medium"/>
              </a:rPr>
              <a:t>Part 3  The scattering engine, and what the checks do and do not establish</a:t>
            </a:r>
          </a:p>
        </p:txBody>
      </p:sp>
      <p:sp>
        <p:nvSpPr>
          <p:cNvPr id="11" name="Rectangle 10"/>
          <p:cNvSpPr/>
          <p:nvPr/>
        </p:nvSpPr>
        <p:spPr>
          <a:xfrm>
            <a:off x="719328" y="7402120"/>
            <a:ext cx="121920" cy="68568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7240781"/>
            <a:ext cx="22213824" cy="1008364"/>
          </a:xfrm>
          <a:prstGeom prst="rect">
            <a:avLst/>
          </a:prstGeom>
          <a:noFill/>
        </p:spPr>
        <p:txBody>
          <a:bodyPr wrap="square" anchor="ctr" lIns="0" rIns="0" tIns="0" bIns="0">
            <a:spAutoFit/>
          </a:bodyPr>
          <a:lstStyle/>
          <a:p>
            <a:pPr algn="l"/>
            <a:r>
              <a:rPr sz="3300" b="0" i="0">
                <a:solidFill>
                  <a:srgbClr val="000000"/>
                </a:solidFill>
                <a:latin typeface="Avenir Next Medium"/>
              </a:rPr>
              <a:t>Part 4  Two measured-RCS papers, and the mesh check we will run on them</a:t>
            </a:r>
          </a:p>
        </p:txBody>
      </p:sp>
      <p:sp>
        <p:nvSpPr>
          <p:cNvPr id="13" name="Rectangle 12"/>
          <p:cNvSpPr/>
          <p:nvPr/>
        </p:nvSpPr>
        <p:spPr>
          <a:xfrm>
            <a:off x="719328" y="8767100"/>
            <a:ext cx="121920" cy="68568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8605762"/>
            <a:ext cx="22213824" cy="1008364"/>
          </a:xfrm>
          <a:prstGeom prst="rect">
            <a:avLst/>
          </a:prstGeom>
          <a:noFill/>
        </p:spPr>
        <p:txBody>
          <a:bodyPr wrap="square" anchor="ctr" lIns="0" rIns="0" tIns="0" bIns="0">
            <a:spAutoFit/>
          </a:bodyPr>
          <a:lstStyle/>
          <a:p>
            <a:pPr algn="l"/>
            <a:r>
              <a:rPr sz="3300" b="0" i="0">
                <a:solidFill>
                  <a:srgbClr val="000000"/>
                </a:solidFill>
                <a:latin typeface="Avenir Next Medium"/>
              </a:rPr>
              <a:t>Part 5  Six claims we withdrew this round</a:t>
            </a:r>
          </a:p>
        </p:txBody>
      </p:sp>
      <p:sp>
        <p:nvSpPr>
          <p:cNvPr id="15" name="Rectangle 14"/>
          <p:cNvSpPr/>
          <p:nvPr/>
        </p:nvSpPr>
        <p:spPr>
          <a:xfrm>
            <a:off x="719328" y="10148628"/>
            <a:ext cx="121920" cy="75601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255776" y="9970742"/>
            <a:ext cx="22213824" cy="1111786"/>
          </a:xfrm>
          <a:prstGeom prst="rect">
            <a:avLst/>
          </a:prstGeom>
          <a:noFill/>
        </p:spPr>
        <p:txBody>
          <a:bodyPr wrap="square" anchor="ctr" lIns="0" rIns="0" tIns="0" bIns="0">
            <a:spAutoFit/>
          </a:bodyPr>
          <a:lstStyle/>
          <a:p>
            <a:pPr algn="l"/>
            <a:r>
              <a:rPr sz="3600" b="1" i="0">
                <a:solidFill>
                  <a:srgbClr val="E22146"/>
                </a:solidFill>
                <a:latin typeface="AvenirNext-DemiBold"/>
              </a:rPr>
              <a:t>The rule: a number appears only if quoted from a source we opened or recomputed on disk</a:t>
            </a:r>
          </a:p>
        </p:txBody>
      </p:sp>
      <p:sp>
        <p:nvSpPr>
          <p:cNvPr id="17" name="Rectangle 1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Rectangle 1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9" name="TextBox 1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Anything that is neither of those is labelled unverified, or it is not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OVERVIEW</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are building</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A simulator that carries </a:t>
            </a:r>
            <a:r>
              <a:rPr sz="3700" b="1" i="0">
                <a:solidFill>
                  <a:srgbClr val="E22146"/>
                </a:solidFill>
                <a:latin typeface="AvenirNext-DemiBold"/>
              </a:rPr>
              <a:t>one radar cross section</a:t>
            </a:r>
            <a:r>
              <a:rPr sz="3700" b="1" i="0">
                <a:solidFill>
                  <a:srgbClr val="000000"/>
                </a:solidFill>
                <a:latin typeface="AvenirNext-DemiBold"/>
              </a:rPr>
              <a:t> from an airframe mesh all the way to a calibrated detection</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Airframe meshes</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Seven drone airframes as 3-D surface meshes, built from CAD parts rather than from stacked primitives, with per-part materials.</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Scattering kernel</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Shooting and bouncing rays on Sionna's ray engine, closed by our own physical-optics surface integral over the lit facets.</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Geometry and illuminator grid</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Monostatic, bistatic and multistatic geometry crossed with three ambient illuminators, which are WiFi, LTE and 5G.</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Calibrated detection</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 constant-false-alarm-rate detector whose threshold is calibrated against a measured false-alarm rate rather than against a formula.</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No new physics is claimed. The contribution is the chain, and a chain is only as honest as its weakest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1</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What ambient signals can measure</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The strongest single result we have, and the reason it is not 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VELOCITY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Unambiguous velocity of four ambient signals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CRS is the cell-specific reference signal, SSB the synchronization signal block, VHT-LTF the very high throughput long training field</a:t>
            </a:r>
          </a:p>
        </p:txBody>
      </p:sp>
      <p:sp>
        <p:nvSpPr>
          <p:cNvPr id="5" name="TextBox 4"/>
          <p:cNvSpPr txBox="1"/>
          <p:nvPr/>
        </p:nvSpPr>
        <p:spPr>
          <a:xfrm>
            <a:off x="719328" y="370972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Max unambiguous radial speed = wavelength x repetition rate / 4, half-window convention, c = 3e8</a:t>
            </a:r>
          </a:p>
        </p:txBody>
      </p:sp>
      <p:graphicFrame>
        <p:nvGraphicFramePr>
          <p:cNvPr id="6" name="Table 5"/>
          <p:cNvGraphicFramePr>
            <a:graphicFrameLocks noGrp="1"/>
          </p:cNvGraphicFramePr>
          <p:nvPr/>
        </p:nvGraphicFramePr>
        <p:xfrm>
          <a:off x="719328" y="5262976"/>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Ambient signal</a:t>
                      </a:r>
                    </a:p>
                  </a:txBody>
                  <a:tcPr anchor="ctr" marL="70000" marR="70000">
                    <a:solidFill>
                      <a:srgbClr val="26448A"/>
                    </a:solidFill>
                  </a:tcPr>
                </a:tc>
                <a:tc>
                  <a:txBody>
                    <a:bodyPr wrap="square"/>
                    <a:lstStyle/>
                    <a:p>
                      <a:pPr algn="ctr"/>
                      <a:r>
                        <a:rPr sz="2900" b="1" i="0">
                          <a:solidFill>
                            <a:srgbClr val="FFFFFF"/>
                          </a:solidFill>
                          <a:latin typeface="AvenirNext-DemiBold"/>
                        </a:rPr>
                        <a:t>Repetition rate</a:t>
                      </a:r>
                    </a:p>
                  </a:txBody>
                  <a:tcPr anchor="ctr" marL="70000" marR="70000">
                    <a:solidFill>
                      <a:srgbClr val="26448A"/>
                    </a:solidFill>
                  </a:tcPr>
                </a:tc>
                <a:tc>
                  <a:txBody>
                    <a:bodyPr wrap="square"/>
                    <a:lstStyle/>
                    <a:p>
                      <a:pPr algn="ctr"/>
                      <a:r>
                        <a:rPr sz="2900" b="1" i="0">
                          <a:solidFill>
                            <a:srgbClr val="FFFFFF"/>
                          </a:solidFill>
                          <a:latin typeface="AvenirNext-DemiBold"/>
                        </a:rPr>
                        <a:t>Carrier</a:t>
                      </a:r>
                    </a:p>
                  </a:txBody>
                  <a:tcPr anchor="ctr" marL="70000" marR="70000">
                    <a:solidFill>
                      <a:srgbClr val="26448A"/>
                    </a:solidFill>
                  </a:tcPr>
                </a:tc>
                <a:tc>
                  <a:txBody>
                    <a:bodyPr wrap="square"/>
                    <a:lstStyle/>
                    <a:p>
                      <a:pPr algn="ctr"/>
                      <a:r>
                        <a:rPr sz="2900" b="1" i="0">
                          <a:solidFill>
                            <a:srgbClr val="FFFFFF"/>
                          </a:solidFill>
                          <a:latin typeface="AvenirNext-DemiBold"/>
                        </a:rPr>
                        <a:t>Unambiguous speed</a:t>
                      </a:r>
                    </a:p>
                  </a:txBody>
                  <a:tcPr anchor="ctr" marL="70000" marR="70000">
                    <a:solidFill>
                      <a:srgbClr val="26448A"/>
                    </a:solidFill>
                  </a:tcPr>
                </a:tc>
              </a:tr>
              <a:tr h="960120">
                <a:tc>
                  <a:txBody>
                    <a:bodyPr wrap="square"/>
                    <a:lstStyle/>
                    <a:p>
                      <a:pPr algn="l"/>
                      <a:r>
                        <a:rPr sz="2700" b="1" i="0">
                          <a:solidFill>
                            <a:srgbClr val="000000"/>
                          </a:solidFill>
                          <a:latin typeface="AvenirNext-DemiBold"/>
                        </a:rPr>
                        <a:t>LTE CRS</a:t>
                      </a:r>
                    </a:p>
                  </a:txBody>
                  <a:tcPr anchor="ctr" marL="70000" marR="70000">
                    <a:solidFill>
                      <a:srgbClr val="FFFFFF"/>
                    </a:solidFill>
                  </a:tcPr>
                </a:tc>
                <a:tc>
                  <a:txBody>
                    <a:bodyPr wrap="square"/>
                    <a:lstStyle/>
                    <a:p>
                      <a:pPr algn="ctr"/>
                      <a:r>
                        <a:rPr sz="2700" b="0" i="0">
                          <a:solidFill>
                            <a:srgbClr val="000000"/>
                          </a:solidFill>
                          <a:latin typeface="Avenir Next Medium"/>
                        </a:rPr>
                        <a:t>1000 Hz</a:t>
                      </a:r>
                    </a:p>
                  </a:txBody>
                  <a:tcPr anchor="ctr" marL="70000" marR="70000">
                    <a:solidFill>
                      <a:srgbClr val="FFFFFF"/>
                    </a:solidFill>
                  </a:tcPr>
                </a:tc>
                <a:tc>
                  <a:txBody>
                    <a:bodyPr wrap="square"/>
                    <a:lstStyle/>
                    <a:p>
                      <a:pPr algn="ctr"/>
                      <a:r>
                        <a:rPr sz="2700" b="0" i="0">
                          <a:solidFill>
                            <a:srgbClr val="000000"/>
                          </a:solidFill>
                          <a:latin typeface="Avenir Next Medium"/>
                        </a:rPr>
                        <a:t>1.843 GHz</a:t>
                      </a:r>
                    </a:p>
                  </a:txBody>
                  <a:tcPr anchor="ctr" marL="70000" marR="70000">
                    <a:solidFill>
                      <a:srgbClr val="FFFFFF"/>
                    </a:solidFill>
                  </a:tcPr>
                </a:tc>
                <a:tc>
                  <a:txBody>
                    <a:bodyPr wrap="square"/>
                    <a:lstStyle/>
                    <a:p>
                      <a:pPr algn="ctr"/>
                      <a:r>
                        <a:rPr sz="2700" b="0" i="0">
                          <a:solidFill>
                            <a:srgbClr val="000000"/>
                          </a:solidFill>
                          <a:latin typeface="Avenir Next Medium"/>
                        </a:rPr>
                        <a:t>40.70 m/s</a:t>
                      </a:r>
                    </a:p>
                  </a:txBody>
                  <a:tcPr anchor="ctr" marL="70000" marR="70000">
                    <a:solidFill>
                      <a:srgbClr val="FFFFFF"/>
                    </a:solidFill>
                  </a:tcPr>
                </a:tc>
              </a:tr>
              <a:tr h="960120">
                <a:tc>
                  <a:txBody>
                    <a:bodyPr wrap="square"/>
                    <a:lstStyle/>
                    <a:p>
                      <a:pPr algn="l"/>
                      <a:r>
                        <a:rPr sz="2700" b="1" i="0">
                          <a:solidFill>
                            <a:srgbClr val="000000"/>
                          </a:solidFill>
                          <a:latin typeface="AvenirNext-DemiBold"/>
                        </a:rPr>
                        <a:t>WiFi VHT-LTF</a:t>
                      </a:r>
                    </a:p>
                  </a:txBody>
                  <a:tcPr anchor="ctr" marL="70000" marR="70000">
                    <a:solidFill>
                      <a:srgbClr val="F2F2F2"/>
                    </a:solidFill>
                  </a:tcPr>
                </a:tc>
                <a:tc>
                  <a:txBody>
                    <a:bodyPr wrap="square"/>
                    <a:lstStyle/>
                    <a:p>
                      <a:pPr algn="ctr"/>
                      <a:r>
                        <a:rPr sz="2700" b="0" i="0">
                          <a:solidFill>
                            <a:srgbClr val="000000"/>
                          </a:solidFill>
                          <a:latin typeface="Avenir Next Medium"/>
                        </a:rPr>
                        <a:t>1000 Hz</a:t>
                      </a:r>
                    </a:p>
                  </a:txBody>
                  <a:tcPr anchor="ctr" marL="70000" marR="70000">
                    <a:solidFill>
                      <a:srgbClr val="F2F2F2"/>
                    </a:solidFill>
                  </a:tcPr>
                </a:tc>
                <a:tc>
                  <a:txBody>
                    <a:bodyPr wrap="square"/>
                    <a:lstStyle/>
                    <a:p>
                      <a:pPr algn="ctr"/>
                      <a:r>
                        <a:rPr sz="2700" b="0" i="0">
                          <a:solidFill>
                            <a:srgbClr val="000000"/>
                          </a:solidFill>
                          <a:latin typeface="Avenir Next Medium"/>
                        </a:rPr>
                        <a:t>5.21 GHz</a:t>
                      </a:r>
                    </a:p>
                  </a:txBody>
                  <a:tcPr anchor="ctr" marL="70000" marR="70000">
                    <a:solidFill>
                      <a:srgbClr val="F2F2F2"/>
                    </a:solidFill>
                  </a:tcPr>
                </a:tc>
                <a:tc>
                  <a:txBody>
                    <a:bodyPr wrap="square"/>
                    <a:lstStyle/>
                    <a:p>
                      <a:pPr algn="ctr"/>
                      <a:r>
                        <a:rPr sz="2700" b="0" i="0">
                          <a:solidFill>
                            <a:srgbClr val="000000"/>
                          </a:solidFill>
                          <a:latin typeface="Avenir Next Medium"/>
                        </a:rPr>
                        <a:t>14.40 m/s</a:t>
                      </a:r>
                    </a:p>
                  </a:txBody>
                  <a:tcPr anchor="ctr" marL="70000" marR="70000">
                    <a:solidFill>
                      <a:srgbClr val="F2F2F2"/>
                    </a:solidFill>
                  </a:tcPr>
                </a:tc>
              </a:tr>
              <a:tr h="960120">
                <a:tc>
                  <a:txBody>
                    <a:bodyPr wrap="square"/>
                    <a:lstStyle/>
                    <a:p>
                      <a:pPr algn="l"/>
                      <a:r>
                        <a:rPr sz="2700" b="1" i="0">
                          <a:solidFill>
                            <a:srgbClr val="000000"/>
                          </a:solidFill>
                          <a:latin typeface="AvenirNext-DemiBold"/>
                        </a:rPr>
                        <a:t>5G SSB</a:t>
                      </a:r>
                    </a:p>
                  </a:txBody>
                  <a:tcPr anchor="ctr" marL="70000" marR="70000">
                    <a:solidFill>
                      <a:srgbClr val="FFFFFF"/>
                    </a:solidFill>
                  </a:tcPr>
                </a:tc>
                <a:tc>
                  <a:txBody>
                    <a:bodyPr wrap="square"/>
                    <a:lstStyle/>
                    <a:p>
                      <a:pPr algn="ctr"/>
                      <a:r>
                        <a:rPr sz="2700" b="0" i="0">
                          <a:solidFill>
                            <a:srgbClr val="000000"/>
                          </a:solidFill>
                          <a:latin typeface="Avenir Next Medium"/>
                        </a:rPr>
                        <a:t>50 Hz</a:t>
                      </a:r>
                    </a:p>
                  </a:txBody>
                  <a:tcPr anchor="ctr" marL="70000" marR="70000">
                    <a:solidFill>
                      <a:srgbClr val="FFFFFF"/>
                    </a:solidFill>
                  </a:tcPr>
                </a:tc>
                <a:tc>
                  <a:txBody>
                    <a:bodyPr wrap="square"/>
                    <a:lstStyle/>
                    <a:p>
                      <a:pPr algn="ctr"/>
                      <a:r>
                        <a:rPr sz="2700" b="0" i="0">
                          <a:solidFill>
                            <a:srgbClr val="000000"/>
                          </a:solidFill>
                          <a:latin typeface="Avenir Next Medium"/>
                        </a:rPr>
                        <a:t>3.50 GHz</a:t>
                      </a:r>
                    </a:p>
                  </a:txBody>
                  <a:tcPr anchor="ctr" marL="70000" marR="70000">
                    <a:solidFill>
                      <a:srgbClr val="FFFFFF"/>
                    </a:solidFill>
                  </a:tcPr>
                </a:tc>
                <a:tc>
                  <a:txBody>
                    <a:bodyPr wrap="square"/>
                    <a:lstStyle/>
                    <a:p>
                      <a:pPr algn="ctr"/>
                      <a:r>
                        <a:rPr sz="2700" b="0" i="0">
                          <a:solidFill>
                            <a:srgbClr val="000000"/>
                          </a:solidFill>
                          <a:latin typeface="Avenir Next Medium"/>
                        </a:rPr>
                        <a:t>1.07 m/s</a:t>
                      </a:r>
                    </a:p>
                  </a:txBody>
                  <a:tcPr anchor="ctr" marL="70000" marR="70000">
                    <a:solidFill>
                      <a:srgbClr val="FFFFFF"/>
                    </a:solidFill>
                  </a:tcPr>
                </a:tc>
              </a:tr>
              <a:tr h="960120">
                <a:tc>
                  <a:txBody>
                    <a:bodyPr wrap="square"/>
                    <a:lstStyle/>
                    <a:p>
                      <a:pPr algn="l"/>
                      <a:r>
                        <a:rPr sz="2700" b="1" i="0">
                          <a:solidFill>
                            <a:srgbClr val="000000"/>
                          </a:solidFill>
                          <a:latin typeface="AvenirNext-DemiBold"/>
                        </a:rPr>
                        <a:t>WiFi beacon</a:t>
                      </a:r>
                    </a:p>
                  </a:txBody>
                  <a:tcPr anchor="ctr" marL="70000" marR="70000">
                    <a:solidFill>
                      <a:srgbClr val="F2F2F2"/>
                    </a:solidFill>
                  </a:tcPr>
                </a:tc>
                <a:tc>
                  <a:txBody>
                    <a:bodyPr wrap="square"/>
                    <a:lstStyle/>
                    <a:p>
                      <a:pPr algn="ctr"/>
                      <a:r>
                        <a:rPr sz="2700" b="0" i="0">
                          <a:solidFill>
                            <a:srgbClr val="000000"/>
                          </a:solidFill>
                          <a:latin typeface="Avenir Next Medium"/>
                        </a:rPr>
                        <a:t>9.77 Hz</a:t>
                      </a:r>
                    </a:p>
                  </a:txBody>
                  <a:tcPr anchor="ctr" marL="70000" marR="70000">
                    <a:solidFill>
                      <a:srgbClr val="F2F2F2"/>
                    </a:solidFill>
                  </a:tcPr>
                </a:tc>
                <a:tc>
                  <a:txBody>
                    <a:bodyPr wrap="square"/>
                    <a:lstStyle/>
                    <a:p>
                      <a:pPr algn="ctr"/>
                      <a:r>
                        <a:rPr sz="2700" b="0" i="0">
                          <a:solidFill>
                            <a:srgbClr val="000000"/>
                          </a:solidFill>
                          <a:latin typeface="Avenir Next Medium"/>
                        </a:rPr>
                        <a:t>5.21 GHz</a:t>
                      </a:r>
                    </a:p>
                  </a:txBody>
                  <a:tcPr anchor="ctr" marL="70000" marR="70000">
                    <a:solidFill>
                      <a:srgbClr val="F2F2F2"/>
                    </a:solidFill>
                  </a:tcPr>
                </a:tc>
                <a:tc>
                  <a:txBody>
                    <a:bodyPr wrap="square"/>
                    <a:lstStyle/>
                    <a:p>
                      <a:pPr algn="ctr"/>
                      <a:r>
                        <a:rPr sz="2700" b="0" i="0">
                          <a:solidFill>
                            <a:srgbClr val="000000"/>
                          </a:solidFill>
                          <a:latin typeface="Avenir Next Medium"/>
                        </a:rPr>
                        <a:t>0.14 m/s</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A 289-fold spread across four ambient signals, under one stated convention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VELOCITY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Every airframe we model outruns ambient 5G</a:t>
            </a:r>
          </a:p>
        </p:txBody>
      </p:sp>
      <p:pic>
        <p:nvPicPr>
          <p:cNvPr id="4" name="Picture 3" descr="vmax_ladder.png"/>
          <p:cNvPicPr>
            <a:picLocks noChangeAspect="1"/>
          </p:cNvPicPr>
          <p:nvPr/>
        </p:nvPicPr>
        <p:blipFill>
          <a:blip r:embed="rId2"/>
          <a:stretch>
            <a:fillRect/>
          </a:stretch>
        </p:blipFill>
        <p:spPr>
          <a:xfrm>
            <a:off x="3323844" y="2221992"/>
            <a:ext cx="17736311" cy="8061959"/>
          </a:xfrm>
          <a:prstGeom prst="rect">
            <a:avLst/>
          </a:prstGeom>
        </p:spPr>
      </p:pic>
      <p:sp>
        <p:nvSpPr>
          <p:cNvPr id="5" name="TextBox 4"/>
          <p:cNvSpPr txBox="1"/>
          <p:nvPr/>
        </p:nvSpPr>
        <p:spPr>
          <a:xfrm>
            <a:off x="3323844" y="10448543"/>
            <a:ext cx="17736311" cy="579120"/>
          </a:xfrm>
          <a:prstGeom prst="rect">
            <a:avLst/>
          </a:prstGeom>
          <a:noFill/>
        </p:spPr>
        <p:txBody>
          <a:bodyPr wrap="square" anchor="t" lIns="0" rIns="0" tIns="0" bIns="0">
            <a:spAutoFit/>
          </a:bodyPr>
          <a:lstStyle/>
          <a:p>
            <a:pPr algn="ctr"/>
            <a:r>
              <a:rPr sz="2900" b="1" i="0">
                <a:solidFill>
                  <a:srgbClr val="5E5E5E"/>
                </a:solidFill>
                <a:latin typeface="AvenirNext-DemiBold"/>
              </a:rPr>
              <a:t>Every value recomputed at build time from outputs/deck</a:t>
            </a:r>
            <a:r>
              <a:rPr sz="2029" b="1" i="0" baseline="-22000">
                <a:solidFill>
                  <a:srgbClr val="5E5E5E"/>
                </a:solidFill>
                <a:latin typeface="AvenirNext-DemiBold"/>
              </a:rPr>
              <a:t>f</a:t>
            </a:r>
            <a:r>
              <a:rPr sz="2900" b="1" i="0">
                <a:solidFill>
                  <a:srgbClr val="5E5E5E"/>
                </a:solidFill>
                <a:latin typeface="AvenirNext-DemiBold"/>
              </a:rPr>
              <a:t>acts.json</a:t>
            </a:r>
          </a:p>
        </p:txBody>
      </p:sp>
      <p:sp>
        <p:nvSpPr>
          <p:cNvPr id="6" name="Rectangle 5"/>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Rectangle 6"/>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sampling-rate limit: the alias fraction is a constant 0.861 for 5G, 0 for WiFi and LTE.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PRIORITY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law is not ours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We reproduce a published result. </a:t>
            </a:r>
            <a:r>
              <a:rPr sz="3700" b="1" i="0">
                <a:solidFill>
                  <a:srgbClr val="E22146"/>
                </a:solidFill>
                <a:latin typeface="AvenirNext-DemiBold"/>
              </a:rPr>
              <a:t>We do not derive it.</a:t>
            </a:r>
          </a:p>
        </p:txBody>
      </p:sp>
      <p:sp>
        <p:nvSpPr>
          <p:cNvPr id="5" name="Rectangle 4"/>
          <p:cNvSpPr/>
          <p:nvPr/>
        </p:nvSpPr>
        <p:spPr>
          <a:xfrm>
            <a:off x="719328" y="3349980"/>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Abratkiewicz and colleagues, IEEE JSTARS 16, 3469 to 3484, 2023, published, equation 16</a:t>
            </a:r>
          </a:p>
        </p:txBody>
      </p:sp>
      <p:sp>
        <p:nvSpPr>
          <p:cNvPr id="7" name="Rectangle 6"/>
          <p:cNvSpPr/>
          <p:nvPr/>
        </p:nvSpPr>
        <p:spPr>
          <a:xfrm>
            <a:off x="719328" y="4982469"/>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778330"/>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Their wording matches ours down to the half-window convention, where a factor of two hides</a:t>
            </a:r>
          </a:p>
        </p:txBody>
      </p:sp>
      <p:sp>
        <p:nvSpPr>
          <p:cNvPr id="9" name="Rectangle 8"/>
          <p:cNvSpPr/>
          <p:nvPr/>
        </p:nvSpPr>
        <p:spPr>
          <a:xfrm>
            <a:off x="719328" y="6614958"/>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410819"/>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We match their 1.0901 and 4.3605 m/s at 3.44 GHz to four decimals, once we use c = 3e8</a:t>
            </a:r>
          </a:p>
        </p:txBody>
      </p:sp>
      <p:sp>
        <p:nvSpPr>
          <p:cNvPr id="11" name="Rectangle 10"/>
          <p:cNvSpPr/>
          <p:nvPr/>
        </p:nvSpPr>
        <p:spPr>
          <a:xfrm>
            <a:off x="719328" y="8268385"/>
            <a:ext cx="121920" cy="95657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043307"/>
            <a:ext cx="22213824" cy="1406732"/>
          </a:xfrm>
          <a:prstGeom prst="rect">
            <a:avLst/>
          </a:prstGeom>
          <a:noFill/>
        </p:spPr>
        <p:txBody>
          <a:bodyPr wrap="square" anchor="ctr" lIns="0" rIns="0" tIns="0" bIns="0">
            <a:spAutoFit/>
          </a:bodyPr>
          <a:lstStyle/>
          <a:p>
            <a:pPr algn="l"/>
            <a:r>
              <a:rPr sz="3600" b="1" i="0">
                <a:solidFill>
                  <a:srgbClr val="E22146"/>
                </a:solidFill>
                <a:latin typeface="AvenirNext-DemiBold"/>
              </a:rPr>
              <a:t>We had credited this to Chen 2024. Wrong twice, corrected after we read both papers</a:t>
            </a:r>
          </a:p>
        </p:txBody>
      </p:sp>
      <p:sp>
        <p:nvSpPr>
          <p:cNvPr id="13" name="Rectangle 12"/>
          <p:cNvSpPr/>
          <p:nvPr/>
        </p:nvSpPr>
        <p:spPr>
          <a:xfrm>
            <a:off x="719328" y="10010795"/>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806655"/>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Chen and colleagues, Applied Sciences 14, 4282, 2024, print only numbers and no equation</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Priority sits with a 2023 journal paper. Our claim has to live somewhere else.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OUR PART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is ours, stated narrowly</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Their own conclusion names the gap: "</a:t>
            </a:r>
            <a:r>
              <a:rPr sz="3700" b="1" i="0">
                <a:solidFill>
                  <a:srgbClr val="E22146"/>
                </a:solidFill>
                <a:latin typeface="AvenirNext-DemiBold"/>
              </a:rPr>
              <a:t>drones whose reflectivity is significantly lower</a:t>
            </a:r>
            <a:r>
              <a:rPr sz="3700" b="1" i="0">
                <a:solidFill>
                  <a:srgbClr val="000000"/>
                </a:solidFill>
                <a:latin typeface="AvenirNext-DemiBold"/>
              </a:rPr>
              <a:t> than the car used in the experiment"</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The table</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Four standards on one axis under one stated convention, spanning 289-fold. Each prior paper carries one standard only.</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The overlay</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That axis read against five published airframe maximum speeds, so the limit is judged against aircraft rather than against a formula.</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The adjudication</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Three escape hatches closed by computation. Geometry gives 0 m/s of relief, longer integration gives none, and the active ceiling covers 0 of 5.</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The chain</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same grid carried to a detector calibrated against an empirical false-alarm rate over 2717 seconds of GPU Monte Carlo.</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Neither owner of the equation used a drone. One of them wrote drones into their future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2</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Where we sit</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A capability matrix of 26 papers we opened, including our own empty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POSITIONING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Capability matrix</a:t>
            </a:r>
          </a:p>
        </p:txBody>
      </p:sp>
      <p:pic>
        <p:nvPicPr>
          <p:cNvPr id="4" name="Picture 3" descr="capability_matrix_slide.png"/>
          <p:cNvPicPr>
            <a:picLocks noChangeAspect="1"/>
          </p:cNvPicPr>
          <p:nvPr/>
        </p:nvPicPr>
        <p:blipFill>
          <a:blip r:embed="rId2"/>
          <a:stretch>
            <a:fillRect/>
          </a:stretch>
        </p:blipFill>
        <p:spPr>
          <a:xfrm>
            <a:off x="4193839" y="2221992"/>
            <a:ext cx="15996320" cy="9186672"/>
          </a:xfrm>
          <a:prstGeom prst="rect">
            <a:avLst/>
          </a:prstGeom>
        </p:spPr>
      </p:pic>
      <p:sp>
        <p:nvSpPr>
          <p:cNvPr id="5" name="TextBox 4"/>
          <p:cNvSpPr txBox="1"/>
          <p:nvPr/>
        </p:nvSpPr>
        <p:spPr>
          <a:xfrm>
            <a:off x="4193839" y="11573256"/>
            <a:ext cx="15996320" cy="579120"/>
          </a:xfrm>
          <a:prstGeom prst="rect">
            <a:avLst/>
          </a:prstGeom>
          <a:noFill/>
        </p:spPr>
        <p:txBody>
          <a:bodyPr wrap="square" anchor="t" lIns="0" rIns="0" tIns="0" bIns="0">
            <a:spAutoFit/>
          </a:bodyPr>
          <a:lstStyle/>
          <a:p>
            <a:pPr algn="ctr"/>
            <a:r>
              <a:rPr sz="2900" b="1" i="0">
                <a:solidFill>
                  <a:srgbClr val="5E5E5E"/>
                </a:solidFill>
                <a:latin typeface="AvenirNext-DemiBold"/>
              </a:rPr>
              <a:t>18 of 26 rows shown. 0 cells unverified, 80 quotes re-checked at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POSITIONING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Reading the matrix</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Ours is </a:t>
            </a:r>
            <a:r>
              <a:rPr sz="3700" b="1" i="0">
                <a:solidFill>
                  <a:srgbClr val="E22146"/>
                </a:solidFill>
                <a:latin typeface="AvenirNext-DemiBold"/>
              </a:rPr>
              <a:t>the only row</a:t>
            </a:r>
            <a:r>
              <a:rPr sz="3700" b="1" i="0">
                <a:solidFill>
                  <a:srgbClr val="000000"/>
                </a:solidFill>
                <a:latin typeface="AvenirNext-DemiBold"/>
              </a:rPr>
              <a:t> full on engine, mesh, material, aspect, geometry and unambiguous velocity at the same time</a:t>
            </a:r>
          </a:p>
        </p:txBody>
      </p:sp>
      <p:sp>
        <p:nvSpPr>
          <p:cNvPr id="5" name="Rectangle 4"/>
          <p:cNvSpPr/>
          <p:nvPr/>
        </p:nvSpPr>
        <p:spPr>
          <a:xfrm>
            <a:off x="719328" y="389617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70972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RadarTwin, arXiv 2026, preprint, fills the first four, empty on geometry and velocity</a:t>
            </a:r>
          </a:p>
        </p:txBody>
      </p:sp>
      <p:sp>
        <p:nvSpPr>
          <p:cNvPr id="7" name="Rectangle 6"/>
          <p:cNvSpPr/>
          <p:nvPr/>
        </p:nvSpPr>
        <p:spPr>
          <a:xfrm>
            <a:off x="719328" y="541815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23170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Rows full on unambiguous velocity compute no scattering, so nobody holds both halves</a:t>
            </a:r>
          </a:p>
        </p:txBody>
      </p:sp>
      <p:sp>
        <p:nvSpPr>
          <p:cNvPr id="9" name="Rectangle 8"/>
          <p:cNvSpPr/>
          <p:nvPr/>
        </p:nvSpPr>
        <p:spPr>
          <a:xfrm>
            <a:off x="719328" y="6940138"/>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753680"/>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Closest is Ziganshin, EuCAP 2025, published, also 6 of 9, ahead on diffraction, car target</a:t>
            </a:r>
          </a:p>
        </p:txBody>
      </p:sp>
      <p:sp>
        <p:nvSpPr>
          <p:cNvPr id="11" name="Rectangle 10"/>
          <p:cNvSpPr/>
          <p:nvPr/>
        </p:nvSpPr>
        <p:spPr>
          <a:xfrm>
            <a:off x="719328" y="8481242"/>
            <a:ext cx="121920" cy="873724"/>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275660"/>
            <a:ext cx="22213824" cy="1284888"/>
          </a:xfrm>
          <a:prstGeom prst="rect">
            <a:avLst/>
          </a:prstGeom>
          <a:noFill/>
        </p:spPr>
        <p:txBody>
          <a:bodyPr wrap="square" anchor="ctr" lIns="0" rIns="0" tIns="0" bIns="0">
            <a:spAutoFit/>
          </a:bodyPr>
          <a:lstStyle/>
          <a:p>
            <a:pPr algn="l"/>
            <a:r>
              <a:rPr sz="3600" b="1" i="0">
                <a:solidFill>
                  <a:srgbClr val="E22146"/>
                </a:solidFill>
                <a:latin typeface="AvenirNext-DemiBold"/>
              </a:rPr>
              <a:t>We scored ourselves, so we publish evidence, not a score. 80 of 234 cells are exact quotes</a:t>
            </a:r>
          </a:p>
        </p:txBody>
      </p:sp>
      <p:sp>
        <p:nvSpPr>
          <p:cNvPr id="13" name="Rectangle 12"/>
          <p:cNvSpPr/>
          <p:nvPr/>
        </p:nvSpPr>
        <p:spPr>
          <a:xfrm>
            <a:off x="719328" y="10103622"/>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917164"/>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Our row keeps 2 absent cells, rotor motion and diffraction, and 1 partial, amplitude</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6 of 9 is a tie, not a lead, and the tie is with a paper that models a car.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OUR GAP</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emptiest column is diffraction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Only 3 of the 26 rows model diffraction, and </a:t>
            </a:r>
            <a:r>
              <a:rPr sz="3700" b="1" i="0">
                <a:solidFill>
                  <a:srgbClr val="E22146"/>
                </a:solidFill>
                <a:latin typeface="AvenirNext-DemiBold"/>
              </a:rPr>
              <a:t>our row is one of the 23 blanks</a:t>
            </a:r>
          </a:p>
        </p:txBody>
      </p:sp>
      <p:sp>
        <p:nvSpPr>
          <p:cNvPr id="5" name="Rectangle 4"/>
          <p:cNvSpPr/>
          <p:nvPr/>
        </p:nvSpPr>
        <p:spPr>
          <a:xfrm>
            <a:off x="719328" y="3413648"/>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Our kernel has zero hits for diffraction, creeping or fringe. There is no edge term at all</a:t>
            </a:r>
          </a:p>
        </p:txBody>
      </p:sp>
      <p:sp>
        <p:nvSpPr>
          <p:cNvPr id="7" name="Rectangle 6"/>
          <p:cNvSpPr/>
          <p:nvPr/>
        </p:nvSpPr>
        <p:spPr>
          <a:xfrm>
            <a:off x="719328" y="5444056"/>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176249"/>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Sionna has first-order uniform-theory wedge diffraction, but its solver ships with it off</a:t>
            </a:r>
          </a:p>
        </p:txBody>
      </p:sp>
      <p:sp>
        <p:nvSpPr>
          <p:cNvPr id="9" name="Rectangle 8"/>
          <p:cNvSpPr/>
          <p:nvPr/>
        </p:nvSpPr>
        <p:spPr>
          <a:xfrm>
            <a:off x="719328" y="7474464"/>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06657"/>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Frequency slope 0.74 to 1.70 dB per GHz against Das 0.07 to 0.315, or 3.5 to 8.1 times</a:t>
            </a:r>
          </a:p>
        </p:txBody>
      </p:sp>
      <p:sp>
        <p:nvSpPr>
          <p:cNvPr id="11" name="Rectangle 10"/>
          <p:cNvSpPr/>
          <p:nvPr/>
        </p:nvSpPr>
        <p:spPr>
          <a:xfrm>
            <a:off x="719328" y="9532339"/>
            <a:ext cx="121920" cy="125491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37065"/>
            <a:ext cx="22213824" cy="1845463"/>
          </a:xfrm>
          <a:prstGeom prst="rect">
            <a:avLst/>
          </a:prstGeom>
          <a:noFill/>
        </p:spPr>
        <p:txBody>
          <a:bodyPr wrap="square" anchor="ctr" lIns="0" rIns="0" tIns="0" bIns="0">
            <a:spAutoFit/>
          </a:bodyPr>
          <a:lstStyle/>
          <a:p>
            <a:pPr algn="l"/>
            <a:r>
              <a:rPr sz="3600" b="1" i="0">
                <a:solidFill>
                  <a:srgbClr val="E22146"/>
                </a:solidFill>
                <a:latin typeface="AvenirNext-DemiBold"/>
              </a:rPr>
              <a:t>We cannot say an edge term would fix that slope. That expectation is untested</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Missing diffraction is the field default and not only our lag. It is still our lag.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510540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3</a:t>
            </a:r>
          </a:p>
        </p:txBody>
      </p:sp>
      <p:sp>
        <p:nvSpPr>
          <p:cNvPr id="3" name="TextBox 2"/>
          <p:cNvSpPr txBox="1"/>
          <p:nvPr/>
        </p:nvSpPr>
        <p:spPr>
          <a:xfrm>
            <a:off x="1463040" y="631240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The engine</a:t>
            </a:r>
          </a:p>
        </p:txBody>
      </p:sp>
      <p:sp>
        <p:nvSpPr>
          <p:cNvPr id="4" name="TextBox 3"/>
          <p:cNvSpPr txBox="1"/>
          <p:nvPr/>
        </p:nvSpPr>
        <p:spPr>
          <a:xfrm>
            <a:off x="2194560" y="7778496"/>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What we compute, and what the checks do and do not establish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ENGINE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Why we wrote a scattering kernel</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Radar cross section is the quantity a detector needs, and it is the quantity </a:t>
            </a:r>
            <a:r>
              <a:rPr sz="3700" b="1" i="0">
                <a:solidFill>
                  <a:srgbClr val="E22146"/>
                </a:solidFill>
                <a:latin typeface="AvenirNext-DemiBold"/>
              </a:rPr>
              <a:t>the stock tool does not produce</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The gap</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installed Sionna 2.0.1 ray-tracing package contains zero occurrences of rcs and zero of radar_cross_section. No scattering integral, no sigma output.</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What we add</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Shooting and bouncing rays on that same ray engine, closed by a physical-optics surface integral over the lit facets, weighted by per-part materials.</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What is established</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Against the analytic physical-optics sphere the kernel agrees to 0.2006 dB maximum deviation, over 48 incidence directions and kr from 1 to 100.</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What is not</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Against the exact Mie solution the maximum deviation is 6.73 dB, concentrated at low kr. Both are reference solutions and never our output.</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true sentence is narrow: Sionna's default solver has no scattering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ENGINE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is checked, and against what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Four checks, and </a:t>
            </a:r>
            <a:r>
              <a:rPr sz="3700" b="1" i="0">
                <a:solidFill>
                  <a:srgbClr val="E22146"/>
                </a:solidFill>
                <a:latin typeface="AvenirNext-DemiBold"/>
              </a:rPr>
              <a:t>what each one is worth</a:t>
            </a:r>
          </a:p>
        </p:txBody>
      </p:sp>
      <p:graphicFrame>
        <p:nvGraphicFramePr>
          <p:cNvPr id="5" name="Table 4"/>
          <p:cNvGraphicFramePr>
            <a:graphicFrameLocks noGrp="1"/>
          </p:cNvGraphicFramePr>
          <p:nvPr/>
        </p:nvGraphicFramePr>
        <p:xfrm>
          <a:off x="719328" y="4474519"/>
          <a:ext cx="22945343" cy="480060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Check</a:t>
                      </a:r>
                    </a:p>
                  </a:txBody>
                  <a:tcPr anchor="ctr" marL="70000" marR="70000">
                    <a:solidFill>
                      <a:srgbClr val="26448A"/>
                    </a:solidFill>
                  </a:tcPr>
                </a:tc>
                <a:tc>
                  <a:txBody>
                    <a:bodyPr wrap="square"/>
                    <a:lstStyle/>
                    <a:p>
                      <a:pPr algn="ctr"/>
                      <a:r>
                        <a:rPr sz="2900" b="1" i="0">
                          <a:solidFill>
                            <a:srgbClr val="FFFFFF"/>
                          </a:solidFill>
                          <a:latin typeface="AvenirNext-DemiBold"/>
                        </a:rPr>
                        <a:t>Result</a:t>
                      </a:r>
                    </a:p>
                  </a:txBody>
                  <a:tcPr anchor="ctr" marL="70000" marR="70000">
                    <a:solidFill>
                      <a:srgbClr val="26448A"/>
                    </a:solidFill>
                  </a:tcPr>
                </a:tc>
                <a:tc>
                  <a:txBody>
                    <a:bodyPr wrap="square"/>
                    <a:lstStyle/>
                    <a:p>
                      <a:pPr algn="ctr"/>
                      <a:r>
                        <a:rPr sz="2900" b="1" i="0">
                          <a:solidFill>
                            <a:srgbClr val="FFFFFF"/>
                          </a:solidFill>
                          <a:latin typeface="AvenirNext-DemiBold"/>
                        </a:rPr>
                        <a:t>What it establishes</a:t>
                      </a:r>
                    </a:p>
                  </a:txBody>
                  <a:tcPr anchor="ctr" marL="70000" marR="70000">
                    <a:solidFill>
                      <a:srgbClr val="26448A"/>
                    </a:solidFill>
                  </a:tcPr>
                </a:tc>
              </a:tr>
              <a:tr h="960120">
                <a:tc>
                  <a:txBody>
                    <a:bodyPr wrap="square"/>
                    <a:lstStyle/>
                    <a:p>
                      <a:pPr algn="l"/>
                      <a:r>
                        <a:rPr sz="2700" b="1" i="0">
                          <a:solidFill>
                            <a:srgbClr val="000000"/>
                          </a:solidFill>
                          <a:latin typeface="AvenirNext-DemiBold"/>
                        </a:rPr>
                        <a:t>Kernel vs analytic physical optics</a:t>
                      </a:r>
                    </a:p>
                  </a:txBody>
                  <a:tcPr anchor="ctr" marL="70000" marR="70000">
                    <a:solidFill>
                      <a:srgbClr val="FFFFFF"/>
                    </a:solidFill>
                  </a:tcPr>
                </a:tc>
                <a:tc>
                  <a:txBody>
                    <a:bodyPr wrap="square"/>
                    <a:lstStyle/>
                    <a:p>
                      <a:pPr algn="ctr"/>
                      <a:r>
                        <a:rPr sz="2700" b="0" i="0">
                          <a:solidFill>
                            <a:srgbClr val="000000"/>
                          </a:solidFill>
                          <a:latin typeface="Avenir Next Medium"/>
                        </a:rPr>
                        <a:t>0.2006 dB max</a:t>
                      </a:r>
                    </a:p>
                  </a:txBody>
                  <a:tcPr anchor="ctr" marL="70000" marR="70000">
                    <a:solidFill>
                      <a:srgbClr val="FFFFFF"/>
                    </a:solidFill>
                  </a:tcPr>
                </a:tc>
                <a:tc>
                  <a:txBody>
                    <a:bodyPr wrap="square"/>
                    <a:lstStyle/>
                    <a:p>
                      <a:pPr algn="ctr"/>
                      <a:r>
                        <a:rPr sz="2700" b="0" i="0">
                          <a:solidFill>
                            <a:srgbClr val="000000"/>
                          </a:solidFill>
                          <a:latin typeface="Avenir Next Medium"/>
                        </a:rPr>
                        <a:t>Numerical convergence of our own integral</a:t>
                      </a:r>
                    </a:p>
                  </a:txBody>
                  <a:tcPr anchor="ctr" marL="70000" marR="70000">
                    <a:solidFill>
                      <a:srgbClr val="FFFFFF"/>
                    </a:solidFill>
                  </a:tcPr>
                </a:tc>
              </a:tr>
              <a:tr h="960120">
                <a:tc>
                  <a:txBody>
                    <a:bodyPr wrap="square"/>
                    <a:lstStyle/>
                    <a:p>
                      <a:pPr algn="l"/>
                      <a:r>
                        <a:rPr sz="2700" b="1" i="0">
                          <a:solidFill>
                            <a:srgbClr val="000000"/>
                          </a:solidFill>
                          <a:latin typeface="AvenirNext-DemiBold"/>
                        </a:rPr>
                        <a:t>Kernel vs exact Mie</a:t>
                      </a:r>
                    </a:p>
                  </a:txBody>
                  <a:tcPr anchor="ctr" marL="70000" marR="70000">
                    <a:solidFill>
                      <a:srgbClr val="F2F2F2"/>
                    </a:solidFill>
                  </a:tcPr>
                </a:tc>
                <a:tc>
                  <a:txBody>
                    <a:bodyPr wrap="square"/>
                    <a:lstStyle/>
                    <a:p>
                      <a:pPr algn="ctr"/>
                      <a:r>
                        <a:rPr sz="2700" b="0" i="0">
                          <a:solidFill>
                            <a:srgbClr val="000000"/>
                          </a:solidFill>
                          <a:latin typeface="Avenir Next Medium"/>
                        </a:rPr>
                        <a:t>6.73 dB max, 1.83 % spread above kr 30</a:t>
                      </a:r>
                    </a:p>
                  </a:txBody>
                  <a:tcPr anchor="ctr" marL="70000" marR="70000">
                    <a:solidFill>
                      <a:srgbClr val="F2F2F2"/>
                    </a:solidFill>
                  </a:tcPr>
                </a:tc>
                <a:tc>
                  <a:txBody>
                    <a:bodyPr wrap="square"/>
                    <a:lstStyle/>
                    <a:p>
                      <a:pPr algn="ctr"/>
                      <a:r>
                        <a:rPr sz="2700" b="0" i="0">
                          <a:solidFill>
                            <a:srgbClr val="000000"/>
                          </a:solidFill>
                          <a:latin typeface="Avenir Next Medium"/>
                        </a:rPr>
                        <a:t>The price of the physical-optics approximation</a:t>
                      </a:r>
                    </a:p>
                  </a:txBody>
                  <a:tcPr anchor="ctr" marL="70000" marR="70000">
                    <a:solidFill>
                      <a:srgbClr val="F2F2F2"/>
                    </a:solidFill>
                  </a:tcPr>
                </a:tc>
              </a:tr>
              <a:tr h="960120">
                <a:tc>
                  <a:txBody>
                    <a:bodyPr wrap="square"/>
                    <a:lstStyle/>
                    <a:p>
                      <a:pPr algn="l"/>
                      <a:r>
                        <a:rPr sz="2700" b="1" i="0">
                          <a:solidFill>
                            <a:srgbClr val="000000"/>
                          </a:solidFill>
                          <a:latin typeface="AvenirNext-DemiBold"/>
                        </a:rPr>
                        <a:t>Measurement anchor, slope only</a:t>
                      </a:r>
                    </a:p>
                  </a:txBody>
                  <a:tcPr anchor="ctr" marL="70000" marR="70000">
                    <a:solidFill>
                      <a:srgbClr val="FFFFFF"/>
                    </a:solidFill>
                  </a:tcPr>
                </a:tc>
                <a:tc>
                  <a:txBody>
                    <a:bodyPr wrap="square"/>
                    <a:lstStyle/>
                    <a:p>
                      <a:pPr algn="ctr"/>
                      <a:r>
                        <a:rPr sz="2700" b="0" i="0">
                          <a:solidFill>
                            <a:srgbClr val="000000"/>
                          </a:solidFill>
                          <a:latin typeface="Avenir Next Medium"/>
                        </a:rPr>
                        <a:t>0.0000 dB level shift, 7 airframes</a:t>
                      </a:r>
                    </a:p>
                  </a:txBody>
                  <a:tcPr anchor="ctr" marL="70000" marR="70000">
                    <a:solidFill>
                      <a:srgbClr val="FFFFFF"/>
                    </a:solidFill>
                  </a:tcPr>
                </a:tc>
                <a:tc>
                  <a:txBody>
                    <a:bodyPr wrap="square"/>
                    <a:lstStyle/>
                    <a:p>
                      <a:pPr algn="ctr"/>
                      <a:r>
                        <a:rPr sz="2700" b="0" i="0">
                          <a:solidFill>
                            <a:srgbClr val="000000"/>
                          </a:solidFill>
                          <a:latin typeface="Avenir Next Medium"/>
                        </a:rPr>
                        <a:t>The anchor rotates the frequency slope, never the level</a:t>
                      </a:r>
                    </a:p>
                  </a:txBody>
                  <a:tcPr anchor="ctr" marL="70000" marR="70000">
                    <a:solidFill>
                      <a:srgbClr val="FFFFFF"/>
                    </a:solidFill>
                  </a:tcPr>
                </a:tc>
              </a:tr>
              <a:tr h="960120">
                <a:tc>
                  <a:txBody>
                    <a:bodyPr wrap="square"/>
                    <a:lstStyle/>
                    <a:p>
                      <a:pPr algn="l"/>
                      <a:r>
                        <a:rPr sz="2700" b="1" i="0">
                          <a:solidFill>
                            <a:srgbClr val="000000"/>
                          </a:solidFill>
                          <a:latin typeface="AvenirNext-DemiBold"/>
                        </a:rPr>
                        <a:t>Detector threshold</a:t>
                      </a:r>
                    </a:p>
                  </a:txBody>
                  <a:tcPr anchor="ctr" marL="70000" marR="70000">
                    <a:solidFill>
                      <a:srgbClr val="F2F2F2"/>
                    </a:solidFill>
                  </a:tcPr>
                </a:tc>
                <a:tc>
                  <a:txBody>
                    <a:bodyPr wrap="square"/>
                    <a:lstStyle/>
                    <a:p>
                      <a:pPr algn="ctr"/>
                      <a:r>
                        <a:rPr sz="2700" b="0" i="0">
                          <a:solidFill>
                            <a:srgbClr val="000000"/>
                          </a:solidFill>
                          <a:latin typeface="Avenir Next Medium"/>
                        </a:rPr>
                        <a:t>3.3e-04 relative error, 2717 s Monte Carlo</a:t>
                      </a:r>
                    </a:p>
                  </a:txBody>
                  <a:tcPr anchor="ctr" marL="70000" marR="70000">
                    <a:solidFill>
                      <a:srgbClr val="F2F2F2"/>
                    </a:solidFill>
                  </a:tcPr>
                </a:tc>
                <a:tc>
                  <a:txBody>
                    <a:bodyPr wrap="square"/>
                    <a:lstStyle/>
                    <a:p>
                      <a:pPr algn="ctr"/>
                      <a:r>
                        <a:rPr sz="2700" b="0" i="0">
                          <a:solidFill>
                            <a:srgbClr val="000000"/>
                          </a:solidFill>
                          <a:latin typeface="Avenir Next Medium"/>
                        </a:rPr>
                        <a:t>False-alarm rate calibrated on data, not on a formula</a:t>
                      </a:r>
                    </a:p>
                  </a:txBody>
                  <a:tcPr anchor="ctr" marL="70000" marR="70000">
                    <a:solidFill>
                      <a:srgbClr val="F2F2F2"/>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Convergence is established. Absolute sigma against measurement is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GEOMETRY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Geometry is an axis, not an escape</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Monostatic and bistatic differ in link budget, and </a:t>
            </a:r>
            <a:r>
              <a:rPr sz="3700" b="1" i="0">
                <a:solidFill>
                  <a:srgbClr val="E22146"/>
                </a:solidFill>
                <a:latin typeface="AvenirNext-DemiBold"/>
              </a:rPr>
              <a:t>not at all</a:t>
            </a:r>
            <a:r>
              <a:rPr sz="3700" b="1" i="0">
                <a:solidFill>
                  <a:srgbClr val="000000"/>
                </a:solidFill>
                <a:latin typeface="AvenirNext-DemiBold"/>
              </a:rPr>
              <a:t> in the velocity floor</a:t>
            </a:r>
          </a:p>
        </p:txBody>
      </p:sp>
      <p:sp>
        <p:nvSpPr>
          <p:cNvPr id="5" name="Rectangle 4"/>
          <p:cNvSpPr/>
          <p:nvPr/>
        </p:nvSpPr>
        <p:spPr>
          <a:xfrm>
            <a:off x="719328" y="389617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70972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Monostatic equals bistatic at zero angle, 0.000 m/s apart in all three bands</a:t>
            </a:r>
          </a:p>
        </p:txBody>
      </p:sp>
      <p:sp>
        <p:nvSpPr>
          <p:cNvPr id="7" name="Rectangle 6"/>
          <p:cNvSpPr/>
          <p:nvPr/>
        </p:nvSpPr>
        <p:spPr>
          <a:xfrm>
            <a:off x="719328" y="541815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23170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Our published numbers are therefore the worst case of both geometries</a:t>
            </a:r>
          </a:p>
        </p:txBody>
      </p:sp>
      <p:sp>
        <p:nvSpPr>
          <p:cNvPr id="9" name="Rectangle 8"/>
          <p:cNvSpPr/>
          <p:nvPr/>
        </p:nvSpPr>
        <p:spPr>
          <a:xfrm>
            <a:off x="719328" y="6940138"/>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753680"/>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Active monostatic ceiling is 500 Hz giving 10.71 m/s, and real networks run 50 to 200 Hz</a:t>
            </a:r>
          </a:p>
        </p:txBody>
      </p:sp>
      <p:sp>
        <p:nvSpPr>
          <p:cNvPr id="11" name="Rectangle 10"/>
          <p:cNvSpPr/>
          <p:nvPr/>
        </p:nvSpPr>
        <p:spPr>
          <a:xfrm>
            <a:off x="719328" y="8462118"/>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275660"/>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We quote 500 Hz from 3GPP TS 38.331 at second hand, and it is least favourable to us</a:t>
            </a:r>
          </a:p>
        </p:txBody>
      </p:sp>
      <p:sp>
        <p:nvSpPr>
          <p:cNvPr id="13" name="Rectangle 12"/>
          <p:cNvSpPr/>
          <p:nvPr/>
        </p:nvSpPr>
        <p:spPr>
          <a:xfrm>
            <a:off x="719328" y="10003222"/>
            <a:ext cx="121920" cy="873724"/>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797640"/>
            <a:ext cx="22213824" cy="1284888"/>
          </a:xfrm>
          <a:prstGeom prst="rect">
            <a:avLst/>
          </a:prstGeom>
          <a:noFill/>
        </p:spPr>
        <p:txBody>
          <a:bodyPr wrap="square" anchor="ctr" lIns="0" rIns="0" tIns="0" bIns="0">
            <a:spAutoFit/>
          </a:bodyPr>
          <a:lstStyle/>
          <a:p>
            <a:pPr algn="l"/>
            <a:r>
              <a:rPr sz="3600" b="1" i="0">
                <a:solidFill>
                  <a:srgbClr val="E22146"/>
                </a:solidFill>
                <a:latin typeface="AvenirNext-DemiBold"/>
              </a:rPr>
              <a:t>Every detection result so far sits at one azimuth of 90 degrees, so we swept the other 71</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At that azimuth the geometry difference is 0.118 dB. Over the full azimuth sweep R90 moves by 0.48 percent.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4</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Validating the meshes</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measured-RCS papers we found this week, and the check we will run with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MOTIVATION</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Our meshes have never been checked against a measurement</a:t>
            </a:r>
          </a:p>
        </p:txBody>
      </p:sp>
      <p:sp>
        <p:nvSpPr>
          <p:cNvPr id="4" name="TextBox 3"/>
          <p:cNvSpPr txBox="1"/>
          <p:nvPr/>
        </p:nvSpPr>
        <p:spPr>
          <a:xfrm>
            <a:off x="760781" y="201503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Every check in Part 3 grades the kernel. </a:t>
            </a:r>
            <a:r>
              <a:rPr sz="3700" b="1" i="0">
                <a:solidFill>
                  <a:srgbClr val="E22146"/>
                </a:solidFill>
                <a:latin typeface="AvenirNext-DemiBold"/>
              </a:rPr>
              <a:t>None of them grades the airframe</a:t>
            </a:r>
            <a:r>
              <a:rPr sz="3700" b="1" i="0">
                <a:solidFill>
                  <a:srgbClr val="000000"/>
                </a:solidFill>
                <a:latin typeface="AvenirNext-DemiBold"/>
              </a:rPr>
              <a:t> it runs on.</a:t>
            </a:r>
          </a:p>
        </p:txBody>
      </p:sp>
      <p:sp>
        <p:nvSpPr>
          <p:cNvPr id="5" name="Rectangle 4"/>
          <p:cNvSpPr/>
          <p:nvPr/>
        </p:nvSpPr>
        <p:spPr>
          <a:xfrm>
            <a:off x="719328" y="3779789"/>
            <a:ext cx="121920" cy="107502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526841"/>
            <a:ext cx="22213824" cy="1580923"/>
          </a:xfrm>
          <a:prstGeom prst="rect">
            <a:avLst/>
          </a:prstGeom>
          <a:noFill/>
        </p:spPr>
        <p:txBody>
          <a:bodyPr wrap="square" anchor="ctr" lIns="0" rIns="0" tIns="0" bIns="0">
            <a:spAutoFit/>
          </a:bodyPr>
          <a:lstStyle/>
          <a:p>
            <a:pPr algn="l"/>
            <a:r>
              <a:rPr sz="3300" b="0" i="0">
                <a:solidFill>
                  <a:srgbClr val="000000"/>
                </a:solidFill>
                <a:latin typeface="Avenir Next Medium"/>
              </a:rPr>
              <a:t>The sphere and Mie checks grade the surface integral, and a sphere has no airframe in it</a:t>
            </a:r>
          </a:p>
        </p:txBody>
      </p:sp>
      <p:sp>
        <p:nvSpPr>
          <p:cNvPr id="7" name="Rectangle 6"/>
          <p:cNvSpPr/>
          <p:nvPr/>
        </p:nvSpPr>
        <p:spPr>
          <a:xfrm>
            <a:off x="719328" y="5717328"/>
            <a:ext cx="121920" cy="107502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464380"/>
            <a:ext cx="22213824" cy="1580923"/>
          </a:xfrm>
          <a:prstGeom prst="rect">
            <a:avLst/>
          </a:prstGeom>
          <a:noFill/>
        </p:spPr>
        <p:txBody>
          <a:bodyPr wrap="square" anchor="ctr" lIns="0" rIns="0" tIns="0" bIns="0">
            <a:spAutoFit/>
          </a:bodyPr>
          <a:lstStyle/>
          <a:p>
            <a:pPr algn="l"/>
            <a:r>
              <a:rPr sz="3300" b="0" i="0">
                <a:solidFill>
                  <a:srgbClr val="000000"/>
                </a:solidFill>
                <a:latin typeface="Avenir Next Medium"/>
              </a:rPr>
              <a:t>Our seven airframes were built from CAD parts, and that build method is still ungraded</a:t>
            </a:r>
          </a:p>
        </p:txBody>
      </p:sp>
      <p:sp>
        <p:nvSpPr>
          <p:cNvPr id="9" name="Rectangle 8"/>
          <p:cNvSpPr/>
          <p:nvPr/>
        </p:nvSpPr>
        <p:spPr>
          <a:xfrm>
            <a:off x="719328" y="7654867"/>
            <a:ext cx="121920" cy="107502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401919"/>
            <a:ext cx="22213824" cy="1580923"/>
          </a:xfrm>
          <a:prstGeom prst="rect">
            <a:avLst/>
          </a:prstGeom>
          <a:noFill/>
        </p:spPr>
        <p:txBody>
          <a:bodyPr wrap="square" anchor="ctr" lIns="0" rIns="0" tIns="0" bIns="0">
            <a:spAutoFit/>
          </a:bodyPr>
          <a:lstStyle/>
          <a:p>
            <a:pPr algn="l"/>
            <a:r>
              <a:rPr sz="3300" b="0" i="0">
                <a:solidFill>
                  <a:srgbClr val="000000"/>
                </a:solidFill>
                <a:latin typeface="Avenir Next Medium"/>
              </a:rPr>
              <a:t>So the one thing we needed was a printed radar cross section for a drone we can rebuild</a:t>
            </a:r>
          </a:p>
        </p:txBody>
      </p:sp>
      <p:sp>
        <p:nvSpPr>
          <p:cNvPr id="11" name="Rectangle 10"/>
          <p:cNvSpPr/>
          <p:nvPr/>
        </p:nvSpPr>
        <p:spPr>
          <a:xfrm>
            <a:off x="719328" y="9618350"/>
            <a:ext cx="121920" cy="118528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339459"/>
            <a:ext cx="22213824" cy="1743069"/>
          </a:xfrm>
          <a:prstGeom prst="rect">
            <a:avLst/>
          </a:prstGeom>
          <a:noFill/>
        </p:spPr>
        <p:txBody>
          <a:bodyPr wrap="square" anchor="ctr" lIns="0" rIns="0" tIns="0" bIns="0">
            <a:spAutoFit/>
          </a:bodyPr>
          <a:lstStyle/>
          <a:p>
            <a:pPr algn="l"/>
            <a:r>
              <a:rPr sz="3600" b="1" i="0">
                <a:solidFill>
                  <a:srgbClr val="E22146"/>
                </a:solidFill>
                <a:latin typeface="AvenirNext-DemiBold"/>
              </a:rPr>
              <a:t>We went looking for exactly that, and this week we found two papers that print it</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This is what sits under the partial amplitude-validation cell in our own matrix row.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THE TWO PAPERS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measured-RCS papers on drones we model</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Both are </a:t>
            </a:r>
            <a:r>
              <a:rPr sz="3700" b="1" i="0">
                <a:solidFill>
                  <a:srgbClr val="E22146"/>
                </a:solidFill>
                <a:latin typeface="AvenirNext-DemiBold"/>
              </a:rPr>
              <a:t>peer reviewed in our own field</a:t>
            </a:r>
            <a:r>
              <a:rPr sz="3700" b="1" i="0">
                <a:solidFill>
                  <a:srgbClr val="000000"/>
                </a:solidFill>
                <a:latin typeface="AvenirNext-DemiBold"/>
              </a:rPr>
              <a:t>, one journal letter and one flagship conference</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Das and colleagues</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Shrayan Das, Peize Zhang, Veikko Hovinen, Marko E. Leinonen, Aarno Parssinen and Pekka Kyosti. IEEE Wireless Communications Letters, volume 15, pages 3731 to 3735, 2026, published, DOI 10.1109/LWC.2026.3705634.</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What that one prints</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Four airframes, DJI Phantom 2, Phantom 3, Mini 2 and M350 RTK. Monostatic and bistatic over 1.8 to 27 GHz at seven bistatic angles from 0 to 90 degrees in 15 degree steps, fitted to 3GPP-compliant distributions.</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Yuan and colleagues</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Zhiqiang Yuan, Le Yu, Chunhui Li and Wei Fan, Southeast University. EuCAP 2025, published. A DJI Phantom 3 in an anechoic chamber, measured on a compact antenna test range against a calibration sphere.</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What that one prints</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1.8 to 18.2 GHz with 2801 frequency points per angle, azimuth from -90 to 90 degrees in 2 degree steps, three elevation sides, vertically polarised antennas at both ends.</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Das credits three of the four datasets to the Yuan group, so this is one measurement and not two.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PLAN</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Rebuild their airframes with our method, then compare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What is on trial is </a:t>
            </a:r>
            <a:r>
              <a:rPr sz="3700" b="1" i="0">
                <a:solidFill>
                  <a:srgbClr val="E22146"/>
                </a:solidFill>
                <a:latin typeface="AvenirNext-DemiBold"/>
              </a:rPr>
              <a:t>our mesh build method</a:t>
            </a:r>
            <a:r>
              <a:rPr sz="3700" b="1" i="0">
                <a:solidFill>
                  <a:srgbClr val="000000"/>
                </a:solidFill>
                <a:latin typeface="AvenirNext-DemiBold"/>
              </a:rPr>
              <a:t>, not any one drone</a:t>
            </a:r>
          </a:p>
        </p:txBody>
      </p:sp>
      <p:sp>
        <p:nvSpPr>
          <p:cNvPr id="5" name="Rectangle 4"/>
          <p:cNvSpPr/>
          <p:nvPr/>
        </p:nvSpPr>
        <p:spPr>
          <a:xfrm>
            <a:off x="719328" y="3172835"/>
            <a:ext cx="121920" cy="89196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2962961"/>
            <a:ext cx="22213824" cy="1311714"/>
          </a:xfrm>
          <a:prstGeom prst="rect">
            <a:avLst/>
          </a:prstGeom>
          <a:noFill/>
        </p:spPr>
        <p:txBody>
          <a:bodyPr wrap="square" anchor="ctr" lIns="0" rIns="0" tIns="0" bIns="0">
            <a:spAutoFit/>
          </a:bodyPr>
          <a:lstStyle/>
          <a:p>
            <a:pPr algn="l"/>
            <a:r>
              <a:rPr sz="3300" b="0" i="0">
                <a:solidFill>
                  <a:srgbClr val="000000"/>
                </a:solidFill>
                <a:latin typeface="Avenir Next Medium"/>
              </a:rPr>
              <a:t>Build Phantom 2, Phantom 3, Mini 2 and M350 RTK the same way we built our seven</a:t>
            </a:r>
          </a:p>
        </p:txBody>
      </p:sp>
      <p:sp>
        <p:nvSpPr>
          <p:cNvPr id="7" name="Rectangle 6"/>
          <p:cNvSpPr/>
          <p:nvPr/>
        </p:nvSpPr>
        <p:spPr>
          <a:xfrm>
            <a:off x="719328" y="4841165"/>
            <a:ext cx="121920" cy="89196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631290"/>
            <a:ext cx="22213824" cy="1311714"/>
          </a:xfrm>
          <a:prstGeom prst="rect">
            <a:avLst/>
          </a:prstGeom>
          <a:noFill/>
        </p:spPr>
        <p:txBody>
          <a:bodyPr wrap="square" anchor="ctr" lIns="0" rIns="0" tIns="0" bIns="0">
            <a:spAutoFit/>
          </a:bodyPr>
          <a:lstStyle/>
          <a:p>
            <a:pPr algn="l"/>
            <a:r>
              <a:rPr sz="3300" b="0" i="0">
                <a:solidFill>
                  <a:srgbClr val="000000"/>
                </a:solidFill>
                <a:latin typeface="Avenir Next Medium"/>
              </a:rPr>
              <a:t>Run the same kernel where their measured bands and our three carrier bands overlap</a:t>
            </a:r>
          </a:p>
        </p:txBody>
      </p:sp>
      <p:sp>
        <p:nvSpPr>
          <p:cNvPr id="9" name="Rectangle 8"/>
          <p:cNvSpPr/>
          <p:nvPr/>
        </p:nvSpPr>
        <p:spPr>
          <a:xfrm>
            <a:off x="719328" y="6509494"/>
            <a:ext cx="121920" cy="89196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299620"/>
            <a:ext cx="22213824" cy="1311714"/>
          </a:xfrm>
          <a:prstGeom prst="rect">
            <a:avLst/>
          </a:prstGeom>
          <a:noFill/>
        </p:spPr>
        <p:txBody>
          <a:bodyPr wrap="square" anchor="ctr" lIns="0" rIns="0" tIns="0" bIns="0">
            <a:spAutoFit/>
          </a:bodyPr>
          <a:lstStyle/>
          <a:p>
            <a:pPr algn="l"/>
            <a:r>
              <a:rPr sz="3300" b="0" i="0">
                <a:solidFill>
                  <a:srgbClr val="000000"/>
                </a:solidFill>
                <a:latin typeface="Avenir Next Medium"/>
              </a:rPr>
              <a:t>Compare against the printed values and report the disagreement, not a fitted offset</a:t>
            </a:r>
          </a:p>
        </p:txBody>
      </p:sp>
      <p:sp>
        <p:nvSpPr>
          <p:cNvPr id="11" name="Rectangle 10"/>
          <p:cNvSpPr/>
          <p:nvPr/>
        </p:nvSpPr>
        <p:spPr>
          <a:xfrm>
            <a:off x="719328" y="8177824"/>
            <a:ext cx="121920" cy="89196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7967950"/>
            <a:ext cx="22213824" cy="1311714"/>
          </a:xfrm>
          <a:prstGeom prst="rect">
            <a:avLst/>
          </a:prstGeom>
          <a:noFill/>
        </p:spPr>
        <p:txBody>
          <a:bodyPr wrap="square" anchor="ctr" lIns="0" rIns="0" tIns="0" bIns="0">
            <a:spAutoFit/>
          </a:bodyPr>
          <a:lstStyle/>
          <a:p>
            <a:pPr algn="l"/>
            <a:r>
              <a:rPr sz="3300" b="0" i="0">
                <a:solidFill>
                  <a:srgbClr val="000000"/>
                </a:solidFill>
                <a:latin typeface="Avenir Next Medium"/>
              </a:rPr>
              <a:t>Carry the one-measurement caveat and the 2.3 to 3.0 dB averaging spread with it</a:t>
            </a:r>
          </a:p>
        </p:txBody>
      </p:sp>
      <p:sp>
        <p:nvSpPr>
          <p:cNvPr id="13" name="Rectangle 12"/>
          <p:cNvSpPr/>
          <p:nvPr/>
        </p:nvSpPr>
        <p:spPr>
          <a:xfrm>
            <a:off x="719328" y="9867679"/>
            <a:ext cx="121920" cy="983449"/>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636280"/>
            <a:ext cx="22213824" cy="1446248"/>
          </a:xfrm>
          <a:prstGeom prst="rect">
            <a:avLst/>
          </a:prstGeom>
          <a:noFill/>
        </p:spPr>
        <p:txBody>
          <a:bodyPr wrap="square" anchor="ctr" lIns="0" rIns="0" tIns="0" bIns="0">
            <a:spAutoFit/>
          </a:bodyPr>
          <a:lstStyle/>
          <a:p>
            <a:pPr algn="l"/>
            <a:r>
              <a:rPr sz="3600" b="1" i="0">
                <a:solidFill>
                  <a:srgbClr val="E22146"/>
                </a:solidFill>
                <a:latin typeface="AvenirNext-DemiBold"/>
              </a:rPr>
              <a:t>Little of this ran this week, the group meeting took the time. Results come next week</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pass and a fail both settle something, because right now the build method has no grade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TOOLING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OpenISAC, read this time as a parts list</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Last time we reviewed it as related work. This time we read it </a:t>
            </a:r>
            <a:r>
              <a:rPr sz="3700" b="1" i="0">
                <a:solidFill>
                  <a:srgbClr val="E22146"/>
                </a:solidFill>
                <a:latin typeface="AvenirNext-DemiBold"/>
              </a:rPr>
              <a:t>for parts we can lift</a:t>
            </a:r>
            <a:r>
              <a:rPr sz="3700" b="1" i="0">
                <a:solidFill>
                  <a:srgbClr val="000000"/>
                </a:solidFill>
                <a:latin typeface="AvenirNext-DemiBold"/>
              </a:rPr>
              <a:t>.</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Over-the-air synchronisation</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Their bistatic arm runs with no wired clock between the two nodes. That is the failure mode two separated X410 nodes will hit before anything else.</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One number for cancellation</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MTI suppression ratio is the signal energy before the clutter filter over the energy after it. Our own passive chain reports no such figure.</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Reconstructed reference</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They demodulate the frame and rebuild a clean reference from it, which is stronger than correlating against a raw noisy capture of the same frame.</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Where it stops</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Their receive path reaches 100.5 percent of one core at 200 MHz against 42.3 at 50 MHz, and detection is a peak pick. CFAR appears zero times in the paper.</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Zhiwen Zhou, Chaoyue Zhang, Xiaoli Xu and Yong Zeng, IEEE Internet of Things Journal, 2026, published.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510540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5</a:t>
            </a:r>
          </a:p>
        </p:txBody>
      </p:sp>
      <p:sp>
        <p:nvSpPr>
          <p:cNvPr id="3" name="TextBox 2"/>
          <p:cNvSpPr txBox="1"/>
          <p:nvPr/>
        </p:nvSpPr>
        <p:spPr>
          <a:xfrm>
            <a:off x="1463040" y="631240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What we withdrew</a:t>
            </a:r>
          </a:p>
        </p:txBody>
      </p:sp>
      <p:sp>
        <p:nvSpPr>
          <p:cNvPr id="4" name="TextBox 3"/>
          <p:cNvSpPr txBox="1"/>
          <p:nvPr/>
        </p:nvSpPr>
        <p:spPr>
          <a:xfrm>
            <a:off x="2194560" y="7778496"/>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Six claims from earlier rounds, and what replaced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5 · RETRACTIONS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Six claims we withdrew</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Each row is a claim we put on a slide before, and </a:t>
            </a:r>
            <a:r>
              <a:rPr sz="3700" b="1" i="0">
                <a:solidFill>
                  <a:srgbClr val="E22146"/>
                </a:solidFill>
                <a:latin typeface="AvenirNext-DemiBold"/>
              </a:rPr>
              <a:t>what replaced it</a:t>
            </a:r>
          </a:p>
        </p:txBody>
      </p:sp>
      <p:graphicFrame>
        <p:nvGraphicFramePr>
          <p:cNvPr id="5" name="Table 4"/>
          <p:cNvGraphicFramePr>
            <a:graphicFrameLocks noGrp="1"/>
          </p:cNvGraphicFramePr>
          <p:nvPr/>
        </p:nvGraphicFramePr>
        <p:xfrm>
          <a:off x="719328" y="3668018"/>
          <a:ext cx="22945343" cy="672084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What we said</a:t>
                      </a:r>
                    </a:p>
                  </a:txBody>
                  <a:tcPr anchor="ctr" marL="70000" marR="70000">
                    <a:solidFill>
                      <a:srgbClr val="26448A"/>
                    </a:solidFill>
                  </a:tcPr>
                </a:tc>
                <a:tc>
                  <a:txBody>
                    <a:bodyPr wrap="square"/>
                    <a:lstStyle/>
                    <a:p>
                      <a:pPr algn="ctr"/>
                      <a:r>
                        <a:rPr sz="2900" b="1" i="0">
                          <a:solidFill>
                            <a:srgbClr val="FFFFFF"/>
                          </a:solidFill>
                          <a:latin typeface="AvenirNext-DemiBold"/>
                        </a:rPr>
                        <a:t>What broke it</a:t>
                      </a:r>
                    </a:p>
                  </a:txBody>
                  <a:tcPr anchor="ctr" marL="70000" marR="70000">
                    <a:solidFill>
                      <a:srgbClr val="26448A"/>
                    </a:solidFill>
                  </a:tcPr>
                </a:tc>
                <a:tc>
                  <a:txBody>
                    <a:bodyPr wrap="square"/>
                    <a:lstStyle/>
                    <a:p>
                      <a:pPr algn="ctr"/>
                      <a:r>
                        <a:rPr sz="2900" b="1" i="0">
                          <a:solidFill>
                            <a:srgbClr val="FFFFFF"/>
                          </a:solidFill>
                          <a:latin typeface="AvenirNext-DemiBold"/>
                        </a:rPr>
                        <a:t>What we say now</a:t>
                      </a:r>
                    </a:p>
                  </a:txBody>
                  <a:tcPr anchor="ctr" marL="70000" marR="70000">
                    <a:solidFill>
                      <a:srgbClr val="26448A"/>
                    </a:solidFill>
                  </a:tcPr>
                </a:tc>
              </a:tr>
              <a:tr h="960120">
                <a:tc>
                  <a:txBody>
                    <a:bodyPr wrap="square"/>
                    <a:lstStyle/>
                    <a:p>
                      <a:pPr algn="l"/>
                      <a:r>
                        <a:rPr sz="2700" b="1" i="0">
                          <a:solidFill>
                            <a:srgbClr val="000000"/>
                          </a:solidFill>
                          <a:latin typeface="AvenirNext-DemiBold"/>
                        </a:rPr>
                        <a:t>The velocity law was ours, and then it was Chen 2024</a:t>
                      </a:r>
                    </a:p>
                  </a:txBody>
                  <a:tcPr anchor="ctr" marL="70000" marR="70000">
                    <a:solidFill>
                      <a:srgbClr val="FFFFFF"/>
                    </a:solidFill>
                  </a:tcPr>
                </a:tc>
                <a:tc>
                  <a:txBody>
                    <a:bodyPr wrap="square"/>
                    <a:lstStyle/>
                    <a:p>
                      <a:pPr algn="ctr"/>
                      <a:r>
                        <a:rPr sz="2700" b="0" i="0">
                          <a:solidFill>
                            <a:srgbClr val="000000"/>
                          </a:solidFill>
                          <a:latin typeface="Avenir Next Medium"/>
                        </a:rPr>
                        <a:t>We obtained and read both PDFs</a:t>
                      </a:r>
                    </a:p>
                  </a:txBody>
                  <a:tcPr anchor="ctr" marL="70000" marR="70000">
                    <a:solidFill>
                      <a:srgbClr val="FFFFFF"/>
                    </a:solidFill>
                  </a:tcPr>
                </a:tc>
                <a:tc>
                  <a:txBody>
                    <a:bodyPr wrap="square"/>
                    <a:lstStyle/>
                    <a:p>
                      <a:pPr algn="ctr"/>
                      <a:r>
                        <a:rPr sz="2700" b="0" i="0">
                          <a:solidFill>
                            <a:srgbClr val="000000"/>
                          </a:solidFill>
                          <a:latin typeface="Avenir Next Medium"/>
                        </a:rPr>
                        <a:t>Priority is Abratkiewicz 2023, equation 16, and we are the reproducer</a:t>
                      </a:r>
                    </a:p>
                  </a:txBody>
                  <a:tcPr anchor="ctr" marL="70000" marR="70000">
                    <a:solidFill>
                      <a:srgbClr val="FFFFFF"/>
                    </a:solidFill>
                  </a:tcPr>
                </a:tc>
              </a:tr>
              <a:tr h="960120">
                <a:tc>
                  <a:txBody>
                    <a:bodyPr wrap="square"/>
                    <a:lstStyle/>
                    <a:p>
                      <a:pPr algn="l"/>
                      <a:r>
                        <a:rPr sz="2700" b="1" i="0">
                          <a:solidFill>
                            <a:srgbClr val="000000"/>
                          </a:solidFill>
                          <a:latin typeface="AvenirNext-DemiBold"/>
                        </a:rPr>
                        <a:t>5G coverage is zero at every heading</a:t>
                      </a:r>
                    </a:p>
                  </a:txBody>
                  <a:tcPr anchor="ctr" marL="70000" marR="70000">
                    <a:solidFill>
                      <a:srgbClr val="F2F2F2"/>
                    </a:solidFill>
                  </a:tcPr>
                </a:tc>
                <a:tc>
                  <a:txBody>
                    <a:bodyPr wrap="square"/>
                    <a:lstStyle/>
                    <a:p>
                      <a:pPr algn="ctr"/>
                      <a:r>
                        <a:rPr sz="2700" b="0" i="0">
                          <a:solidFill>
                            <a:srgbClr val="000000"/>
                          </a:solidFill>
                          <a:latin typeface="Avenir Next Medium"/>
                        </a:rPr>
                        <a:t>It held at one integration time only</a:t>
                      </a:r>
                    </a:p>
                  </a:txBody>
                  <a:tcPr anchor="ctr" marL="70000" marR="70000">
                    <a:solidFill>
                      <a:srgbClr val="F2F2F2"/>
                    </a:solidFill>
                  </a:tcPr>
                </a:tc>
                <a:tc>
                  <a:txBody>
                    <a:bodyPr wrap="square"/>
                    <a:lstStyle/>
                    <a:p>
                      <a:pPr algn="ctr"/>
                      <a:r>
                        <a:rPr sz="2700" b="0" i="0">
                          <a:solidFill>
                            <a:srgbClr val="000000"/>
                          </a:solidFill>
                          <a:latin typeface="Avenir Next Medium"/>
                        </a:rPr>
                        <a:t>Alias fraction is a constant 0.861 against 0 for WiFi and 0 for LTE</a:t>
                      </a:r>
                    </a:p>
                  </a:txBody>
                  <a:tcPr anchor="ctr" marL="70000" marR="70000">
                    <a:solidFill>
                      <a:srgbClr val="F2F2F2"/>
                    </a:solidFill>
                  </a:tcPr>
                </a:tc>
              </a:tr>
              <a:tr h="960120">
                <a:tc>
                  <a:txBody>
                    <a:bodyPr wrap="square"/>
                    <a:lstStyle/>
                    <a:p>
                      <a:pPr algn="l"/>
                      <a:r>
                        <a:rPr sz="2700" b="1" i="0">
                          <a:solidFill>
                            <a:srgbClr val="000000"/>
                          </a:solidFill>
                          <a:latin typeface="AvenirNext-DemiBold"/>
                        </a:rPr>
                        <a:t>Reciprocity violation of 13.7 dB</a:t>
                      </a:r>
                    </a:p>
                  </a:txBody>
                  <a:tcPr anchor="ctr" marL="70000" marR="70000">
                    <a:solidFill>
                      <a:srgbClr val="FFFFFF"/>
                    </a:solidFill>
                  </a:tcPr>
                </a:tc>
                <a:tc>
                  <a:txBody>
                    <a:bodyPr wrap="square"/>
                    <a:lstStyle/>
                    <a:p>
                      <a:pPr algn="ctr"/>
                      <a:r>
                        <a:rPr sz="2700" b="0" i="0">
                          <a:solidFill>
                            <a:srgbClr val="000000"/>
                          </a:solidFill>
                          <a:latin typeface="Avenir Next Medium"/>
                        </a:rPr>
                        <a:t>It was a one-cell approximation error</a:t>
                      </a:r>
                    </a:p>
                  </a:txBody>
                  <a:tcPr anchor="ctr" marL="70000" marR="70000">
                    <a:solidFill>
                      <a:srgbClr val="FFFFFF"/>
                    </a:solidFill>
                  </a:tcPr>
                </a:tc>
                <a:tc>
                  <a:txBody>
                    <a:bodyPr wrap="square"/>
                    <a:lstStyle/>
                    <a:p>
                      <a:pPr algn="ctr"/>
                      <a:r>
                        <a:rPr sz="2700" b="0" i="0">
                          <a:solidFill>
                            <a:srgbClr val="000000"/>
                          </a:solidFill>
                          <a:latin typeface="Avenir Next Medium"/>
                        </a:rPr>
                        <a:t>Approximation error reaches 20.04 dB, reciprocity at most 5.80 dB</a:t>
                      </a:r>
                    </a:p>
                  </a:txBody>
                  <a:tcPr anchor="ctr" marL="70000" marR="70000">
                    <a:solidFill>
                      <a:srgbClr val="FFFFFF"/>
                    </a:solidFill>
                  </a:tcPr>
                </a:tc>
              </a:tr>
              <a:tr h="960120">
                <a:tc>
                  <a:txBody>
                    <a:bodyPr wrap="square"/>
                    <a:lstStyle/>
                    <a:p>
                      <a:pPr algn="l"/>
                      <a:r>
                        <a:rPr sz="2700" b="1" i="0">
                          <a:solidFill>
                            <a:srgbClr val="000000"/>
                          </a:solidFill>
                          <a:latin typeface="AvenirNext-DemiBold"/>
                        </a:rPr>
                        <a:t>The 10 log10 N combining ceiling is our convention</a:t>
                      </a:r>
                    </a:p>
                  </a:txBody>
                  <a:tcPr anchor="ctr" marL="70000" marR="70000">
                    <a:solidFill>
                      <a:srgbClr val="F2F2F2"/>
                    </a:solidFill>
                  </a:tcPr>
                </a:tc>
                <a:tc>
                  <a:txBody>
                    <a:bodyPr wrap="square"/>
                    <a:lstStyle/>
                    <a:p>
                      <a:pPr algn="ctr"/>
                      <a:r>
                        <a:rPr sz="2700" b="0" i="0">
                          <a:solidFill>
                            <a:srgbClr val="000000"/>
                          </a:solidFill>
                          <a:latin typeface="Avenir Next Medium"/>
                        </a:rPr>
                        <a:t>A published paper had it first</a:t>
                      </a:r>
                    </a:p>
                  </a:txBody>
                  <a:tcPr anchor="ctr" marL="70000" marR="70000">
                    <a:solidFill>
                      <a:srgbClr val="F2F2F2"/>
                    </a:solidFill>
                  </a:tcPr>
                </a:tc>
                <a:tc>
                  <a:txBody>
                    <a:bodyPr wrap="square"/>
                    <a:lstStyle/>
                    <a:p>
                      <a:pPr algn="ctr"/>
                      <a:r>
                        <a:rPr sz="2700" b="0" i="0">
                          <a:solidFill>
                            <a:srgbClr val="000000"/>
                          </a:solidFill>
                          <a:latin typeface="Avenir Next Medium"/>
                        </a:rPr>
                        <a:t>Textbook prior art. Our part is quantifying it across four illuminators</a:t>
                      </a:r>
                    </a:p>
                  </a:txBody>
                  <a:tcPr anchor="ctr" marL="70000" marR="70000">
                    <a:solidFill>
                      <a:srgbClr val="F2F2F2"/>
                    </a:solidFill>
                  </a:tcPr>
                </a:tc>
              </a:tr>
              <a:tr h="960120">
                <a:tc>
                  <a:txBody>
                    <a:bodyPr wrap="square"/>
                    <a:lstStyle/>
                    <a:p>
                      <a:pPr algn="l"/>
                      <a:r>
                        <a:rPr sz="2700" b="1" i="0">
                          <a:solidFill>
                            <a:srgbClr val="000000"/>
                          </a:solidFill>
                          <a:latin typeface="AvenirNext-DemiBold"/>
                        </a:rPr>
                        <a:t>We had implemented TW-ILDC</a:t>
                      </a:r>
                    </a:p>
                  </a:txBody>
                  <a:tcPr anchor="ctr" marL="70000" marR="70000">
                    <a:solidFill>
                      <a:srgbClr val="FFFFFF"/>
                    </a:solidFill>
                  </a:tcPr>
                </a:tc>
                <a:tc>
                  <a:txBody>
                    <a:bodyPr wrap="square"/>
                    <a:lstStyle/>
                    <a:p>
                      <a:pPr algn="ctr"/>
                      <a:r>
                        <a:rPr sz="2700" b="0" i="0">
                          <a:solidFill>
                            <a:srgbClr val="000000"/>
                          </a:solidFill>
                          <a:latin typeface="Avenir Next Medium"/>
                        </a:rPr>
                        <a:t>Only the untruncated half is ours</a:t>
                      </a:r>
                    </a:p>
                  </a:txBody>
                  <a:tcPr anchor="ctr" marL="70000" marR="70000">
                    <a:solidFill>
                      <a:srgbClr val="FFFFFF"/>
                    </a:solidFill>
                  </a:tcPr>
                </a:tc>
                <a:tc>
                  <a:txBody>
                    <a:bodyPr wrap="square"/>
                    <a:lstStyle/>
                    <a:p>
                      <a:pPr algn="ctr"/>
                      <a:r>
                        <a:rPr sz="2700" b="0" i="0">
                          <a:solidFill>
                            <a:srgbClr val="000000"/>
                          </a:solidFill>
                          <a:latin typeface="Avenir Next Medium"/>
                        </a:rPr>
                        <a:t>Untruncated Michaeli PTD-EEC, first order, and not yet in the production kernel</a:t>
                      </a:r>
                    </a:p>
                  </a:txBody>
                  <a:tcPr anchor="ctr" marL="70000" marR="70000">
                    <a:solidFill>
                      <a:srgbClr val="FFFFFF"/>
                    </a:solidFill>
                  </a:tcPr>
                </a:tc>
              </a:tr>
              <a:tr h="960120">
                <a:tc>
                  <a:txBody>
                    <a:bodyPr wrap="square"/>
                    <a:lstStyle/>
                    <a:p>
                      <a:pPr algn="l"/>
                      <a:r>
                        <a:rPr sz="2700" b="1" i="0">
                          <a:solidFill>
                            <a:srgbClr val="000000"/>
                          </a:solidFill>
                          <a:latin typeface="AvenirNext-DemiBold"/>
                        </a:rPr>
                        <a:t>Sweeping azimuth moves geometry by 23.17 dB</a:t>
                      </a:r>
                    </a:p>
                  </a:txBody>
                  <a:tcPr anchor="ctr" marL="70000" marR="70000">
                    <a:solidFill>
                      <a:srgbClr val="F2F2F2"/>
                    </a:solidFill>
                  </a:tcPr>
                </a:tc>
                <a:tc>
                  <a:txBody>
                    <a:bodyPr wrap="square"/>
                    <a:lstStyle/>
                    <a:p>
                      <a:pPr algn="ctr"/>
                      <a:r>
                        <a:rPr sz="2700" b="0" i="0">
                          <a:solidFill>
                            <a:srgbClr val="000000"/>
                          </a:solidFill>
                          <a:latin typeface="Avenir Next Medium"/>
                        </a:rPr>
                        <a:t>We ran the sweep, 72 azimuths</a:t>
                      </a:r>
                    </a:p>
                  </a:txBody>
                  <a:tcPr anchor="ctr" marL="70000" marR="70000">
                    <a:solidFill>
                      <a:srgbClr val="F2F2F2"/>
                    </a:solidFill>
                  </a:tcPr>
                </a:tc>
                <a:tc>
                  <a:txBody>
                    <a:bodyPr wrap="square"/>
                    <a:lstStyle/>
                    <a:p>
                      <a:pPr algn="ctr"/>
                      <a:r>
                        <a:rPr sz="2700" b="0" i="0">
                          <a:solidFill>
                            <a:srgbClr val="000000"/>
                          </a:solidFill>
                          <a:latin typeface="Avenir Next Medium"/>
                        </a:rPr>
                        <a:t>That value tracked the altitude difference. Azimuth moves R90 by 0.48 percent</a:t>
                      </a:r>
                    </a:p>
                  </a:txBody>
                  <a:tcPr anchor="ctr" marL="70000" marR="70000">
                    <a:solidFill>
                      <a:srgbClr val="F2F2F2"/>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The third correction made our own conclusion stronger, not weaker.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5 · METHOD</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machinery that caught them</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Four record errors this round were caught by </a:t>
            </a:r>
            <a:r>
              <a:rPr sz="3700" b="1" i="0">
                <a:solidFill>
                  <a:srgbClr val="E22146"/>
                </a:solidFill>
                <a:latin typeface="AvenirNext-DemiBold"/>
              </a:rPr>
              <a:t>a build script, not by a careful reader</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Re-check every quote</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matrix build re-opens each PDF and matches the quoted sentence on every run. 80 of 80 passed, and it caught a wrong venue and a misquoted sentence.</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Recompute every headline</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fact base recomputes each headline number from the upstream file instead of storing it. That caught two errors inside our own draft.</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Name the corpus</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Every count now carries the corpus it came from. Counting diffraction mentions gives three different answers across three different corpora.</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Open the source</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 claim is quoted from a source we opened, or computed from a file on disk. Anything else is labelled unverified or left out of the deck.</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rule that runs only when we remember it is not a rule. These run on every build.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5 · OPEN</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still cannot say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gaps closed this round. Here are </a:t>
            </a:r>
            <a:r>
              <a:rPr sz="3700" b="1" i="0">
                <a:solidFill>
                  <a:srgbClr val="E22146"/>
                </a:solidFill>
                <a:latin typeface="AvenirNext-DemiBold"/>
              </a:rPr>
              <a:t>four that did not</a:t>
            </a:r>
            <a:r>
              <a:rPr sz="3700" b="1" i="0">
                <a:solidFill>
                  <a:srgbClr val="000000"/>
                </a:solidFill>
                <a:latin typeface="AvenirNext-DemiBold"/>
              </a:rPr>
              <a:t>.</a:t>
            </a:r>
          </a:p>
        </p:txBody>
      </p:sp>
      <p:sp>
        <p:nvSpPr>
          <p:cNvPr id="5" name="Rectangle 4"/>
          <p:cNvSpPr/>
          <p:nvPr/>
        </p:nvSpPr>
        <p:spPr>
          <a:xfrm>
            <a:off x="719328"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Quote coverage</a:t>
            </a:r>
          </a:p>
        </p:txBody>
      </p:sp>
      <p:sp>
        <p:nvSpPr>
          <p:cNvPr id="7" name="Rectangle 6"/>
          <p:cNvSpPr/>
          <p:nvPr/>
        </p:nvSpPr>
        <p:spPr>
          <a:xfrm>
            <a:off x="719328"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Only the 26 matrix rows are quote-verified. The wider bibliography of 81 venue entries is mostly bibliographic, and we do not call it verified.</a:t>
            </a:r>
          </a:p>
        </p:txBody>
      </p:sp>
      <p:sp>
        <p:nvSpPr>
          <p:cNvPr id="9" name="Rectangle 8"/>
          <p:cNvSpPr/>
          <p:nvPr/>
        </p:nvSpPr>
        <p:spPr>
          <a:xfrm>
            <a:off x="12904013"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Structural blind spot</a:t>
            </a:r>
          </a:p>
        </p:txBody>
      </p:sp>
      <p:sp>
        <p:nvSpPr>
          <p:cNvPr id="11" name="Rectangle 10"/>
          <p:cNvSpPr/>
          <p:nvPr/>
        </p:nvSpPr>
        <p:spPr>
          <a:xfrm>
            <a:off x="12904013"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automated venue sweep used dblp, which does not index IEEE TAP, AWPL, EuCAP, IET RSN or TMTT. There, not found means not looked at.</a:t>
            </a:r>
          </a:p>
        </p:txBody>
      </p:sp>
      <p:sp>
        <p:nvSpPr>
          <p:cNvPr id="13" name="Rectangle 12"/>
          <p:cNvSpPr/>
          <p:nvPr/>
        </p:nvSpPr>
        <p:spPr>
          <a:xfrm>
            <a:off x="719328"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Sigma grid coverage</a:t>
            </a:r>
          </a:p>
        </p:txBody>
      </p:sp>
      <p:sp>
        <p:nvSpPr>
          <p:cNvPr id="15" name="Rectangle 14"/>
          <p:cNvSpPr/>
          <p:nvPr/>
        </p:nvSpPr>
        <p:spPr>
          <a:xfrm>
            <a:off x="719328"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azimuth sweep closed one gap and opened another. Our cross-section grid stores a narrow band of elevation angles, and the steep look-down geometries fall outside it and clamp at the edge.</a:t>
            </a:r>
          </a:p>
        </p:txBody>
      </p:sp>
      <p:sp>
        <p:nvSpPr>
          <p:cNvPr id="17" name="Rectangle 16"/>
          <p:cNvSpPr/>
          <p:nvPr/>
        </p:nvSpPr>
        <p:spPr>
          <a:xfrm>
            <a:off x="12904013"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Second-hand spec</a:t>
            </a:r>
          </a:p>
        </p:txBody>
      </p:sp>
      <p:sp>
        <p:nvSpPr>
          <p:cNvPr id="19" name="Rectangle 18"/>
          <p:cNvSpPr/>
          <p:nvPr/>
        </p:nvSpPr>
        <p:spPr>
          <a:xfrm>
            <a:off x="12904013"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500 Hz reference-signal ceiling is quoted from 3GPP TS 38.331 at second hand. We have not opened the specification ourselves.</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We can say no row of the 26 we opened fills these axes. We cannot say first in the world.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CLOSING · 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candidate directions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are named by </a:t>
            </a:r>
            <a:r>
              <a:rPr sz="3700" b="1" i="0">
                <a:solidFill>
                  <a:srgbClr val="E22146"/>
                </a:solidFill>
                <a:latin typeface="AvenirNext-DemiBold"/>
              </a:rPr>
              <a:t>a gap on this deck</a:t>
            </a:r>
            <a:r>
              <a:rPr sz="3700" b="1" i="0">
                <a:solidFill>
                  <a:srgbClr val="000000"/>
                </a:solidFill>
                <a:latin typeface="AvenirNext-DemiBold"/>
              </a:rPr>
              <a:t> rather than by a new idea</a:t>
            </a:r>
          </a:p>
        </p:txBody>
      </p:sp>
      <p:sp>
        <p:nvSpPr>
          <p:cNvPr id="5" name="Rectangle 4"/>
          <p:cNvSpPr/>
          <p:nvPr/>
        </p:nvSpPr>
        <p:spPr>
          <a:xfrm>
            <a:off x="719328"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A   </a:t>
            </a:r>
            <a:r>
              <a:rPr sz="3000" b="1" i="0">
                <a:solidFill>
                  <a:srgbClr val="FFFFFF"/>
                </a:solidFill>
                <a:latin typeface="AvenirNext-DemiBold"/>
              </a:rPr>
              <a:t>Recompute what the sweep exposed</a:t>
            </a:r>
          </a:p>
        </p:txBody>
      </p:sp>
      <p:sp>
        <p:nvSpPr>
          <p:cNvPr id="7" name="Rectangle 6"/>
          <p:cNvSpPr/>
          <p:nvPr/>
        </p:nvSpPr>
        <p:spPr>
          <a:xfrm>
            <a:off x="719328"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azimuth sweep is done and R90 moves by 0.48 percent across it. What it exposed instead is that steep look-down geometries fall outside the elevation range our cross-section grid stores, so those numbers need recomputing.</a:t>
            </a:r>
          </a:p>
        </p:txBody>
      </p:sp>
      <p:sp>
        <p:nvSpPr>
          <p:cNvPr id="9" name="Rectangle 8"/>
          <p:cNvSpPr/>
          <p:nvPr/>
        </p:nvSpPr>
        <p:spPr>
          <a:xfrm>
            <a:off x="12904013"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B   </a:t>
            </a:r>
            <a:r>
              <a:rPr sz="3000" b="1" i="0">
                <a:solidFill>
                  <a:srgbClr val="FFFFFF"/>
                </a:solidFill>
                <a:latin typeface="AvenirNext-DemiBold"/>
              </a:rPr>
              <a:t>Add an edge term as a diagnostic</a:t>
            </a:r>
          </a:p>
        </p:txBody>
      </p:sp>
      <p:sp>
        <p:nvSpPr>
          <p:cNvPr id="11" name="Rectangle 10"/>
          <p:cNvSpPr/>
          <p:nvPr/>
        </p:nvSpPr>
        <p:spPr>
          <a:xfrm>
            <a:off x="12904013"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Fill the empty diffraction cell with a physical-theory-of-diffraction correction inside our own surface integral. Our frequency slope is 3.5 to 8.1 times the measured anchor, and whether an edge term narrows it is untested.</a:t>
            </a:r>
          </a:p>
        </p:txBody>
      </p:sp>
      <p:sp>
        <p:nvSpPr>
          <p:cNvPr id="13" name="Rectangle 12"/>
          <p:cNvSpPr/>
          <p:nvPr/>
        </p:nvSpPr>
        <p:spPr>
          <a:xfrm>
            <a:off x="719328"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C   </a:t>
            </a:r>
            <a:r>
              <a:rPr sz="3000" b="1" i="0">
                <a:solidFill>
                  <a:srgbClr val="FFFFFF"/>
                </a:solidFill>
                <a:latin typeface="AvenirNext-DemiBold"/>
              </a:rPr>
              <a:t>Order, and why</a:t>
            </a:r>
          </a:p>
        </p:txBody>
      </p:sp>
      <p:sp>
        <p:nvSpPr>
          <p:cNvPr id="15" name="Rectangle 14"/>
          <p:cNvSpPr/>
          <p:nvPr/>
        </p:nvSpPr>
        <p:spPr>
          <a:xfrm>
            <a:off x="719328"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A first. It is cheap, it is bounded, and it can only move numbers we have already published. B is open-ended, so we would report it as a diagnostic and never as a promised fix.</a:t>
            </a:r>
          </a:p>
        </p:txBody>
      </p:sp>
      <p:sp>
        <p:nvSpPr>
          <p:cNvPr id="17" name="Rectangle 16"/>
          <p:cNvSpPr/>
          <p:nvPr/>
        </p:nvSpPr>
        <p:spPr>
          <a:xfrm>
            <a:off x="12904013"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D   </a:t>
            </a:r>
            <a:r>
              <a:rPr sz="3000" b="1" i="0">
                <a:solidFill>
                  <a:srgbClr val="FFFFFF"/>
                </a:solidFill>
                <a:latin typeface="AvenirNext-DemiBold"/>
              </a:rPr>
              <a:t>Not next: rotor motion</a:t>
            </a:r>
          </a:p>
        </p:txBody>
      </p:sp>
      <p:sp>
        <p:nvSpPr>
          <p:cNvPr id="19" name="Rectangle 18"/>
          <p:cNvSpPr/>
          <p:nvPr/>
        </p:nvSpPr>
        <p:spPr>
          <a:xfrm>
            <a:off x="12904013"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A real capability gap that our matrix row prints empty. We would rather leave it empty than half-claim it, so it stays in future work until someone computes it.</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first, because it is the cheapest way to test a conclusion we have already published.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CLOSING</a:t>
            </a:r>
          </a:p>
        </p:txBody>
      </p:sp>
      <p:sp>
        <p:nvSpPr>
          <p:cNvPr id="3" name="TextBox 2"/>
          <p:cNvSpPr txBox="1"/>
          <p:nvPr/>
        </p:nvSpPr>
        <p:spPr>
          <a:xfrm>
            <a:off x="1950720" y="3596640"/>
            <a:ext cx="20482560" cy="3779520"/>
          </a:xfrm>
          <a:prstGeom prst="rect">
            <a:avLst/>
          </a:prstGeom>
          <a:noFill/>
        </p:spPr>
        <p:txBody>
          <a:bodyPr wrap="square" anchor="ctr" lIns="0" rIns="0" tIns="0" bIns="0">
            <a:spAutoFit/>
          </a:bodyPr>
          <a:lstStyle/>
          <a:p>
            <a:pPr algn="ctr"/>
            <a:r>
              <a:rPr sz="4600" b="1" i="0">
                <a:solidFill>
                  <a:srgbClr val="000000"/>
                </a:solidFill>
                <a:latin typeface="AvenirNext-DemiBold"/>
              </a:rPr>
              <a:t>We claim no new physics. We claim the chain: an airframe mesh, a material-weighted scattering integral, three geometries crossed with three illuminators, and a known velocity limit evaluated across four standards under one convention, carried to a calibrated detection.</a:t>
            </a:r>
          </a:p>
        </p:txBody>
      </p:sp>
      <p:sp>
        <p:nvSpPr>
          <p:cNvPr id="4" name="TextBox 3"/>
          <p:cNvSpPr txBox="1"/>
          <p:nvPr/>
        </p:nvSpPr>
        <p:spPr>
          <a:xfrm>
            <a:off x="2926080" y="7650480"/>
            <a:ext cx="18531840" cy="2194560"/>
          </a:xfrm>
          <a:prstGeom prst="rect">
            <a:avLst/>
          </a:prstGeom>
          <a:noFill/>
        </p:spPr>
        <p:txBody>
          <a:bodyPr wrap="square" anchor="t" lIns="0" rIns="0" tIns="0" bIns="0">
            <a:spAutoFit/>
          </a:bodyPr>
          <a:lstStyle/>
          <a:p>
            <a:pPr algn="ctr"/>
            <a:r>
              <a:rPr sz="3700" b="0" i="0">
                <a:solidFill>
                  <a:srgbClr val="5E5E5E"/>
                </a:solidFill>
                <a:latin typeface="Avenir Next Medium"/>
              </a:rPr>
              <a:t>A combination no row in the 26 papers we opened fills, and one where two of our own columns are still empty</a:t>
            </a:r>
          </a:p>
        </p:txBody>
      </p:sp>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Two qualifiers are load-bearing: illuminator type, and through a scattering integral.</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