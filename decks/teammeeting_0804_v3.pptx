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18"/>
  </p:notesMasterIdLst>
  <p:handoutMasterIdLst>
    <p:handoutMasterId r:id="rId19"/>
  </p:handoutMasterIdLst>
  <p:sldIdLst>
    <p:sldId id="368" r:id="rId2"/>
    <p:sldId id="369" r:id="rId9"/>
    <p:sldId id="370" r:id="rId10"/>
    <p:sldId id="371" r:id="rId11"/>
    <p:sldId id="372" r:id="rId12"/>
    <p:sldId id="373" r:id="rId13"/>
    <p:sldId id="374" r:id="rId14"/>
    <p:sldId id="375" r:id="rId15"/>
    <p:sldId id="376" r:id="rId16"/>
    <p:sldId id="377" r:id="rId17"/>
    <p:sldId id="378" r:id="rId8"/>
  </p:sldIdLst>
  <p:sldSz cx="24384000" cy="13716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lvl1pPr>
    <a:lvl2pPr marL="0" marR="0" indent="45720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lvl2pPr>
    <a:lvl3pPr marL="0" marR="0" indent="91440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lvl3pPr>
    <a:lvl4pPr marL="0" marR="0" indent="137160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lvl4pPr>
    <a:lvl5pPr marL="0" marR="0" indent="182880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lvl5pPr>
    <a:lvl6pPr marL="0" marR="0" indent="228600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lvl6pPr>
    <a:lvl7pPr marL="0" marR="0" indent="274320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lvl7pPr>
    <a:lvl8pPr marL="0" marR="0" indent="320040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lvl8pPr>
    <a:lvl9pPr marL="0" marR="0" indent="365760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9D3DA"/>
    <a:srgbClr val="FFFFFF"/>
    <a:srgbClr val="F2F2F2"/>
    <a:srgbClr val="00B0F0"/>
    <a:srgbClr val="4285F5"/>
    <a:srgbClr val="F7FAF7"/>
    <a:srgbClr val="434DD6"/>
    <a:srgbClr val="629AF7"/>
    <a:srgbClr val="8E8A8A"/>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940675A-B579-460E-94D1-54222C63F5DA}">
  <a:tblStyle styleId="{4C3C2611-4C71-4FC5-86AE-919BDF0F9419}"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wholeTbl>
    <a:band2H>
      <a:tcTxStyle/>
      <a:tcStyle>
        <a:tcBdr/>
        <a:fill>
          <a:solidFill>
            <a:srgbClr val="E3E5E8"/>
          </a:solidFill>
        </a:fill>
      </a:tcStyle>
    </a:band2H>
    <a:firstCol>
      <a:tcTxStyle b="on" i="off">
        <a:font>
          <a:latin typeface="AvenirNext-DemiBold"/>
          <a:ea typeface="AvenirNext-DemiBold"/>
          <a:cs typeface="AvenirNext-DemiBold"/>
        </a:font>
        <a:srgbClr val="000000"/>
      </a:tcTxStyle>
      <a:tcStyle>
        <a:tcBdr>
          <a:left>
            <a:ln w="12700" cap="flat">
              <a:solidFill>
                <a:srgbClr val="000000"/>
              </a:solidFill>
              <a:prstDash val="solid"/>
              <a:miter lim="400000"/>
            </a:ln>
          </a:left>
          <a:right>
            <a:ln w="381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Col>
    <a:lastRow>
      <a:tcTxStyle b="on" i="off">
        <a:font>
          <a:latin typeface="AvenirNext-DemiBold"/>
          <a:ea typeface="AvenirNext-DemiBold"/>
          <a:cs typeface="AvenirNext-DemiBold"/>
        </a:font>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n" i="off">
        <a:font>
          <a:latin typeface="AvenirNext-DemiBold"/>
          <a:ea typeface="AvenirNext-DemiBold"/>
          <a:cs typeface="AvenirNext-DemiBold"/>
        </a:font>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381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Row>
  </a:tblStyle>
  <a:tblStyle styleId="{C7B018BB-80A7-4F77-B60F-C8B233D01FF8}" styleName="">
    <a:tblBg/>
    <a:wholeTbl>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wholeTbl>
    <a:band2H>
      <a:tcTxStyle/>
      <a:tcStyle>
        <a:tcBdr/>
        <a:fill>
          <a:solidFill>
            <a:srgbClr val="E3E5E8"/>
          </a:solidFill>
        </a:fill>
      </a:tcStyle>
    </a:band2H>
    <a:firstCol>
      <a:tcTxStyle b="on" i="off">
        <a:font>
          <a:latin typeface="AvenirNext-DemiBold"/>
          <a:ea typeface="AvenirNext-DemiBold"/>
          <a:cs typeface="AvenirNext-DemiBold"/>
        </a:font>
        <a:srgbClr val="000000"/>
      </a:tcTxStyle>
      <a:tcStyle>
        <a:tcBdr>
          <a:left>
            <a:ln w="12700" cap="flat">
              <a:solidFill>
                <a:srgbClr val="000000"/>
              </a:solidFill>
              <a:prstDash val="solid"/>
              <a:miter lim="400000"/>
            </a:ln>
          </a:left>
          <a:right>
            <a:ln w="25400" cap="flat">
              <a:solidFill>
                <a:srgbClr val="000000"/>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firstCol>
    <a:lastRow>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lastRow>
    <a:firstRow>
      <a:tcTxStyle b="on" i="off">
        <a:font>
          <a:latin typeface="AvenirNext-DemiBold"/>
          <a:ea typeface="AvenirNext-DemiBold"/>
          <a:cs typeface="AvenirNext-DemiBold"/>
        </a:font>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solidFill>
            <a:schemeClr val="accent1">
              <a:hueOff val="-217956"/>
              <a:satOff val="14368"/>
              <a:lumOff val="17764"/>
            </a:schemeClr>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838383"/>
              </a:solidFill>
              <a:prstDash val="solid"/>
              <a:miter lim="400000"/>
            </a:ln>
          </a:left>
          <a:right>
            <a:ln w="12700" cap="flat">
              <a:solidFill>
                <a:srgbClr val="838383"/>
              </a:solidFill>
              <a:prstDash val="solid"/>
              <a:miter lim="400000"/>
            </a:ln>
          </a:right>
          <a:top>
            <a:ln w="12700" cap="flat">
              <a:solidFill>
                <a:srgbClr val="838383"/>
              </a:solidFill>
              <a:prstDash val="solid"/>
              <a:miter lim="400000"/>
            </a:ln>
          </a:top>
          <a:bottom>
            <a:ln w="12700" cap="flat">
              <a:solidFill>
                <a:srgbClr val="838383"/>
              </a:solidFill>
              <a:prstDash val="solid"/>
              <a:miter lim="400000"/>
            </a:ln>
          </a:bottom>
          <a:insideH>
            <a:ln w="12700" cap="flat">
              <a:solidFill>
                <a:srgbClr val="838383"/>
              </a:solidFill>
              <a:prstDash val="solid"/>
              <a:miter lim="400000"/>
            </a:ln>
          </a:insideH>
          <a:insideV>
            <a:ln w="12700" cap="flat">
              <a:solidFill>
                <a:srgbClr val="838383"/>
              </a:solidFill>
              <a:prstDash val="solid"/>
              <a:miter lim="400000"/>
            </a:ln>
          </a:insideV>
        </a:tcBdr>
        <a:fill>
          <a:noFill/>
        </a:fill>
      </a:tcStyle>
    </a:wholeTbl>
    <a:band2H>
      <a:tcTxStyle/>
      <a:tcStyle>
        <a:tcBdr/>
        <a:fill>
          <a:solidFill>
            <a:srgbClr val="ECEEEE"/>
          </a:solidFill>
        </a:fill>
      </a:tcStyle>
    </a:band2H>
    <a:firstCol>
      <a:tcTxStyle b="on" i="off">
        <a:font>
          <a:latin typeface="AvenirNext-DemiBold"/>
          <a:ea typeface="AvenirNext-DemiBold"/>
          <a:cs typeface="AvenirNext-DemiBold"/>
        </a:font>
        <a:srgbClr val="000000"/>
      </a:tcTxStyle>
      <a:tcStyle>
        <a:tcBdr>
          <a:left>
            <a:ln w="12700" cap="flat">
              <a:solidFill>
                <a:srgbClr val="4D4D4D"/>
              </a:solidFill>
              <a:prstDash val="solid"/>
              <a:miter lim="400000"/>
            </a:ln>
          </a:left>
          <a:right>
            <a:ln w="12700" cap="flat">
              <a:solidFill>
                <a:srgbClr val="808080"/>
              </a:solidFill>
              <a:prstDash val="solid"/>
              <a:miter lim="400000"/>
            </a:ln>
          </a:right>
          <a:top>
            <a:ln w="12700" cap="flat">
              <a:solidFill>
                <a:srgbClr val="808080"/>
              </a:solidFill>
              <a:prstDash val="solid"/>
              <a:miter lim="400000"/>
            </a:ln>
          </a:top>
          <a:bottom>
            <a:ln w="12700" cap="flat">
              <a:solidFill>
                <a:srgbClr val="808080"/>
              </a:solidFill>
              <a:prstDash val="solid"/>
              <a:miter lim="400000"/>
            </a:ln>
          </a:bottom>
          <a:insideH>
            <a:ln w="12700" cap="flat">
              <a:solidFill>
                <a:srgbClr val="808080"/>
              </a:solidFill>
              <a:prstDash val="solid"/>
              <a:miter lim="400000"/>
            </a:ln>
          </a:insideH>
          <a:insideV>
            <a:ln w="12700" cap="flat">
              <a:solidFill>
                <a:srgbClr val="808080"/>
              </a:solidFill>
              <a:prstDash val="solid"/>
              <a:miter lim="400000"/>
            </a:ln>
          </a:insideV>
        </a:tcBdr>
        <a:fill>
          <a:solidFill>
            <a:schemeClr val="accent3">
              <a:hueOff val="571091"/>
              <a:satOff val="15926"/>
              <a:lumOff val="22314"/>
            </a:schemeClr>
          </a:solidFill>
        </a:fill>
      </a:tcStyle>
    </a:firstCol>
    <a:lastRow>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rgbClr val="45B43B"/>
              </a:solidFill>
              <a:prstDash val="solid"/>
              <a:miter lim="400000"/>
            </a:ln>
          </a:top>
          <a:bottom>
            <a:ln w="12700" cap="flat">
              <a:solidFill>
                <a:srgbClr val="4D4D4D"/>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n" i="off">
        <a:font>
          <a:latin typeface="AvenirNext-DemiBold"/>
          <a:ea typeface="AvenirNext-DemiBold"/>
          <a:cs typeface="AvenirNext-DemiBold"/>
        </a:font>
        <a:srgbClr val="000000"/>
      </a:tcTxStyle>
      <a:tcStyle>
        <a:tcBdr>
          <a:left>
            <a:ln w="12700" cap="flat">
              <a:solidFill>
                <a:srgbClr val="4D4D4D"/>
              </a:solidFill>
              <a:prstDash val="solid"/>
              <a:miter lim="400000"/>
            </a:ln>
          </a:left>
          <a:right>
            <a:ln w="12700" cap="flat">
              <a:solidFill>
                <a:srgbClr val="4D4D4D"/>
              </a:solidFill>
              <a:prstDash val="solid"/>
              <a:miter lim="400000"/>
            </a:ln>
          </a:right>
          <a:top>
            <a:ln w="12700" cap="flat">
              <a:solidFill>
                <a:srgbClr val="4D4D4D"/>
              </a:solidFill>
              <a:prstDash val="solid"/>
              <a:miter lim="400000"/>
            </a:ln>
          </a:top>
          <a:bottom>
            <a:ln w="12700" cap="flat">
              <a:solidFill>
                <a:srgbClr val="4D4D4D"/>
              </a:solidFill>
              <a:prstDash val="solid"/>
              <a:miter lim="400000"/>
            </a:ln>
          </a:bottom>
          <a:insideH>
            <a:ln w="12700" cap="flat">
              <a:solidFill>
                <a:srgbClr val="4D4D4D"/>
              </a:solidFill>
              <a:prstDash val="solid"/>
              <a:miter lim="400000"/>
            </a:ln>
          </a:insideH>
          <a:insideV>
            <a:ln w="12700" cap="flat">
              <a:solidFill>
                <a:srgbClr val="4D4D4D"/>
              </a:solidFill>
              <a:prstDash val="solid"/>
              <a:miter lim="400000"/>
            </a:ln>
          </a:insideV>
        </a:tcBdr>
        <a:fill>
          <a:solidFill>
            <a:srgbClr val="45B43B"/>
          </a:solidFill>
        </a:fill>
      </a:tcStyle>
    </a:firstRow>
  </a:tblStyle>
  <a:tblStyle styleId="{CF821DB8-F4EB-4A41-A1BA-3FCAFE7338EE}" styleName="">
    <a:tblBg/>
    <a:wholeTbl>
      <a:tcTxStyle b="off" i="off">
        <a:fontRef idx="minor">
          <a:srgbClr val="000000"/>
        </a:fontRef>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wholeTbl>
    <a:band2H>
      <a:tcTxStyle/>
      <a:tcStyle>
        <a:tcBdr/>
        <a:fill>
          <a:solidFill>
            <a:schemeClr val="accent4">
              <a:hueOff val="349036"/>
              <a:lumOff val="17111"/>
            </a:schemeClr>
          </a:solidFill>
        </a:fill>
      </a:tcStyle>
    </a:band2H>
    <a:firstCol>
      <a:tcTxStyle b="on" i="off">
        <a:font>
          <a:latin typeface="AvenirNext-DemiBold"/>
          <a:ea typeface="AvenirNext-DemiBold"/>
          <a:cs typeface="AvenirNext-DemiBold"/>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FBD17"/>
          </a:solidFill>
        </a:fill>
      </a:tcStyle>
    </a:firstCol>
    <a:lastRow>
      <a:tcTxStyle b="on" i="off">
        <a:font>
          <a:latin typeface="AvenirNext-DemiBold"/>
          <a:ea typeface="AvenirNext-DemiBold"/>
          <a:cs typeface="AvenirNext-DemiBold"/>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38100" cap="flat">
              <a:solidFill>
                <a:srgbClr val="FFBD17"/>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lastRow>
    <a:firstRow>
      <a:tcTxStyle b="on" i="off">
        <a:font>
          <a:latin typeface="AvenirNext-DemiBold"/>
          <a:ea typeface="AvenirNext-DemiBold"/>
          <a:cs typeface="AvenirNext-DemiBold"/>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F8A25"/>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5E5E5E"/>
              </a:solidFill>
              <a:prstDash val="solid"/>
              <a:miter lim="400000"/>
            </a:ln>
          </a:left>
          <a:right>
            <a:ln w="12700" cap="flat">
              <a:solidFill>
                <a:srgbClr val="5E5E5E"/>
              </a:solidFill>
              <a:prstDash val="solid"/>
              <a:miter lim="400000"/>
            </a:ln>
          </a:right>
          <a:top>
            <a:ln w="12700" cap="flat">
              <a:solidFill>
                <a:srgbClr val="5E5E5E"/>
              </a:solidFill>
              <a:prstDash val="solid"/>
              <a:miter lim="400000"/>
            </a:ln>
          </a:top>
          <a:bottom>
            <a:ln w="12700" cap="flat">
              <a:solidFill>
                <a:srgbClr val="5E5E5E"/>
              </a:solidFill>
              <a:prstDash val="solid"/>
              <a:miter lim="400000"/>
            </a:ln>
          </a:bottom>
          <a:insideH>
            <a:ln w="12700" cap="flat">
              <a:solidFill>
                <a:srgbClr val="5E5E5E"/>
              </a:solidFill>
              <a:prstDash val="solid"/>
              <a:miter lim="400000"/>
            </a:ln>
          </a:insideH>
          <a:insideV>
            <a:ln w="12700" cap="flat">
              <a:solidFill>
                <a:srgbClr val="5E5E5E"/>
              </a:solidFill>
              <a:prstDash val="solid"/>
              <a:miter lim="400000"/>
            </a:ln>
          </a:insideV>
        </a:tcBdr>
        <a:fill>
          <a:noFill/>
        </a:fill>
      </a:tcStyle>
    </a:wholeTbl>
    <a:band2H>
      <a:tcTxStyle/>
      <a:tcStyle>
        <a:tcBdr/>
        <a:fill>
          <a:solidFill>
            <a:srgbClr val="ECEEEF"/>
          </a:solidFill>
        </a:fill>
      </a:tcStyle>
    </a:band2H>
    <a:firstCol>
      <a:tcTxStyle b="on" i="off">
        <a:font>
          <a:latin typeface="AvenirNext-DemiBold"/>
          <a:ea typeface="AvenirNext-DemiBold"/>
          <a:cs typeface="AvenirNext-DemiBold"/>
        </a:font>
        <a:srgbClr val="FFFFFF"/>
      </a:tcTxStyle>
      <a:tcStyle>
        <a:tcBdr>
          <a:left>
            <a:ln w="12700" cap="flat">
              <a:solidFill>
                <a:srgbClr val="A6AAA9"/>
              </a:solidFill>
              <a:prstDash val="solid"/>
              <a:miter lim="400000"/>
            </a:ln>
          </a:left>
          <a:right>
            <a:ln w="12700" cap="flat">
              <a:solidFill>
                <a:srgbClr val="5E5E5E"/>
              </a:solidFill>
              <a:prstDash val="solid"/>
              <a:miter lim="400000"/>
            </a:ln>
          </a:right>
          <a:top>
            <a:ln w="12700" cap="flat">
              <a:solidFill>
                <a:srgbClr val="5E5E5E"/>
              </a:solidFill>
              <a:prstDash val="solid"/>
              <a:miter lim="400000"/>
            </a:ln>
          </a:top>
          <a:bottom>
            <a:ln w="12700" cap="flat">
              <a:solidFill>
                <a:srgbClr val="5E5E5E"/>
              </a:solidFill>
              <a:prstDash val="solid"/>
              <a:miter lim="400000"/>
            </a:ln>
          </a:bottom>
          <a:insideH>
            <a:ln w="12700" cap="flat">
              <a:solidFill>
                <a:srgbClr val="5E5E5E"/>
              </a:solidFill>
              <a:prstDash val="solid"/>
              <a:miter lim="400000"/>
            </a:ln>
          </a:insideH>
          <a:insideV>
            <a:ln w="12700" cap="flat">
              <a:solidFill>
                <a:srgbClr val="5E5E5E"/>
              </a:solidFill>
              <a:prstDash val="solid"/>
              <a:miter lim="400000"/>
            </a:ln>
          </a:insideV>
        </a:tcBdr>
        <a:fill>
          <a:solidFill>
            <a:srgbClr val="32C5B9"/>
          </a:solidFill>
        </a:fill>
      </a:tcStyle>
    </a:firstCol>
    <a:lastRow>
      <a:tcTxStyle b="on" i="off">
        <a:font>
          <a:latin typeface="AvenirNext-DemiBold"/>
          <a:ea typeface="AvenirNext-DemiBold"/>
          <a:cs typeface="AvenirNext-DemiBold"/>
        </a:font>
        <a:srgbClr val="000000"/>
      </a:tcTxStyle>
      <a:tcStyle>
        <a:tcBdr>
          <a:left>
            <a:ln w="12700" cap="flat">
              <a:solidFill>
                <a:srgbClr val="A6AAA9"/>
              </a:solidFill>
              <a:prstDash val="solid"/>
              <a:miter lim="400000"/>
            </a:ln>
          </a:left>
          <a:right>
            <a:ln w="12700" cap="flat">
              <a:solidFill>
                <a:srgbClr val="A6AAA9"/>
              </a:solidFill>
              <a:prstDash val="solid"/>
              <a:miter lim="400000"/>
            </a:ln>
          </a:right>
          <a:top>
            <a:ln w="38100" cap="flat">
              <a:solidFill>
                <a:schemeClr val="accent2">
                  <a:hueOff val="240640"/>
                  <a:satOff val="2542"/>
                  <a:lumOff val="-13198"/>
                </a:schemeClr>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FFFFFF"/>
          </a:solidFill>
        </a:fill>
      </a:tcStyle>
    </a:lastRow>
    <a:firstRow>
      <a:tcTxStyle b="on" i="off">
        <a:font>
          <a:latin typeface="AvenirNext-DemiBold"/>
          <a:ea typeface="AvenirNext-DemiBold"/>
          <a:cs typeface="AvenirNext-DemiBold"/>
        </a:font>
        <a:srgbClr val="FFFFFF"/>
      </a:tcTxStyle>
      <a:tcStyle>
        <a:tcBdr>
          <a:left>
            <a:ln w="12700" cap="flat">
              <a:solidFill>
                <a:srgbClr val="5E5E5E"/>
              </a:solidFill>
              <a:prstDash val="solid"/>
              <a:miter lim="400000"/>
            </a:ln>
          </a:left>
          <a:right>
            <a:ln w="12700" cap="flat">
              <a:solidFill>
                <a:srgbClr val="5E5E5E"/>
              </a:solidFill>
              <a:prstDash val="solid"/>
              <a:miter lim="400000"/>
            </a:ln>
          </a:right>
          <a:top>
            <a:ln w="12700" cap="flat">
              <a:solidFill>
                <a:srgbClr val="A6AAA9"/>
              </a:solidFill>
              <a:prstDash val="solid"/>
              <a:miter lim="400000"/>
            </a:ln>
          </a:top>
          <a:bottom>
            <a:ln w="12700" cap="flat">
              <a:solidFill>
                <a:srgbClr val="5E5E5E"/>
              </a:solidFill>
              <a:prstDash val="solid"/>
              <a:miter lim="400000"/>
            </a:ln>
          </a:bottom>
          <a:insideH>
            <a:ln w="12700" cap="flat">
              <a:solidFill>
                <a:srgbClr val="5E5E5E"/>
              </a:solidFill>
              <a:prstDash val="solid"/>
              <a:miter lim="400000"/>
            </a:ln>
          </a:insideH>
          <a:insideV>
            <a:ln w="12700" cap="flat">
              <a:solidFill>
                <a:srgbClr val="5E5E5E"/>
              </a:solidFill>
              <a:prstDash val="solid"/>
              <a:miter lim="400000"/>
            </a:ln>
          </a:insideV>
        </a:tcBdr>
        <a:fill>
          <a:solidFill>
            <a:schemeClr val="accent2">
              <a:hueOff val="240640"/>
              <a:satOff val="2542"/>
              <a:lumOff val="-13198"/>
            </a:schemeClr>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wholeTbl>
    <a:band2H>
      <a:tcTxStyle/>
      <a:tcStyle>
        <a:tcBdr/>
        <a:fill>
          <a:solidFill>
            <a:srgbClr val="EDEEEF"/>
          </a:solidFill>
        </a:fill>
      </a:tcStyle>
    </a:band2H>
    <a:firstCol>
      <a:tcTxStyle b="on" i="off">
        <a:font>
          <a:latin typeface="AvenirNext-DemiBold"/>
          <a:ea typeface="AvenirNext-DemiBold"/>
          <a:cs typeface="AvenirNext-DemiBold"/>
        </a:font>
        <a:srgbClr val="000000"/>
      </a:tcTxStyle>
      <a:tcStyle>
        <a:tcBdr>
          <a:left>
            <a:ln w="12700" cap="flat">
              <a:solidFill>
                <a:srgbClr val="6C6C6C"/>
              </a:solidFill>
              <a:prstDash val="solid"/>
              <a:miter lim="400000"/>
            </a:ln>
          </a:left>
          <a:right>
            <a:ln w="254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firstCol>
    <a:lastRow>
      <a:tcTxStyle b="on" i="off">
        <a:font>
          <a:latin typeface="AvenirNext-DemiBold"/>
          <a:ea typeface="AvenirNext-DemiBold"/>
          <a:cs typeface="AvenirNext-DemiBold"/>
        </a:font>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25400" cap="flat">
              <a:solidFill>
                <a:srgbClr val="000000"/>
              </a:solidFill>
              <a:prstDash val="solid"/>
              <a:miter lim="400000"/>
            </a:ln>
          </a:top>
          <a:bottom>
            <a:ln w="12700" cap="flat">
              <a:solidFill>
                <a:srgbClr val="6C6C6C"/>
              </a:solidFill>
              <a:prstDash val="solid"/>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lastRow>
    <a:firstRow>
      <a:tcTxStyle b="on" i="off">
        <a:font>
          <a:latin typeface="AvenirNext-DemiBold"/>
          <a:ea typeface="AvenirNext-DemiBold"/>
          <a:cs typeface="AvenirNext-DemiBold"/>
        </a:font>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6C6C6C"/>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D6DCE0"/>
          </a:solidFill>
        </a:fill>
      </a:tcStyle>
    </a:firstRow>
  </a:tblStyle>
  <a:tblStyle styleId="{5940675A-B579-460E-94D1-54222C63F5DA}" styleName="스타일 없음, 표 눈금">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289"/>
    <p:restoredTop sz="80803" autoAdjust="0"/>
  </p:normalViewPr>
  <p:slideViewPr>
    <p:cSldViewPr snapToGrid="0">
      <p:cViewPr varScale="1">
        <p:scale>
          <a:sx n="89" d="100"/>
          <a:sy n="89" d="100"/>
        </p:scale>
        <p:origin x="1856" y="184"/>
      </p:cViewPr>
      <p:guideLst/>
    </p:cSldViewPr>
  </p:slideViewPr>
  <p:outlineViewPr>
    <p:cViewPr>
      <p:scale>
        <a:sx n="33" d="100"/>
        <a:sy n="33" d="100"/>
      </p:scale>
      <p:origin x="0" y="0"/>
    </p:cViewPr>
  </p:outlineViewPr>
  <p:notesTextViewPr>
    <p:cViewPr>
      <p:scale>
        <a:sx n="3" d="2"/>
        <a:sy n="3" d="2"/>
      </p:scale>
      <p:origin x="0" y="0"/>
    </p:cViewPr>
  </p:notesTextViewPr>
  <p:notesViewPr>
    <p:cSldViewPr snapToGrid="0">
      <p:cViewPr varScale="1">
        <p:scale>
          <a:sx n="167" d="100"/>
          <a:sy n="167" d="100"/>
        </p:scale>
        <p:origin x="5432" y="17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8" Type="http://schemas.openxmlformats.org/officeDocument/2006/relationships/slide" Target="slides/slide1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notesMaster" Target="notesMasters/notesMaster1.xml"/><Relationship Id="rId19" Type="http://schemas.openxmlformats.org/officeDocument/2006/relationships/handoutMaster" Target="handoutMasters/handout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a:extLst>
              <a:ext uri="{FF2B5EF4-FFF2-40B4-BE49-F238E27FC236}">
                <a16:creationId xmlns:a16="http://schemas.microsoft.com/office/drawing/2014/main" id="{17AECBC2-CF38-51D1-D583-52A90E084F2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ko-KR" altLang="en-US"/>
          </a:p>
        </p:txBody>
      </p:sp>
      <p:sp>
        <p:nvSpPr>
          <p:cNvPr id="3" name="날짜 개체 틀 2">
            <a:extLst>
              <a:ext uri="{FF2B5EF4-FFF2-40B4-BE49-F238E27FC236}">
                <a16:creationId xmlns:a16="http://schemas.microsoft.com/office/drawing/2014/main" id="{696E9E40-1BF4-3EA0-BCD4-FC0B197060E9}"/>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77582646-EBD2-134A-994F-649BE9EE867E}" type="datetimeFigureOut">
              <a:rPr kumimoji="1" lang="ko-KR" altLang="en-US" smtClean="0"/>
              <a:t>2026. 7. 21.</a:t>
            </a:fld>
            <a:endParaRPr kumimoji="1" lang="ko-KR" altLang="en-US"/>
          </a:p>
        </p:txBody>
      </p:sp>
      <p:sp>
        <p:nvSpPr>
          <p:cNvPr id="4" name="바닥글 개체 틀 3">
            <a:extLst>
              <a:ext uri="{FF2B5EF4-FFF2-40B4-BE49-F238E27FC236}">
                <a16:creationId xmlns:a16="http://schemas.microsoft.com/office/drawing/2014/main" id="{D7A6D90B-CC0E-8D2B-BBF2-786B86EFBEF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ko-KR" altLang="en-US"/>
          </a:p>
        </p:txBody>
      </p:sp>
      <p:sp>
        <p:nvSpPr>
          <p:cNvPr id="5" name="슬라이드 번호 개체 틀 4">
            <a:extLst>
              <a:ext uri="{FF2B5EF4-FFF2-40B4-BE49-F238E27FC236}">
                <a16:creationId xmlns:a16="http://schemas.microsoft.com/office/drawing/2014/main" id="{2D4B1DE0-EB51-D131-A2B1-58E6EC45C0A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2210B5E-AAB0-4E42-A7D8-1F877DA2206C}" type="slidenum">
              <a:rPr kumimoji="1" lang="ko-KR" altLang="en-US" smtClean="0"/>
              <a:t>‹#›</a:t>
            </a:fld>
            <a:endParaRPr kumimoji="1" lang="ko-KR" altLang="en-US"/>
          </a:p>
        </p:txBody>
      </p:sp>
    </p:spTree>
    <p:extLst>
      <p:ext uri="{BB962C8B-B14F-4D97-AF65-F5344CB8AC3E}">
        <p14:creationId xmlns:p14="http://schemas.microsoft.com/office/powerpoint/2010/main" val="2157819639"/>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71" name="Shape 171"/>
          <p:cNvSpPr>
            <a:spLocks noGrp="1" noRot="1" noChangeAspect="1"/>
          </p:cNvSpPr>
          <p:nvPr>
            <p:ph type="sldImg"/>
          </p:nvPr>
        </p:nvSpPr>
        <p:spPr>
          <a:xfrm>
            <a:off x="1143000" y="685800"/>
            <a:ext cx="4572000" cy="3429000"/>
          </a:xfrm>
          <a:prstGeom prst="rect">
            <a:avLst/>
          </a:prstGeom>
        </p:spPr>
        <p:txBody>
          <a:bodyPr/>
          <a:lstStyle/>
          <a:p>
            <a:endParaRPr/>
          </a:p>
        </p:txBody>
      </p:sp>
      <p:sp>
        <p:nvSpPr>
          <p:cNvPr id="172" name="Shape 172"/>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hf sldNum="0" hdr="0" ftr="0" dt="0"/>
  <p:notesStyle>
    <a:lvl1pPr defTabSz="457200" latinLnBrk="0">
      <a:lnSpc>
        <a:spcPct val="117999"/>
      </a:lnSpc>
      <a:defRPr sz="1500">
        <a:latin typeface="Helvetica Neue"/>
        <a:ea typeface="Helvetica Neue"/>
        <a:cs typeface="Helvetica Neue"/>
        <a:sym typeface="Helvetica Neue"/>
      </a:defRPr>
    </a:lvl1pPr>
    <a:lvl2pPr indent="228600" defTabSz="457200" latinLnBrk="0">
      <a:lnSpc>
        <a:spcPct val="117999"/>
      </a:lnSpc>
      <a:defRPr sz="1500">
        <a:latin typeface="Helvetica Neue"/>
        <a:ea typeface="Helvetica Neue"/>
        <a:cs typeface="Helvetica Neue"/>
        <a:sym typeface="Helvetica Neue"/>
      </a:defRPr>
    </a:lvl2pPr>
    <a:lvl3pPr indent="457200" defTabSz="457200" latinLnBrk="0">
      <a:lnSpc>
        <a:spcPct val="117999"/>
      </a:lnSpc>
      <a:defRPr sz="1500">
        <a:latin typeface="Helvetica Neue"/>
        <a:ea typeface="Helvetica Neue"/>
        <a:cs typeface="Helvetica Neue"/>
        <a:sym typeface="Helvetica Neue"/>
      </a:defRPr>
    </a:lvl3pPr>
    <a:lvl4pPr indent="685800" defTabSz="457200" latinLnBrk="0">
      <a:lnSpc>
        <a:spcPct val="117999"/>
      </a:lnSpc>
      <a:defRPr sz="1500">
        <a:latin typeface="Helvetica Neue"/>
        <a:ea typeface="Helvetica Neue"/>
        <a:cs typeface="Helvetica Neue"/>
        <a:sym typeface="Helvetica Neue"/>
      </a:defRPr>
    </a:lvl4pPr>
    <a:lvl5pPr indent="914400" defTabSz="457200" latinLnBrk="0">
      <a:lnSpc>
        <a:spcPct val="117999"/>
      </a:lnSpc>
      <a:defRPr sz="1500">
        <a:latin typeface="Helvetica Neue"/>
        <a:ea typeface="Helvetica Neue"/>
        <a:cs typeface="Helvetica Neue"/>
        <a:sym typeface="Helvetica Neue"/>
      </a:defRPr>
    </a:lvl5pPr>
    <a:lvl6pPr indent="1143000" defTabSz="457200" latinLnBrk="0">
      <a:lnSpc>
        <a:spcPct val="117999"/>
      </a:lnSpc>
      <a:defRPr sz="1500">
        <a:latin typeface="Helvetica Neue"/>
        <a:ea typeface="Helvetica Neue"/>
        <a:cs typeface="Helvetica Neue"/>
        <a:sym typeface="Helvetica Neue"/>
      </a:defRPr>
    </a:lvl6pPr>
    <a:lvl7pPr indent="1371600" defTabSz="457200" latinLnBrk="0">
      <a:lnSpc>
        <a:spcPct val="117999"/>
      </a:lnSpc>
      <a:defRPr sz="1500">
        <a:latin typeface="Helvetica Neue"/>
        <a:ea typeface="Helvetica Neue"/>
        <a:cs typeface="Helvetica Neue"/>
        <a:sym typeface="Helvetica Neue"/>
      </a:defRPr>
    </a:lvl7pPr>
    <a:lvl8pPr indent="1600200" defTabSz="457200" latinLnBrk="0">
      <a:lnSpc>
        <a:spcPct val="117999"/>
      </a:lnSpc>
      <a:defRPr sz="1500">
        <a:latin typeface="Helvetica Neue"/>
        <a:ea typeface="Helvetica Neue"/>
        <a:cs typeface="Helvetica Neue"/>
        <a:sym typeface="Helvetica Neue"/>
      </a:defRPr>
    </a:lvl8pPr>
    <a:lvl9pPr indent="1828800" defTabSz="457200" latinLnBrk="0">
      <a:lnSpc>
        <a:spcPct val="117999"/>
      </a:lnSpc>
      <a:defRPr sz="1500">
        <a:latin typeface="Helvetica Neue"/>
        <a:ea typeface="Helvetica Neue"/>
        <a:cs typeface="Helvetica Neue"/>
        <a:sym typeface="Helvetica Neue"/>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sz="quarter" idx="1"/>
          </p:nvPr>
        </p:nvSpPr>
        <p:spPr/>
        <p:txBody>
          <a:bodyPr/>
          <a:lstStyle/>
          <a:p>
            <a:r>
              <a:t>One experiment, reported in order.</a:t>
            </a:r>
          </a:p>
          <a:p>
            <a:r>
              <a:t>I built a Phantom 3 radar cross section model with the published answer sealed, preregistered the rule that grades it, and sent plain solids through the same kernel to compete with it.</a:t>
            </a:r>
          </a:p>
          <a:p>
            <a:r>
              <a:t>Everything has run now, the controls included, and the seal is off. So there are numbers today, and a grade, and the grade is weak.</a:t>
            </a:r>
          </a:p>
          <a:p/>
          <a:p>
            <a:r>
              <a:t>— 한국어 해설 —</a:t>
            </a:r>
          </a:p>
          <a:p>
            <a:r>
              <a:t>실험 하나를 순서대로 보고합니다.</a:t>
            </a:r>
          </a:p>
          <a:p>
            <a:r>
              <a:t>정답을 봉인한 채 Phantom 3 레이더 단면적 모형을 만들고, 판정 규칙을 미리 등록하고, 단순한 입체를 같은 커널로 통과시켜 경쟁시켰습니다.</a:t>
            </a:r>
          </a:p>
          <a:p>
            <a:r>
              <a:t>⭐ 대조군까지 전부 돌았고 봉인도 풀렸습니다. 오늘은 숫자도 판정도 있습니다. 판정은 WEAK 입니다.</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One sentence first, so nobody has to reconstruct it later. Radar cross section is the effective area a target shows a radar, and dBsm is ten log ten of it in square metres.</a:t>
            </a:r>
          </a:p>
          <a:p>
            <a:r>
              <a:t>Four facts, and the bad ones belong on the screen rather than in the discussion.</a:t>
            </a:r>
          </a:p>
          <a:p>
            <a:r>
              <a:t>The yardstick is one anechoic measurement of a real Phantom 3, reaching us through two papers rather than two campaigns.</a:t>
            </a:r>
          </a:p>
          <a:p>
            <a:r>
              <a:t>Against the one comparison where elevation and estimator match, we sit four point eight five dB under it and a conducting cube of the same volume sits six point nine four over. Our margin is two point zero nine.</a:t>
            </a:r>
          </a:p>
          <a:p>
            <a:r>
              <a:t>The threshold I registered was more than two point five one dB over the best control, so the level test does not clear, and one control does better than both of us.</a:t>
            </a:r>
          </a:p>
          <a:p>
            <a:r>
              <a:t>And the seal did not hold. I will show you how it broke and why the comparison still stands.</a:t>
            </a:r>
          </a:p>
          <a:p/>
          <a:p>
            <a:r>
              <a:t>Q: If the level test fails, what is left?</a:t>
            </a:r>
          </a:p>
          <a:p>
            <a:r>
              <a:t>A: The frequency slope and the azimuth spread. Those are the two axes a plain solid cannot follow us on, and that is the controls slide.</a:t>
            </a:r>
          </a:p>
          <a:p/>
          <a:p>
            <a:r>
              <a:t>— 한국어 해설 —</a:t>
            </a:r>
          </a:p>
          <a:p>
            <a:r>
              <a:t>한 문장 먼저. 레이더 단면적은 표적이 레이더에 보이는 실효 면적이고 dBsm 은 그 값의 10log10 입니다.</a:t>
            </a:r>
          </a:p>
          <a:p>
            <a:r>
              <a:t>사실 넷이고, 불리한 것을 화면에 올렸습니다.</a:t>
            </a:r>
          </a:p>
          <a:p>
            <a:r>
              <a:t>잣대는 실제 Phantom 3 무향실 측정 1건이고, 두 캠페인이 아니라 논문 두 편을 거쳐 옵니다.</a:t>
            </a:r>
          </a:p>
          <a:p>
            <a:r>
              <a:t>고도와 추정량이 정합한 유일한 대조에서 우리는 4.85 dB 아래, 같은 부피 완전도체 정육면체는 6.94 dB 위입니다. 여유폭은 2.09 dB 입니다.</a:t>
            </a:r>
          </a:p>
          <a:p>
            <a:r>
              <a:t>⭐ 미리 등록한 문턱은 최선 대조군 대비 2.51 dB 초과였습니다. 레벨 시험은 통과하지 못하고, 우리 둘보다 잘 맞는 대조군도 있습니다.</a:t>
            </a:r>
          </a:p>
          <a:p>
            <a:r>
              <a:t>⭐ 그리고 봉인은 지켜지지 않았습니다. 어떻게 깨졌는지, 그럼에도 왜 대조가 성립하는지 보여드립니다.</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The first thing to get right is who measured what.</a:t>
            </a:r>
          </a:p>
          <a:p>
            <a:r>
              <a:t>The conference paper is On Experimental Analysis of Mono-Static 3D UAV RCS for ISAC Channel Modeling, by Zhiqiang Yuan, Le Yu, Chunhui Li and Wei Fan, at the nineteenth European Conference on Antennas and Propagation, twenty twenty five. No page numbers are printed on it. That paper reports the measurement.</a:t>
            </a:r>
          </a:p>
          <a:p>
            <a:r>
              <a:t>The letter is Multiband Monostatic and Bistatic RCS Characterization of AAVs for ISAC Channel Modeling, by Shrayan Das, Peize Zhang, Veikko Hovinen, Marko E. Leinonen, Aarno Parssinen and Pekka Kyosti, in IEEE Wireless Communications Letters, volume fifteen, pages three seven three one to three seven three five, twenty twenty six. It did not measure this target. Its own contribution sentence says the data for the Mini 2, the Phantom 3 and the M350 RTK were obtained from another work.</a:t>
            </a:r>
          </a:p>
          <a:p>
            <a:r>
              <a:t>Half a circle in azimuth because the airframe is symmetric, and three elevation sides rather than a sweep. The two limits on the bar are their own words, and they give the reason in the same sentence. The reason is time.</a:t>
            </a:r>
          </a:p>
          <a:p>
            <a:r>
              <a:t>We inherit the back half of their recipe. The analyser records phase as well as amplitude, which is what makes coherent background subtraction and range gating possible, and the last step is what makes the number absolute. Gated target power over gated sphere power, times the sphere's known cross section, so every cable loss and antenna gain cancels.</a:t>
            </a:r>
          </a:p>
          <a:p>
            <a:r>
              <a:t>Their reference sphere is quoted at a flat minus ten dBsm. Pi r squared for that radius is minus ten point zero two, so the optical limit is almost certainly what they used and the paper does not say. Worth about zero point two dB in their upper band, zero point three seven root mean square in ours, so our own sphere will be referenced by exact Mie. That is a choice for our measurement, not a correction to theirs.</a:t>
            </a:r>
          </a:p>
          <a:p>
            <a:r>
              <a:t>And the line that decides our plan. They have a compact antenna test range and we do not, so our campaign has to go outdoors and buy the distance physically.</a:t>
            </a:r>
          </a:p>
          <a:p/>
          <a:p>
            <a:r>
              <a:t>Q: Is their two degree azimuth step fine or not?</a:t>
            </a:r>
          </a:p>
          <a:p>
            <a:r>
              <a:t>A: By our own rule, a step no larger than lambda over four D on the motor diagonal, eighteen point two gigahertz on thirty five centimetres asks for zero point six seven degrees, so theirs is about three times coarser. That rule is ours and not theirs, and on a bounding box convention the number changes, so the convention has to be named whenever the number is used.</a:t>
            </a:r>
          </a:p>
          <a:p/>
          <a:p>
            <a:r>
              <a:t>— 한국어 해설 —</a:t>
            </a:r>
          </a:p>
          <a:p>
            <a:r>
              <a:t>먼저 바로잡을 것은 누가 무엇을 쟀는가입니다.</a:t>
            </a:r>
          </a:p>
          <a:p>
            <a:r>
              <a:t>학회 논문은 Yuan·Yu·Li·Fan 의 EuCAP 2025 이고 이 논문이 측정을 보고합니다. 쪽번호는 인쇄돼 있지 않습니다.</a:t>
            </a:r>
          </a:p>
          <a:p>
            <a:r>
              <a:t>레터는 Das·Zhang·Hovinen·Leinonen·Parssinen·Kyosti 의 IEEE WCL 15권 3731-3735쪽입니다. ⭐ 레터는 이 표적을 재지 않았고, 기여 문장에 Mini 2·Phantom 3·M350 RTK 자료는 다른 연구에서 얻었다고 적혀 있습니다.</a:t>
            </a:r>
          </a:p>
          <a:p>
            <a:r>
              <a:t>방위가 반쪽인 이유는 기체 대칭, 고도는 소인이 아니라 세 면입니다. 띠의 한계 두 줄은 그들 원문 축자이고, 이유도 같은 문장에 있으며 그것은 시간입니다.</a:t>
            </a:r>
          </a:p>
          <a:p>
            <a:r>
              <a:t>우리는 절차의 뒤쪽 절반을 물려받습니다. VNA 가 위상까지 기록하므로 코히런트 배경차감과 레인지 게이팅이 가능하고, 마지막 단계가 절대값을 만듭니다. 게이팅된 표적 전력을 구 전력으로 나누고 구의 기지 단면적을 곱하면 케이블 손실과 안테나 이득이 소거됩니다.</a:t>
            </a:r>
          </a:p>
          <a:p>
            <a:r>
              <a:t>교정구는 상수 -10 dBsm 으로 적혀 있는데 같은 반경의 pi r 제곱이 -10.02 라 광학 점근으로 보입니다. 논문은 밝히지 않습니다. 그들 대역에서 0.2 dB, 우리 대역에서 rms 0.37 dB 라 우리 구는 정확 Mie 로 기준합니다. 그들 결과의 정정이 아니라 우리 실측의 선택입니다.</a:t>
            </a:r>
          </a:p>
          <a:p>
            <a:r>
              <a:t>⭐ 우리 계획을 정하는 한 줄. 그들에게는 compact antenna test range 가 있고 우리에겐 없습니다. 그래서 우리 실측은 야외로 나가 거리를 물리적으로 사야 합니다.</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This page decides how much weight the anchor can carry, and I want to hand you the evidence rather than the verdict.</a:t>
            </a:r>
          </a:p>
          <a:p>
            <a:r>
              <a:t>Three strands say the two are not independent. The letter thanks Professor Wei Fan of Southeast University for the measured data. Wei Fan is the last author of the conference paper, at the same laboratory. And the letter's settings table matches the conference paper on four items, including the two thousand eight hundred and one points and the half circle azimuth, which no other airframe in that table has.</a:t>
            </a:r>
          </a:p>
          <a:p>
            <a:r>
              <a:t>One printed line cuts the other way, so it is on the screen with the rest. The letter never cites the conference paper. It names a China Communications paper as the source, volume twenty twenty six, printed June twenty twenty five, and separately cites a letter from the same group. At least three related papers on that side, and we hold one of them. So I say very unlikely to be independent rather than one campaign. Either way we hold one yardstick read twice.</a:t>
            </a:r>
          </a:p>
          <a:p>
            <a:r>
              <a:t>The green line is in the paper's text layer. The amber line is not. That table has no text layer at all, so its coefficients were read by eye off an eight hundred dot per inch render, and we take the zero bistatic angle cell because our comparison is monostatic. The three gaps are our own subtraction. Neither paper puts the two side by side.</a:t>
            </a:r>
          </a:p>
          <a:p>
            <a:r>
              <a:t>One caveat that comes back twice today. Neither paper defines whether the mean is taken in the linear domain or the dB domain. That choice alone is worth two point five one dB on an exponential branch and about three point four on a log normal one.</a:t>
            </a:r>
          </a:p>
          <a:p/>
          <a:p>
            <a:r>
              <a:t>Q: Should we then average the two models?</a:t>
            </a:r>
          </a:p>
          <a:p>
            <a:r>
              <a:t>A: No. Averaging assumes independence, and the acknowledgment plus the fingerprint argue against it. I compare against the elevation matched one and report the other beside it.</a:t>
            </a:r>
          </a:p>
          <a:p/>
          <a:p>
            <a:r>
              <a:t>— 한국어 해설 —</a:t>
            </a:r>
          </a:p>
          <a:p>
            <a:r>
              <a:t>앵커가 얼마나 무게를 견디는지 정하는 장입니다. 판정이 아니라 증거를 드립니다.</a:t>
            </a:r>
          </a:p>
          <a:p>
            <a:r>
              <a:t>독립이 아니라는 근거 셋. 레터 사사가 측정 자료를 Southeast University 의 Wei Fan 교수에게 받았다고 적습니다. Wei Fan 은 학회 논문의 마지막 저자이고 소속도 같습니다. 레터 설정표가 학회 논문과 네 항목에서 일치하는데, 2801점과 반쪽 방위는 그 표에서 이 측정만의 지문입니다.</a:t>
            </a:r>
          </a:p>
          <a:p>
            <a:r>
              <a:t>⭐ 반대로 가는 인쇄된 사실도 같이 놓습니다. 레터는 학회 논문을 인용하지 않고, 출처로 지목한 것은 China Communications 논문이며 권은 2026, 인쇄는 2025년 6월입니다. 같은 그룹의 다른 레터도 따로 인용합니다. 관련 논문이 최소 3편이고 우리가 가진 판은 그중 하나입니다. 그래서 한 캠페인이라 단정하지 않고 독립일 가능성이 매우 낮다고 적습니다. 어느 쪽이든 잣대 하나를 두 번 읽은 것입니다.</a:t>
            </a:r>
          </a:p>
          <a:p>
            <a:r>
              <a:t>초록 선은 논문 텍스트 레이어에 있고 노란 선은 아닙니다. 그 표는 텍스트 레이어가 아예 없어 계수를 800 dpi 렌더에서 눈으로 읽었고, 모노스태틱 비교라 바이스태틱 0도 칸을 씁니다. 세 격차는 우리가 한 뺄셈이고, 두 논문 어느 쪽도 둘을 나란히 놓지 않습니다.</a:t>
            </a:r>
          </a:p>
          <a:p>
            <a:r>
              <a:t>⚠ 오늘 두 번 더 나올 단서. 두 논문 다 평균을 선형영역에서 냈는지 dB 영역에서 냈는지 정의하지 않습니다. 그 선택만으로 지수 분기에서 2.51 dB, 로그정규면 약 3.4 dB 입니다.</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This is the object the whole talk is about.</a:t>
            </a:r>
          </a:p>
          <a:p>
            <a:r>
              <a:t>Eight material groups, and only three are large enough to see at this scale. The diagonal is the spec sheet value and the same thirty five centimetres the measurement papers print.</a:t>
            </a:r>
          </a:p>
          <a:p>
            <a:r>
              <a:t>One dimension does not match, and I would rather say it than have it found. We use the manufacturer published height of one hundred and eighty five millimetres and the papers write twenty centimetres. Seven and a half percent shorter, in the direction of a lower cross section.</a:t>
            </a:r>
          </a:p>
          <a:p>
            <a:r>
              <a:t>Now the design problem. The anchor publishes a fitted mean model and no per angle data, so what we can grade is a level and a slope over twenty one frequency samples. Their two thousand eight hundred frequency points are not two thousand eight hundred observations for us.</a:t>
            </a:r>
          </a:p>
          <a:p>
            <a:r>
              <a:t>Building this object takes hundreds of numbers that no measurement forces. If I can see the answer while I turn them, I will hit the target, and hitting it means nothing, because I cannot tell whether the method matched or the knobs did.</a:t>
            </a:r>
          </a:p>
          <a:p>
            <a:r>
              <a:t>So the whole test is one rule. Fix every choice while the answer is sealed, then open it. Two consequences I accepted in advance. A mismatch is a result and gets reported the same way, which is what happened. And if the blinding breaks, my own rule says the arm is void, which is the next slide.</a:t>
            </a:r>
          </a:p>
          <a:p/>
          <a:p>
            <a:r>
              <a:t>Q: Why not compare the full pattern and get more observations?</a:t>
            </a:r>
          </a:p>
          <a:p>
            <a:r>
              <a:t>A: Because the per angle data is in neither paper. What is published is the fitted mean model.</a:t>
            </a:r>
          </a:p>
          <a:p/>
          <a:p>
            <a:r>
              <a:t>— 한국어 해설 —</a:t>
            </a:r>
          </a:p>
          <a:p>
            <a:r>
              <a:t>이 발표 전체가 다루는 물건입니다.</a:t>
            </a:r>
          </a:p>
          <a:p>
            <a:r>
              <a:t>재질 그룹은 8개인데 이 축척에서 눈에 띄는 것은 3개뿐입니다. 대각은 스펙시트 값이자 측정 논문의 35 cm 와 같습니다.</a:t>
            </a:r>
          </a:p>
          <a:p>
            <a:r>
              <a:t>⚠ 안 맞는 치수 하나를 먼저 말합니다. 우리는 제조사 공표 높이 185 mm 를 쓰고 논문은 20 cm 로 적습니다. 7.5 퍼센트 낮고 단면적을 낮추는 방향입니다.</a:t>
            </a:r>
          </a:p>
          <a:p>
            <a:r>
              <a:t>설계 문제입니다. 앵커가 공표하는 것은 적합된 평균모형뿐이고 각도별 자료가 없으므로, 채점받을 수 있는 것은 21개 주파수 표본 위의 레벨과 기울기입니다. 저쪽 2801점은 우리에게 2801 관측이 아닙니다.</a:t>
            </a:r>
          </a:p>
          <a:p>
            <a:r>
              <a:t>이 물건을 세우려면 실측이 강제하지 않는 수가 수백 개 필요합니다. 정답을 보면서 돌리면 표적은 맞출 수 있지만, 맞춘 것이 방법인지 손잡이인지 구분이 안 됩니다.</a:t>
            </a:r>
          </a:p>
          <a:p>
            <a:r>
              <a:t>그래서 시험 전체가 규칙 하나입니다. 봉인된 상태에서 모든 선택을 고정하고 그 다음에 엽니다. 두 가지를 미리 받아들였습니다. 안 맞아도 그대로 결과로 보고한다, 눈감기가 깨지면 제 규칙상 그 팔은 무효다. 그 이야기가 다음 장입니다.</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This is the weakest part of the test, and I would rather say it myself.</a:t>
            </a:r>
          </a:p>
          <a:p>
            <a:r>
              <a:t>Counting first. A free choice is a number that moves our cross section and that no Phantom 3 observation pins down. Two hundred and five of them, against thirteen numbers pinned by an observation of the actual airframe. One hundred and sixty of the two hundred and five are shape constants inherited whole from the Phantom 4, because there is no Phantom 3 photograph anywhere in our repository.</a:t>
            </a:r>
          </a:p>
          <a:p>
            <a:r>
              <a:t>The bars are why the count matters. Each one is a single choice, measured on our own mesh, and each is worth one to four dB. The residual we are trying to explain is four point eight five. Two or three knobs turned together are the whole residual.</a:t>
            </a:r>
          </a:p>
          <a:p>
            <a:r>
              <a:t>Now the seal, and this is a failure and not a caveat. Only four numbers were ever sealed, the two slopes and the two intercepts of the published models. Photographs, drawings, specification pages, teardowns and material tables were legitimate inputs from the first minute. Refusing the measurement settings would have meant computing in a different band on a different grid, and then the test is void for a different reason.</a:t>
            </a:r>
          </a:p>
          <a:p>
            <a:r>
              <a:t>My own log disclosed that a documentation search leaked three quantities. When the audit re ran the exact search that the log itself describes, it printed all four sealed numbers, in one file, two lines apart, and that file predates the blind round by three days. So blind intact is false. I cannot prove what stayed on the screen and I am not going to try.</a:t>
            </a:r>
          </a:p>
          <a:p>
            <a:r>
              <a:t>What I can put beside it is two pieces of evidence that they were not used. First, the direction test. Steering toward the answer means moving up, because the measurement is above us. The specification revision inside the blind round moved us down, one point four two dB on the band average and three point six three at worst. And I knowingly left a magnesium plate in the model that the Phantom 3 does not have, which pushes us up, so the physically correct fix makes the agreement worse.</a:t>
            </a:r>
          </a:p>
          <a:p>
            <a:r>
              <a:t>Second, and this is the one that settles it. The controls went through the same kernel under the same conditions. A cube does not care whether I saw the answer. Whatever you decide about my blindfold, the comparison between our mesh and a plain solid is untouched by it.</a:t>
            </a:r>
          </a:p>
          <a:p/>
          <a:p>
            <a:r>
              <a:t>Q: What is the working rule that came out of this?</a:t>
            </a:r>
          </a:p>
          <a:p>
            <a:r>
              <a:t>A: Searching by target name is not a blindfold, because the answer travels in the search output. The safe form filters the output before you read it, and the next blind round runs in a separate clone with no literature documents in it.</a:t>
            </a:r>
          </a:p>
          <a:p/>
          <a:p>
            <a:r>
              <a:t>— 한국어 해설 —</a:t>
            </a:r>
          </a:p>
          <a:p>
            <a:r>
              <a:t>이 시험의 가장 약한 부분이고, 남이 아니라 제가 말하겠습니다.</a:t>
            </a:r>
          </a:p>
          <a:p>
            <a:r>
              <a:t>먼저 세는 이야기입니다. 자유로운 선택이란 우리 단면적을 움직이면서 Phantom 3 관측으로 고정되지 않은 수입니다. ⭐ 205개이고, 실제 기체 관측으로 고정된 수는 13개입니다. 205개 중 160개는 Phantom 4 에서 통째로 상속한 형상 상수인데, 저장소에 Phantom 3 사진이 한 장도 없기 때문입니다.</a:t>
            </a:r>
          </a:p>
          <a:p>
            <a:r>
              <a:t>막대가 그 수가 중요한 이유입니다. 하나가 선택 하나이고 전부 우리 메쉬에서 잰 값이며, 각각 1~4 dB 짜리입니다. 설명하려는 잔차가 4.85 dB 이니 손잡이 두세 개면 잔차 전체가 나옵니다.</a:t>
            </a:r>
          </a:p>
          <a:p>
            <a:r>
              <a:t>⭐⭐ 이제 봉인입니다. 단서가 아니라 실패입니다. 봉인 대상은 오직 네 수, 공표 모형의 기울기 둘과 절편 둘이었습니다. 사진·도면·스펙·분해 가이드·재질표는 처음부터 허용된 정당한 입력입니다. 측정 설정을 거부했다면 다른 대역·다른 격자에서 계산하는 셈이라 그때는 다른 이유로 무효가 됩니다.</a:t>
            </a:r>
          </a:p>
          <a:p>
            <a:r>
              <a:t>우리 로그는 문서 검색 출력에 정량 3건이 딸려 나왔다고 스스로 신고했습니다. 감사가 그 로그에 적힌 바로 그 검색을 재실행하니, 봉인 리터럴 네 개가 한 파일에서 두 줄 간격으로 전부 출력됐습니다. 그 파일은 눈감기 라운드보다 사흘 앞섭니다. ⭐ 그러므로 blind_intact 는 FALSE 입니다. 화면에 무엇이 남았는지는 증명할 수 없고, 증명하려 들지도 않겠습니다.</a:t>
            </a:r>
          </a:p>
          <a:p>
            <a:r>
              <a:t>대신 쓰지 않았다는 증거 둘을 놓습니다. 첫째, 방향 시험입니다. 맞추려 했다면 위로 갔어야 합니다. 실측이 우리 위에 있으니까요. 눈감기 라운드 안의 스펙 개정은 우리를 밴드평균 1.42 dB, 최대 3.63 dB 아래로 내렸습니다. 그리고 Phantom 3 에 없는 마그네슘 판을 알면서 남겼는데, 그건 우리를 위로 미는 항이라 옳게 고치면 일치가 더 나빠집니다.</a:t>
            </a:r>
          </a:p>
          <a:p>
            <a:r>
              <a:t>⭐⭐ 둘째가 이 논쟁을 끝냅니다. 대조군은 같은 커널·같은 조건으로 돌았습니다. 상자는 제작자가 답을 봤는지에 아무 관심이 없습니다. 제 눈가리개를 어떻게 판정하시든, 우리 메쉬와 단순 입체의 대조는 그 영향을 받지 않습니다.</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This is the deliverable, and it had to exist before the answer did. The two errors are reported apart and never combined.</a:t>
            </a:r>
          </a:p>
          <a:p>
            <a:r>
              <a:t>Two point five one dB is not arbitrary. Choosing between two defensible averaging conventions moves the level by that much on its own, so any improvement smaller than that could have been manufactured by a convention choice. On our own pattern the measured gap between the two conventions averages three point six dB, so two point five one is the conservative end.</a:t>
            </a:r>
          </a:p>
          <a:p>
            <a:r>
              <a:t>Two numbers in this deck have to sit together, so here is the reconciliation. Three point two to three point six dB is the spread between the anchor's own two summaries, the resolution of the yardstick. Two point five one is a margin we have to take over the best control. Different quantities, and both arms are graded against the same anchor, so a common offset partly cancels. But the threshold does sit under the yardstick's own spread, so the level is the weak test and the slope is the real one.</a:t>
            </a:r>
          </a:p>
          <a:p>
            <a:r>
              <a:t>The slope rule is a ratio because a constant level offset cancels in a slope. That cancellation is exact on the exponential branch only. On the log normal branch the letter's effective slope moves from zero point two one zero to zero point two four eight.</a:t>
            </a:r>
          </a:p>
          <a:p>
            <a:r>
              <a:t>By the last row, what I showed you a minute ago is disqualifying. I am not going to grade my own breach, so I bring the numbers and the room can grade them.</a:t>
            </a:r>
          </a:p>
          <a:p>
            <a:r>
              <a:t>One correction to what I said in earlier versions of this talk, because it stopped being true this morning. The edge correction we wrote had no call site in the production kernel. It has one now, wired at nine forty four today into the batch kernel, the multistatic kernel and the field function. Three things. The default is off. With it off the kernel is bit identical to the snapshot taken just before the wiring, maximum difference zero point zero over nine synthetic cases and four production drone meshes. And this test ran at eight thirty four, before the wiring, with no edge term in it. Switching it on costs forty seven percent more time.</a:t>
            </a:r>
          </a:p>
          <a:p>
            <a:r>
              <a:t>The repair is graded on phase, not magnitude. The fixed kernel matches the analytic Ufimtsev edge wave to six times ten to the minus thirteen degrees in phase. Phase is the gate because the magnitude ratio passed at one point zero zero zero zero even while the sign was inverted.</a:t>
            </a:r>
          </a:p>
          <a:p/>
          <a:p>
            <a:r>
              <a:t>Q: When we do switch the edge term on, does it close the deficit?</a:t>
            </a:r>
          </a:p>
          <a:p>
            <a:r>
              <a:t>A: On two other airframes it moved the mean down by one to four tenths of a dB, not up. So it is not a candidate explanation for our low level either.</a:t>
            </a:r>
          </a:p>
          <a:p/>
          <a:p>
            <a:r>
              <a:t>— 한국어 해설 —</a:t>
            </a:r>
          </a:p>
          <a:p>
            <a:r>
              <a:t>이것이 산출물이고 답보다 먼저 존재해야 하는 부분입니다. 두 오차는 따로 보고하고 합치지 않습니다.</a:t>
            </a:r>
          </a:p>
          <a:p>
            <a:r>
              <a:t>2.51 dB 는 임의값이 아닙니다. 두 정당한 평균 규약 중 무엇을 고르느냐만으로 레벨이 그만큼 움직이므로, 그보다 작은 개선은 규약 선택으로 만들어낼 수 있습니다. 우리 패턴에서 직접 잰 규약차가 평균 3.6 dB 이니 2.51 은 보수적인 쪽입니다.</a:t>
            </a:r>
          </a:p>
          <a:p>
            <a:r>
              <a:t>⭐ 덱 안의 두 숫자가 같이 앉아야 하니 화해 문장을 답니다. 3.2~3.6 dB 는 앵커 자신의 두 요약 사이 격차, 즉 잣대의 분해능입니다. 2.51 dB 는 우리가 최선 대조군 대비 가져가야 할 여유폭입니다. 서로 다른 양이고, 두 팔이 같은 앵커로 채점되므로 공통 오프셋은 상당 부분 상쇄됩니다. 다만 문턱이 잣대 분해능 아래라 레벨은 약한 시험이고 기울기가 진짜 시험입니다.</a:t>
            </a:r>
          </a:p>
          <a:p>
            <a:r>
              <a:t>기울기 규칙이 비율인 이유는 상수 레벨 오프셋이 기울기에서 소거되기 때문입니다. ⚠ 그 상쇄가 정확한 것은 지수 분기뿐이고, 로그정규에서는 레터의 실효 기울기가 0.210 에서 0.248 로 올라갑니다.</a:t>
            </a:r>
          </a:p>
          <a:p>
            <a:r>
              <a:t>⭐ 마지막 행 기준으로 조금 전에 보여드린 것은 실격 사유입니다. 제 위반을 제가 채점하지 않겠습니다. 숫자는 가져왔으니 채점은 이 방이 하시면 됩니다.</a:t>
            </a:r>
          </a:p>
          <a:p>
            <a:r>
              <a:t>⭐ 이전 판에서 제가 한 말 하나를 정정합니다. 오늘 아침부로 참이 아니게 됐습니다. 우리가 쓴 모서리 보정은 생산 커널에 호출처가 없었는데 지금은 있습니다. 오늘 09:44 에 배치 커널·멀티스태틱 커널·필드 함수에 배선됐습니다. 세 가지입니다. 기본값은 꺼짐입니다. 꺼진 경로는 배선 직전 스냅샷과 비트 단위로 같고, 합성 9케이스와 생산 메쉬 4케이스에서 최대 차이 0.0 입니다. 그리고 이 시험은 배선 이전인 08:34 에 모서리항 없이 돌았습니다. 켜면 비용이 47.2 퍼센트 늘어납니다.</a:t>
            </a:r>
          </a:p>
          <a:p>
            <a:r>
              <a:t>⭐ 수리의 합격 기준은 크기가 아니라 위상입니다. 고친 커널은 해석적 Ufimtsev 모서리파와 위상에서 5.8e-13 도로 일치합니다. 위상이 관문인 이유는 부호가 뒤집힌 상태에서도 크기비가 1.0000000000 으로 통과했기 때문입니다.</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A mismatch on one axis and an agreement on the other.</a:t>
            </a:r>
          </a:p>
          <a:p>
            <a:r>
              <a:t>What ran. Three hundred and sixty azimuth angles at one degree, twenty one frequency points, ten elevation cuts in all, ray spacing lambda over sixteen, eighty three minutes across two GPUs. Two convergence controls ran with it. Lambda over sixteen to lambda over twelve moves the mean by zero point five two dB root mean square, and doubling the azimuth samples moves it by at most zero point zero three one. Azimuth is converged and the ray grid is the live sensitivity.</a:t>
            </a:r>
          </a:p>
          <a:p>
            <a:r>
              <a:t>Now the comparand, which is the whole game, and I have to separate what is printed from what we inferred. The letter's model is very probably pooled over elevation, and if it is, it is not matched to our single azimuth plane. But that pooling is our inference and not their sentence. The word elevation does not appear anywhere in the letter, and our reason for believing it is the residual of our own reconciliation between the two papers. So I report both readings. Against the conference paper's azimuth plane curve our slope excess is one point six sigma. Against the letter it would be three point two. I use the first, and the reason I can set the second aside is an inference of ours. If the letter is also a single azimuth plane, then the two papers disagree with each other by about four dB in level, and our own error inherits that disagreement.</a:t>
            </a:r>
          </a:p>
          <a:p>
            <a:r>
              <a:t>Same discipline on the convention. Neither paper defines the averaging domain. Our reconstruction of their published spread says that curve is a linear domain average like ours, and this comparison rests on that assumption.</a:t>
            </a:r>
          </a:p>
          <a:p>
            <a:r>
              <a:t>Two more. That measured curve is our own digitisation of their figure five, and the self check refits it to zero point three one four eight against their printed zero point three one five. And the azimuth window is not matched, theirs a one hundred and eighty degree arc at two degrees, ours the full circle at one. I cut every possible ninety one point arc out of our own pattern. The mean bias is under zero point three five dB so it does not explain the deficit, but the worst case spread from the unknown start angle is four point four six.</a:t>
            </a:r>
          </a:p>
          <a:p>
            <a:r>
              <a:t>What could produce a low level. We are fifteen millimetres shorter than the object they measured. Our kernel is one bounce physical optics with no edge diffraction and no cross polarisation, against a vertical to vertical measurement. Our material path is one scalar reflection magnitude per group. Two of those push down. The magnesium plate pushes up, so it does not explain the deficit. I am not picking a winner today, and I am not blaming the missing edge term just because we happen to have written one. Nothing was refitted after the seal came off.</a:t>
            </a:r>
          </a:p>
          <a:p/>
          <a:p>
            <a:r>
              <a:t>Q: You are four point nine dB out and your threshold was two point five one. Is it not already failed?</a:t>
            </a:r>
          </a:p>
          <a:p>
            <a:r>
              <a:t>A: Different quantities. Two point five one is a margin over the controls, not an error against the anchor. Whether four point nine passes depends on where the controls land, and that is the next slide.</a:t>
            </a:r>
          </a:p>
          <a:p/>
          <a:p>
            <a:r>
              <a:t>— 한국어 해설 —</a:t>
            </a:r>
          </a:p>
          <a:p>
            <a:r>
              <a:t>한 축은 안 맞고 한 축은 구분되지 않습니다.</a:t>
            </a:r>
          </a:p>
          <a:p>
            <a:r>
              <a:t>무엇이 돌았는지. 방위 360점, 21주파수, 고도 단면 10개, 광선격자 lambda/16, GPU 2장으로 83분입니다. 수렴 대조 둘도 같이 돌았습니다. 격자를 lambda/12 로 바꾸면 평균이 rms 0.52 dB, 방위 표본을 두 배로 하면 최대 0.031 dB 움직입니다. 방위는 수렴했고 살아있는 민감도는 광선격자입니다.</a:t>
            </a:r>
          </a:p>
          <a:p>
            <a:r>
              <a:t>⭐⭐ 이제 비교 대상이고, 인쇄된 사실과 우리 추론을 구별하겠습니다. 레터 모형은 고도를 풀링한 것으로 보이고 그렇다면 우리 단일 방위면과 짝이 안 맞습니다. ⚠ 그런데 그 풀링은 우리 추론이지 그들 문장이 아닙니다. 레터 본문에 elevation 이라는 낱말이 한 번도 없고, 근거는 두 논문을 화해시킨 잔차뿐입니다. 그래서 두 읽기를 다 보고합니다. 학회 논문 방위면 곡선 대비 기울기 초과는 1.6σ, 레터 대비면 3.2σ 입니다. 앞쪽을 쓰되, 뒤쪽을 제쳐 두는 근거가 우리 추론이라는 점을 밝힙니다. ⭐ 만약 레터도 방위면 하나라면 같은 원자료의 두 논문이 레벨에서 약 4 dB 어긋난다는 뜻이고, 우리 오차의 폭 자체가 그 불일치를 물려받은 것이 됩니다.</a:t>
            </a:r>
          </a:p>
          <a:p>
            <a:r>
              <a:t>평균 규약도 같은 규율입니다. 두 논문 다 영역을 정의하지 않습니다. 공표된 산포를 역산해 보니 그 곡선은 우리와 같은 선형영역 평균이고, 이 대조는 그 가정 위에 서 있습니다.</a:t>
            </a:r>
          </a:p>
          <a:p>
            <a:r>
              <a:t>둘 더. 그 실측 곡선은 우리가 Figure 5 를 디지타이즈한 복원본이고, 자기검사로 재적합하면 0.3148 로 공표 0.315 와 붙습니다. 그리고 방위창은 정합이 아닙니다. 저쪽은 2도 간격 180도 호, 우리는 1도 간격 전주기입니다. 가능한 91점 호를 전부 잘라 보니 평균 편향은 0.35 dB 미만이라 결손을 설명하지 못하지만, 시작각을 모르는 데서 오는 최악 폭은 4.46 dB 입니다.</a:t>
            </a:r>
          </a:p>
          <a:p>
            <a:r>
              <a:t>⚠ 레벨을 낮출 후보들. 메쉬가 그들이 잰 물건보다 15 mm 낮고, 커널이 1회반사 물리광학이라 모서리 회절·교차편파가 없는데 실측은 VV 이고, 재질은 그룹당 스칼라 반사크기 하나입니다. 셋 중 둘은 아래로 밉니다. 마그네슘 판은 위로 미니 설명이 안 됩니다. ⭐ 오늘 범인은 지명하지 않고, 우리가 모서리항을 썼다는 이유로 그 탓을 하지도 않습니다. 봉인 해제 뒤 재적합은 없습니다.</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Matching well is not enough on its own. The question is how well is well enough to mean something, and the way to answer it is to send stupid objects through the identical pipeline and let them set the baseline.</a:t>
            </a:r>
          </a:p>
          <a:p>
            <a:r>
              <a:t>One definitional trap I will name before someone else does. The drone mesh is not watertight, so its volume needs a definition. We define it as the sum of the watertight volumes of the connected parts, and that definition is in the output file.</a:t>
            </a:r>
          </a:p>
          <a:p>
            <a:r>
              <a:t>The result. We are four point eight five dB low, the conducting cube of the same volume is six point nine four high. We win by two point zero nine and the rule asked for more than two point five one. On the level we do not clear.</a:t>
            </a:r>
          </a:p>
          <a:p>
            <a:r>
              <a:t>It gets worse before it gets better, and this is the finding. A perfectly conducting sphere with the same volume as the bounding box the papers print, with no free parameters at all, lands zero point nine seven dB from the measurement. It beats our mesh by three point nine dB on the level and by a factor of two and a half on the residual. And any conducting sphere between eighteen and thirty seven centimetres in diameter passes a three dB level test on this anchor. Absolute level agreement is not evidence of shape fidelity. Anything metallic of roughly drone size lands inside five dB.</a:t>
            </a:r>
          </a:p>
          <a:p>
            <a:r>
              <a:t>So what does discriminate. The azimuth spread, where the sphere is five point four four out because a sphere has no azimuth structure at all. And the slope, where our error is two point four times smaller than the cube's. On the letter of the rule that clears the factor of two, and I am not banking it today for two reasons. That gap is one point eight sigma against our own standard error, and the rule says any trace of a blinding breach makes the whole thing invalid.</a:t>
            </a:r>
          </a:p>
          <a:p>
            <a:r>
              <a:t>Two honest notes. The spread comparand is the letter's published standard deviation, and the letter is the summary whose elevation we had to infer. And the box that our mesh passes and the solids fail was drawn after we saw the results, so I report it as a direction for the next round rather than as a score.</a:t>
            </a:r>
          </a:p>
          <a:p>
            <a:r>
              <a:t>The overall grade from the audit is weak, and our own prior evidence said to expect this. Two of our spec built airframes landed within zero point five eight and one point eight dB of community reference meshes on the azimuth average, while their per azimuth error against the same meshes was seven point one eight and ten dB. The azimuth average is a blunt discriminator, and today it was blunt.</a:t>
            </a:r>
          </a:p>
          <a:p/>
          <a:p>
            <a:r>
              <a:t>Q: Why a cube and not something drone shaped?</a:t>
            </a:r>
          </a:p>
          <a:p>
            <a:r>
              <a:t>A: Because a drone shaped control would smuggle in the very shape work we are trying to price.</a:t>
            </a:r>
          </a:p>
          <a:p/>
          <a:p>
            <a:r>
              <a:t>— 한국어 해설 —</a:t>
            </a:r>
          </a:p>
          <a:p>
            <a:r>
              <a:t>잘 맞았다는 사실만으로는 부족합니다. 얼마나 잘 맞아야 의미가 있느냐를 물어야 하고, 답하는 방법은 멍청한 물체를 똑같은 경로로 통과시켜 기준선을 만드는 것입니다.</a:t>
            </a:r>
          </a:p>
          <a:p>
            <a:r>
              <a:t>정의 함정 하나를 먼저 말합니다. 드론 메쉬는 워터타이트가 아니라 부피에 정의가 필요합니다. 연결요소별 워터타이트 부피의 합으로 정의하고 산출 파일에 적었습니다.</a:t>
            </a:r>
          </a:p>
          <a:p>
            <a:r>
              <a:t>⭐ 결과입니다. 우리는 4.85 dB 낮고 같은 부피 완전도체 정육면체는 6.94 dB 높습니다. 2.09 dB 차이로 이기지만 규칙이 요구한 것은 2.51 dB 초과입니다. 레벨에서는 통과하지 못합니다.</a:t>
            </a:r>
          </a:p>
          <a:p>
            <a:r>
              <a:t>⭐⭐ 더 나쁜 사실이 있고 이것이 오늘의 발견입니다. 논문이 적는 외형 상자와 같은 부피의 완전도체 구는 모수가 하나도 없는데 실측에서 0.97 dB 거리에 앉습니다. 레벨에서 우리를 3.9 dB, 잔차에서 2.5배 이깁니다. 게다가 지름 18~37 cm 의 어떤 완전도체 구든 이 앵커에서 3 dB 레벨 시험을 통과합니다. ⛔ 절대레벨 일치는 형상 충실도의 증거가 아닙니다. 드론 크기의 금속 덩어리면 무엇이든 5 dB 안에 들어옵니다.</a:t>
            </a:r>
          </a:p>
          <a:p>
            <a:r>
              <a:t>그럼 무엇이 판별하느냐. 방위 산포입니다. 구는 방위 구조가 아예 없어 5.44 dB 벗어납니다. 그리고 기울기에서 우리 오차는 큐브의 2.4분의 1입니다. 규칙 문면상 2배 조건은 통과합니다. ⚠ 오늘 실적으로 챙기지 않는 이유는 둘입니다. 그 차이가 우리 표준오차 기준 1.8σ 이고, 규칙에 눈감기 훼손 흔적이 있으면 전체가 INVALID 라고 적혀 있습니다.</a:t>
            </a:r>
          </a:p>
          <a:p>
            <a:r>
              <a:t>정직한 단서 둘. 산포 비교 대상은 레터의 공표 표준편차인데, 레터는 우리가 고도를 추론해야 했던 그 요약입니다. 그리고 우리 메쉬가 통과하고 단순 입체가 떨어지는 그 통과 상자는 결과를 보고 그린 것이라, 점수가 아니라 다음 라운드의 방향으로 보고합니다.</a:t>
            </a:r>
          </a:p>
          <a:p>
            <a:r>
              <a:t>감사의 종합 판정은 WEAK 이고, 우리 자신의 사전 증거가 이걸 예고했습니다. 우리 스펙으로 지은 기체 2대가 참조 메쉬 대비 방위평균에서는 0.58 과 1.80 dB 안에 들어왔지만 방위별 오차는 7.18 과 10.0 dB 였습니다. 방위평균은 둔한 판별량이고 오늘도 둔했습니다.</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Now that the numbers are on the table, here is where this sits inside published practice.</a:t>
            </a:r>
          </a:p>
          <a:p>
            <a:r>
              <a:t>All three of these papers make a target cross section outside the propagation simulator and then insert it, which is our architecture. Two measure it and one computes it, and the one that computes it is the middle row. That is our slot, and it cleared peer review in that exact role.</a:t>
            </a:r>
          </a:p>
          <a:p>
            <a:r>
              <a:t>The first is Yuxiang Zhang, Jianhua Zhang, Huiwen Gong, Xidong Hu, Jiwei Zhang, Hongbo Xing, Shilin Luo, Yifeng Xiong, Li Yu, Zhiqiang Yuan, Guangyi Liu and Tao Jiang, in the IEEE Journal on Selected Areas in Communications, volume forty four, pages seven zero two to seven one six, twenty twenty six.</a:t>
            </a:r>
          </a:p>
          <a:p>
            <a:r>
              <a:t>The second is Yoshana Deep, Patrick Held, Shobha Sundar Ram, Dagmar Steinhauser, Anshu Gupta, Frank Gruson, Andreas Koch and Anirban Roy, in IET Radar, Sonar and Navigation, volume fourteen, issue six, pages eight three three to eight four four, twenty twenty. Their sentence, exactly. While there are several commercially available electromagnetic solvers that carry out ray tracing, we developed our solver in-house in order to customise it for speed and efficiency. They then had to show it against real radar hardware. Those two numbers are the first trajectory, and on the second one, with a turn, the error is thirteen percent and the similarity drops to seventy one.</a:t>
            </a:r>
          </a:p>
          <a:p>
            <a:r>
              <a:t>The third is Heraldo C. A. Costa, Saw J. Myint, Carsten Andrich, Sebastian W. Giehl, Maximilian Engelhardt, Christian Schneider and Reiner S. Thomae, in the IEEE Journal of Selected Topics in Electromagnetics, Antennas and Propagation, volume one, pages two zero eight to two two two, twenty twenty five. One caveat on their printed metric. It was computed with their Gaussian body model, their own term for the simpler model they used because a reader can reproduce it, and not with the injected measured library.</a:t>
            </a:r>
          </a:p>
          <a:p>
            <a:r>
              <a:t>The scope line, exactly. Our own archive, three hundred and five unique PDFs screened by term count, eighteen read end to end. A sample, not a census, and not a web search. Seventeen of the eighteen claim some form of target scattering, three print an absolute dBsm they computed rather than assumed, and those three targets are a vehicle, a pedestrian and an aircraft.</a:t>
            </a:r>
          </a:p>
          <a:p/>
          <a:p>
            <a:r>
              <a:t>Q: Does none of the eighteen mean nobody has done it?</a:t>
            </a:r>
          </a:p>
          <a:p>
            <a:r>
              <a:t>A: No. It means eighteen papers we read in full, and I will not stretch that into a statement about the literature.</a:t>
            </a:r>
          </a:p>
          <a:p/>
          <a:p>
            <a:r>
              <a:t>— 한국어 해설 —</a:t>
            </a:r>
          </a:p>
          <a:p>
            <a:r>
              <a:t>숫자가 나왔으니 이 작업이 게재된 관행 안에서 어디에 서는지 놓겠습니다.</a:t>
            </a:r>
          </a:p>
          <a:p>
            <a:r>
              <a:t>세 편 모두 표적 단면적을 시뮬레이터 밖에서 만들어 안으로 넣습니다. 우리 구조와 같습니다. 둘은 측정하고 하나만 계산하며, 계산하는 쪽이 가운데 행입니다. 가운데 행이 우리 자리이고 바로 그 역할로 동료심사를 통과했습니다.</a:t>
            </a:r>
          </a:p>
          <a:p>
            <a:r>
              <a:t>첫째는 JSAC 2026, 저자 12인입니다. 한 대역을 적합에서 빼 두고 예측했습니다.</a:t>
            </a:r>
          </a:p>
          <a:p>
            <a:r>
              <a:t>둘째는 IET RSN 2020, 저자 8인입니다. 자체 솔버 문장은 축자 인용이고, 그러고도 실제 레이더 하드웨어와 맞대야 했습니다. 인쇄된 두 수치는 첫 궤적 값이고 회전이 있는 둘째 궤적은 13 퍼센트·71 퍼센트입니다.</a:t>
            </a:r>
          </a:p>
          <a:p>
            <a:r>
              <a:t>셋째는 JSTEAP 2025, 저자 7인입니다. ⚠ 인쇄된 지표는 주입한 측정 라이브러리가 아니라 그들의 Gaussian body model 로 계산한 값입니다. 독자가 재현하기 쉬워 더 단순한 모형을 썼다고 원문이 밝히고, 용어도 원문 그대로입니다.</a:t>
            </a:r>
          </a:p>
          <a:p>
            <a:r>
              <a:t>범위를 정확히 말합니다. 우리 자체 아카이브이고 고유 PDF 305편을 선별해 18편을 정독했습니다. 전수가 아니라 표본이고 웹 검색이 아닙니다. 18편 중 17편이 표적 산란을 주장하고, 계산한 절대 dBsm 을 인쇄한 것은 3편, 차량·보행자·항공기입니다. 드론은 0편입니다.</a:t>
            </a:r>
          </a:p>
          <a:p>
            <a:r>
              <a:t>가장 흔한 우회는 표적을 상자로 바꾸는 것입니다. 오늘 우리 대조군이 서 있는 자리가 그 맥락입니다.</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What today buys, what it does not, and what I need next.</a:t>
            </a:r>
          </a:p>
          <a:p>
            <a:r>
              <a:t>The licence first, because it is easy to inflate. Phantom 4 shape tables carrying Phantom 3 dimensions track the measured slope on the azimuth plane and sit about five dB under the measured level, and a plain solid of the right size beats us on that level. Nothing wider.</a:t>
            </a:r>
          </a:p>
          <a:p>
            <a:r>
              <a:t>What it does not license. Not the per azimuth pattern, because our own prior shows an average right to one or two dB alongside a per azimuth error of seven to ten. Not polarization, because our material path is one scalar reflection magnitude per group and the anchor is vertical to vertical. Not rotation, because these are static poses. Not bistatic geometry, because that changes the obliquity term inside the physical optics integral and it is not in the code today. And not any airframe outside the Phantom 4 shape table family. Three other airframes in our registry use a different code path altogether.</a:t>
            </a:r>
          </a:p>
          <a:p>
            <a:r>
              <a:t>One defect I will not hide. Two internal metal boxes are missing from the boolean union list, so their interior faces are still in the integral. Part of the five dB is therefore not shape fidelity, and this test cannot separate the two. It is on the fix list before the next round.</a:t>
            </a:r>
          </a:p>
          <a:p>
            <a:r>
              <a:t>Now the ask. One outdoor slot with clear line of sight and enough distance to make far field physically, a calibration sphere of radius zero point one seven eight metres which is the size the anchor used, and the two airframes we have on order, the Matrice 4E and the Mini 5 Pro.</a:t>
            </a:r>
          </a:p>
          <a:p>
            <a:r>
              <a:t>The success criterion is a number rather than a feeling. Measure the sphere at the start and at the end. The difference is that session's drift budget, and more than one dB discards the session. Outdoors because we have no compact antenna test range, so the distance has to be bought physically, and the cost is a ground reflection we then gate out.</a:t>
            </a:r>
          </a:p>
          <a:p>
            <a:r>
              <a:t>The experiment that decides whether any of this was worth doing is the ablation. Same site, same waveform, same classifier, and only the target model swapped three ways. The plain box, our mesh, and the measured airframe. If detection performance does not move across those three, the target model was never the bottleneck, and we should say so and stop.</a:t>
            </a:r>
          </a:p>
          <a:p>
            <a:r>
              <a:t>One precedent worth naming. Among the papers we read in full, exactly one names this problem and fixes it. It writes that absolute radiometry does not survive the simulation to reality gap, and anchors the whole scene with a single trihedral corner reflector. That is the shape of what I am asking for, and today's five dB is why it cannot be skipped.</a:t>
            </a:r>
          </a:p>
          <a:p/>
          <a:p>
            <a:r>
              <a:t>Q: Why not fix the boolean union first and rerun?</a:t>
            </a:r>
          </a:p>
          <a:p>
            <a:r>
              <a:t>A: That is the plan and it is cheap. What it cannot fix is the absolute level, because there is no second measured anchor in the record to check it against. That is the outdoor slot.</a:t>
            </a:r>
          </a:p>
          <a:p/>
          <a:p>
            <a:r>
              <a:t>— 한국어 해설 —</a:t>
            </a:r>
          </a:p>
          <a:p>
            <a:r>
              <a:t>오늘이 사는 것, 못 사는 것, 다음에 필요한 것입니다.</a:t>
            </a:r>
          </a:p>
          <a:p>
            <a:r>
              <a:t>⭐ 허가 범위부터. Phantom 4 형상표에 Phantom 3 제원을 얹은 조합은 방위면에서 측정된 기울기를 따라가고 레벨은 약 5 dB 낮게 앉으며, 그 레벨에서는 적당한 크기의 단순 입체가 우리를 이깁니다. 그 이상은 없습니다.</a:t>
            </a:r>
          </a:p>
          <a:p>
            <a:r>
              <a:t>허가하지 않는 것. 방위별 패턴 아님, 우리 사전 증거가 평균 1~2 dB 대 방위별 7~10 dB 입니다. 편파 아님, 재질이 그룹당 스칼라 반사크기 하나이고 앵커는 VV 뿐입니다. 회전 아님, 정지 자세입니다. 바이스태틱 아님, 물리광학 적분 안의 경사항이 바뀌는데 지금 코드에 없습니다. Phantom 4 형상표 가족 밖 기체도 아님, 레지스트리의 다른 기체 셋은 코드경로가 아예 다릅니다.</a:t>
            </a:r>
          </a:p>
          <a:p>
            <a:r>
              <a:t>숨기지 않을 결함 하나. 내부 금속 상자 두 개가 불리언 합집합에서 빠져 내부 면이 적분에 남아 있습니다. 5 dB 의 일부는 형상 충실도가 아니고 이 시험은 둘을 분리하지 못합니다. 다음 라운드 전 수정 목록에 있습니다.</a:t>
            </a:r>
          </a:p>
          <a:p>
            <a:r>
              <a:t>요청입니다. 가시선이 트이고 원거리장을 물리적으로 만들 거리가 나오는 야외 슬롯 하나, 앵커가 쓴 것과 같은 반경 0.178 m 교정구 하나, 구매 확정된 기체 두 대 Matrice 4E 와 Mini 5 Pro 입니다.</a:t>
            </a:r>
          </a:p>
          <a:p>
            <a:r>
              <a:t>성공 기준은 느낌이 아니라 숫자입니다. 세션 시작과 끝에 구를 재고 그 차이가 드리프트 예산이며 1 dB 를 넘으면 세션 자료를 폐기합니다. 야외인 이유는 compact range 가 없어 거리를 물리적으로 사야 하기 때문이고, 대가인 지면 반사는 게이팅으로 잘라냅니다.</a:t>
            </a:r>
          </a:p>
          <a:p>
            <a:r>
              <a:t>값어치를 판정하는 실험이 ablation 입니다. 같은 부지·파형·분류기에서 표적 모형만 셋으로 바꿉니다. 단순 상자, 우리 메쉬, 실측 기체. 셋에서 성능이 안 움직이면 표적 모형은 애초에 병목이 아니었던 것이고, 그렇게 말하고 멈춰야 합니다.</a:t>
            </a:r>
          </a:p>
          <a:p>
            <a:r>
              <a:t>선례 하나. 정독한 논문 중 정확히 한 편이 이 문제에 이름을 붙이고 삼면 코너리플렉터 하나로 씬 전체를 앵커합니다. 제가 요청하는 것의 모양이 그것이고, 오늘의 5 dB 가 그걸 건너뛸 수 없는 이유입니다.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제목">
    <p:spTree>
      <p:nvGrpSpPr>
        <p:cNvPr id="1" name=""/>
        <p:cNvGrpSpPr/>
        <p:nvPr/>
      </p:nvGrpSpPr>
      <p:grpSpPr>
        <a:xfrm>
          <a:off x="0" y="0"/>
          <a:ext cx="0" cy="0"/>
          <a:chOff x="0" y="0"/>
          <a:chExt cx="0" cy="0"/>
        </a:xfrm>
      </p:grpSpPr>
      <p:sp>
        <p:nvSpPr>
          <p:cNvPr id="11" name="저자 및 날짜"/>
          <p:cNvSpPr txBox="1">
            <a:spLocks noGrp="1"/>
          </p:cNvSpPr>
          <p:nvPr>
            <p:ph type="body" sz="quarter" idx="21" hasCustomPrompt="1"/>
          </p:nvPr>
        </p:nvSpPr>
        <p:spPr>
          <a:xfrm>
            <a:off x="1219200" y="11986162"/>
            <a:ext cx="21945599" cy="605791"/>
          </a:xfrm>
          <a:prstGeom prst="rect">
            <a:avLst/>
          </a:prstGeom>
        </p:spPr>
        <p:txBody>
          <a:bodyPr/>
          <a:lstStyle>
            <a:lvl1pPr marL="0" indent="0" algn="ctr" defTabSz="808990">
              <a:lnSpc>
                <a:spcPct val="100000"/>
              </a:lnSpc>
              <a:spcBef>
                <a:spcPts val="0"/>
              </a:spcBef>
              <a:buSzTx/>
              <a:buNone/>
              <a:defRPr sz="2940" spc="-29"/>
            </a:lvl1pPr>
          </a:lstStyle>
          <a:p>
            <a:r>
              <a:t>저자 및 날짜</a:t>
            </a:r>
          </a:p>
        </p:txBody>
      </p:sp>
      <p:sp>
        <p:nvSpPr>
          <p:cNvPr id="12" name="프레젠테이션 제목"/>
          <p:cNvSpPr txBox="1">
            <a:spLocks noGrp="1"/>
          </p:cNvSpPr>
          <p:nvPr>
            <p:ph type="title" hasCustomPrompt="1"/>
          </p:nvPr>
        </p:nvSpPr>
        <p:spPr>
          <a:xfrm>
            <a:off x="1219200" y="3543300"/>
            <a:ext cx="21945600" cy="4267200"/>
          </a:xfrm>
          <a:prstGeom prst="rect">
            <a:avLst/>
          </a:prstGeom>
        </p:spPr>
        <p:txBody>
          <a:bodyPr anchor="b"/>
          <a:lstStyle>
            <a:lvl1pPr>
              <a:defRPr sz="9000" b="1" spc="-90">
                <a:latin typeface="AvenirNext-DemiBold"/>
                <a:ea typeface="AvenirNext-DemiBold"/>
                <a:cs typeface="AvenirNext-DemiBold"/>
                <a:sym typeface="AvenirNext-DemiBold"/>
              </a:defRPr>
            </a:lvl1pPr>
          </a:lstStyle>
          <a:p>
            <a:r>
              <a:t>프레젠테이션 제목</a:t>
            </a:r>
          </a:p>
        </p:txBody>
      </p:sp>
      <p:sp>
        <p:nvSpPr>
          <p:cNvPr id="13" name="Body Level One…"/>
          <p:cNvSpPr txBox="1">
            <a:spLocks noGrp="1"/>
          </p:cNvSpPr>
          <p:nvPr>
            <p:ph type="body" sz="quarter" idx="1" hasCustomPrompt="1"/>
          </p:nvPr>
        </p:nvSpPr>
        <p:spPr>
          <a:xfrm>
            <a:off x="1219200" y="7567579"/>
            <a:ext cx="21945600" cy="2250593"/>
          </a:xfrm>
          <a:prstGeom prst="rect">
            <a:avLst/>
          </a:prstGeom>
        </p:spPr>
        <p:txBody>
          <a:bodyPr/>
          <a:lstStyle>
            <a:lvl1pPr marL="0" indent="0" algn="ctr" defTabSz="825500">
              <a:lnSpc>
                <a:spcPct val="100000"/>
              </a:lnSpc>
              <a:spcBef>
                <a:spcPts val="0"/>
              </a:spcBef>
              <a:buSzTx/>
              <a:buNone/>
              <a:defRPr sz="6000" b="1" spc="-59">
                <a:latin typeface="AvenirNext-DemiBold"/>
                <a:ea typeface="AvenirNext-DemiBold"/>
                <a:cs typeface="AvenirNext-DemiBold"/>
                <a:sym typeface="AvenirNext-DemiBold"/>
              </a:defRPr>
            </a:lvl1pPr>
            <a:lvl2pPr marL="0" indent="457200" algn="ctr" defTabSz="825500">
              <a:lnSpc>
                <a:spcPct val="100000"/>
              </a:lnSpc>
              <a:spcBef>
                <a:spcPts val="0"/>
              </a:spcBef>
              <a:buSzTx/>
              <a:buNone/>
              <a:defRPr sz="6000" b="1" spc="-59">
                <a:latin typeface="AvenirNext-DemiBold"/>
                <a:ea typeface="AvenirNext-DemiBold"/>
                <a:cs typeface="AvenirNext-DemiBold"/>
                <a:sym typeface="AvenirNext-DemiBold"/>
              </a:defRPr>
            </a:lvl2pPr>
            <a:lvl3pPr marL="0" indent="914400" algn="ctr" defTabSz="825500">
              <a:lnSpc>
                <a:spcPct val="100000"/>
              </a:lnSpc>
              <a:spcBef>
                <a:spcPts val="0"/>
              </a:spcBef>
              <a:buSzTx/>
              <a:buNone/>
              <a:defRPr sz="6000" b="1" spc="-59">
                <a:latin typeface="AvenirNext-DemiBold"/>
                <a:ea typeface="AvenirNext-DemiBold"/>
                <a:cs typeface="AvenirNext-DemiBold"/>
                <a:sym typeface="AvenirNext-DemiBold"/>
              </a:defRPr>
            </a:lvl3pPr>
            <a:lvl4pPr marL="0" indent="1371600" algn="ctr" defTabSz="825500">
              <a:lnSpc>
                <a:spcPct val="100000"/>
              </a:lnSpc>
              <a:spcBef>
                <a:spcPts val="0"/>
              </a:spcBef>
              <a:buSzTx/>
              <a:buNone/>
              <a:defRPr sz="6000" b="1" spc="-59">
                <a:latin typeface="AvenirNext-DemiBold"/>
                <a:ea typeface="AvenirNext-DemiBold"/>
                <a:cs typeface="AvenirNext-DemiBold"/>
                <a:sym typeface="AvenirNext-DemiBold"/>
              </a:defRPr>
            </a:lvl4pPr>
            <a:lvl5pPr marL="0" indent="1828800" algn="ctr" defTabSz="825500">
              <a:lnSpc>
                <a:spcPct val="100000"/>
              </a:lnSpc>
              <a:spcBef>
                <a:spcPts val="0"/>
              </a:spcBef>
              <a:buSzTx/>
              <a:buNone/>
              <a:defRPr sz="6000" b="1" spc="-59">
                <a:latin typeface="AvenirNext-DemiBold"/>
                <a:ea typeface="AvenirNext-DemiBold"/>
                <a:cs typeface="AvenirNext-DemiBold"/>
                <a:sym typeface="AvenirNext-DemiBold"/>
              </a:defRPr>
            </a:lvl5pPr>
          </a:lstStyle>
          <a:p>
            <a:r>
              <a:t>프레젠테이션 부제</a:t>
            </a:r>
          </a:p>
          <a:p>
            <a:pPr lvl="1"/>
            <a:endParaRPr/>
          </a:p>
          <a:p>
            <a:pPr lvl="2"/>
            <a:endParaRPr/>
          </a:p>
          <a:p>
            <a:pPr lvl="3"/>
            <a:endParaRPr/>
          </a:p>
          <a:p>
            <a:pPr lvl="4"/>
            <a:endParaRPr/>
          </a:p>
        </p:txBody>
      </p:sp>
      <p:sp>
        <p:nvSpPr>
          <p:cNvPr id="14" name="Slide Number"/>
          <p:cNvSpPr txBox="1">
            <a:spLocks noGrp="1"/>
          </p:cNvSpPr>
          <p:nvPr>
            <p:ph type="sldNum" sz="quarter" idx="2"/>
          </p:nvPr>
        </p:nvSpPr>
        <p:spPr>
          <a:xfrm>
            <a:off x="11880849"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type="tx">
  <p:cSld name="제목 및 구분점">
    <p:spTree>
      <p:nvGrpSpPr>
        <p:cNvPr id="1" name=""/>
        <p:cNvGrpSpPr/>
        <p:nvPr/>
      </p:nvGrpSpPr>
      <p:grpSpPr>
        <a:xfrm>
          <a:off x="0" y="0"/>
          <a:ext cx="0" cy="0"/>
          <a:chOff x="0" y="0"/>
          <a:chExt cx="0" cy="0"/>
        </a:xfrm>
      </p:grpSpPr>
      <p:sp>
        <p:nvSpPr>
          <p:cNvPr id="42" name="슬라이드 제목"/>
          <p:cNvSpPr txBox="1">
            <a:spLocks noGrp="1"/>
          </p:cNvSpPr>
          <p:nvPr>
            <p:ph type="title" hasCustomPrompt="1"/>
          </p:nvPr>
        </p:nvSpPr>
        <p:spPr>
          <a:prstGeom prst="rect">
            <a:avLst/>
          </a:prstGeom>
        </p:spPr>
        <p:txBody>
          <a:bodyPr/>
          <a:lstStyle/>
          <a:p>
            <a:r>
              <a:t>슬라이드 제목</a:t>
            </a:r>
          </a:p>
        </p:txBody>
      </p:sp>
      <p:sp>
        <p:nvSpPr>
          <p:cNvPr id="43" name="Body Level One…"/>
          <p:cNvSpPr txBox="1">
            <a:spLocks noGrp="1"/>
          </p:cNvSpPr>
          <p:nvPr>
            <p:ph type="body" idx="1" hasCustomPrompt="1"/>
          </p:nvPr>
        </p:nvSpPr>
        <p:spPr>
          <a:prstGeom prst="rect">
            <a:avLst/>
          </a:prstGeom>
        </p:spPr>
        <p:txBody>
          <a:bodyPr/>
          <a:lstStyle/>
          <a:p>
            <a:r>
              <a:t>슬라이드 구분점 텍스트</a:t>
            </a:r>
          </a:p>
          <a:p>
            <a:pPr lvl="1"/>
            <a:endParaRPr/>
          </a:p>
          <a:p>
            <a:pPr lvl="2"/>
            <a:endParaRPr/>
          </a:p>
          <a:p>
            <a:pPr lvl="3"/>
            <a:endParaRPr/>
          </a:p>
          <a:p>
            <a:pPr lvl="4"/>
            <a:endParaRPr/>
          </a:p>
        </p:txBody>
      </p:sp>
      <p:sp>
        <p:nvSpPr>
          <p:cNvPr id="44" name="슬라이드 부제"/>
          <p:cNvSpPr txBox="1">
            <a:spLocks noGrp="1"/>
          </p:cNvSpPr>
          <p:nvPr>
            <p:ph type="body" sz="quarter" idx="21" hasCustomPrompt="1"/>
          </p:nvPr>
        </p:nvSpPr>
        <p:spPr>
          <a:xfrm>
            <a:off x="1219200" y="2384648"/>
            <a:ext cx="21945602" cy="832613"/>
          </a:xfrm>
          <a:prstGeom prst="rect">
            <a:avLst/>
          </a:prstGeom>
        </p:spPr>
        <p:txBody>
          <a:bodyPr/>
          <a:lstStyle>
            <a:lvl1pPr marL="0" indent="0" algn="ctr" defTabSz="792479">
              <a:lnSpc>
                <a:spcPct val="100000"/>
              </a:lnSpc>
              <a:spcBef>
                <a:spcPts val="0"/>
              </a:spcBef>
              <a:buSzTx/>
              <a:buNone/>
              <a:defRPr sz="4224" b="1" spc="-42">
                <a:latin typeface="AvenirNext-DemiBold"/>
                <a:ea typeface="AvenirNext-DemiBold"/>
                <a:cs typeface="AvenirNext-DemiBold"/>
                <a:sym typeface="AvenirNext-DemiBold"/>
              </a:defRPr>
            </a:lvl1pPr>
          </a:lstStyle>
          <a:p>
            <a:r>
              <a:t>슬라이드 부제</a:t>
            </a:r>
          </a:p>
        </p:txBody>
      </p:sp>
      <p:sp>
        <p:nvSpPr>
          <p:cNvPr id="45"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type="tx">
  <p:cSld name="제목, 구분점 및 사진">
    <p:spTree>
      <p:nvGrpSpPr>
        <p:cNvPr id="1" name=""/>
        <p:cNvGrpSpPr/>
        <p:nvPr/>
      </p:nvGrpSpPr>
      <p:grpSpPr>
        <a:xfrm>
          <a:off x="0" y="0"/>
          <a:ext cx="0" cy="0"/>
          <a:chOff x="0" y="0"/>
          <a:chExt cx="0" cy="0"/>
        </a:xfrm>
      </p:grpSpPr>
      <p:sp>
        <p:nvSpPr>
          <p:cNvPr id="60" name="슬라이드 제목"/>
          <p:cNvSpPr txBox="1">
            <a:spLocks noGrp="1"/>
          </p:cNvSpPr>
          <p:nvPr>
            <p:ph type="title" hasCustomPrompt="1"/>
          </p:nvPr>
        </p:nvSpPr>
        <p:spPr>
          <a:xfrm>
            <a:off x="1219200" y="774700"/>
            <a:ext cx="9753600" cy="1600200"/>
          </a:xfrm>
          <a:prstGeom prst="rect">
            <a:avLst/>
          </a:prstGeom>
        </p:spPr>
        <p:txBody>
          <a:bodyPr/>
          <a:lstStyle/>
          <a:p>
            <a:r>
              <a:t>슬라이드 제목</a:t>
            </a:r>
          </a:p>
        </p:txBody>
      </p:sp>
      <p:sp>
        <p:nvSpPr>
          <p:cNvPr id="61" name="해 질 무렵의 하늘을 배경으로 둔 바다"/>
          <p:cNvSpPr>
            <a:spLocks noGrp="1"/>
          </p:cNvSpPr>
          <p:nvPr>
            <p:ph type="pic" idx="21"/>
          </p:nvPr>
        </p:nvSpPr>
        <p:spPr>
          <a:xfrm>
            <a:off x="12192644" y="718588"/>
            <a:ext cx="10972801" cy="12329624"/>
          </a:xfrm>
          <a:prstGeom prst="rect">
            <a:avLst/>
          </a:prstGeom>
        </p:spPr>
        <p:txBody>
          <a:bodyPr lIns="91439" tIns="45719" rIns="91439" bIns="45719">
            <a:noAutofit/>
          </a:bodyPr>
          <a:lstStyle/>
          <a:p>
            <a:endParaRPr/>
          </a:p>
        </p:txBody>
      </p:sp>
      <p:sp>
        <p:nvSpPr>
          <p:cNvPr id="62" name="슬라이드 부제"/>
          <p:cNvSpPr txBox="1">
            <a:spLocks noGrp="1"/>
          </p:cNvSpPr>
          <p:nvPr>
            <p:ph type="body" sz="quarter" idx="22" hasCustomPrompt="1"/>
          </p:nvPr>
        </p:nvSpPr>
        <p:spPr>
          <a:xfrm>
            <a:off x="1219200" y="2387600"/>
            <a:ext cx="9757569" cy="832612"/>
          </a:xfrm>
          <a:prstGeom prst="rect">
            <a:avLst/>
          </a:prstGeom>
        </p:spPr>
        <p:txBody>
          <a:bodyPr/>
          <a:lstStyle>
            <a:lvl1pPr marL="0" indent="0" algn="ctr" defTabSz="792479">
              <a:lnSpc>
                <a:spcPct val="100000"/>
              </a:lnSpc>
              <a:spcBef>
                <a:spcPts val="0"/>
              </a:spcBef>
              <a:buSzTx/>
              <a:buNone/>
              <a:defRPr sz="4224" b="1" spc="-42">
                <a:latin typeface="AvenirNext-DemiBold"/>
                <a:ea typeface="AvenirNext-DemiBold"/>
                <a:cs typeface="AvenirNext-DemiBold"/>
                <a:sym typeface="AvenirNext-DemiBold"/>
              </a:defRPr>
            </a:lvl1pPr>
          </a:lstStyle>
          <a:p>
            <a:r>
              <a:t>슬라이드 부제</a:t>
            </a:r>
          </a:p>
        </p:txBody>
      </p:sp>
      <p:sp>
        <p:nvSpPr>
          <p:cNvPr id="63" name="Body Level One…"/>
          <p:cNvSpPr txBox="1">
            <a:spLocks noGrp="1"/>
          </p:cNvSpPr>
          <p:nvPr>
            <p:ph type="body" sz="half" idx="1" hasCustomPrompt="1"/>
          </p:nvPr>
        </p:nvSpPr>
        <p:spPr>
          <a:xfrm>
            <a:off x="1219200" y="4023221"/>
            <a:ext cx="9757569" cy="8384679"/>
          </a:xfrm>
          <a:prstGeom prst="rect">
            <a:avLst/>
          </a:prstGeom>
        </p:spPr>
        <p:txBody>
          <a:bodyPr/>
          <a:lstStyle/>
          <a:p>
            <a:r>
              <a:t>슬라이드 구분점 텍스트</a:t>
            </a:r>
          </a:p>
          <a:p>
            <a:pPr lvl="1"/>
            <a:endParaRPr/>
          </a:p>
          <a:p>
            <a:pPr lvl="2"/>
            <a:endParaRPr/>
          </a:p>
          <a:p>
            <a:pPr lvl="3"/>
            <a:endParaRPr/>
          </a:p>
          <a:p>
            <a:pPr lvl="4"/>
            <a:endParaRPr/>
          </a:p>
        </p:txBody>
      </p:sp>
      <p:sp>
        <p:nvSpPr>
          <p:cNvPr id="64" name="Slide Number"/>
          <p:cNvSpPr txBox="1">
            <a:spLocks noGrp="1"/>
          </p:cNvSpPr>
          <p:nvPr>
            <p:ph type="sldNum" sz="quarter" idx="2"/>
          </p:nvPr>
        </p:nvSpPr>
        <p:spPr>
          <a:xfrm>
            <a:off x="11883390"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type="tx">
  <p:cSld name="제목, 구분점 및 작은 라이브 비디오">
    <p:spTree>
      <p:nvGrpSpPr>
        <p:cNvPr id="1" name=""/>
        <p:cNvGrpSpPr/>
        <p:nvPr/>
      </p:nvGrpSpPr>
      <p:grpSpPr>
        <a:xfrm>
          <a:off x="0" y="0"/>
          <a:ext cx="0" cy="0"/>
          <a:chOff x="0" y="0"/>
          <a:chExt cx="0" cy="0"/>
        </a:xfrm>
      </p:grpSpPr>
      <p:sp>
        <p:nvSpPr>
          <p:cNvPr id="71" name="슬라이드 제목"/>
          <p:cNvSpPr txBox="1">
            <a:spLocks noGrp="1"/>
          </p:cNvSpPr>
          <p:nvPr>
            <p:ph type="title" hasCustomPrompt="1"/>
          </p:nvPr>
        </p:nvSpPr>
        <p:spPr>
          <a:xfrm>
            <a:off x="1219200" y="774700"/>
            <a:ext cx="9753600" cy="1600200"/>
          </a:xfrm>
          <a:prstGeom prst="rect">
            <a:avLst/>
          </a:prstGeom>
        </p:spPr>
        <p:txBody>
          <a:bodyPr/>
          <a:lstStyle/>
          <a:p>
            <a:r>
              <a:t>슬라이드 제목</a:t>
            </a:r>
          </a:p>
        </p:txBody>
      </p:sp>
      <p:sp>
        <p:nvSpPr>
          <p:cNvPr id="72" name="슬라이드 부제"/>
          <p:cNvSpPr txBox="1">
            <a:spLocks noGrp="1"/>
          </p:cNvSpPr>
          <p:nvPr>
            <p:ph type="body" sz="quarter" idx="21" hasCustomPrompt="1"/>
          </p:nvPr>
        </p:nvSpPr>
        <p:spPr>
          <a:xfrm>
            <a:off x="1219200" y="2387600"/>
            <a:ext cx="9757569" cy="832612"/>
          </a:xfrm>
          <a:prstGeom prst="rect">
            <a:avLst/>
          </a:prstGeom>
        </p:spPr>
        <p:txBody>
          <a:bodyPr/>
          <a:lstStyle>
            <a:lvl1pPr marL="0" indent="0" algn="ctr" defTabSz="792479">
              <a:lnSpc>
                <a:spcPct val="100000"/>
              </a:lnSpc>
              <a:spcBef>
                <a:spcPts val="0"/>
              </a:spcBef>
              <a:buSzTx/>
              <a:buNone/>
              <a:defRPr sz="4224" b="1" spc="-42">
                <a:latin typeface="AvenirNext-DemiBold"/>
                <a:ea typeface="AvenirNext-DemiBold"/>
                <a:cs typeface="AvenirNext-DemiBold"/>
                <a:sym typeface="AvenirNext-DemiBold"/>
              </a:defRPr>
            </a:lvl1pPr>
          </a:lstStyle>
          <a:p>
            <a:r>
              <a:t>슬라이드 부제</a:t>
            </a:r>
          </a:p>
        </p:txBody>
      </p:sp>
      <p:sp>
        <p:nvSpPr>
          <p:cNvPr id="73" name="Body Level One…"/>
          <p:cNvSpPr txBox="1">
            <a:spLocks noGrp="1"/>
          </p:cNvSpPr>
          <p:nvPr>
            <p:ph type="body" sz="half" idx="1" hasCustomPrompt="1"/>
          </p:nvPr>
        </p:nvSpPr>
        <p:spPr>
          <a:xfrm>
            <a:off x="1219200" y="4023221"/>
            <a:ext cx="9757569" cy="8384679"/>
          </a:xfrm>
          <a:prstGeom prst="rect">
            <a:avLst/>
          </a:prstGeom>
        </p:spPr>
        <p:txBody>
          <a:bodyPr/>
          <a:lstStyle/>
          <a:p>
            <a:r>
              <a:t>슬라이드 구분점 텍스트</a:t>
            </a:r>
          </a:p>
          <a:p>
            <a:pPr lvl="1"/>
            <a:endParaRPr/>
          </a:p>
          <a:p>
            <a:pPr lvl="2"/>
            <a:endParaRPr/>
          </a:p>
          <a:p>
            <a:pPr lvl="3"/>
            <a:endParaRPr/>
          </a:p>
          <a:p>
            <a:pPr lvl="4"/>
            <a:endParaRPr/>
          </a:p>
        </p:txBody>
      </p:sp>
      <p:sp>
        <p:nvSpPr>
          <p:cNvPr id="74" name="Slide Number"/>
          <p:cNvSpPr txBox="1">
            <a:spLocks noGrp="1"/>
          </p:cNvSpPr>
          <p:nvPr>
            <p:ph type="sldNum" sz="quarter" idx="2"/>
          </p:nvPr>
        </p:nvSpPr>
        <p:spPr>
          <a:xfrm>
            <a:off x="11883390"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type="tx">
  <p:cSld name="제목, 구분점 및 큰 라이브 비디오">
    <p:spTree>
      <p:nvGrpSpPr>
        <p:cNvPr id="1" name=""/>
        <p:cNvGrpSpPr/>
        <p:nvPr/>
      </p:nvGrpSpPr>
      <p:grpSpPr>
        <a:xfrm>
          <a:off x="0" y="0"/>
          <a:ext cx="0" cy="0"/>
          <a:chOff x="0" y="0"/>
          <a:chExt cx="0" cy="0"/>
        </a:xfrm>
      </p:grpSpPr>
      <p:sp>
        <p:nvSpPr>
          <p:cNvPr id="81" name="슬라이드 제목"/>
          <p:cNvSpPr txBox="1">
            <a:spLocks noGrp="1"/>
          </p:cNvSpPr>
          <p:nvPr>
            <p:ph type="title" hasCustomPrompt="1"/>
          </p:nvPr>
        </p:nvSpPr>
        <p:spPr>
          <a:xfrm>
            <a:off x="1219200" y="774700"/>
            <a:ext cx="9753600" cy="1600200"/>
          </a:xfrm>
          <a:prstGeom prst="rect">
            <a:avLst/>
          </a:prstGeom>
        </p:spPr>
        <p:txBody>
          <a:bodyPr/>
          <a:lstStyle/>
          <a:p>
            <a:r>
              <a:t>슬라이드 제목</a:t>
            </a:r>
          </a:p>
        </p:txBody>
      </p:sp>
      <p:sp>
        <p:nvSpPr>
          <p:cNvPr id="82" name="슬라이드 부제"/>
          <p:cNvSpPr txBox="1">
            <a:spLocks noGrp="1"/>
          </p:cNvSpPr>
          <p:nvPr>
            <p:ph type="body" sz="quarter" idx="21" hasCustomPrompt="1"/>
          </p:nvPr>
        </p:nvSpPr>
        <p:spPr>
          <a:xfrm>
            <a:off x="1219200" y="2387600"/>
            <a:ext cx="9757569" cy="832612"/>
          </a:xfrm>
          <a:prstGeom prst="rect">
            <a:avLst/>
          </a:prstGeom>
        </p:spPr>
        <p:txBody>
          <a:bodyPr/>
          <a:lstStyle>
            <a:lvl1pPr marL="0" indent="0" algn="ctr" defTabSz="792479">
              <a:lnSpc>
                <a:spcPct val="100000"/>
              </a:lnSpc>
              <a:spcBef>
                <a:spcPts val="0"/>
              </a:spcBef>
              <a:buSzTx/>
              <a:buNone/>
              <a:defRPr sz="4224" b="1" spc="-42">
                <a:latin typeface="AvenirNext-DemiBold"/>
                <a:ea typeface="AvenirNext-DemiBold"/>
                <a:cs typeface="AvenirNext-DemiBold"/>
                <a:sym typeface="AvenirNext-DemiBold"/>
              </a:defRPr>
            </a:lvl1pPr>
          </a:lstStyle>
          <a:p>
            <a:r>
              <a:t>슬라이드 부제</a:t>
            </a:r>
          </a:p>
        </p:txBody>
      </p:sp>
      <p:sp>
        <p:nvSpPr>
          <p:cNvPr id="83" name="Body Level One…"/>
          <p:cNvSpPr txBox="1">
            <a:spLocks noGrp="1"/>
          </p:cNvSpPr>
          <p:nvPr>
            <p:ph type="body" sz="half" idx="1" hasCustomPrompt="1"/>
          </p:nvPr>
        </p:nvSpPr>
        <p:spPr>
          <a:xfrm>
            <a:off x="1219200" y="4023221"/>
            <a:ext cx="9757569" cy="8384679"/>
          </a:xfrm>
          <a:prstGeom prst="rect">
            <a:avLst/>
          </a:prstGeom>
        </p:spPr>
        <p:txBody>
          <a:bodyPr/>
          <a:lstStyle/>
          <a:p>
            <a:r>
              <a:t>슬라이드 구분점 텍스트</a:t>
            </a:r>
          </a:p>
          <a:p>
            <a:pPr lvl="1"/>
            <a:endParaRPr/>
          </a:p>
          <a:p>
            <a:pPr lvl="2"/>
            <a:endParaRPr/>
          </a:p>
          <a:p>
            <a:pPr lvl="3"/>
            <a:endParaRPr/>
          </a:p>
          <a:p>
            <a:pPr lvl="4"/>
            <a:endParaRPr/>
          </a:p>
        </p:txBody>
      </p:sp>
      <p:sp>
        <p:nvSpPr>
          <p:cNvPr id="84" name="Slide Number"/>
          <p:cNvSpPr txBox="1">
            <a:spLocks noGrp="1"/>
          </p:cNvSpPr>
          <p:nvPr>
            <p:ph type="sldNum" sz="quarter" idx="2"/>
          </p:nvPr>
        </p:nvSpPr>
        <p:spPr>
          <a:xfrm>
            <a:off x="11883390"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type="tx">
  <p:cSld name="섹션">
    <p:spTree>
      <p:nvGrpSpPr>
        <p:cNvPr id="1" name=""/>
        <p:cNvGrpSpPr/>
        <p:nvPr/>
      </p:nvGrpSpPr>
      <p:grpSpPr>
        <a:xfrm>
          <a:off x="0" y="0"/>
          <a:ext cx="0" cy="0"/>
          <a:chOff x="0" y="0"/>
          <a:chExt cx="0" cy="0"/>
        </a:xfrm>
      </p:grpSpPr>
      <p:sp>
        <p:nvSpPr>
          <p:cNvPr id="91" name="섹션 제목"/>
          <p:cNvSpPr txBox="1">
            <a:spLocks noGrp="1"/>
          </p:cNvSpPr>
          <p:nvPr>
            <p:ph type="title" hasCustomPrompt="1"/>
          </p:nvPr>
        </p:nvSpPr>
        <p:spPr>
          <a:xfrm>
            <a:off x="1219200" y="3242270"/>
            <a:ext cx="21945600" cy="6604001"/>
          </a:xfrm>
          <a:prstGeom prst="rect">
            <a:avLst/>
          </a:prstGeom>
        </p:spPr>
        <p:txBody>
          <a:bodyPr anchor="ctr"/>
          <a:lstStyle>
            <a:lvl1pPr algn="ctr">
              <a:defRPr sz="12800" spc="0">
                <a:latin typeface="Canela Bold"/>
                <a:ea typeface="Canela Bold"/>
                <a:cs typeface="Canela Bold"/>
                <a:sym typeface="Canela Bold"/>
              </a:defRPr>
            </a:lvl1pPr>
          </a:lstStyle>
          <a:p>
            <a:r>
              <a:t>섹션 제목</a:t>
            </a:r>
          </a:p>
        </p:txBody>
      </p:sp>
      <p:sp>
        <p:nvSpPr>
          <p:cNvPr id="92" name="Slide Number"/>
          <p:cNvSpPr txBox="1">
            <a:spLocks noGrp="1"/>
          </p:cNvSpPr>
          <p:nvPr>
            <p:ph type="sldNum" sz="quarter" idx="2"/>
          </p:nvPr>
        </p:nvSpPr>
        <p:spPr>
          <a:xfrm>
            <a:off x="11880849"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type="tx">
  <p:cSld name="제목 전용">
    <p:spTree>
      <p:nvGrpSpPr>
        <p:cNvPr id="1" name=""/>
        <p:cNvGrpSpPr/>
        <p:nvPr/>
      </p:nvGrpSpPr>
      <p:grpSpPr>
        <a:xfrm>
          <a:off x="0" y="0"/>
          <a:ext cx="0" cy="0"/>
          <a:chOff x="0" y="0"/>
          <a:chExt cx="0" cy="0"/>
        </a:xfrm>
      </p:grpSpPr>
      <p:sp>
        <p:nvSpPr>
          <p:cNvPr id="99" name="슬라이드 제목"/>
          <p:cNvSpPr txBox="1">
            <a:spLocks noGrp="1"/>
          </p:cNvSpPr>
          <p:nvPr>
            <p:ph type="title" hasCustomPrompt="1"/>
          </p:nvPr>
        </p:nvSpPr>
        <p:spPr>
          <a:prstGeom prst="rect">
            <a:avLst/>
          </a:prstGeom>
        </p:spPr>
        <p:txBody>
          <a:bodyPr/>
          <a:lstStyle/>
          <a:p>
            <a:r>
              <a:t>슬라이드 제목</a:t>
            </a:r>
          </a:p>
        </p:txBody>
      </p:sp>
      <p:sp>
        <p:nvSpPr>
          <p:cNvPr id="100" name="슬라이드 부제"/>
          <p:cNvSpPr txBox="1">
            <a:spLocks noGrp="1"/>
          </p:cNvSpPr>
          <p:nvPr>
            <p:ph type="body" sz="quarter" idx="21" hasCustomPrompt="1"/>
          </p:nvPr>
        </p:nvSpPr>
        <p:spPr>
          <a:xfrm>
            <a:off x="1219200" y="2384648"/>
            <a:ext cx="21945602" cy="832613"/>
          </a:xfrm>
          <a:prstGeom prst="rect">
            <a:avLst/>
          </a:prstGeom>
        </p:spPr>
        <p:txBody>
          <a:bodyPr/>
          <a:lstStyle>
            <a:lvl1pPr marL="0" indent="0" algn="ctr" defTabSz="792479">
              <a:lnSpc>
                <a:spcPct val="100000"/>
              </a:lnSpc>
              <a:spcBef>
                <a:spcPts val="0"/>
              </a:spcBef>
              <a:buSzTx/>
              <a:buNone/>
              <a:defRPr sz="4224" b="1" spc="-42">
                <a:latin typeface="AvenirNext-DemiBold"/>
                <a:ea typeface="AvenirNext-DemiBold"/>
                <a:cs typeface="AvenirNext-DemiBold"/>
                <a:sym typeface="AvenirNext-DemiBold"/>
              </a:defRPr>
            </a:lvl1pPr>
          </a:lstStyle>
          <a:p>
            <a:r>
              <a:t>슬라이드 부제</a:t>
            </a:r>
          </a:p>
        </p:txBody>
      </p:sp>
      <p:sp>
        <p:nvSpPr>
          <p:cNvPr id="101" name="Slide Number"/>
          <p:cNvSpPr txBox="1">
            <a:spLocks noGrp="1"/>
          </p:cNvSpPr>
          <p:nvPr>
            <p:ph type="sldNum" sz="quarter" idx="2"/>
          </p:nvPr>
        </p:nvSpPr>
        <p:spPr>
          <a:xfrm>
            <a:off x="11880849"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type="tx">
  <p:cSld name="의제">
    <p:spTree>
      <p:nvGrpSpPr>
        <p:cNvPr id="1" name=""/>
        <p:cNvGrpSpPr/>
        <p:nvPr/>
      </p:nvGrpSpPr>
      <p:grpSpPr>
        <a:xfrm>
          <a:off x="0" y="0"/>
          <a:ext cx="0" cy="0"/>
          <a:chOff x="0" y="0"/>
          <a:chExt cx="0" cy="0"/>
        </a:xfrm>
      </p:grpSpPr>
      <p:sp>
        <p:nvSpPr>
          <p:cNvPr id="108" name="의제 제목"/>
          <p:cNvSpPr txBox="1">
            <a:spLocks noGrp="1"/>
          </p:cNvSpPr>
          <p:nvPr>
            <p:ph type="title" hasCustomPrompt="1"/>
          </p:nvPr>
        </p:nvSpPr>
        <p:spPr>
          <a:prstGeom prst="rect">
            <a:avLst/>
          </a:prstGeom>
        </p:spPr>
        <p:txBody>
          <a:bodyPr/>
          <a:lstStyle/>
          <a:p>
            <a:r>
              <a:t>의제 제목</a:t>
            </a:r>
          </a:p>
        </p:txBody>
      </p:sp>
      <p:sp>
        <p:nvSpPr>
          <p:cNvPr id="109" name="Body Level One…"/>
          <p:cNvSpPr txBox="1">
            <a:spLocks noGrp="1"/>
          </p:cNvSpPr>
          <p:nvPr>
            <p:ph type="body" idx="1" hasCustomPrompt="1"/>
          </p:nvPr>
        </p:nvSpPr>
        <p:spPr>
          <a:xfrm>
            <a:off x="1219200" y="4013200"/>
            <a:ext cx="21945600" cy="8385548"/>
          </a:xfrm>
          <a:prstGeom prst="rect">
            <a:avLst/>
          </a:prstGeom>
        </p:spPr>
        <p:txBody>
          <a:bodyPr/>
          <a:lstStyle>
            <a:lvl1pPr marL="0" indent="0" defTabSz="825500">
              <a:lnSpc>
                <a:spcPct val="100000"/>
              </a:lnSpc>
              <a:buSzTx/>
              <a:buNone/>
              <a:defRPr sz="6800" spc="-136">
                <a:latin typeface="Canela Deck Regular"/>
                <a:ea typeface="Canela Deck Regular"/>
                <a:cs typeface="Canela Deck Regular"/>
                <a:sym typeface="Canela Deck Regular"/>
              </a:defRPr>
            </a:lvl1pPr>
            <a:lvl2pPr marL="0" indent="457200" defTabSz="825500">
              <a:lnSpc>
                <a:spcPct val="100000"/>
              </a:lnSpc>
              <a:buSzTx/>
              <a:buNone/>
              <a:defRPr sz="6800" spc="-136">
                <a:latin typeface="Canela Deck Regular"/>
                <a:ea typeface="Canela Deck Regular"/>
                <a:cs typeface="Canela Deck Regular"/>
                <a:sym typeface="Canela Deck Regular"/>
              </a:defRPr>
            </a:lvl2pPr>
            <a:lvl3pPr marL="0" indent="914400" defTabSz="825500">
              <a:lnSpc>
                <a:spcPct val="100000"/>
              </a:lnSpc>
              <a:buSzTx/>
              <a:buNone/>
              <a:defRPr sz="6800" spc="-136">
                <a:latin typeface="Canela Deck Regular"/>
                <a:ea typeface="Canela Deck Regular"/>
                <a:cs typeface="Canela Deck Regular"/>
                <a:sym typeface="Canela Deck Regular"/>
              </a:defRPr>
            </a:lvl3pPr>
            <a:lvl4pPr marL="0" indent="1371600" defTabSz="825500">
              <a:lnSpc>
                <a:spcPct val="100000"/>
              </a:lnSpc>
              <a:buSzTx/>
              <a:buNone/>
              <a:defRPr sz="6800" spc="-136">
                <a:latin typeface="Canela Deck Regular"/>
                <a:ea typeface="Canela Deck Regular"/>
                <a:cs typeface="Canela Deck Regular"/>
                <a:sym typeface="Canela Deck Regular"/>
              </a:defRPr>
            </a:lvl4pPr>
            <a:lvl5pPr marL="0" indent="1828800" defTabSz="825500">
              <a:lnSpc>
                <a:spcPct val="100000"/>
              </a:lnSpc>
              <a:buSzTx/>
              <a:buNone/>
              <a:defRPr sz="6800" spc="-136">
                <a:latin typeface="Canela Deck Regular"/>
                <a:ea typeface="Canela Deck Regular"/>
                <a:cs typeface="Canela Deck Regular"/>
                <a:sym typeface="Canela Deck Regular"/>
              </a:defRPr>
            </a:lvl5pPr>
          </a:lstStyle>
          <a:p>
            <a:r>
              <a:t>의제 주제</a:t>
            </a:r>
          </a:p>
          <a:p>
            <a:pPr lvl="1"/>
            <a:endParaRPr/>
          </a:p>
          <a:p>
            <a:pPr lvl="2"/>
            <a:endParaRPr/>
          </a:p>
          <a:p>
            <a:pPr lvl="3"/>
            <a:endParaRPr/>
          </a:p>
          <a:p>
            <a:pPr lvl="4"/>
            <a:endParaRPr/>
          </a:p>
        </p:txBody>
      </p:sp>
      <p:sp>
        <p:nvSpPr>
          <p:cNvPr id="110" name="의제 부제"/>
          <p:cNvSpPr txBox="1">
            <a:spLocks noGrp="1"/>
          </p:cNvSpPr>
          <p:nvPr>
            <p:ph type="body" sz="quarter" idx="21" hasCustomPrompt="1"/>
          </p:nvPr>
        </p:nvSpPr>
        <p:spPr>
          <a:xfrm>
            <a:off x="1219200" y="2387115"/>
            <a:ext cx="21945602" cy="832613"/>
          </a:xfrm>
          <a:prstGeom prst="rect">
            <a:avLst/>
          </a:prstGeom>
        </p:spPr>
        <p:txBody>
          <a:bodyPr/>
          <a:lstStyle>
            <a:lvl1pPr marL="0" indent="0" algn="ctr" defTabSz="792479">
              <a:lnSpc>
                <a:spcPct val="100000"/>
              </a:lnSpc>
              <a:spcBef>
                <a:spcPts val="0"/>
              </a:spcBef>
              <a:buSzTx/>
              <a:buNone/>
              <a:defRPr sz="4224" b="1" spc="-42">
                <a:latin typeface="AvenirNext-DemiBold"/>
                <a:ea typeface="AvenirNext-DemiBold"/>
                <a:cs typeface="AvenirNext-DemiBold"/>
                <a:sym typeface="AvenirNext-DemiBold"/>
              </a:defRPr>
            </a:lvl1pPr>
          </a:lstStyle>
          <a:p>
            <a:r>
              <a:t>의제 부제</a:t>
            </a:r>
          </a:p>
        </p:txBody>
      </p:sp>
      <p:sp>
        <p:nvSpPr>
          <p:cNvPr id="111" name="Slide Number"/>
          <p:cNvSpPr txBox="1">
            <a:spLocks noGrp="1"/>
          </p:cNvSpPr>
          <p:nvPr>
            <p:ph type="sldNum" sz="quarter" idx="2"/>
          </p:nvPr>
        </p:nvSpPr>
        <p:spPr>
          <a:xfrm>
            <a:off x="11880849"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type="tx">
  <p:cSld name="내역서">
    <p:spTree>
      <p:nvGrpSpPr>
        <p:cNvPr id="1" name=""/>
        <p:cNvGrpSpPr/>
        <p:nvPr/>
      </p:nvGrpSpPr>
      <p:grpSpPr>
        <a:xfrm>
          <a:off x="0" y="0"/>
          <a:ext cx="0" cy="0"/>
          <a:chOff x="0" y="0"/>
          <a:chExt cx="0" cy="0"/>
        </a:xfrm>
      </p:grpSpPr>
      <p:sp>
        <p:nvSpPr>
          <p:cNvPr id="118" name="Body Level One…"/>
          <p:cNvSpPr txBox="1">
            <a:spLocks noGrp="1"/>
          </p:cNvSpPr>
          <p:nvPr>
            <p:ph type="body" idx="1" hasCustomPrompt="1"/>
          </p:nvPr>
        </p:nvSpPr>
        <p:spPr>
          <a:xfrm>
            <a:off x="1219200" y="3251200"/>
            <a:ext cx="21945600" cy="6604000"/>
          </a:xfrm>
          <a:prstGeom prst="rect">
            <a:avLst/>
          </a:prstGeom>
        </p:spPr>
        <p:txBody>
          <a:bodyPr anchor="ctr"/>
          <a:lstStyle>
            <a:lvl1pPr marL="0" indent="0" algn="ctr" defTabSz="2438400">
              <a:lnSpc>
                <a:spcPct val="80000"/>
              </a:lnSpc>
              <a:spcBef>
                <a:spcPts val="0"/>
              </a:spcBef>
              <a:buSzTx/>
              <a:buNone/>
              <a:defRPr sz="12800">
                <a:latin typeface="Canela Regular"/>
                <a:ea typeface="Canela Regular"/>
                <a:cs typeface="Canela Regular"/>
                <a:sym typeface="Canela Regular"/>
              </a:defRPr>
            </a:lvl1pPr>
            <a:lvl2pPr marL="0" indent="457200" algn="ctr" defTabSz="2438400">
              <a:lnSpc>
                <a:spcPct val="80000"/>
              </a:lnSpc>
              <a:spcBef>
                <a:spcPts val="0"/>
              </a:spcBef>
              <a:buSzTx/>
              <a:buNone/>
              <a:defRPr sz="12800">
                <a:latin typeface="Canela Regular"/>
                <a:ea typeface="Canela Regular"/>
                <a:cs typeface="Canela Regular"/>
                <a:sym typeface="Canela Regular"/>
              </a:defRPr>
            </a:lvl2pPr>
            <a:lvl3pPr marL="0" indent="914400" algn="ctr" defTabSz="2438400">
              <a:lnSpc>
                <a:spcPct val="80000"/>
              </a:lnSpc>
              <a:spcBef>
                <a:spcPts val="0"/>
              </a:spcBef>
              <a:buSzTx/>
              <a:buNone/>
              <a:defRPr sz="12800">
                <a:latin typeface="Canela Regular"/>
                <a:ea typeface="Canela Regular"/>
                <a:cs typeface="Canela Regular"/>
                <a:sym typeface="Canela Regular"/>
              </a:defRPr>
            </a:lvl3pPr>
            <a:lvl4pPr marL="0" indent="1371600" algn="ctr" defTabSz="2438400">
              <a:lnSpc>
                <a:spcPct val="80000"/>
              </a:lnSpc>
              <a:spcBef>
                <a:spcPts val="0"/>
              </a:spcBef>
              <a:buSzTx/>
              <a:buNone/>
              <a:defRPr sz="12800">
                <a:latin typeface="Canela Regular"/>
                <a:ea typeface="Canela Regular"/>
                <a:cs typeface="Canela Regular"/>
                <a:sym typeface="Canela Regular"/>
              </a:defRPr>
            </a:lvl4pPr>
            <a:lvl5pPr marL="0" indent="1828800" algn="ctr" defTabSz="2438400">
              <a:lnSpc>
                <a:spcPct val="80000"/>
              </a:lnSpc>
              <a:spcBef>
                <a:spcPts val="0"/>
              </a:spcBef>
              <a:buSzTx/>
              <a:buNone/>
              <a:defRPr sz="12800">
                <a:latin typeface="Canela Regular"/>
                <a:ea typeface="Canela Regular"/>
                <a:cs typeface="Canela Regular"/>
                <a:sym typeface="Canela Regular"/>
              </a:defRPr>
            </a:lvl5pPr>
          </a:lstStyle>
          <a:p>
            <a:r>
              <a:t>내역서</a:t>
            </a:r>
          </a:p>
          <a:p>
            <a:pPr lvl="1"/>
            <a:endParaRPr/>
          </a:p>
          <a:p>
            <a:pPr lvl="2"/>
            <a:endParaRPr/>
          </a:p>
          <a:p>
            <a:pPr lvl="3"/>
            <a:endParaRPr/>
          </a:p>
          <a:p>
            <a:pPr lvl="4"/>
            <a:endParaRPr/>
          </a:p>
        </p:txBody>
      </p:sp>
      <p:sp>
        <p:nvSpPr>
          <p:cNvPr id="119"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type="tx">
  <p:cSld name="중요한 사실">
    <p:spTree>
      <p:nvGrpSpPr>
        <p:cNvPr id="1" name=""/>
        <p:cNvGrpSpPr/>
        <p:nvPr/>
      </p:nvGrpSpPr>
      <p:grpSpPr>
        <a:xfrm>
          <a:off x="0" y="0"/>
          <a:ext cx="0" cy="0"/>
          <a:chOff x="0" y="0"/>
          <a:chExt cx="0" cy="0"/>
        </a:xfrm>
      </p:grpSpPr>
      <p:sp>
        <p:nvSpPr>
          <p:cNvPr id="126" name="사실 정보"/>
          <p:cNvSpPr txBox="1">
            <a:spLocks noGrp="1"/>
          </p:cNvSpPr>
          <p:nvPr>
            <p:ph type="body" sz="quarter" idx="21" hasCustomPrompt="1"/>
          </p:nvPr>
        </p:nvSpPr>
        <p:spPr>
          <a:xfrm>
            <a:off x="1219200" y="8462239"/>
            <a:ext cx="21945602" cy="832613"/>
          </a:xfrm>
          <a:prstGeom prst="rect">
            <a:avLst/>
          </a:prstGeom>
        </p:spPr>
        <p:txBody>
          <a:bodyPr/>
          <a:lstStyle>
            <a:lvl1pPr marL="0" indent="0" algn="ctr" defTabSz="792479">
              <a:lnSpc>
                <a:spcPct val="100000"/>
              </a:lnSpc>
              <a:spcBef>
                <a:spcPts val="0"/>
              </a:spcBef>
              <a:buSzTx/>
              <a:buNone/>
              <a:defRPr sz="4224" b="1" spc="-42">
                <a:latin typeface="AvenirNext-DemiBold"/>
                <a:ea typeface="AvenirNext-DemiBold"/>
                <a:cs typeface="AvenirNext-DemiBold"/>
                <a:sym typeface="AvenirNext-DemiBold"/>
              </a:defRPr>
            </a:lvl1pPr>
          </a:lstStyle>
          <a:p>
            <a:r>
              <a:t>사실 정보</a:t>
            </a:r>
          </a:p>
        </p:txBody>
      </p:sp>
      <p:sp>
        <p:nvSpPr>
          <p:cNvPr id="127" name="Body Level One…"/>
          <p:cNvSpPr txBox="1">
            <a:spLocks noGrp="1"/>
          </p:cNvSpPr>
          <p:nvPr>
            <p:ph type="body" sz="half" idx="1" hasCustomPrompt="1"/>
          </p:nvPr>
        </p:nvSpPr>
        <p:spPr>
          <a:xfrm>
            <a:off x="1219200" y="4214484"/>
            <a:ext cx="21945600" cy="4269708"/>
          </a:xfrm>
          <a:prstGeom prst="rect">
            <a:avLst/>
          </a:prstGeom>
        </p:spPr>
        <p:txBody>
          <a:bodyPr anchor="b"/>
          <a:lstStyle>
            <a:lvl1pPr marL="0" indent="0" algn="ctr" defTabSz="2438400">
              <a:lnSpc>
                <a:spcPct val="80000"/>
              </a:lnSpc>
              <a:spcBef>
                <a:spcPts val="0"/>
              </a:spcBef>
              <a:buSzTx/>
              <a:buNone/>
              <a:defRPr sz="22400">
                <a:latin typeface="Canela Bold"/>
                <a:ea typeface="Canela Bold"/>
                <a:cs typeface="Canela Bold"/>
                <a:sym typeface="Canela Bold"/>
              </a:defRPr>
            </a:lvl1pPr>
            <a:lvl2pPr marL="0" indent="457200" algn="ctr" defTabSz="2438400">
              <a:lnSpc>
                <a:spcPct val="80000"/>
              </a:lnSpc>
              <a:spcBef>
                <a:spcPts val="0"/>
              </a:spcBef>
              <a:buSzTx/>
              <a:buNone/>
              <a:defRPr sz="22400">
                <a:latin typeface="Canela Bold"/>
                <a:ea typeface="Canela Bold"/>
                <a:cs typeface="Canela Bold"/>
                <a:sym typeface="Canela Bold"/>
              </a:defRPr>
            </a:lvl2pPr>
            <a:lvl3pPr marL="0" indent="914400" algn="ctr" defTabSz="2438400">
              <a:lnSpc>
                <a:spcPct val="80000"/>
              </a:lnSpc>
              <a:spcBef>
                <a:spcPts val="0"/>
              </a:spcBef>
              <a:buSzTx/>
              <a:buNone/>
              <a:defRPr sz="22400">
                <a:latin typeface="Canela Bold"/>
                <a:ea typeface="Canela Bold"/>
                <a:cs typeface="Canela Bold"/>
                <a:sym typeface="Canela Bold"/>
              </a:defRPr>
            </a:lvl3pPr>
            <a:lvl4pPr marL="0" indent="1371600" algn="ctr" defTabSz="2438400">
              <a:lnSpc>
                <a:spcPct val="80000"/>
              </a:lnSpc>
              <a:spcBef>
                <a:spcPts val="0"/>
              </a:spcBef>
              <a:buSzTx/>
              <a:buNone/>
              <a:defRPr sz="22400">
                <a:latin typeface="Canela Bold"/>
                <a:ea typeface="Canela Bold"/>
                <a:cs typeface="Canela Bold"/>
                <a:sym typeface="Canela Bold"/>
              </a:defRPr>
            </a:lvl4pPr>
            <a:lvl5pPr marL="0" indent="1828800" algn="ctr" defTabSz="2438400">
              <a:lnSpc>
                <a:spcPct val="80000"/>
              </a:lnSpc>
              <a:spcBef>
                <a:spcPts val="0"/>
              </a:spcBef>
              <a:buSzTx/>
              <a:buNone/>
              <a:defRPr sz="22400">
                <a:latin typeface="Canela Bold"/>
                <a:ea typeface="Canela Bold"/>
                <a:cs typeface="Canela Bold"/>
                <a:sym typeface="Canela Bold"/>
              </a:defRPr>
            </a:lvl5pPr>
          </a:lstStyle>
          <a:p>
            <a:r>
              <a:t>100%</a:t>
            </a:r>
          </a:p>
          <a:p>
            <a:pPr lvl="1"/>
            <a:endParaRPr/>
          </a:p>
          <a:p>
            <a:pPr lvl="2"/>
            <a:endParaRPr/>
          </a:p>
          <a:p>
            <a:pPr lvl="3"/>
            <a:endParaRPr/>
          </a:p>
          <a:p>
            <a:pPr lvl="4"/>
            <a:endParaRPr/>
          </a:p>
        </p:txBody>
      </p:sp>
      <p:sp>
        <p:nvSpPr>
          <p:cNvPr id="12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1.xml><?xml version="1.0" encoding="utf-8"?>
<p:sldLayout xmlns:a="http://schemas.openxmlformats.org/drawingml/2006/main" xmlns:r="http://schemas.openxmlformats.org/officeDocument/2006/relationships" xmlns:p="http://schemas.openxmlformats.org/presentationml/2006/main" type="tx">
  <p:cSld name="인용">
    <p:spTree>
      <p:nvGrpSpPr>
        <p:cNvPr id="1" name=""/>
        <p:cNvGrpSpPr/>
        <p:nvPr/>
      </p:nvGrpSpPr>
      <p:grpSpPr>
        <a:xfrm>
          <a:off x="0" y="0"/>
          <a:ext cx="0" cy="0"/>
          <a:chOff x="0" y="0"/>
          <a:chExt cx="0" cy="0"/>
        </a:xfrm>
      </p:grpSpPr>
      <p:sp>
        <p:nvSpPr>
          <p:cNvPr id="135" name="속성"/>
          <p:cNvSpPr txBox="1">
            <a:spLocks noGrp="1"/>
          </p:cNvSpPr>
          <p:nvPr>
            <p:ph type="body" sz="quarter" idx="21" hasCustomPrompt="1"/>
          </p:nvPr>
        </p:nvSpPr>
        <p:spPr>
          <a:xfrm>
            <a:off x="1219200" y="11100053"/>
            <a:ext cx="21945602" cy="832613"/>
          </a:xfrm>
          <a:prstGeom prst="rect">
            <a:avLst/>
          </a:prstGeom>
        </p:spPr>
        <p:txBody>
          <a:bodyPr anchor="ctr"/>
          <a:lstStyle>
            <a:lvl1pPr marL="0" indent="0" algn="ctr" defTabSz="825500">
              <a:lnSpc>
                <a:spcPct val="100000"/>
              </a:lnSpc>
              <a:spcBef>
                <a:spcPts val="0"/>
              </a:spcBef>
              <a:buSzTx/>
              <a:buNone/>
              <a:defRPr b="1" spc="-44">
                <a:latin typeface="AvenirNext-DemiBold"/>
                <a:ea typeface="AvenirNext-DemiBold"/>
                <a:cs typeface="AvenirNext-DemiBold"/>
                <a:sym typeface="AvenirNext-DemiBold"/>
              </a:defRPr>
            </a:lvl1pPr>
          </a:lstStyle>
          <a:p>
            <a:r>
              <a:t>속성</a:t>
            </a:r>
          </a:p>
        </p:txBody>
      </p:sp>
      <p:sp>
        <p:nvSpPr>
          <p:cNvPr id="136" name="Body Level One…"/>
          <p:cNvSpPr txBox="1">
            <a:spLocks noGrp="1"/>
          </p:cNvSpPr>
          <p:nvPr>
            <p:ph type="body" sz="half" idx="1" hasCustomPrompt="1"/>
          </p:nvPr>
        </p:nvSpPr>
        <p:spPr>
          <a:xfrm>
            <a:off x="1219200" y="4178300"/>
            <a:ext cx="21945600" cy="4416425"/>
          </a:xfrm>
          <a:prstGeom prst="rect">
            <a:avLst/>
          </a:prstGeom>
        </p:spPr>
        <p:txBody>
          <a:bodyPr anchor="ctr"/>
          <a:lstStyle>
            <a:lvl1pPr marL="0" indent="0" algn="ctr" defTabSz="2438400">
              <a:lnSpc>
                <a:spcPct val="80000"/>
              </a:lnSpc>
              <a:spcBef>
                <a:spcPts val="0"/>
              </a:spcBef>
              <a:buSzTx/>
              <a:buNone/>
              <a:defRPr sz="8400">
                <a:latin typeface="Canela Bold"/>
                <a:ea typeface="Canela Bold"/>
                <a:cs typeface="Canela Bold"/>
                <a:sym typeface="Canela Bold"/>
              </a:defRPr>
            </a:lvl1pPr>
            <a:lvl2pPr marL="0" indent="457200" algn="ctr" defTabSz="2438400">
              <a:lnSpc>
                <a:spcPct val="80000"/>
              </a:lnSpc>
              <a:spcBef>
                <a:spcPts val="0"/>
              </a:spcBef>
              <a:buSzTx/>
              <a:buNone/>
              <a:defRPr sz="8400">
                <a:latin typeface="Canela Bold"/>
                <a:ea typeface="Canela Bold"/>
                <a:cs typeface="Canela Bold"/>
                <a:sym typeface="Canela Bold"/>
              </a:defRPr>
            </a:lvl2pPr>
            <a:lvl3pPr marL="0" indent="914400" algn="ctr" defTabSz="2438400">
              <a:lnSpc>
                <a:spcPct val="80000"/>
              </a:lnSpc>
              <a:spcBef>
                <a:spcPts val="0"/>
              </a:spcBef>
              <a:buSzTx/>
              <a:buNone/>
              <a:defRPr sz="8400">
                <a:latin typeface="Canela Bold"/>
                <a:ea typeface="Canela Bold"/>
                <a:cs typeface="Canela Bold"/>
                <a:sym typeface="Canela Bold"/>
              </a:defRPr>
            </a:lvl3pPr>
            <a:lvl4pPr marL="0" indent="1371600" algn="ctr" defTabSz="2438400">
              <a:lnSpc>
                <a:spcPct val="80000"/>
              </a:lnSpc>
              <a:spcBef>
                <a:spcPts val="0"/>
              </a:spcBef>
              <a:buSzTx/>
              <a:buNone/>
              <a:defRPr sz="8400">
                <a:latin typeface="Canela Bold"/>
                <a:ea typeface="Canela Bold"/>
                <a:cs typeface="Canela Bold"/>
                <a:sym typeface="Canela Bold"/>
              </a:defRPr>
            </a:lvl4pPr>
            <a:lvl5pPr marL="0" indent="1828800" algn="ctr" defTabSz="2438400">
              <a:lnSpc>
                <a:spcPct val="80000"/>
              </a:lnSpc>
              <a:spcBef>
                <a:spcPts val="0"/>
              </a:spcBef>
              <a:buSzTx/>
              <a:buNone/>
              <a:defRPr sz="8400">
                <a:latin typeface="Canela Bold"/>
                <a:ea typeface="Canela Bold"/>
                <a:cs typeface="Canela Bold"/>
                <a:sym typeface="Canela Bold"/>
              </a:defRPr>
            </a:lvl5pPr>
          </a:lstStyle>
          <a:p>
            <a:r>
              <a:t>“멋진 인용구”</a:t>
            </a:r>
          </a:p>
          <a:p>
            <a:pPr lvl="1"/>
            <a:endParaRPr/>
          </a:p>
          <a:p>
            <a:pPr lvl="2"/>
            <a:endParaRPr/>
          </a:p>
          <a:p>
            <a:pPr lvl="3"/>
            <a:endParaRPr/>
          </a:p>
          <a:p>
            <a:pPr lvl="4"/>
            <a:endParaRPr/>
          </a:p>
        </p:txBody>
      </p:sp>
      <p:sp>
        <p:nvSpPr>
          <p:cNvPr id="137" name="Slide Number"/>
          <p:cNvSpPr txBox="1">
            <a:spLocks noGrp="1"/>
          </p:cNvSpPr>
          <p:nvPr>
            <p:ph type="sldNum" sz="quarter" idx="2"/>
          </p:nvPr>
        </p:nvSpPr>
        <p:spPr>
          <a:xfrm>
            <a:off x="11880849"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2.xml><?xml version="1.0" encoding="utf-8"?>
<p:sldLayout xmlns:a="http://schemas.openxmlformats.org/drawingml/2006/main" xmlns:r="http://schemas.openxmlformats.org/officeDocument/2006/relationships" xmlns:p="http://schemas.openxmlformats.org/presentationml/2006/main" type="tx">
  <p:cSld name="사진 - 3장">
    <p:spTree>
      <p:nvGrpSpPr>
        <p:cNvPr id="1" name=""/>
        <p:cNvGrpSpPr/>
        <p:nvPr/>
      </p:nvGrpSpPr>
      <p:grpSpPr>
        <a:xfrm>
          <a:off x="0" y="0"/>
          <a:ext cx="0" cy="0"/>
          <a:chOff x="0" y="0"/>
          <a:chExt cx="0" cy="0"/>
        </a:xfrm>
      </p:grpSpPr>
      <p:sp>
        <p:nvSpPr>
          <p:cNvPr id="144" name="해 질 무렵의 하늘을 배경으로 둔 바다 2"/>
          <p:cNvSpPr>
            <a:spLocks noGrp="1"/>
          </p:cNvSpPr>
          <p:nvPr>
            <p:ph type="pic" sz="quarter" idx="21"/>
          </p:nvPr>
        </p:nvSpPr>
        <p:spPr>
          <a:xfrm>
            <a:off x="15744825" y="5581752"/>
            <a:ext cx="7365408" cy="8280401"/>
          </a:xfrm>
          <a:prstGeom prst="rect">
            <a:avLst/>
          </a:prstGeom>
        </p:spPr>
        <p:txBody>
          <a:bodyPr lIns="91439" tIns="45719" rIns="91439" bIns="45719">
            <a:noAutofit/>
          </a:bodyPr>
          <a:lstStyle/>
          <a:p>
            <a:endParaRPr/>
          </a:p>
        </p:txBody>
      </p:sp>
      <p:sp>
        <p:nvSpPr>
          <p:cNvPr id="145" name="해 질 무렵의 하늘을 배경으로 둔 바다 1"/>
          <p:cNvSpPr>
            <a:spLocks noGrp="1"/>
          </p:cNvSpPr>
          <p:nvPr>
            <p:ph type="pic" sz="quarter" idx="22"/>
          </p:nvPr>
        </p:nvSpPr>
        <p:spPr>
          <a:xfrm>
            <a:off x="15363825" y="1270000"/>
            <a:ext cx="8115300" cy="5409006"/>
          </a:xfrm>
          <a:prstGeom prst="rect">
            <a:avLst/>
          </a:prstGeom>
        </p:spPr>
        <p:txBody>
          <a:bodyPr lIns="91439" tIns="45719" rIns="91439" bIns="45719">
            <a:noAutofit/>
          </a:bodyPr>
          <a:lstStyle/>
          <a:p>
            <a:endParaRPr/>
          </a:p>
        </p:txBody>
      </p:sp>
      <p:sp>
        <p:nvSpPr>
          <p:cNvPr id="146" name="해 질 무렵의 해변과 바다"/>
          <p:cNvSpPr>
            <a:spLocks noGrp="1"/>
          </p:cNvSpPr>
          <p:nvPr>
            <p:ph type="pic" idx="23"/>
          </p:nvPr>
        </p:nvSpPr>
        <p:spPr>
          <a:xfrm>
            <a:off x="-63500" y="1270000"/>
            <a:ext cx="16764000" cy="11176000"/>
          </a:xfrm>
          <a:prstGeom prst="rect">
            <a:avLst/>
          </a:prstGeom>
        </p:spPr>
        <p:txBody>
          <a:bodyPr lIns="91439" tIns="45719" rIns="91439" bIns="45719">
            <a:noAutofit/>
          </a:bodyPr>
          <a:lstStyle/>
          <a:p>
            <a:endParaRPr/>
          </a:p>
        </p:txBody>
      </p:sp>
      <p:sp>
        <p:nvSpPr>
          <p:cNvPr id="147" name="Slide Number"/>
          <p:cNvSpPr txBox="1">
            <a:spLocks noGrp="1"/>
          </p:cNvSpPr>
          <p:nvPr>
            <p:ph type="sldNum" sz="quarter" idx="2"/>
          </p:nvPr>
        </p:nvSpPr>
        <p:spPr>
          <a:xfrm>
            <a:off x="11880849"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사진">
    <p:spTree>
      <p:nvGrpSpPr>
        <p:cNvPr id="1" name=""/>
        <p:cNvGrpSpPr/>
        <p:nvPr/>
      </p:nvGrpSpPr>
      <p:grpSpPr>
        <a:xfrm>
          <a:off x="0" y="0"/>
          <a:ext cx="0" cy="0"/>
          <a:chOff x="0" y="0"/>
          <a:chExt cx="0" cy="0"/>
        </a:xfrm>
      </p:grpSpPr>
      <p:sp>
        <p:nvSpPr>
          <p:cNvPr id="154" name="해 질 무렵의 해변과 바다"/>
          <p:cNvSpPr>
            <a:spLocks noGrp="1"/>
          </p:cNvSpPr>
          <p:nvPr>
            <p:ph type="pic" idx="21"/>
          </p:nvPr>
        </p:nvSpPr>
        <p:spPr>
          <a:xfrm>
            <a:off x="1270000" y="-423334"/>
            <a:ext cx="21844000" cy="14562668"/>
          </a:xfrm>
          <a:prstGeom prst="rect">
            <a:avLst/>
          </a:prstGeom>
        </p:spPr>
        <p:txBody>
          <a:bodyPr lIns="91439" tIns="45719" rIns="91439" bIns="45719">
            <a:noAutofit/>
          </a:bodyPr>
          <a:lstStyle/>
          <a:p>
            <a:endParaRPr/>
          </a:p>
        </p:txBody>
      </p:sp>
      <p:sp>
        <p:nvSpPr>
          <p:cNvPr id="155" name="Slide Number"/>
          <p:cNvSpPr txBox="1">
            <a:spLocks noGrp="1"/>
          </p:cNvSpPr>
          <p:nvPr>
            <p:ph type="sldNum" sz="quarter" idx="2"/>
          </p:nvPr>
        </p:nvSpPr>
        <p:spPr>
          <a:xfrm>
            <a:off x="11880849"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_빈 페이지">
    <p:spTree>
      <p:nvGrpSpPr>
        <p:cNvPr id="1" name=""/>
        <p:cNvGrpSpPr/>
        <p:nvPr/>
      </p:nvGrpSpPr>
      <p:grpSpPr>
        <a:xfrm>
          <a:off x="0" y="0"/>
          <a:ext cx="0" cy="0"/>
          <a:chOff x="0" y="0"/>
          <a:chExt cx="0" cy="0"/>
        </a:xfrm>
      </p:grpSpPr>
      <p:sp>
        <p:nvSpPr>
          <p:cNvPr id="162" name="Rectangle"/>
          <p:cNvSpPr/>
          <p:nvPr/>
        </p:nvSpPr>
        <p:spPr>
          <a:xfrm>
            <a:off x="-5438" y="564834"/>
            <a:ext cx="385436" cy="1702397"/>
          </a:xfrm>
          <a:prstGeom prst="rect">
            <a:avLst/>
          </a:prstGeom>
          <a:gradFill>
            <a:gsLst>
              <a:gs pos="0">
                <a:srgbClr val="5191C8"/>
              </a:gs>
              <a:gs pos="928">
                <a:srgbClr val="6CC1EE"/>
              </a:gs>
              <a:gs pos="100000">
                <a:srgbClr val="26448A"/>
              </a:gs>
            </a:gsLst>
            <a:lin ang="5665584"/>
          </a:gradFill>
          <a:ln w="12700">
            <a:miter lim="400000"/>
          </a:ln>
        </p:spPr>
        <p:txBody>
          <a:bodyPr lIns="50800" tIns="50800" rIns="50800" bIns="50800" anchor="ctr"/>
          <a:lstStyle/>
          <a:p>
            <a:pPr algn="ctr" defTabSz="1130300">
              <a:lnSpc>
                <a:spcPct val="100000"/>
              </a:lnSpc>
              <a:spcBef>
                <a:spcPts val="0"/>
              </a:spcBef>
              <a:defRPr sz="3200">
                <a:solidFill>
                  <a:srgbClr val="63B2E2"/>
                </a:solidFill>
                <a:latin typeface="+mn-lt"/>
                <a:ea typeface="+mn-ea"/>
                <a:cs typeface="+mn-cs"/>
                <a:sym typeface="Avenir Next Regular"/>
              </a:defRPr>
            </a:pPr>
            <a:endParaRPr/>
          </a:p>
        </p:txBody>
      </p:sp>
      <p:sp>
        <p:nvSpPr>
          <p:cNvPr id="163" name="Line"/>
          <p:cNvSpPr/>
          <p:nvPr/>
        </p:nvSpPr>
        <p:spPr>
          <a:xfrm>
            <a:off x="672574" y="12767429"/>
            <a:ext cx="23038852" cy="1"/>
          </a:xfrm>
          <a:prstGeom prst="line">
            <a:avLst/>
          </a:prstGeom>
          <a:ln w="25400">
            <a:solidFill>
              <a:srgbClr val="000000">
                <a:alpha val="65278"/>
              </a:srgbClr>
            </a:solidFill>
            <a:miter lim="400000"/>
          </a:ln>
          <a:effectLst>
            <a:outerShdw blurRad="50800" dist="63500" dir="2700000" rotWithShape="0">
              <a:srgbClr val="000000">
                <a:alpha val="24218"/>
              </a:srgbClr>
            </a:outerShdw>
          </a:effectLst>
        </p:spPr>
        <p:txBody>
          <a:bodyPr lIns="50800" tIns="50800" rIns="50800" bIns="50800" anchor="ctr"/>
          <a:lstStyle/>
          <a:p>
            <a:endParaRPr/>
          </a:p>
        </p:txBody>
      </p:sp>
      <p:pic>
        <p:nvPicPr>
          <p:cNvPr id="164" name="ui_kor_eng.svg" descr="ui_kor_eng.svg"/>
          <p:cNvPicPr>
            <a:picLocks noChangeAspect="1"/>
          </p:cNvPicPr>
          <p:nvPr/>
        </p:nvPicPr>
        <p:blipFill>
          <a:blip r:embed="rId2"/>
          <a:srcRect l="20326" t="44369" r="49479" b="48396"/>
          <a:stretch>
            <a:fillRect/>
          </a:stretch>
        </p:blipFill>
        <p:spPr>
          <a:xfrm>
            <a:off x="540495" y="12877676"/>
            <a:ext cx="2097531" cy="685263"/>
          </a:xfrm>
          <a:prstGeom prst="rect">
            <a:avLst/>
          </a:prstGeom>
          <a:ln w="12700">
            <a:miter lim="400000"/>
          </a:ln>
        </p:spPr>
      </p:pic>
      <p:sp>
        <p:nvSpPr>
          <p:cNvPr id="165" name="Slide Number"/>
          <p:cNvSpPr txBox="1">
            <a:spLocks noGrp="1"/>
          </p:cNvSpPr>
          <p:nvPr>
            <p:ph type="sldNum" sz="quarter" idx="2"/>
          </p:nvPr>
        </p:nvSpPr>
        <p:spPr>
          <a:xfrm>
            <a:off x="11880849" y="12418060"/>
            <a:ext cx="629921" cy="711201"/>
          </a:xfrm>
          <a:prstGeom prst="rect">
            <a:avLst/>
          </a:prstGeom>
        </p:spPr>
        <p:txBody>
          <a:bodyPr/>
          <a:lstStyle/>
          <a:p>
            <a:fld id="{86CB4B4D-7CA3-9044-876B-883B54F8677D}" type="slidenum">
              <a:t>‹#›</a:t>
            </a:fld>
            <a:endParaRPr/>
          </a:p>
        </p:txBody>
      </p:sp>
      <p:sp>
        <p:nvSpPr>
          <p:cNvPr id="2" name="Body Level One…">
            <a:extLst>
              <a:ext uri="{FF2B5EF4-FFF2-40B4-BE49-F238E27FC236}">
                <a16:creationId xmlns:a16="http://schemas.microsoft.com/office/drawing/2014/main" id="{A8802055-71B5-DD4C-5F5C-42B4155A4E7D}"/>
              </a:ext>
            </a:extLst>
          </p:cNvPr>
          <p:cNvSpPr txBox="1">
            <a:spLocks noGrp="1"/>
          </p:cNvSpPr>
          <p:nvPr>
            <p:ph idx="1" hasCustomPrompt="1"/>
          </p:nvPr>
        </p:nvSpPr>
        <p:spPr>
          <a:xfrm>
            <a:off x="1219200" y="4013200"/>
            <a:ext cx="21948577" cy="84836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50800" tIns="50800" rIns="50800" bIns="50800">
            <a:normAutofit/>
          </a:bodyPr>
          <a:lstStyle>
            <a:lvl1pPr marL="571500" indent="-571500">
              <a:buFont typeface="Wingdings" panose="05000000000000000000" pitchFamily="2" charset="2"/>
              <a:buChar char="§"/>
              <a:defRPr/>
            </a:lvl1pPr>
            <a:lvl2pPr marL="1440000" indent="-546100">
              <a:spcBef>
                <a:spcPts val="2400"/>
              </a:spcBef>
              <a:buFont typeface="Arial" panose="020B0604020202020204" pitchFamily="34" charset="0"/>
              <a:buChar char="•"/>
              <a:defRPr sz="4000"/>
            </a:lvl2pPr>
            <a:lvl3pPr marL="2160000" indent="-546100">
              <a:buSzPct val="130000"/>
              <a:buFont typeface="Wingdings" panose="05000000000000000000" pitchFamily="2" charset="2"/>
              <a:buChar char="Ø"/>
              <a:defRPr sz="3600"/>
            </a:lvl3pPr>
          </a:lstStyle>
          <a:p>
            <a:r>
              <a:rPr dirty="0" err="1"/>
              <a:t>슬라이드</a:t>
            </a:r>
            <a:r>
              <a:rPr dirty="0"/>
              <a:t> </a:t>
            </a:r>
            <a:r>
              <a:rPr dirty="0" err="1"/>
              <a:t>구분점</a:t>
            </a:r>
            <a:r>
              <a:rPr dirty="0"/>
              <a:t> </a:t>
            </a:r>
            <a:r>
              <a:rPr dirty="0" err="1"/>
              <a:t>텍스트</a:t>
            </a:r>
            <a:endParaRPr lang="en-US" dirty="0"/>
          </a:p>
          <a:p>
            <a:pPr lvl="1"/>
            <a:r>
              <a:rPr lang="en-US" dirty="0"/>
              <a:t>TEXT</a:t>
            </a:r>
          </a:p>
          <a:p>
            <a:pPr lvl="2"/>
            <a:r>
              <a:rPr lang="en-US" dirty="0"/>
              <a:t>TEXT</a:t>
            </a:r>
          </a:p>
          <a:p>
            <a:pPr lvl="1"/>
            <a:endParaRPr lang="en-US" dirty="0"/>
          </a:p>
          <a:p>
            <a:pPr lvl="2"/>
            <a:endParaRPr dirty="0"/>
          </a:p>
          <a:p>
            <a:pPr lvl="1"/>
            <a:endParaRPr dirty="0"/>
          </a:p>
          <a:p>
            <a:pPr lvl="2"/>
            <a:endParaRPr dirty="0"/>
          </a:p>
          <a:p>
            <a:pPr lvl="3"/>
            <a:endParaRPr dirty="0"/>
          </a:p>
          <a:p>
            <a:pPr lvl="4"/>
            <a:endParaRPr dirty="0"/>
          </a:p>
        </p:txBody>
      </p:sp>
    </p:spTree>
    <p:extLst>
      <p:ext uri="{BB962C8B-B14F-4D97-AF65-F5344CB8AC3E}">
        <p14:creationId xmlns:p14="http://schemas.microsoft.com/office/powerpoint/2010/main" val="1877571541"/>
      </p:ext>
    </p:extLst>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type="tx">
  <p:cSld name="빈 페이지">
    <p:spTree>
      <p:nvGrpSpPr>
        <p:cNvPr id="1" name=""/>
        <p:cNvGrpSpPr/>
        <p:nvPr/>
      </p:nvGrpSpPr>
      <p:grpSpPr>
        <a:xfrm>
          <a:off x="0" y="0"/>
          <a:ext cx="0" cy="0"/>
          <a:chOff x="0" y="0"/>
          <a:chExt cx="0" cy="0"/>
        </a:xfrm>
      </p:grpSpPr>
      <p:sp>
        <p:nvSpPr>
          <p:cNvPr id="162" name="Rectangle"/>
          <p:cNvSpPr/>
          <p:nvPr/>
        </p:nvSpPr>
        <p:spPr>
          <a:xfrm>
            <a:off x="-5438" y="564834"/>
            <a:ext cx="385436" cy="1702397"/>
          </a:xfrm>
          <a:prstGeom prst="rect">
            <a:avLst/>
          </a:prstGeom>
          <a:gradFill>
            <a:gsLst>
              <a:gs pos="0">
                <a:srgbClr val="5191C8"/>
              </a:gs>
              <a:gs pos="928">
                <a:srgbClr val="6CC1EE"/>
              </a:gs>
              <a:gs pos="100000">
                <a:srgbClr val="26448A"/>
              </a:gs>
            </a:gsLst>
            <a:lin ang="5665584"/>
          </a:gradFill>
          <a:ln w="12700">
            <a:miter lim="400000"/>
          </a:ln>
        </p:spPr>
        <p:txBody>
          <a:bodyPr lIns="50800" tIns="50800" rIns="50800" bIns="50800" anchor="ctr"/>
          <a:lstStyle/>
          <a:p>
            <a:pPr algn="ctr" defTabSz="1130300">
              <a:lnSpc>
                <a:spcPct val="100000"/>
              </a:lnSpc>
              <a:spcBef>
                <a:spcPts val="0"/>
              </a:spcBef>
              <a:defRPr sz="3200">
                <a:solidFill>
                  <a:srgbClr val="63B2E2"/>
                </a:solidFill>
                <a:latin typeface="+mn-lt"/>
                <a:ea typeface="+mn-ea"/>
                <a:cs typeface="+mn-cs"/>
                <a:sym typeface="Avenir Next Regular"/>
              </a:defRPr>
            </a:pPr>
            <a:endParaRPr/>
          </a:p>
        </p:txBody>
      </p:sp>
      <p:sp>
        <p:nvSpPr>
          <p:cNvPr id="163" name="Line"/>
          <p:cNvSpPr/>
          <p:nvPr/>
        </p:nvSpPr>
        <p:spPr>
          <a:xfrm>
            <a:off x="672574" y="12767429"/>
            <a:ext cx="23038852" cy="1"/>
          </a:xfrm>
          <a:prstGeom prst="line">
            <a:avLst/>
          </a:prstGeom>
          <a:ln w="25400">
            <a:solidFill>
              <a:srgbClr val="000000">
                <a:alpha val="65278"/>
              </a:srgbClr>
            </a:solidFill>
            <a:miter lim="400000"/>
          </a:ln>
          <a:effectLst>
            <a:outerShdw blurRad="50800" dist="63500" dir="2700000" rotWithShape="0">
              <a:srgbClr val="000000">
                <a:alpha val="24218"/>
              </a:srgbClr>
            </a:outerShdw>
          </a:effectLst>
        </p:spPr>
        <p:txBody>
          <a:bodyPr lIns="50800" tIns="50800" rIns="50800" bIns="50800" anchor="ctr"/>
          <a:lstStyle/>
          <a:p>
            <a:endParaRPr/>
          </a:p>
        </p:txBody>
      </p:sp>
      <p:pic>
        <p:nvPicPr>
          <p:cNvPr id="164" name="ui_kor_eng.svg" descr="ui_kor_eng.svg"/>
          <p:cNvPicPr>
            <a:picLocks noChangeAspect="1"/>
          </p:cNvPicPr>
          <p:nvPr/>
        </p:nvPicPr>
        <p:blipFill>
          <a:blip r:embed="rId2"/>
          <a:srcRect l="20326" t="44369" r="49479" b="48396"/>
          <a:stretch>
            <a:fillRect/>
          </a:stretch>
        </p:blipFill>
        <p:spPr>
          <a:xfrm>
            <a:off x="540495" y="12877676"/>
            <a:ext cx="2097531" cy="685263"/>
          </a:xfrm>
          <a:prstGeom prst="rect">
            <a:avLst/>
          </a:prstGeom>
          <a:ln w="12700">
            <a:miter lim="400000"/>
          </a:ln>
        </p:spPr>
      </p:pic>
      <p:sp>
        <p:nvSpPr>
          <p:cNvPr id="165" name="Slide Number"/>
          <p:cNvSpPr txBox="1">
            <a:spLocks noGrp="1"/>
          </p:cNvSpPr>
          <p:nvPr>
            <p:ph type="sldNum" sz="quarter" idx="2"/>
          </p:nvPr>
        </p:nvSpPr>
        <p:spPr>
          <a:xfrm>
            <a:off x="22493885" y="12947676"/>
            <a:ext cx="1320874" cy="641201"/>
          </a:xfrm>
          <a:prstGeom prst="rect">
            <a:avLst/>
          </a:prstGeom>
        </p:spPr>
        <p:txBody>
          <a:bodyPr wrap="none"/>
          <a:lstStyle/>
          <a:p>
            <a:fld id="{86CB4B4D-7CA3-9044-876B-883B54F8677D}" type="slidenum">
              <a:rPr smtClean="0"/>
              <a:t>‹#›</a:t>
            </a:fld>
            <a:r>
              <a:rPr lang="en-US" dirty="0"/>
              <a:t>/19</a:t>
            </a:r>
            <a:endParaRPr lang="en-US" altLang="ko-KR" dirty="0"/>
          </a:p>
        </p:txBody>
      </p:sp>
    </p:spTree>
    <p:extLst>
      <p:ext uri="{BB962C8B-B14F-4D97-AF65-F5344CB8AC3E}">
        <p14:creationId xmlns:p14="http://schemas.microsoft.com/office/powerpoint/2010/main" val="314698487"/>
      </p:ext>
    </p:extLst>
  </p:cSld>
  <p:clrMapOvr>
    <a:masterClrMapping/>
  </p:clrMapOvr>
  <p:transition spd="med"/>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슬라이드 제목"/>
          <p:cNvSpPr txBox="1">
            <a:spLocks noGrp="1"/>
          </p:cNvSpPr>
          <p:nvPr>
            <p:ph type="title" hasCustomPrompt="1"/>
          </p:nvPr>
        </p:nvSpPr>
        <p:spPr>
          <a:xfrm>
            <a:off x="1219200" y="774700"/>
            <a:ext cx="21945600" cy="17272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50800" tIns="50800" rIns="50800" bIns="50800">
            <a:normAutofit/>
          </a:bodyPr>
          <a:lstStyle/>
          <a:p>
            <a:r>
              <a:t>슬라이드 제목</a:t>
            </a:r>
          </a:p>
        </p:txBody>
      </p:sp>
      <p:sp>
        <p:nvSpPr>
          <p:cNvPr id="3" name="Body Level One…"/>
          <p:cNvSpPr txBox="1">
            <a:spLocks noGrp="1"/>
          </p:cNvSpPr>
          <p:nvPr>
            <p:ph type="body" idx="1" hasCustomPrompt="1"/>
          </p:nvPr>
        </p:nvSpPr>
        <p:spPr>
          <a:xfrm>
            <a:off x="1219200" y="4013200"/>
            <a:ext cx="21948577" cy="84836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50800" tIns="50800" rIns="50800" bIns="50800">
            <a:normAutofit/>
          </a:bodyPr>
          <a:lstStyle/>
          <a:p>
            <a:r>
              <a:rPr dirty="0" err="1"/>
              <a:t>슬라이드</a:t>
            </a:r>
            <a:r>
              <a:rPr dirty="0"/>
              <a:t> </a:t>
            </a:r>
            <a:r>
              <a:rPr dirty="0" err="1"/>
              <a:t>구분점</a:t>
            </a:r>
            <a:r>
              <a:rPr dirty="0"/>
              <a:t> </a:t>
            </a:r>
            <a:r>
              <a:rPr dirty="0" err="1"/>
              <a:t>텍스트</a:t>
            </a:r>
            <a:endParaRPr dirty="0"/>
          </a:p>
          <a:p>
            <a:pPr lvl="1"/>
            <a:endParaRPr dirty="0"/>
          </a:p>
          <a:p>
            <a:pPr lvl="2"/>
            <a:endParaRPr dirty="0"/>
          </a:p>
          <a:p>
            <a:pPr lvl="3"/>
            <a:endParaRPr dirty="0"/>
          </a:p>
          <a:p>
            <a:pPr lvl="4"/>
            <a:endParaRPr dirty="0"/>
          </a:p>
        </p:txBody>
      </p:sp>
      <p:sp>
        <p:nvSpPr>
          <p:cNvPr id="4" name="Slide Number"/>
          <p:cNvSpPr txBox="1">
            <a:spLocks noGrp="1"/>
          </p:cNvSpPr>
          <p:nvPr>
            <p:ph type="sldNum" sz="quarter" idx="2"/>
          </p:nvPr>
        </p:nvSpPr>
        <p:spPr>
          <a:xfrm>
            <a:off x="11877040" y="12418060"/>
            <a:ext cx="629921" cy="711201"/>
          </a:xfrm>
          <a:prstGeom prst="rect">
            <a:avLst/>
          </a:prstGeom>
          <a:ln w="12700">
            <a:miter lim="400000"/>
          </a:ln>
        </p:spPr>
        <p:txBody>
          <a:bodyPr wrap="none" lIns="50800" tIns="50800" rIns="50800" bIns="50800" anchor="b">
            <a:spAutoFit/>
          </a:bodyPr>
          <a:lstStyle>
            <a:lvl1pPr algn="ctr" defTabSz="584200">
              <a:lnSpc>
                <a:spcPct val="100000"/>
              </a:lnSpc>
              <a:spcBef>
                <a:spcPts val="0"/>
              </a:spcBef>
              <a:defRPr sz="3500">
                <a:solidFill>
                  <a:srgbClr val="5E5E5E"/>
                </a:solidFill>
                <a:latin typeface="+mn-lt"/>
                <a:ea typeface="+mn-ea"/>
                <a:cs typeface="+mn-cs"/>
                <a:sym typeface="Avenir Next Regular"/>
              </a:defRPr>
            </a:lvl1pPr>
          </a:lstStyle>
          <a:p>
            <a:fld id="{86CB4B4D-7CA3-9044-876B-883B54F8677D}" type="slidenum">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2" r:id="rId2"/>
    <p:sldLayoutId id="2147483654" r:id="rId3"/>
    <p:sldLayoutId id="2147483655" r:id="rId4"/>
    <p:sldLayoutId id="2147483656" r:id="rId5"/>
    <p:sldLayoutId id="2147483657" r:id="rId6"/>
    <p:sldLayoutId id="2147483658" r:id="rId7"/>
    <p:sldLayoutId id="2147483659" r:id="rId8"/>
    <p:sldLayoutId id="2147483660" r:id="rId9"/>
    <p:sldLayoutId id="2147483661" r:id="rId10"/>
    <p:sldLayoutId id="2147483662" r:id="rId11"/>
    <p:sldLayoutId id="2147483663" r:id="rId12"/>
    <p:sldLayoutId id="2147483664" r:id="rId13"/>
    <p:sldLayoutId id="2147483666" r:id="rId14"/>
    <p:sldLayoutId id="2147483667" r:id="rId15"/>
  </p:sldLayoutIdLst>
  <p:transition spd="med"/>
  <p:hf hdr="0" ftr="0" dt="0"/>
  <p:txStyles>
    <p:titleStyle>
      <a:lvl1pPr marL="0" marR="0" indent="0" algn="l" defTabSz="2438400" rtl="0" latinLnBrk="0">
        <a:lnSpc>
          <a:spcPct val="80000"/>
        </a:lnSpc>
        <a:spcBef>
          <a:spcPts val="0"/>
        </a:spcBef>
        <a:spcAft>
          <a:spcPts val="0"/>
        </a:spcAft>
        <a:buClrTx/>
        <a:buSzTx/>
        <a:buFontTx/>
        <a:buNone/>
        <a:tabLst/>
        <a:defRPr sz="7000" b="0" i="0" u="none" strike="noStrike" cap="none" spc="-70" baseline="0">
          <a:solidFill>
            <a:srgbClr val="000000"/>
          </a:solidFill>
          <a:uFillTx/>
          <a:latin typeface="Avenir Next Medium"/>
          <a:ea typeface="Avenir Next Medium"/>
          <a:cs typeface="Avenir Next Medium"/>
          <a:sym typeface="Avenir Next Medium"/>
        </a:defRPr>
      </a:lvl1pPr>
      <a:lvl2pPr marL="0" marR="0" indent="457200" algn="l" defTabSz="2438400" rtl="0" latinLnBrk="0">
        <a:lnSpc>
          <a:spcPct val="80000"/>
        </a:lnSpc>
        <a:spcBef>
          <a:spcPts val="0"/>
        </a:spcBef>
        <a:spcAft>
          <a:spcPts val="0"/>
        </a:spcAft>
        <a:buClrTx/>
        <a:buSzTx/>
        <a:buFontTx/>
        <a:buNone/>
        <a:tabLst/>
        <a:defRPr sz="7000" b="0" i="0" u="none" strike="noStrike" cap="none" spc="-70" baseline="0">
          <a:solidFill>
            <a:srgbClr val="000000"/>
          </a:solidFill>
          <a:uFillTx/>
          <a:latin typeface="Avenir Next Medium"/>
          <a:ea typeface="Avenir Next Medium"/>
          <a:cs typeface="Avenir Next Medium"/>
          <a:sym typeface="Avenir Next Medium"/>
        </a:defRPr>
      </a:lvl2pPr>
      <a:lvl3pPr marL="0" marR="0" indent="914400" algn="l" defTabSz="2438400" rtl="0" latinLnBrk="0">
        <a:lnSpc>
          <a:spcPct val="80000"/>
        </a:lnSpc>
        <a:spcBef>
          <a:spcPts val="0"/>
        </a:spcBef>
        <a:spcAft>
          <a:spcPts val="0"/>
        </a:spcAft>
        <a:buClrTx/>
        <a:buSzTx/>
        <a:buFontTx/>
        <a:buNone/>
        <a:tabLst/>
        <a:defRPr sz="7000" b="0" i="0" u="none" strike="noStrike" cap="none" spc="-70" baseline="0">
          <a:solidFill>
            <a:srgbClr val="000000"/>
          </a:solidFill>
          <a:uFillTx/>
          <a:latin typeface="Avenir Next Medium"/>
          <a:ea typeface="Avenir Next Medium"/>
          <a:cs typeface="Avenir Next Medium"/>
          <a:sym typeface="Avenir Next Medium"/>
        </a:defRPr>
      </a:lvl3pPr>
      <a:lvl4pPr marL="0" marR="0" indent="1371600" algn="l" defTabSz="2438400" rtl="0" latinLnBrk="0">
        <a:lnSpc>
          <a:spcPct val="80000"/>
        </a:lnSpc>
        <a:spcBef>
          <a:spcPts val="0"/>
        </a:spcBef>
        <a:spcAft>
          <a:spcPts val="0"/>
        </a:spcAft>
        <a:buClrTx/>
        <a:buSzTx/>
        <a:buFontTx/>
        <a:buNone/>
        <a:tabLst/>
        <a:defRPr sz="7000" b="0" i="0" u="none" strike="noStrike" cap="none" spc="-70" baseline="0">
          <a:solidFill>
            <a:srgbClr val="000000"/>
          </a:solidFill>
          <a:uFillTx/>
          <a:latin typeface="Avenir Next Medium"/>
          <a:ea typeface="Avenir Next Medium"/>
          <a:cs typeface="Avenir Next Medium"/>
          <a:sym typeface="Avenir Next Medium"/>
        </a:defRPr>
      </a:lvl4pPr>
      <a:lvl5pPr marL="0" marR="0" indent="1828800" algn="l" defTabSz="2438400" rtl="0" latinLnBrk="0">
        <a:lnSpc>
          <a:spcPct val="80000"/>
        </a:lnSpc>
        <a:spcBef>
          <a:spcPts val="0"/>
        </a:spcBef>
        <a:spcAft>
          <a:spcPts val="0"/>
        </a:spcAft>
        <a:buClrTx/>
        <a:buSzTx/>
        <a:buFontTx/>
        <a:buNone/>
        <a:tabLst/>
        <a:defRPr sz="7000" b="0" i="0" u="none" strike="noStrike" cap="none" spc="-70" baseline="0">
          <a:solidFill>
            <a:srgbClr val="000000"/>
          </a:solidFill>
          <a:uFillTx/>
          <a:latin typeface="Avenir Next Medium"/>
          <a:ea typeface="Avenir Next Medium"/>
          <a:cs typeface="Avenir Next Medium"/>
          <a:sym typeface="Avenir Next Medium"/>
        </a:defRPr>
      </a:lvl5pPr>
      <a:lvl6pPr marL="0" marR="0" indent="2286000" algn="l" defTabSz="2438400" rtl="0" latinLnBrk="0">
        <a:lnSpc>
          <a:spcPct val="80000"/>
        </a:lnSpc>
        <a:spcBef>
          <a:spcPts val="0"/>
        </a:spcBef>
        <a:spcAft>
          <a:spcPts val="0"/>
        </a:spcAft>
        <a:buClrTx/>
        <a:buSzTx/>
        <a:buFontTx/>
        <a:buNone/>
        <a:tabLst/>
        <a:defRPr sz="7000" b="0" i="0" u="none" strike="noStrike" cap="none" spc="-70" baseline="0">
          <a:solidFill>
            <a:srgbClr val="000000"/>
          </a:solidFill>
          <a:uFillTx/>
          <a:latin typeface="Avenir Next Medium"/>
          <a:ea typeface="Avenir Next Medium"/>
          <a:cs typeface="Avenir Next Medium"/>
          <a:sym typeface="Avenir Next Medium"/>
        </a:defRPr>
      </a:lvl6pPr>
      <a:lvl7pPr marL="0" marR="0" indent="2743200" algn="l" defTabSz="2438400" rtl="0" latinLnBrk="0">
        <a:lnSpc>
          <a:spcPct val="80000"/>
        </a:lnSpc>
        <a:spcBef>
          <a:spcPts val="0"/>
        </a:spcBef>
        <a:spcAft>
          <a:spcPts val="0"/>
        </a:spcAft>
        <a:buClrTx/>
        <a:buSzTx/>
        <a:buFontTx/>
        <a:buNone/>
        <a:tabLst/>
        <a:defRPr sz="7000" b="0" i="0" u="none" strike="noStrike" cap="none" spc="-70" baseline="0">
          <a:solidFill>
            <a:srgbClr val="000000"/>
          </a:solidFill>
          <a:uFillTx/>
          <a:latin typeface="Avenir Next Medium"/>
          <a:ea typeface="Avenir Next Medium"/>
          <a:cs typeface="Avenir Next Medium"/>
          <a:sym typeface="Avenir Next Medium"/>
        </a:defRPr>
      </a:lvl7pPr>
      <a:lvl8pPr marL="0" marR="0" indent="3200400" algn="l" defTabSz="2438400" rtl="0" latinLnBrk="0">
        <a:lnSpc>
          <a:spcPct val="80000"/>
        </a:lnSpc>
        <a:spcBef>
          <a:spcPts val="0"/>
        </a:spcBef>
        <a:spcAft>
          <a:spcPts val="0"/>
        </a:spcAft>
        <a:buClrTx/>
        <a:buSzTx/>
        <a:buFontTx/>
        <a:buNone/>
        <a:tabLst/>
        <a:defRPr sz="7000" b="0" i="0" u="none" strike="noStrike" cap="none" spc="-70" baseline="0">
          <a:solidFill>
            <a:srgbClr val="000000"/>
          </a:solidFill>
          <a:uFillTx/>
          <a:latin typeface="Avenir Next Medium"/>
          <a:ea typeface="Avenir Next Medium"/>
          <a:cs typeface="Avenir Next Medium"/>
          <a:sym typeface="Avenir Next Medium"/>
        </a:defRPr>
      </a:lvl8pPr>
      <a:lvl9pPr marL="0" marR="0" indent="3657600" algn="l" defTabSz="2438400" rtl="0" latinLnBrk="0">
        <a:lnSpc>
          <a:spcPct val="80000"/>
        </a:lnSpc>
        <a:spcBef>
          <a:spcPts val="0"/>
        </a:spcBef>
        <a:spcAft>
          <a:spcPts val="0"/>
        </a:spcAft>
        <a:buClrTx/>
        <a:buSzTx/>
        <a:buFontTx/>
        <a:buNone/>
        <a:tabLst/>
        <a:defRPr sz="7000" b="0" i="0" u="none" strike="noStrike" cap="none" spc="-70" baseline="0">
          <a:solidFill>
            <a:srgbClr val="000000"/>
          </a:solidFill>
          <a:uFillTx/>
          <a:latin typeface="Avenir Next Medium"/>
          <a:ea typeface="Avenir Next Medium"/>
          <a:cs typeface="Avenir Next Medium"/>
          <a:sym typeface="Avenir Next Medium"/>
        </a:defRPr>
      </a:lvl9pPr>
    </p:titleStyle>
    <p:bodyStyle>
      <a:lvl1pPr marL="5461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1pPr>
      <a:lvl2pPr marL="10922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2pPr>
      <a:lvl3pPr marL="16383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3pPr>
      <a:lvl4pPr marL="21844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4pPr>
      <a:lvl5pPr marL="27305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5pPr>
      <a:lvl6pPr marL="32766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6pPr>
      <a:lvl7pPr marL="38227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7pPr>
      <a:lvl8pPr marL="43688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8pPr>
      <a:lvl9pPr marL="49149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9pPr>
    </p:bodyStyle>
    <p:otherStyle>
      <a:lvl1pPr marL="0" marR="0" indent="0" algn="ctr" defTabSz="584200" rtl="0" latinLnBrk="0">
        <a:lnSpc>
          <a:spcPct val="100000"/>
        </a:lnSpc>
        <a:spcBef>
          <a:spcPts val="0"/>
        </a:spcBef>
        <a:spcAft>
          <a:spcPts val="0"/>
        </a:spcAft>
        <a:buClrTx/>
        <a:buSzTx/>
        <a:buFontTx/>
        <a:buNone/>
        <a:tabLst/>
        <a:defRPr sz="3500" b="0" i="0" u="none" strike="noStrike" cap="none" spc="0" baseline="0">
          <a:solidFill>
            <a:schemeClr val="tx1"/>
          </a:solidFill>
          <a:uFillTx/>
          <a:latin typeface="+mn-lt"/>
          <a:ea typeface="+mn-ea"/>
          <a:cs typeface="+mn-cs"/>
          <a:sym typeface="Avenir Next Regular"/>
        </a:defRPr>
      </a:lvl1pPr>
      <a:lvl2pPr marL="0" marR="0" indent="457200" algn="ctr" defTabSz="584200" rtl="0" latinLnBrk="0">
        <a:lnSpc>
          <a:spcPct val="100000"/>
        </a:lnSpc>
        <a:spcBef>
          <a:spcPts val="0"/>
        </a:spcBef>
        <a:spcAft>
          <a:spcPts val="0"/>
        </a:spcAft>
        <a:buClrTx/>
        <a:buSzTx/>
        <a:buFontTx/>
        <a:buNone/>
        <a:tabLst/>
        <a:defRPr sz="3500" b="0" i="0" u="none" strike="noStrike" cap="none" spc="0" baseline="0">
          <a:solidFill>
            <a:schemeClr val="tx1"/>
          </a:solidFill>
          <a:uFillTx/>
          <a:latin typeface="+mn-lt"/>
          <a:ea typeface="+mn-ea"/>
          <a:cs typeface="+mn-cs"/>
          <a:sym typeface="Avenir Next Regular"/>
        </a:defRPr>
      </a:lvl2pPr>
      <a:lvl3pPr marL="0" marR="0" indent="914400" algn="ctr" defTabSz="584200" rtl="0" latinLnBrk="0">
        <a:lnSpc>
          <a:spcPct val="100000"/>
        </a:lnSpc>
        <a:spcBef>
          <a:spcPts val="0"/>
        </a:spcBef>
        <a:spcAft>
          <a:spcPts val="0"/>
        </a:spcAft>
        <a:buClrTx/>
        <a:buSzTx/>
        <a:buFontTx/>
        <a:buNone/>
        <a:tabLst/>
        <a:defRPr sz="3500" b="0" i="0" u="none" strike="noStrike" cap="none" spc="0" baseline="0">
          <a:solidFill>
            <a:schemeClr val="tx1"/>
          </a:solidFill>
          <a:uFillTx/>
          <a:latin typeface="+mn-lt"/>
          <a:ea typeface="+mn-ea"/>
          <a:cs typeface="+mn-cs"/>
          <a:sym typeface="Avenir Next Regular"/>
        </a:defRPr>
      </a:lvl3pPr>
      <a:lvl4pPr marL="0" marR="0" indent="1371600" algn="ctr" defTabSz="584200" rtl="0" latinLnBrk="0">
        <a:lnSpc>
          <a:spcPct val="100000"/>
        </a:lnSpc>
        <a:spcBef>
          <a:spcPts val="0"/>
        </a:spcBef>
        <a:spcAft>
          <a:spcPts val="0"/>
        </a:spcAft>
        <a:buClrTx/>
        <a:buSzTx/>
        <a:buFontTx/>
        <a:buNone/>
        <a:tabLst/>
        <a:defRPr sz="3500" b="0" i="0" u="none" strike="noStrike" cap="none" spc="0" baseline="0">
          <a:solidFill>
            <a:schemeClr val="tx1"/>
          </a:solidFill>
          <a:uFillTx/>
          <a:latin typeface="+mn-lt"/>
          <a:ea typeface="+mn-ea"/>
          <a:cs typeface="+mn-cs"/>
          <a:sym typeface="Avenir Next Regular"/>
        </a:defRPr>
      </a:lvl4pPr>
      <a:lvl5pPr marL="0" marR="0" indent="1828800" algn="ctr" defTabSz="584200" rtl="0" latinLnBrk="0">
        <a:lnSpc>
          <a:spcPct val="100000"/>
        </a:lnSpc>
        <a:spcBef>
          <a:spcPts val="0"/>
        </a:spcBef>
        <a:spcAft>
          <a:spcPts val="0"/>
        </a:spcAft>
        <a:buClrTx/>
        <a:buSzTx/>
        <a:buFontTx/>
        <a:buNone/>
        <a:tabLst/>
        <a:defRPr sz="3500" b="0" i="0" u="none" strike="noStrike" cap="none" spc="0" baseline="0">
          <a:solidFill>
            <a:schemeClr val="tx1"/>
          </a:solidFill>
          <a:uFillTx/>
          <a:latin typeface="+mn-lt"/>
          <a:ea typeface="+mn-ea"/>
          <a:cs typeface="+mn-cs"/>
          <a:sym typeface="Avenir Next Regular"/>
        </a:defRPr>
      </a:lvl5pPr>
      <a:lvl6pPr marL="0" marR="0" indent="2286000" algn="ctr" defTabSz="584200" rtl="0" latinLnBrk="0">
        <a:lnSpc>
          <a:spcPct val="100000"/>
        </a:lnSpc>
        <a:spcBef>
          <a:spcPts val="0"/>
        </a:spcBef>
        <a:spcAft>
          <a:spcPts val="0"/>
        </a:spcAft>
        <a:buClrTx/>
        <a:buSzTx/>
        <a:buFontTx/>
        <a:buNone/>
        <a:tabLst/>
        <a:defRPr sz="3500" b="0" i="0" u="none" strike="noStrike" cap="none" spc="0" baseline="0">
          <a:solidFill>
            <a:schemeClr val="tx1"/>
          </a:solidFill>
          <a:uFillTx/>
          <a:latin typeface="+mn-lt"/>
          <a:ea typeface="+mn-ea"/>
          <a:cs typeface="+mn-cs"/>
          <a:sym typeface="Avenir Next Regular"/>
        </a:defRPr>
      </a:lvl6pPr>
      <a:lvl7pPr marL="0" marR="0" indent="2743200" algn="ctr" defTabSz="584200" rtl="0" latinLnBrk="0">
        <a:lnSpc>
          <a:spcPct val="100000"/>
        </a:lnSpc>
        <a:spcBef>
          <a:spcPts val="0"/>
        </a:spcBef>
        <a:spcAft>
          <a:spcPts val="0"/>
        </a:spcAft>
        <a:buClrTx/>
        <a:buSzTx/>
        <a:buFontTx/>
        <a:buNone/>
        <a:tabLst/>
        <a:defRPr sz="3500" b="0" i="0" u="none" strike="noStrike" cap="none" spc="0" baseline="0">
          <a:solidFill>
            <a:schemeClr val="tx1"/>
          </a:solidFill>
          <a:uFillTx/>
          <a:latin typeface="+mn-lt"/>
          <a:ea typeface="+mn-ea"/>
          <a:cs typeface="+mn-cs"/>
          <a:sym typeface="Avenir Next Regular"/>
        </a:defRPr>
      </a:lvl7pPr>
      <a:lvl8pPr marL="0" marR="0" indent="3200400" algn="ctr" defTabSz="584200" rtl="0" latinLnBrk="0">
        <a:lnSpc>
          <a:spcPct val="100000"/>
        </a:lnSpc>
        <a:spcBef>
          <a:spcPts val="0"/>
        </a:spcBef>
        <a:spcAft>
          <a:spcPts val="0"/>
        </a:spcAft>
        <a:buClrTx/>
        <a:buSzTx/>
        <a:buFontTx/>
        <a:buNone/>
        <a:tabLst/>
        <a:defRPr sz="3500" b="0" i="0" u="none" strike="noStrike" cap="none" spc="0" baseline="0">
          <a:solidFill>
            <a:schemeClr val="tx1"/>
          </a:solidFill>
          <a:uFillTx/>
          <a:latin typeface="+mn-lt"/>
          <a:ea typeface="+mn-ea"/>
          <a:cs typeface="+mn-cs"/>
          <a:sym typeface="Avenir Next Regular"/>
        </a:defRPr>
      </a:lvl8pPr>
      <a:lvl9pPr marL="0" marR="0" indent="3657600" algn="ctr" defTabSz="584200" rtl="0" latinLnBrk="0">
        <a:lnSpc>
          <a:spcPct val="100000"/>
        </a:lnSpc>
        <a:spcBef>
          <a:spcPts val="0"/>
        </a:spcBef>
        <a:spcAft>
          <a:spcPts val="0"/>
        </a:spcAft>
        <a:buClrTx/>
        <a:buSzTx/>
        <a:buFontTx/>
        <a:buNone/>
        <a:tabLst/>
        <a:defRPr sz="3500" b="0" i="0" u="none" strike="noStrike" cap="none" spc="0" baseline="0">
          <a:solidFill>
            <a:schemeClr val="tx1"/>
          </a:solidFill>
          <a:uFillTx/>
          <a:latin typeface="+mn-lt"/>
          <a:ea typeface="+mn-ea"/>
          <a:cs typeface="+mn-cs"/>
          <a:sym typeface="Avenir Next Regular"/>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8.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F22755-6404-6BD5-C1E7-7E97B8626164}"/>
            </a:ext>
          </a:extLst>
        </p:cNvPr>
        <p:cNvGrpSpPr/>
        <p:nvPr/>
      </p:nvGrpSpPr>
      <p:grpSpPr>
        <a:xfrm>
          <a:off x="0" y="0"/>
          <a:ext cx="0" cy="0"/>
          <a:chOff x="0" y="0"/>
          <a:chExt cx="0" cy="0"/>
        </a:xfrm>
      </p:grpSpPr>
      <p:sp>
        <p:nvSpPr>
          <p:cNvPr id="174" name="Intelligent Radio Sensing Lab. (IRS Lab)…">
            <a:extLst>
              <a:ext uri="{FF2B5EF4-FFF2-40B4-BE49-F238E27FC236}">
                <a16:creationId xmlns:a16="http://schemas.microsoft.com/office/drawing/2014/main" id="{2A0768BC-77C5-2C8F-FD38-7C79DD42D6D4}"/>
              </a:ext>
            </a:extLst>
          </p:cNvPr>
          <p:cNvSpPr txBox="1">
            <a:spLocks noGrp="1"/>
          </p:cNvSpPr>
          <p:nvPr>
            <p:ph type="body" idx="21"/>
          </p:nvPr>
        </p:nvSpPr>
        <p:spPr>
          <a:xfrm>
            <a:off x="1219200" y="8535303"/>
            <a:ext cx="21945600" cy="2550610"/>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normAutofit/>
          </a:bodyPr>
          <a:lstStyle/>
          <a:p>
            <a:pPr defTabSz="775969">
              <a:defRPr sz="4700" spc="-47"/>
            </a:pPr>
            <a:r>
              <a:rPr dirty="0">
                <a:latin typeface="Arial" panose="020B0604020202020204" pitchFamily="34" charset="0"/>
                <a:cs typeface="Arial" panose="020B0604020202020204" pitchFamily="34" charset="0"/>
              </a:rPr>
              <a:t>Intelligent Radio Sensing Lab. (IRS Lab)</a:t>
            </a:r>
            <a:endParaRPr lang="en-US" dirty="0">
              <a:latin typeface="Arial" panose="020B0604020202020204" pitchFamily="34" charset="0"/>
              <a:cs typeface="Arial" panose="020B0604020202020204" pitchFamily="34" charset="0"/>
            </a:endParaRPr>
          </a:p>
          <a:p>
            <a:pPr defTabSz="775969">
              <a:defRPr sz="4700" spc="-47"/>
            </a:pPr>
            <a:r>
              <a:rPr lang="en-US" dirty="0">
                <a:latin typeface="Arial" panose="020B0604020202020204" pitchFamily="34" charset="0"/>
                <a:cs typeface="Arial" panose="020B0604020202020204" pitchFamily="34" charset="0"/>
              </a:rPr>
              <a:t>Department of Electrical Engineering and Computer Science</a:t>
            </a:r>
          </a:p>
          <a:p>
            <a:pPr defTabSz="775969">
              <a:defRPr sz="4700" spc="-47"/>
            </a:pPr>
            <a:r>
              <a:rPr lang="en-US" dirty="0">
                <a:latin typeface="Arial" panose="020B0604020202020204" pitchFamily="34" charset="0"/>
                <a:cs typeface="Arial" panose="020B0604020202020204" pitchFamily="34" charset="0"/>
              </a:rPr>
              <a:t>DGIST</a:t>
            </a:r>
            <a:endParaRPr lang="ko-KR" altLang="en-US" dirty="0">
              <a:latin typeface="Arial" panose="020B0604020202020204" pitchFamily="34" charset="0"/>
              <a:cs typeface="Arial" panose="020B0604020202020204" pitchFamily="34" charset="0"/>
            </a:endParaRPr>
          </a:p>
        </p:txBody>
      </p:sp>
      <p:sp>
        <p:nvSpPr>
          <p:cNvPr id="175" name="Title">
            <a:extLst>
              <a:ext uri="{FF2B5EF4-FFF2-40B4-BE49-F238E27FC236}">
                <a16:creationId xmlns:a16="http://schemas.microsoft.com/office/drawing/2014/main" id="{FEF69C24-0A71-478B-4622-AF755BE20C66}"/>
              </a:ext>
            </a:extLst>
          </p:cNvPr>
          <p:cNvSpPr txBox="1">
            <a:spLocks noGrp="1"/>
          </p:cNvSpPr>
          <p:nvPr>
            <p:ph type="ctrTitle"/>
          </p:nvPr>
        </p:nvSpPr>
        <p:spPr>
          <a:xfrm>
            <a:off x="1219200" y="3358256"/>
            <a:ext cx="21945600" cy="2412647"/>
          </a:xfrm>
          <a:prstGeom prst="rect">
            <a:avLst/>
          </a:prstGeom>
        </p:spPr>
        <p:txBody>
          <a:bodyPr>
            <a:normAutofit/>
          </a:bodyPr>
          <a:lstStyle>
            <a:lvl1pPr algn="ctr">
              <a:defRPr sz="11500" spc="-115">
                <a:latin typeface="+mn-lt"/>
                <a:ea typeface="+mn-ea"/>
                <a:cs typeface="+mn-cs"/>
                <a:sym typeface="Avenir Next Regular"/>
              </a:defRPr>
            </a:lvl1pPr>
          </a:lstStyle>
          <a:p>
            <a:r>
              <a:rPr lang="en-US" altLang="ko-KR" sz="8800" dirty="0"/>
              <a:t>Team Meeting</a:t>
            </a:r>
            <a:endParaRPr lang="ko-KR" altLang="en-US" sz="8800" dirty="0">
              <a:latin typeface="Arial" panose="020B0604020202020204" pitchFamily="34" charset="0"/>
              <a:cs typeface="Arial" panose="020B0604020202020204" pitchFamily="34" charset="0"/>
            </a:endParaRPr>
          </a:p>
        </p:txBody>
      </p:sp>
      <p:sp>
        <p:nvSpPr>
          <p:cNvPr id="176" name="Name">
            <a:extLst>
              <a:ext uri="{FF2B5EF4-FFF2-40B4-BE49-F238E27FC236}">
                <a16:creationId xmlns:a16="http://schemas.microsoft.com/office/drawing/2014/main" id="{0BF5DE56-8C9C-68F7-1AAA-48628C929F2B}"/>
              </a:ext>
            </a:extLst>
          </p:cNvPr>
          <p:cNvSpPr txBox="1">
            <a:spLocks noGrp="1"/>
          </p:cNvSpPr>
          <p:nvPr>
            <p:ph type="subTitle" sz="quarter" idx="1"/>
          </p:nvPr>
        </p:nvSpPr>
        <p:spPr>
          <a:xfrm>
            <a:off x="1196898" y="6342708"/>
            <a:ext cx="21945600" cy="2475652"/>
          </a:xfrm>
          <a:prstGeom prst="rect">
            <a:avLst/>
          </a:prstGeom>
        </p:spPr>
        <p:txBody>
          <a:bodyPr>
            <a:normAutofit/>
          </a:bodyPr>
          <a:lstStyle>
            <a:lvl1pPr>
              <a:defRPr sz="6800" spc="-68"/>
            </a:lvl1pPr>
          </a:lstStyle>
          <a:p>
            <a:r>
              <a:rPr lang="en-US" sz="4400" dirty="0" err="1">
                <a:latin typeface="Arial" panose="020B0604020202020204" pitchFamily="34" charset="0"/>
                <a:cs typeface="Arial" panose="020B0604020202020204" pitchFamily="34" charset="0"/>
              </a:rPr>
              <a:t>Yunjung</a:t>
            </a:r>
            <a:r>
              <a:rPr lang="en-US" sz="4400" dirty="0">
                <a:latin typeface="Arial" panose="020B0604020202020204" pitchFamily="34" charset="0"/>
                <a:cs typeface="Arial" panose="020B0604020202020204" pitchFamily="34" charset="0"/>
              </a:rPr>
              <a:t> Jeong</a:t>
            </a:r>
          </a:p>
        </p:txBody>
      </p:sp>
      <p:pic>
        <p:nvPicPr>
          <p:cNvPr id="178" name="ui_kor_eng.svg" descr="ui_kor_eng.svg">
            <a:extLst>
              <a:ext uri="{FF2B5EF4-FFF2-40B4-BE49-F238E27FC236}">
                <a16:creationId xmlns:a16="http://schemas.microsoft.com/office/drawing/2014/main" id="{D19F379D-ACF2-BC9C-AC4C-88D448E95317}"/>
              </a:ext>
            </a:extLst>
          </p:cNvPr>
          <p:cNvPicPr>
            <a:picLocks noChangeAspect="1"/>
          </p:cNvPicPr>
          <p:nvPr/>
        </p:nvPicPr>
        <p:blipFill>
          <a:blip r:embed="rId3"/>
          <a:srcRect l="20301" t="62673" r="49648" b="28626"/>
          <a:stretch>
            <a:fillRect/>
          </a:stretch>
        </p:blipFill>
        <p:spPr>
          <a:xfrm>
            <a:off x="290004" y="123643"/>
            <a:ext cx="3109180" cy="1227469"/>
          </a:xfrm>
          <a:prstGeom prst="rect">
            <a:avLst/>
          </a:prstGeom>
          <a:ln w="12700">
            <a:miter lim="400000"/>
          </a:ln>
        </p:spPr>
      </p:pic>
      <p:sp>
        <p:nvSpPr>
          <p:cNvPr id="4" name="Name">
            <a:extLst>
              <a:ext uri="{FF2B5EF4-FFF2-40B4-BE49-F238E27FC236}">
                <a16:creationId xmlns:a16="http://schemas.microsoft.com/office/drawing/2014/main" id="{DCA5BEBF-35EA-CB12-2A3F-CA4921AF5198}"/>
              </a:ext>
            </a:extLst>
          </p:cNvPr>
          <p:cNvSpPr txBox="1">
            <a:spLocks/>
          </p:cNvSpPr>
          <p:nvPr/>
        </p:nvSpPr>
        <p:spPr>
          <a:xfrm>
            <a:off x="1219200" y="7410006"/>
            <a:ext cx="21945600" cy="2250593"/>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50800" tIns="50800" rIns="50800" bIns="50800">
            <a:normAutofit/>
          </a:bodyPr>
          <a:lstStyle>
            <a:lvl1pPr marL="0" marR="0" indent="0" algn="ctr" defTabSz="825500" rtl="0" latinLnBrk="0">
              <a:lnSpc>
                <a:spcPct val="100000"/>
              </a:lnSpc>
              <a:spcBef>
                <a:spcPts val="0"/>
              </a:spcBef>
              <a:spcAft>
                <a:spcPts val="0"/>
              </a:spcAft>
              <a:buClrTx/>
              <a:buSzTx/>
              <a:buFontTx/>
              <a:buNone/>
              <a:tabLst/>
              <a:defRPr sz="6800" b="1" i="0" u="none" strike="noStrike" cap="none" spc="-68" baseline="0">
                <a:solidFill>
                  <a:srgbClr val="000000"/>
                </a:solidFill>
                <a:uFillTx/>
                <a:latin typeface="AvenirNext-DemiBold"/>
                <a:ea typeface="AvenirNext-DemiBold"/>
                <a:cs typeface="AvenirNext-DemiBold"/>
                <a:sym typeface="AvenirNext-DemiBold"/>
              </a:defRPr>
            </a:lvl1pPr>
            <a:lvl2pPr marL="0" marR="0" indent="457200" algn="ctr" defTabSz="825500" rtl="0" latinLnBrk="0">
              <a:lnSpc>
                <a:spcPct val="100000"/>
              </a:lnSpc>
              <a:spcBef>
                <a:spcPts val="0"/>
              </a:spcBef>
              <a:spcAft>
                <a:spcPts val="0"/>
              </a:spcAft>
              <a:buClrTx/>
              <a:buSzTx/>
              <a:buFontTx/>
              <a:buNone/>
              <a:tabLst/>
              <a:defRPr sz="6000" b="1" i="0" u="none" strike="noStrike" cap="none" spc="-59" baseline="0">
                <a:solidFill>
                  <a:srgbClr val="000000"/>
                </a:solidFill>
                <a:uFillTx/>
                <a:latin typeface="AvenirNext-DemiBold"/>
                <a:ea typeface="AvenirNext-DemiBold"/>
                <a:cs typeface="AvenirNext-DemiBold"/>
                <a:sym typeface="AvenirNext-DemiBold"/>
              </a:defRPr>
            </a:lvl2pPr>
            <a:lvl3pPr marL="0" marR="0" indent="914400" algn="ctr" defTabSz="825500" rtl="0" latinLnBrk="0">
              <a:lnSpc>
                <a:spcPct val="100000"/>
              </a:lnSpc>
              <a:spcBef>
                <a:spcPts val="0"/>
              </a:spcBef>
              <a:spcAft>
                <a:spcPts val="0"/>
              </a:spcAft>
              <a:buClrTx/>
              <a:buSzTx/>
              <a:buFontTx/>
              <a:buNone/>
              <a:tabLst/>
              <a:defRPr sz="6000" b="1" i="0" u="none" strike="noStrike" cap="none" spc="-59" baseline="0">
                <a:solidFill>
                  <a:srgbClr val="000000"/>
                </a:solidFill>
                <a:uFillTx/>
                <a:latin typeface="AvenirNext-DemiBold"/>
                <a:ea typeface="AvenirNext-DemiBold"/>
                <a:cs typeface="AvenirNext-DemiBold"/>
                <a:sym typeface="AvenirNext-DemiBold"/>
              </a:defRPr>
            </a:lvl3pPr>
            <a:lvl4pPr marL="0" marR="0" indent="1371600" algn="ctr" defTabSz="825500" rtl="0" latinLnBrk="0">
              <a:lnSpc>
                <a:spcPct val="100000"/>
              </a:lnSpc>
              <a:spcBef>
                <a:spcPts val="0"/>
              </a:spcBef>
              <a:spcAft>
                <a:spcPts val="0"/>
              </a:spcAft>
              <a:buClrTx/>
              <a:buSzTx/>
              <a:buFontTx/>
              <a:buNone/>
              <a:tabLst/>
              <a:defRPr sz="6000" b="1" i="0" u="none" strike="noStrike" cap="none" spc="-59" baseline="0">
                <a:solidFill>
                  <a:srgbClr val="000000"/>
                </a:solidFill>
                <a:uFillTx/>
                <a:latin typeface="AvenirNext-DemiBold"/>
                <a:ea typeface="AvenirNext-DemiBold"/>
                <a:cs typeface="AvenirNext-DemiBold"/>
                <a:sym typeface="AvenirNext-DemiBold"/>
              </a:defRPr>
            </a:lvl4pPr>
            <a:lvl5pPr marL="0" marR="0" indent="1828800" algn="ctr" defTabSz="825500" rtl="0" latinLnBrk="0">
              <a:lnSpc>
                <a:spcPct val="100000"/>
              </a:lnSpc>
              <a:spcBef>
                <a:spcPts val="0"/>
              </a:spcBef>
              <a:spcAft>
                <a:spcPts val="0"/>
              </a:spcAft>
              <a:buClrTx/>
              <a:buSzTx/>
              <a:buFontTx/>
              <a:buNone/>
              <a:tabLst/>
              <a:defRPr sz="6000" b="1" i="0" u="none" strike="noStrike" cap="none" spc="-59" baseline="0">
                <a:solidFill>
                  <a:srgbClr val="000000"/>
                </a:solidFill>
                <a:uFillTx/>
                <a:latin typeface="AvenirNext-DemiBold"/>
                <a:ea typeface="AvenirNext-DemiBold"/>
                <a:cs typeface="AvenirNext-DemiBold"/>
                <a:sym typeface="AvenirNext-DemiBold"/>
              </a:defRPr>
            </a:lvl5pPr>
            <a:lvl6pPr marL="32766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6pPr>
            <a:lvl7pPr marL="38227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7pPr>
            <a:lvl8pPr marL="43688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8pPr>
            <a:lvl9pPr marL="49149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9pPr>
          </a:lstStyle>
          <a:p>
            <a:pPr hangingPunct="1"/>
            <a:r>
              <a:rPr lang="en-US" sz="4000" dirty="0">
                <a:latin typeface="Arial" panose="020B0604020202020204" pitchFamily="34" charset="0"/>
                <a:cs typeface="Arial" panose="020B0604020202020204" pitchFamily="34" charset="0"/>
              </a:rPr>
              <a:t>2026. 08. 04</a:t>
            </a:r>
          </a:p>
        </p:txBody>
      </p:sp>
      <p:sp>
        <p:nvSpPr>
          <p:cNvPr id="14" name="Slide Number"/>
          <p:cNvSpPr txBox="1">
            <a:spLocks noGrp="1"/>
          </p:cNvSpPr>
          <p:nvPr>
            <p:ph type="sldNum" sz="quarter" idx="2"/>
          </p:nvPr>
        </p:nvSpPr>
        <p:spPr>
          <a:xfrm>
            <a:off x="11880849" y="12418060"/>
            <a:ext cx="629921" cy="711201"/>
          </a:xfrm>
          <a:prstGeom prst="rect">
            <a:avLst/>
          </a:prstGeom>
        </p:spPr>
        <p:txBody>
          <a:bodyPr/>
          <a:lstStyle/>
          <a:p>
            <a:fld id="{86CB4B4D-7CA3-9044-876B-883B54F8677D}" type="">
              <a:rPr/>
              <a:t/>
            </a:fld>
            <a:endParaRPr/>
          </a:p>
        </p:txBody>
      </p:sp>
    </p:spTree>
    <p:extLst>
      <p:ext uri="{BB962C8B-B14F-4D97-AF65-F5344CB8AC3E}">
        <p14:creationId xmlns:p14="http://schemas.microsoft.com/office/powerpoint/2010/main" val="2562497968"/>
      </p:ext>
    </p:extLst>
  </p:cSld>
  <p:clrMapOvr>
    <a:masterClrMapping/>
  </p:clrMapOvr>
  <p:transition spd="med"/>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9328" y="449885"/>
            <a:ext cx="20999501" cy="599389"/>
          </a:xfrm>
          <a:prstGeom prst="rect">
            <a:avLst/>
          </a:prstGeom>
          <a:noFill/>
        </p:spPr>
        <p:txBody>
          <a:bodyPr wrap="square" anchor="t" lIns="0" rIns="0" tIns="0" bIns="0">
            <a:spAutoFit/>
          </a:bodyPr>
          <a:lstStyle/>
          <a:p>
            <a:pPr algn="l"/>
            <a:r>
              <a:rPr sz="2900" b="1" i="0">
                <a:solidFill>
                  <a:srgbClr val="2E74B5"/>
                </a:solidFill>
                <a:latin typeface="AvenirNext-DemiBold"/>
              </a:rPr>
              <a:t>TODAY  ·  ONE EXPERIMENT, REPORTED IN ORDER</a:t>
            </a:r>
          </a:p>
        </p:txBody>
      </p:sp>
      <p:sp>
        <p:nvSpPr>
          <p:cNvPr id="3" name="TextBox 2"/>
          <p:cNvSpPr txBox="1"/>
          <p:nvPr/>
        </p:nvSpPr>
        <p:spPr>
          <a:xfrm>
            <a:off x="699821" y="1039673"/>
            <a:ext cx="22979482" cy="1594104"/>
          </a:xfrm>
          <a:prstGeom prst="rect">
            <a:avLst/>
          </a:prstGeom>
          <a:noFill/>
        </p:spPr>
        <p:txBody>
          <a:bodyPr wrap="square" anchor="t" lIns="0" rIns="0" tIns="0" bIns="0">
            <a:spAutoFit/>
          </a:bodyPr>
          <a:lstStyle/>
          <a:p>
            <a:pPr algn="l"/>
            <a:r>
              <a:rPr sz="4600" b="1" i="0">
                <a:solidFill>
                  <a:srgbClr val="000000"/>
                </a:solidFill>
                <a:latin typeface="AvenirNext-DemiBold"/>
              </a:rPr>
              <a:t>We sit 4.9 dB under the measurement, and a plain cube sits 6.9 dB over it</a:t>
            </a:r>
          </a:p>
        </p:txBody>
      </p:sp>
      <p:sp>
        <p:nvSpPr>
          <p:cNvPr id="4" name="TextBox 3"/>
          <p:cNvSpPr txBox="1"/>
          <p:nvPr/>
        </p:nvSpPr>
        <p:spPr>
          <a:xfrm>
            <a:off x="760781" y="2716073"/>
            <a:ext cx="22599091" cy="1292352"/>
          </a:xfrm>
          <a:prstGeom prst="rect">
            <a:avLst/>
          </a:prstGeom>
          <a:noFill/>
        </p:spPr>
        <p:txBody>
          <a:bodyPr wrap="square" anchor="t" lIns="0" rIns="0" tIns="0" bIns="0">
            <a:spAutoFit/>
          </a:bodyPr>
          <a:lstStyle/>
          <a:p>
            <a:pPr algn="l"/>
            <a:r>
              <a:rPr sz="3700" b="1" i="0">
                <a:solidFill>
                  <a:srgbClr val="000000"/>
                </a:solidFill>
                <a:latin typeface="AvenirNext-DemiBold"/>
              </a:rPr>
              <a:t>I built a Phantom 3 radar cross section model with the published answer </a:t>
            </a:r>
            <a:r>
              <a:rPr sz="3700" b="1" i="0">
                <a:solidFill>
                  <a:srgbClr val="E22146"/>
                </a:solidFill>
                <a:latin typeface="AvenirNext-DemiBold"/>
              </a:rPr>
              <a:t>sealed</a:t>
            </a:r>
            <a:r>
              <a:rPr sz="3700" b="1" i="0">
                <a:solidFill>
                  <a:srgbClr val="000000"/>
                </a:solidFill>
                <a:latin typeface="AvenirNext-DemiBold"/>
              </a:rPr>
              <a:t>, and preregistered the rule and the controls that grade it</a:t>
            </a:r>
          </a:p>
        </p:txBody>
      </p:sp>
      <p:sp>
        <p:nvSpPr>
          <p:cNvPr id="5" name="Rectangle 4"/>
          <p:cNvSpPr/>
          <p:nvPr/>
        </p:nvSpPr>
        <p:spPr>
          <a:xfrm>
            <a:off x="719328" y="4447985"/>
            <a:ext cx="121920" cy="935444"/>
          </a:xfrm>
          <a:prstGeom prst="rect">
            <a:avLst/>
          </a:prstGeom>
          <a:solidFill>
            <a:srgbClr val="2644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6" name="TextBox 5"/>
          <p:cNvSpPr txBox="1"/>
          <p:nvPr/>
        </p:nvSpPr>
        <p:spPr>
          <a:xfrm>
            <a:off x="1255776" y="4227881"/>
            <a:ext cx="22213824" cy="1375653"/>
          </a:xfrm>
          <a:prstGeom prst="rect">
            <a:avLst/>
          </a:prstGeom>
          <a:noFill/>
        </p:spPr>
        <p:txBody>
          <a:bodyPr wrap="square" anchor="ctr" lIns="0" rIns="0" tIns="0" bIns="0">
            <a:spAutoFit/>
          </a:bodyPr>
          <a:lstStyle/>
          <a:p>
            <a:pPr algn="l"/>
            <a:r>
              <a:rPr sz="3300" b="0" i="0">
                <a:solidFill>
                  <a:srgbClr val="000000"/>
                </a:solidFill>
                <a:latin typeface="Avenir Next Medium"/>
              </a:rPr>
              <a:t>The anchor is one anechoic measurement of a real Phantom 3, reaching us through two papers</a:t>
            </a:r>
          </a:p>
        </p:txBody>
      </p:sp>
      <p:sp>
        <p:nvSpPr>
          <p:cNvPr id="7" name="Rectangle 6"/>
          <p:cNvSpPr/>
          <p:nvPr/>
        </p:nvSpPr>
        <p:spPr>
          <a:xfrm>
            <a:off x="719328" y="6202830"/>
            <a:ext cx="121920" cy="1031387"/>
          </a:xfrm>
          <a:prstGeom prst="rect">
            <a:avLst/>
          </a:prstGeom>
          <a:solidFill>
            <a:srgbClr val="E2214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8" name="TextBox 7"/>
          <p:cNvSpPr txBox="1"/>
          <p:nvPr/>
        </p:nvSpPr>
        <p:spPr>
          <a:xfrm>
            <a:off x="1255776" y="5960150"/>
            <a:ext cx="22213824" cy="1516746"/>
          </a:xfrm>
          <a:prstGeom prst="rect">
            <a:avLst/>
          </a:prstGeom>
          <a:noFill/>
        </p:spPr>
        <p:txBody>
          <a:bodyPr wrap="square" anchor="ctr" lIns="0" rIns="0" tIns="0" bIns="0">
            <a:spAutoFit/>
          </a:bodyPr>
          <a:lstStyle/>
          <a:p>
            <a:pPr algn="l"/>
            <a:r>
              <a:rPr sz="3600" b="1" i="0">
                <a:solidFill>
                  <a:srgbClr val="E22146"/>
                </a:solidFill>
                <a:latin typeface="AvenirNext-DemiBold"/>
              </a:rPr>
              <a:t>Our mesh is 4.85 dB low, the conducting cube is 6.94 dB high, so our margin is 2.09 dB</a:t>
            </a:r>
          </a:p>
        </p:txBody>
      </p:sp>
      <p:sp>
        <p:nvSpPr>
          <p:cNvPr id="9" name="Rectangle 8"/>
          <p:cNvSpPr/>
          <p:nvPr/>
        </p:nvSpPr>
        <p:spPr>
          <a:xfrm>
            <a:off x="719328" y="8053617"/>
            <a:ext cx="121920" cy="935444"/>
          </a:xfrm>
          <a:prstGeom prst="rect">
            <a:avLst/>
          </a:prstGeom>
          <a:solidFill>
            <a:srgbClr val="2644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10" name="TextBox 9"/>
          <p:cNvSpPr txBox="1"/>
          <p:nvPr/>
        </p:nvSpPr>
        <p:spPr>
          <a:xfrm>
            <a:off x="1255776" y="7833512"/>
            <a:ext cx="22213824" cy="1375653"/>
          </a:xfrm>
          <a:prstGeom prst="rect">
            <a:avLst/>
          </a:prstGeom>
          <a:noFill/>
        </p:spPr>
        <p:txBody>
          <a:bodyPr wrap="square" anchor="ctr" lIns="0" rIns="0" tIns="0" bIns="0">
            <a:spAutoFit/>
          </a:bodyPr>
          <a:lstStyle/>
          <a:p>
            <a:pPr algn="l"/>
            <a:r>
              <a:rPr sz="3300" b="0" i="0">
                <a:solidFill>
                  <a:srgbClr val="000000"/>
                </a:solidFill>
                <a:latin typeface="Avenir Next Medium"/>
              </a:rPr>
              <a:t>The rule asked for more than 2.51 dB over the best control, so the level test does not clear</a:t>
            </a:r>
          </a:p>
        </p:txBody>
      </p:sp>
      <p:sp>
        <p:nvSpPr>
          <p:cNvPr id="11" name="Rectangle 10"/>
          <p:cNvSpPr/>
          <p:nvPr/>
        </p:nvSpPr>
        <p:spPr>
          <a:xfrm>
            <a:off x="719328" y="9808461"/>
            <a:ext cx="121920" cy="1031387"/>
          </a:xfrm>
          <a:prstGeom prst="rect">
            <a:avLst/>
          </a:prstGeom>
          <a:solidFill>
            <a:srgbClr val="E2214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12" name="TextBox 11"/>
          <p:cNvSpPr txBox="1"/>
          <p:nvPr/>
        </p:nvSpPr>
        <p:spPr>
          <a:xfrm>
            <a:off x="1255776" y="9565782"/>
            <a:ext cx="22213824" cy="1516746"/>
          </a:xfrm>
          <a:prstGeom prst="rect">
            <a:avLst/>
          </a:prstGeom>
          <a:noFill/>
        </p:spPr>
        <p:txBody>
          <a:bodyPr wrap="square" anchor="ctr" lIns="0" rIns="0" tIns="0" bIns="0">
            <a:spAutoFit/>
          </a:bodyPr>
          <a:lstStyle/>
          <a:p>
            <a:pPr algn="l"/>
            <a:r>
              <a:rPr sz="3600" b="1" i="0">
                <a:solidFill>
                  <a:srgbClr val="E22146"/>
                </a:solidFill>
                <a:latin typeface="AvenirNext-DemiBold"/>
              </a:rPr>
              <a:t>The seal did not hold and 205 of our choices were free, so the honest grade is WEAK</a:t>
            </a:r>
          </a:p>
        </p:txBody>
      </p:sp>
      <p:sp>
        <p:nvSpPr>
          <p:cNvPr id="13" name="Rectangle 12"/>
          <p:cNvSpPr/>
          <p:nvPr/>
        </p:nvSpPr>
        <p:spPr>
          <a:xfrm>
            <a:off x="760781" y="11384280"/>
            <a:ext cx="22945344" cy="987552"/>
          </a:xfrm>
          <a:prstGeom prst="rect">
            <a:avLst/>
          </a:prstGeom>
          <a:solidFill>
            <a:srgbClr val="FFF3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14" name="Rectangle 13"/>
          <p:cNvSpPr/>
          <p:nvPr/>
        </p:nvSpPr>
        <p:spPr>
          <a:xfrm>
            <a:off x="760781" y="11384280"/>
            <a:ext cx="102413" cy="987552"/>
          </a:xfrm>
          <a:prstGeom prst="rect">
            <a:avLst/>
          </a:prstGeom>
          <a:solidFill>
            <a:srgbClr val="FFBD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15" name="TextBox 14"/>
          <p:cNvSpPr txBox="1"/>
          <p:nvPr/>
        </p:nvSpPr>
        <p:spPr>
          <a:xfrm>
            <a:off x="1199693" y="11384280"/>
            <a:ext cx="22067520" cy="987552"/>
          </a:xfrm>
          <a:prstGeom prst="rect">
            <a:avLst/>
          </a:prstGeom>
          <a:noFill/>
        </p:spPr>
        <p:txBody>
          <a:bodyPr wrap="square" anchor="ctr" lIns="0" rIns="0" tIns="0" bIns="0">
            <a:spAutoFit/>
          </a:bodyPr>
          <a:lstStyle/>
          <a:p>
            <a:pPr algn="l"/>
            <a:r>
              <a:rPr sz="3400" b="1" i="0">
                <a:solidFill>
                  <a:srgbClr val="000000"/>
                </a:solidFill>
                <a:latin typeface="AvenirNext-DemiBold"/>
              </a:rPr>
              <a:t>The rule was fixed before the answer, which is what makes a bad outcome reportable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9328" y="449885"/>
            <a:ext cx="20999501" cy="599389"/>
          </a:xfrm>
          <a:prstGeom prst="rect">
            <a:avLst/>
          </a:prstGeom>
          <a:noFill/>
        </p:spPr>
        <p:txBody>
          <a:bodyPr wrap="square" anchor="t" lIns="0" rIns="0" tIns="0" bIns="0">
            <a:spAutoFit/>
          </a:bodyPr>
          <a:lstStyle/>
          <a:p>
            <a:pPr algn="l"/>
            <a:r>
              <a:rPr sz="2900" b="1" i="0">
                <a:solidFill>
                  <a:srgbClr val="2E74B5"/>
                </a:solidFill>
                <a:latin typeface="AvenirNext-DemiBold"/>
              </a:rPr>
              <a:t>ANCHOR  ·  EUCAP 2025  ·  IEEE WCL 2026</a:t>
            </a:r>
          </a:p>
        </p:txBody>
      </p:sp>
      <p:sp>
        <p:nvSpPr>
          <p:cNvPr id="3" name="TextBox 2"/>
          <p:cNvSpPr txBox="1"/>
          <p:nvPr/>
        </p:nvSpPr>
        <p:spPr>
          <a:xfrm>
            <a:off x="699821" y="1039673"/>
            <a:ext cx="22979482" cy="1075944"/>
          </a:xfrm>
          <a:prstGeom prst="rect">
            <a:avLst/>
          </a:prstGeom>
          <a:noFill/>
        </p:spPr>
        <p:txBody>
          <a:bodyPr wrap="square" anchor="t" lIns="0" rIns="0" tIns="0" bIns="0">
            <a:spAutoFit/>
          </a:bodyPr>
          <a:lstStyle/>
          <a:p>
            <a:pPr algn="l"/>
            <a:r>
              <a:rPr sz="5800" b="1" i="0">
                <a:solidFill>
                  <a:srgbClr val="000000"/>
                </a:solidFill>
                <a:latin typeface="AvenirNext-DemiBold"/>
              </a:rPr>
              <a:t>Only one of these two papers measured the Phantom 3</a:t>
            </a:r>
          </a:p>
        </p:txBody>
      </p:sp>
      <p:sp>
        <p:nvSpPr>
          <p:cNvPr id="4" name="TextBox 3"/>
          <p:cNvSpPr txBox="1"/>
          <p:nvPr/>
        </p:nvSpPr>
        <p:spPr>
          <a:xfrm>
            <a:off x="760781" y="2197913"/>
            <a:ext cx="22599091" cy="1292352"/>
          </a:xfrm>
          <a:prstGeom prst="rect">
            <a:avLst/>
          </a:prstGeom>
          <a:noFill/>
        </p:spPr>
        <p:txBody>
          <a:bodyPr wrap="square" anchor="t" lIns="0" rIns="0" tIns="0" bIns="0">
            <a:spAutoFit/>
          </a:bodyPr>
          <a:lstStyle/>
          <a:p>
            <a:pPr algn="l"/>
            <a:r>
              <a:rPr sz="3700" b="1" i="0">
                <a:solidFill>
                  <a:srgbClr val="000000"/>
                </a:solidFill>
                <a:latin typeface="AvenirNext-DemiBold"/>
              </a:rPr>
              <a:t>A DJI Phantom 3 of </a:t>
            </a:r>
            <a:r>
              <a:rPr sz="3700" b="1" i="0">
                <a:solidFill>
                  <a:srgbClr val="E22146"/>
                </a:solidFill>
                <a:latin typeface="AvenirNext-DemiBold"/>
              </a:rPr>
              <a:t>35 cm horizontal diagonal and 20 cm height</a:t>
            </a:r>
            <a:r>
              <a:rPr sz="3700" b="1" i="0">
                <a:solidFill>
                  <a:srgbClr val="000000"/>
                </a:solidFill>
                <a:latin typeface="AvenirNext-DemiBold"/>
              </a:rPr>
              <a:t>, anechoic and far field</a:t>
            </a:r>
          </a:p>
        </p:txBody>
      </p:sp>
      <p:sp>
        <p:nvSpPr>
          <p:cNvPr id="5" name="Rectangle 4"/>
          <p:cNvSpPr/>
          <p:nvPr/>
        </p:nvSpPr>
        <p:spPr>
          <a:xfrm>
            <a:off x="719328" y="3911252"/>
            <a:ext cx="121920" cy="856508"/>
          </a:xfrm>
          <a:prstGeom prst="rect">
            <a:avLst/>
          </a:prstGeom>
          <a:solidFill>
            <a:srgbClr val="E2214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6" name="TextBox 5"/>
          <p:cNvSpPr txBox="1"/>
          <p:nvPr/>
        </p:nvSpPr>
        <p:spPr>
          <a:xfrm>
            <a:off x="1255776" y="3709721"/>
            <a:ext cx="22213824" cy="1259570"/>
          </a:xfrm>
          <a:prstGeom prst="rect">
            <a:avLst/>
          </a:prstGeom>
          <a:noFill/>
        </p:spPr>
        <p:txBody>
          <a:bodyPr wrap="square" anchor="ctr" lIns="0" rIns="0" tIns="0" bIns="0">
            <a:spAutoFit/>
          </a:bodyPr>
          <a:lstStyle/>
          <a:p>
            <a:pPr algn="l"/>
            <a:r>
              <a:rPr sz="3600" b="1" i="0">
                <a:solidFill>
                  <a:srgbClr val="E22146"/>
                </a:solidFill>
                <a:latin typeface="AvenirNext-DemiBold"/>
              </a:rPr>
              <a:t>Zhiqiang Yuan, Le Yu, Chunhui Li, Wei Fan - EuCAP 2025, and this is the measurement</a:t>
            </a:r>
          </a:p>
        </p:txBody>
      </p:sp>
      <p:sp>
        <p:nvSpPr>
          <p:cNvPr id="7" name="Rectangle 6"/>
          <p:cNvSpPr/>
          <p:nvPr/>
        </p:nvSpPr>
        <p:spPr>
          <a:xfrm>
            <a:off x="719328" y="5527438"/>
            <a:ext cx="121920" cy="856508"/>
          </a:xfrm>
          <a:prstGeom prst="rect">
            <a:avLst/>
          </a:prstGeom>
          <a:solidFill>
            <a:srgbClr val="E2214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8" name="TextBox 7"/>
          <p:cNvSpPr txBox="1"/>
          <p:nvPr/>
        </p:nvSpPr>
        <p:spPr>
          <a:xfrm>
            <a:off x="1255776" y="5325907"/>
            <a:ext cx="22213824" cy="1259570"/>
          </a:xfrm>
          <a:prstGeom prst="rect">
            <a:avLst/>
          </a:prstGeom>
          <a:noFill/>
        </p:spPr>
        <p:txBody>
          <a:bodyPr wrap="square" anchor="ctr" lIns="0" rIns="0" tIns="0" bIns="0">
            <a:spAutoFit/>
          </a:bodyPr>
          <a:lstStyle/>
          <a:p>
            <a:pPr algn="l"/>
            <a:r>
              <a:rPr sz="3600" b="1" i="0">
                <a:solidFill>
                  <a:srgbClr val="E22146"/>
                </a:solidFill>
                <a:latin typeface="AvenirNext-DemiBold"/>
              </a:rPr>
              <a:t>Shrayan Das, Peize Zhang, Veikko Hovinen, Marko E. Leinonen, Aarno Parssinen, Pekka Kyosti</a:t>
            </a:r>
          </a:p>
        </p:txBody>
      </p:sp>
      <p:sp>
        <p:nvSpPr>
          <p:cNvPr id="9" name="Rectangle 8"/>
          <p:cNvSpPr/>
          <p:nvPr/>
        </p:nvSpPr>
        <p:spPr>
          <a:xfrm>
            <a:off x="1645920" y="7124877"/>
            <a:ext cx="121920" cy="776833"/>
          </a:xfrm>
          <a:prstGeom prst="rect">
            <a:avLst/>
          </a:prstGeom>
          <a:solidFill>
            <a:srgbClr val="2E74B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10" name="TextBox 9"/>
          <p:cNvSpPr txBox="1"/>
          <p:nvPr/>
        </p:nvSpPr>
        <p:spPr>
          <a:xfrm>
            <a:off x="2182368" y="6942093"/>
            <a:ext cx="21287232" cy="1142401"/>
          </a:xfrm>
          <a:prstGeom prst="rect">
            <a:avLst/>
          </a:prstGeom>
          <a:noFill/>
        </p:spPr>
        <p:txBody>
          <a:bodyPr wrap="square" anchor="ctr" lIns="0" rIns="0" tIns="0" bIns="0">
            <a:spAutoFit/>
          </a:bodyPr>
          <a:lstStyle/>
          <a:p>
            <a:pPr algn="l"/>
            <a:r>
              <a:rPr sz="2800" b="0" i="0">
                <a:solidFill>
                  <a:srgbClr val="000000"/>
                </a:solidFill>
                <a:latin typeface="Avenir Next Medium"/>
              </a:rPr>
              <a:t>IEEE Wireless Communications Letters 15, 3731-3735, 2026, which reuses that data</a:t>
            </a:r>
          </a:p>
        </p:txBody>
      </p:sp>
      <p:sp>
        <p:nvSpPr>
          <p:cNvPr id="11" name="Rectangle 10"/>
          <p:cNvSpPr/>
          <p:nvPr/>
        </p:nvSpPr>
        <p:spPr>
          <a:xfrm>
            <a:off x="719328" y="8623894"/>
            <a:ext cx="121920" cy="776833"/>
          </a:xfrm>
          <a:prstGeom prst="rect">
            <a:avLst/>
          </a:prstGeom>
          <a:solidFill>
            <a:srgbClr val="2644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12" name="TextBox 11"/>
          <p:cNvSpPr txBox="1"/>
          <p:nvPr/>
        </p:nvSpPr>
        <p:spPr>
          <a:xfrm>
            <a:off x="1255776" y="8441110"/>
            <a:ext cx="22213824" cy="1142401"/>
          </a:xfrm>
          <a:prstGeom prst="rect">
            <a:avLst/>
          </a:prstGeom>
          <a:noFill/>
        </p:spPr>
        <p:txBody>
          <a:bodyPr wrap="square" anchor="ctr" lIns="0" rIns="0" tIns="0" bIns="0">
            <a:spAutoFit/>
          </a:bodyPr>
          <a:lstStyle/>
          <a:p>
            <a:pPr algn="l"/>
            <a:r>
              <a:rPr sz="3300" b="0" i="0">
                <a:solidFill>
                  <a:srgbClr val="000000"/>
                </a:solidFill>
                <a:latin typeface="Avenir Next Medium"/>
              </a:rPr>
              <a:t>The grid - 1.8 to 18.2 GHz, 2801 points, azimuth -90 to 90 deg in 2 deg steps, 3 elevation cuts</a:t>
            </a:r>
          </a:p>
        </p:txBody>
      </p:sp>
      <p:sp>
        <p:nvSpPr>
          <p:cNvPr id="13" name="Rectangle 12"/>
          <p:cNvSpPr/>
          <p:nvPr/>
        </p:nvSpPr>
        <p:spPr>
          <a:xfrm>
            <a:off x="719328" y="10122911"/>
            <a:ext cx="121920" cy="776833"/>
          </a:xfrm>
          <a:prstGeom prst="rect">
            <a:avLst/>
          </a:prstGeom>
          <a:solidFill>
            <a:srgbClr val="2644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14" name="TextBox 13"/>
          <p:cNvSpPr txBox="1"/>
          <p:nvPr/>
        </p:nvSpPr>
        <p:spPr>
          <a:xfrm>
            <a:off x="1255776" y="9940127"/>
            <a:ext cx="22213824" cy="1142401"/>
          </a:xfrm>
          <a:prstGeom prst="rect">
            <a:avLst/>
          </a:prstGeom>
          <a:noFill/>
        </p:spPr>
        <p:txBody>
          <a:bodyPr wrap="square" anchor="ctr" lIns="0" rIns="0" tIns="0" bIns="0">
            <a:spAutoFit/>
          </a:bodyPr>
          <a:lstStyle/>
          <a:p>
            <a:pPr algn="l"/>
            <a:r>
              <a:rPr sz="3300" b="0" i="0">
                <a:solidFill>
                  <a:srgbClr val="000000"/>
                </a:solidFill>
                <a:latin typeface="Avenir Next Medium"/>
              </a:rPr>
              <a:t>We inherit their last three steps - coherent subtraction, Kaiser range gate, ratio to a known sphere</a:t>
            </a:r>
          </a:p>
        </p:txBody>
      </p:sp>
      <p:sp>
        <p:nvSpPr>
          <p:cNvPr id="15" name="Rectangle 14"/>
          <p:cNvSpPr/>
          <p:nvPr/>
        </p:nvSpPr>
        <p:spPr>
          <a:xfrm>
            <a:off x="760781" y="11384280"/>
            <a:ext cx="22945344" cy="987552"/>
          </a:xfrm>
          <a:prstGeom prst="rect">
            <a:avLst/>
          </a:prstGeom>
          <a:solidFill>
            <a:srgbClr val="FFF3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16" name="Rectangle 15"/>
          <p:cNvSpPr/>
          <p:nvPr/>
        </p:nvSpPr>
        <p:spPr>
          <a:xfrm>
            <a:off x="760781" y="11384280"/>
            <a:ext cx="102413" cy="987552"/>
          </a:xfrm>
          <a:prstGeom prst="rect">
            <a:avLst/>
          </a:prstGeom>
          <a:solidFill>
            <a:srgbClr val="FFBD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17" name="TextBox 16"/>
          <p:cNvSpPr txBox="1"/>
          <p:nvPr/>
        </p:nvSpPr>
        <p:spPr>
          <a:xfrm>
            <a:off x="1199693" y="11384280"/>
            <a:ext cx="22067520" cy="987552"/>
          </a:xfrm>
          <a:prstGeom prst="rect">
            <a:avLst/>
          </a:prstGeom>
          <a:noFill/>
        </p:spPr>
        <p:txBody>
          <a:bodyPr wrap="square" anchor="ctr" lIns="0" rIns="0" tIns="0" bIns="0">
            <a:spAutoFit/>
          </a:bodyPr>
          <a:lstStyle/>
          <a:p>
            <a:pPr algn="l"/>
            <a:r>
              <a:rPr sz="3400" b="1" i="0">
                <a:solidFill>
                  <a:srgbClr val="000000"/>
                </a:solidFill>
                <a:latin typeface="AvenirNext-DemiBold"/>
              </a:rPr>
              <a:t>They print their own two limits, coarse steps at the top of the band and one polarization, and the reason they print is time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9328" y="449885"/>
            <a:ext cx="20999501" cy="599389"/>
          </a:xfrm>
          <a:prstGeom prst="rect">
            <a:avLst/>
          </a:prstGeom>
          <a:noFill/>
        </p:spPr>
        <p:txBody>
          <a:bodyPr wrap="square" anchor="t" lIns="0" rIns="0" tIns="0" bIns="0">
            <a:spAutoFit/>
          </a:bodyPr>
          <a:lstStyle/>
          <a:p>
            <a:pPr algn="l"/>
            <a:r>
              <a:rPr sz="2900" b="1" i="0">
                <a:solidFill>
                  <a:srgbClr val="2E74B5"/>
                </a:solidFill>
                <a:latin typeface="AvenirNext-DemiBold"/>
              </a:rPr>
              <a:t>ANCHOR  ·  HOW FAR THE YARDSTICK CAN BE TRUSTED</a:t>
            </a:r>
          </a:p>
        </p:txBody>
      </p:sp>
      <p:sp>
        <p:nvSpPr>
          <p:cNvPr id="3" name="TextBox 2"/>
          <p:cNvSpPr txBox="1"/>
          <p:nvPr/>
        </p:nvSpPr>
        <p:spPr>
          <a:xfrm>
            <a:off x="699821" y="1039673"/>
            <a:ext cx="22979482" cy="1594104"/>
          </a:xfrm>
          <a:prstGeom prst="rect">
            <a:avLst/>
          </a:prstGeom>
          <a:noFill/>
        </p:spPr>
        <p:txBody>
          <a:bodyPr wrap="square" anchor="t" lIns="0" rIns="0" tIns="0" bIns="0">
            <a:spAutoFit/>
          </a:bodyPr>
          <a:lstStyle/>
          <a:p>
            <a:pPr algn="l"/>
            <a:r>
              <a:rPr sz="4600" b="1" i="0">
                <a:solidFill>
                  <a:srgbClr val="000000"/>
                </a:solidFill>
                <a:latin typeface="AvenirNext-DemiBold"/>
              </a:rPr>
              <a:t>The yardstick's own resolution is about 3 dB, so no claim of ours can be finer</a:t>
            </a:r>
          </a:p>
        </p:txBody>
      </p:sp>
      <p:pic>
        <p:nvPicPr>
          <p:cNvPr id="4" name="Picture 3" descr="anchor_gap.png"/>
          <p:cNvPicPr>
            <a:picLocks noChangeAspect="1"/>
          </p:cNvPicPr>
          <p:nvPr/>
        </p:nvPicPr>
        <p:blipFill>
          <a:blip r:embed="rId2"/>
          <a:stretch>
            <a:fillRect/>
          </a:stretch>
        </p:blipFill>
        <p:spPr>
          <a:xfrm>
            <a:off x="5750434" y="2716072"/>
            <a:ext cx="12883130" cy="3754831"/>
          </a:xfrm>
          <a:prstGeom prst="rect">
            <a:avLst/>
          </a:prstGeom>
        </p:spPr>
      </p:pic>
      <p:sp>
        <p:nvSpPr>
          <p:cNvPr id="5" name="TextBox 4"/>
          <p:cNvSpPr txBox="1"/>
          <p:nvPr/>
        </p:nvSpPr>
        <p:spPr>
          <a:xfrm>
            <a:off x="5750434" y="6635495"/>
            <a:ext cx="12883130" cy="1021080"/>
          </a:xfrm>
          <a:prstGeom prst="rect">
            <a:avLst/>
          </a:prstGeom>
          <a:noFill/>
        </p:spPr>
        <p:txBody>
          <a:bodyPr wrap="square" anchor="t" lIns="0" rIns="0" tIns="0" bIns="0">
            <a:spAutoFit/>
          </a:bodyPr>
          <a:lstStyle/>
          <a:p>
            <a:pPr algn="ctr"/>
            <a:r>
              <a:rPr sz="2900" b="1" i="0">
                <a:solidFill>
                  <a:srgbClr val="5E5E5E"/>
                </a:solidFill>
                <a:latin typeface="AvenirNext-DemiBold"/>
              </a:rPr>
              <a:t>Both models describe the same raw data - the difference between them is the yardstick's own resolution</a:t>
            </a:r>
          </a:p>
        </p:txBody>
      </p:sp>
      <p:sp>
        <p:nvSpPr>
          <p:cNvPr id="6" name="Rectangle 5"/>
          <p:cNvSpPr/>
          <p:nvPr/>
        </p:nvSpPr>
        <p:spPr>
          <a:xfrm>
            <a:off x="719328" y="7440656"/>
            <a:ext cx="121920" cy="727497"/>
          </a:xfrm>
          <a:prstGeom prst="rect">
            <a:avLst/>
          </a:prstGeom>
          <a:solidFill>
            <a:srgbClr val="2644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7" name="TextBox 6"/>
          <p:cNvSpPr txBox="1"/>
          <p:nvPr/>
        </p:nvSpPr>
        <p:spPr>
          <a:xfrm>
            <a:off x="1255776" y="7269480"/>
            <a:ext cx="22213824" cy="1069848"/>
          </a:xfrm>
          <a:prstGeom prst="rect">
            <a:avLst/>
          </a:prstGeom>
          <a:noFill/>
        </p:spPr>
        <p:txBody>
          <a:bodyPr wrap="square" anchor="ctr" lIns="0" rIns="0" tIns="0" bIns="0">
            <a:spAutoFit/>
          </a:bodyPr>
          <a:lstStyle/>
          <a:p>
            <a:pPr algn="l"/>
            <a:r>
              <a:rPr sz="3300" b="0" i="0">
                <a:solidFill>
                  <a:srgbClr val="000000"/>
                </a:solidFill>
                <a:latin typeface="Avenir Next Medium"/>
              </a:rPr>
              <a:t>The letter thanks the conference paper last author for the measured data, and matches it on four settings</a:t>
            </a:r>
          </a:p>
        </p:txBody>
      </p:sp>
      <p:sp>
        <p:nvSpPr>
          <p:cNvPr id="8" name="Rectangle 7"/>
          <p:cNvSpPr/>
          <p:nvPr/>
        </p:nvSpPr>
        <p:spPr>
          <a:xfrm>
            <a:off x="719328" y="8757392"/>
            <a:ext cx="121920" cy="727497"/>
          </a:xfrm>
          <a:prstGeom prst="rect">
            <a:avLst/>
          </a:prstGeom>
          <a:solidFill>
            <a:srgbClr val="2644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9" name="TextBox 8"/>
          <p:cNvSpPr txBox="1"/>
          <p:nvPr/>
        </p:nvSpPr>
        <p:spPr>
          <a:xfrm>
            <a:off x="1255776" y="8586216"/>
            <a:ext cx="22213824" cy="1069848"/>
          </a:xfrm>
          <a:prstGeom prst="rect">
            <a:avLst/>
          </a:prstGeom>
          <a:noFill/>
        </p:spPr>
        <p:txBody>
          <a:bodyPr wrap="square" anchor="ctr" lIns="0" rIns="0" tIns="0" bIns="0">
            <a:spAutoFit/>
          </a:bodyPr>
          <a:lstStyle/>
          <a:p>
            <a:pPr algn="l"/>
            <a:r>
              <a:rPr sz="3300" b="0" i="0">
                <a:solidFill>
                  <a:srgbClr val="000000"/>
                </a:solidFill>
                <a:latin typeface="Avenir Next Medium"/>
              </a:rPr>
              <a:t>Against that, it never cites the conference paper and names a third work as the source</a:t>
            </a:r>
          </a:p>
        </p:txBody>
      </p:sp>
      <p:sp>
        <p:nvSpPr>
          <p:cNvPr id="10" name="Rectangle 9"/>
          <p:cNvSpPr/>
          <p:nvPr/>
        </p:nvSpPr>
        <p:spPr>
          <a:xfrm>
            <a:off x="719328" y="10091684"/>
            <a:ext cx="121920" cy="802112"/>
          </a:xfrm>
          <a:prstGeom prst="rect">
            <a:avLst/>
          </a:prstGeom>
          <a:solidFill>
            <a:srgbClr val="E2214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11" name="TextBox 10"/>
          <p:cNvSpPr txBox="1"/>
          <p:nvPr/>
        </p:nvSpPr>
        <p:spPr>
          <a:xfrm>
            <a:off x="1255776" y="9902952"/>
            <a:ext cx="22213824" cy="1179576"/>
          </a:xfrm>
          <a:prstGeom prst="rect">
            <a:avLst/>
          </a:prstGeom>
          <a:noFill/>
        </p:spPr>
        <p:txBody>
          <a:bodyPr wrap="square" anchor="ctr" lIns="0" rIns="0" tIns="0" bIns="0">
            <a:spAutoFit/>
          </a:bodyPr>
          <a:lstStyle/>
          <a:p>
            <a:pPr algn="l"/>
            <a:r>
              <a:rPr sz="3600" b="1" i="0">
                <a:solidFill>
                  <a:srgbClr val="E22146"/>
                </a:solidFill>
                <a:latin typeface="AvenirNext-DemiBold"/>
              </a:rPr>
              <a:t>Neither paper defines whether the mean is linear domain or dB domain, which is worth 2.5 to 3.4 dB</a:t>
            </a:r>
          </a:p>
        </p:txBody>
      </p:sp>
      <p:sp>
        <p:nvSpPr>
          <p:cNvPr id="12" name="Rectangle 11"/>
          <p:cNvSpPr/>
          <p:nvPr/>
        </p:nvSpPr>
        <p:spPr>
          <a:xfrm>
            <a:off x="760781" y="11384280"/>
            <a:ext cx="22945344" cy="987552"/>
          </a:xfrm>
          <a:prstGeom prst="rect">
            <a:avLst/>
          </a:prstGeom>
          <a:solidFill>
            <a:srgbClr val="FFF3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13" name="Rectangle 12"/>
          <p:cNvSpPr/>
          <p:nvPr/>
        </p:nvSpPr>
        <p:spPr>
          <a:xfrm>
            <a:off x="760781" y="11384280"/>
            <a:ext cx="102413" cy="987552"/>
          </a:xfrm>
          <a:prstGeom prst="rect">
            <a:avLst/>
          </a:prstGeom>
          <a:solidFill>
            <a:srgbClr val="FFBD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14" name="TextBox 13"/>
          <p:cNvSpPr txBox="1"/>
          <p:nvPr/>
        </p:nvSpPr>
        <p:spPr>
          <a:xfrm>
            <a:off x="1199693" y="11384280"/>
            <a:ext cx="22067520" cy="987552"/>
          </a:xfrm>
          <a:prstGeom prst="rect">
            <a:avLst/>
          </a:prstGeom>
          <a:noFill/>
        </p:spPr>
        <p:txBody>
          <a:bodyPr wrap="square" anchor="ctr" lIns="0" rIns="0" tIns="0" bIns="0">
            <a:spAutoFit/>
          </a:bodyPr>
          <a:lstStyle/>
          <a:p>
            <a:pPr algn="l"/>
            <a:r>
              <a:rPr sz="3400" b="1" i="0">
                <a:solidFill>
                  <a:srgbClr val="000000"/>
                </a:solidFill>
                <a:latin typeface="AvenirNext-DemiBold"/>
              </a:rPr>
              <a:t>So we compare against the elevation matched summary and report the other one beside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9328" y="449885"/>
            <a:ext cx="20999501" cy="599389"/>
          </a:xfrm>
          <a:prstGeom prst="rect">
            <a:avLst/>
          </a:prstGeom>
          <a:noFill/>
        </p:spPr>
        <p:txBody>
          <a:bodyPr wrap="square" anchor="t" lIns="0" rIns="0" tIns="0" bIns="0">
            <a:spAutoFit/>
          </a:bodyPr>
          <a:lstStyle/>
          <a:p>
            <a:pPr algn="l"/>
            <a:r>
              <a:rPr sz="2900" b="1" i="0">
                <a:solidFill>
                  <a:srgbClr val="2E74B5"/>
                </a:solidFill>
                <a:latin typeface="AvenirNext-DemiBold"/>
              </a:rPr>
              <a:t>OUR TEST  ·  WHAT WE BUILT AND WHY WE BUILT IT BLIND</a:t>
            </a:r>
          </a:p>
        </p:txBody>
      </p:sp>
      <p:sp>
        <p:nvSpPr>
          <p:cNvPr id="3" name="TextBox 2"/>
          <p:cNvSpPr txBox="1"/>
          <p:nvPr/>
        </p:nvSpPr>
        <p:spPr>
          <a:xfrm>
            <a:off x="699821" y="1039673"/>
            <a:ext cx="22979482" cy="1075944"/>
          </a:xfrm>
          <a:prstGeom prst="rect">
            <a:avLst/>
          </a:prstGeom>
          <a:noFill/>
        </p:spPr>
        <p:txBody>
          <a:bodyPr wrap="square" anchor="t" lIns="0" rIns="0" tIns="0" bIns="0">
            <a:spAutoFit/>
          </a:bodyPr>
          <a:lstStyle/>
          <a:p>
            <a:pPr algn="l"/>
            <a:r>
              <a:rPr sz="5800" b="1" i="0">
                <a:solidFill>
                  <a:srgbClr val="000000"/>
                </a:solidFill>
                <a:latin typeface="AvenirNext-DemiBold"/>
              </a:rPr>
              <a:t>The mesh was finished before the answer was opened</a:t>
            </a:r>
          </a:p>
        </p:txBody>
      </p:sp>
      <p:pic>
        <p:nvPicPr>
          <p:cNvPr id="4" name="Picture 3" descr="p3_mesh_strip.png"/>
          <p:cNvPicPr>
            <a:picLocks noChangeAspect="1"/>
          </p:cNvPicPr>
          <p:nvPr/>
        </p:nvPicPr>
        <p:blipFill>
          <a:blip r:embed="rId2"/>
          <a:stretch>
            <a:fillRect/>
          </a:stretch>
        </p:blipFill>
        <p:spPr>
          <a:xfrm>
            <a:off x="3736807" y="2221992"/>
            <a:ext cx="16910385" cy="4248912"/>
          </a:xfrm>
          <a:prstGeom prst="rect">
            <a:avLst/>
          </a:prstGeom>
        </p:spPr>
      </p:pic>
      <p:sp>
        <p:nvSpPr>
          <p:cNvPr id="5" name="TextBox 4"/>
          <p:cNvSpPr txBox="1"/>
          <p:nvPr/>
        </p:nvSpPr>
        <p:spPr>
          <a:xfrm>
            <a:off x="3736807" y="6635496"/>
            <a:ext cx="16910385" cy="579120"/>
          </a:xfrm>
          <a:prstGeom prst="rect">
            <a:avLst/>
          </a:prstGeom>
          <a:noFill/>
        </p:spPr>
        <p:txBody>
          <a:bodyPr wrap="square" anchor="t" lIns="0" rIns="0" tIns="0" bIns="0">
            <a:spAutoFit/>
          </a:bodyPr>
          <a:lstStyle/>
          <a:p>
            <a:pPr algn="ctr"/>
            <a:r>
              <a:rPr sz="2900" b="1" i="0">
                <a:solidFill>
                  <a:srgbClr val="5E5E5E"/>
                </a:solidFill>
                <a:latin typeface="AvenirNext-DemiBold"/>
              </a:rPr>
              <a:t>As built - 28,160 triangles, 19 parts, motor diagonal 350 mm, mass 1,280 g</a:t>
            </a:r>
          </a:p>
        </p:txBody>
      </p:sp>
      <p:sp>
        <p:nvSpPr>
          <p:cNvPr id="6" name="Rectangle 5"/>
          <p:cNvSpPr/>
          <p:nvPr/>
        </p:nvSpPr>
        <p:spPr>
          <a:xfrm>
            <a:off x="719328" y="7440656"/>
            <a:ext cx="121920" cy="727497"/>
          </a:xfrm>
          <a:prstGeom prst="rect">
            <a:avLst/>
          </a:prstGeom>
          <a:solidFill>
            <a:srgbClr val="2644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7" name="TextBox 6"/>
          <p:cNvSpPr txBox="1"/>
          <p:nvPr/>
        </p:nvSpPr>
        <p:spPr>
          <a:xfrm>
            <a:off x="1255776" y="7269480"/>
            <a:ext cx="22213824" cy="1069848"/>
          </a:xfrm>
          <a:prstGeom prst="rect">
            <a:avLst/>
          </a:prstGeom>
          <a:noFill/>
        </p:spPr>
        <p:txBody>
          <a:bodyPr wrap="square" anchor="ctr" lIns="0" rIns="0" tIns="0" bIns="0">
            <a:spAutoFit/>
          </a:bodyPr>
          <a:lstStyle/>
          <a:p>
            <a:pPr algn="l"/>
            <a:r>
              <a:rPr sz="3300" b="0" i="0">
                <a:solidFill>
                  <a:srgbClr val="000000"/>
                </a:solidFill>
                <a:latin typeface="Avenir Next Medium"/>
              </a:rPr>
              <a:t>The anchor publishes a fitted mean model only, so what we can grade is a level and a slope</a:t>
            </a:r>
          </a:p>
        </p:txBody>
      </p:sp>
      <p:sp>
        <p:nvSpPr>
          <p:cNvPr id="8" name="Rectangle 7"/>
          <p:cNvSpPr/>
          <p:nvPr/>
        </p:nvSpPr>
        <p:spPr>
          <a:xfrm>
            <a:off x="719328" y="8757392"/>
            <a:ext cx="121920" cy="727497"/>
          </a:xfrm>
          <a:prstGeom prst="rect">
            <a:avLst/>
          </a:prstGeom>
          <a:solidFill>
            <a:srgbClr val="2644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9" name="TextBox 8"/>
          <p:cNvSpPr txBox="1"/>
          <p:nvPr/>
        </p:nvSpPr>
        <p:spPr>
          <a:xfrm>
            <a:off x="1255776" y="8586216"/>
            <a:ext cx="22213824" cy="1069848"/>
          </a:xfrm>
          <a:prstGeom prst="rect">
            <a:avLst/>
          </a:prstGeom>
          <a:noFill/>
        </p:spPr>
        <p:txBody>
          <a:bodyPr wrap="square" anchor="ctr" lIns="0" rIns="0" tIns="0" bIns="0">
            <a:spAutoFit/>
          </a:bodyPr>
          <a:lstStyle/>
          <a:p>
            <a:pPr algn="l"/>
            <a:r>
              <a:rPr sz="3300" b="0" i="0">
                <a:solidFill>
                  <a:srgbClr val="000000"/>
                </a:solidFill>
                <a:latin typeface="Avenir Next Medium"/>
              </a:rPr>
              <a:t>With the answer visible a match is guaranteed, so it would carry no information</a:t>
            </a:r>
          </a:p>
        </p:txBody>
      </p:sp>
      <p:sp>
        <p:nvSpPr>
          <p:cNvPr id="10" name="Rectangle 9"/>
          <p:cNvSpPr/>
          <p:nvPr/>
        </p:nvSpPr>
        <p:spPr>
          <a:xfrm>
            <a:off x="719328" y="10091684"/>
            <a:ext cx="121920" cy="802112"/>
          </a:xfrm>
          <a:prstGeom prst="rect">
            <a:avLst/>
          </a:prstGeom>
          <a:solidFill>
            <a:srgbClr val="E2214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11" name="TextBox 10"/>
          <p:cNvSpPr txBox="1"/>
          <p:nvPr/>
        </p:nvSpPr>
        <p:spPr>
          <a:xfrm>
            <a:off x="1255776" y="9902952"/>
            <a:ext cx="22213824" cy="1179576"/>
          </a:xfrm>
          <a:prstGeom prst="rect">
            <a:avLst/>
          </a:prstGeom>
          <a:noFill/>
        </p:spPr>
        <p:txBody>
          <a:bodyPr wrap="square" anchor="ctr" lIns="0" rIns="0" tIns="0" bIns="0">
            <a:spAutoFit/>
          </a:bodyPr>
          <a:lstStyle/>
          <a:p>
            <a:pPr algn="l"/>
            <a:r>
              <a:rPr sz="3600" b="1" i="0">
                <a:solidFill>
                  <a:srgbClr val="E22146"/>
                </a:solidFill>
                <a:latin typeface="AvenirNext-DemiBold"/>
              </a:rPr>
              <a:t>Our height is 185 mm against the 20 cm the papers print, which pushes our level down</a:t>
            </a:r>
          </a:p>
        </p:txBody>
      </p:sp>
      <p:sp>
        <p:nvSpPr>
          <p:cNvPr id="12" name="Rectangle 11"/>
          <p:cNvSpPr/>
          <p:nvPr/>
        </p:nvSpPr>
        <p:spPr>
          <a:xfrm>
            <a:off x="760781" y="11384280"/>
            <a:ext cx="22945344" cy="987552"/>
          </a:xfrm>
          <a:prstGeom prst="rect">
            <a:avLst/>
          </a:prstGeom>
          <a:solidFill>
            <a:srgbClr val="FFF3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13" name="Rectangle 12"/>
          <p:cNvSpPr/>
          <p:nvPr/>
        </p:nvSpPr>
        <p:spPr>
          <a:xfrm>
            <a:off x="760781" y="11384280"/>
            <a:ext cx="102413" cy="987552"/>
          </a:xfrm>
          <a:prstGeom prst="rect">
            <a:avLst/>
          </a:prstGeom>
          <a:solidFill>
            <a:srgbClr val="FFBD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14" name="TextBox 13"/>
          <p:cNvSpPr txBox="1"/>
          <p:nvPr/>
        </p:nvSpPr>
        <p:spPr>
          <a:xfrm>
            <a:off x="1199693" y="11384280"/>
            <a:ext cx="22067520" cy="987552"/>
          </a:xfrm>
          <a:prstGeom prst="rect">
            <a:avLst/>
          </a:prstGeom>
          <a:noFill/>
        </p:spPr>
        <p:txBody>
          <a:bodyPr wrap="square" anchor="ctr" lIns="0" rIns="0" tIns="0" bIns="0">
            <a:spAutoFit/>
          </a:bodyPr>
          <a:lstStyle/>
          <a:p>
            <a:pPr algn="l"/>
            <a:r>
              <a:rPr sz="3400" b="1" i="0">
                <a:solidFill>
                  <a:srgbClr val="000000"/>
                </a:solidFill>
                <a:latin typeface="AvenirNext-DemiBold"/>
              </a:rPr>
              <a:t>Fix every choice first, then unseal, and a mismatch is a result as well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9328" y="449885"/>
            <a:ext cx="20999501" cy="599389"/>
          </a:xfrm>
          <a:prstGeom prst="rect">
            <a:avLst/>
          </a:prstGeom>
          <a:noFill/>
        </p:spPr>
        <p:txBody>
          <a:bodyPr wrap="square" anchor="t" lIns="0" rIns="0" tIns="0" bIns="0">
            <a:spAutoFit/>
          </a:bodyPr>
          <a:lstStyle/>
          <a:p>
            <a:pPr algn="l"/>
            <a:r>
              <a:rPr sz="2900" b="1" i="0">
                <a:solidFill>
                  <a:srgbClr val="2E74B5"/>
                </a:solidFill>
                <a:latin typeface="AvenirNext-DemiBold"/>
              </a:rPr>
              <a:t>OUR TEST  ·  DEGREES OF FREEDOM AND THE SEAL</a:t>
            </a:r>
          </a:p>
        </p:txBody>
      </p:sp>
      <p:sp>
        <p:nvSpPr>
          <p:cNvPr id="3" name="TextBox 2"/>
          <p:cNvSpPr txBox="1"/>
          <p:nvPr/>
        </p:nvSpPr>
        <p:spPr>
          <a:xfrm>
            <a:off x="699821" y="1039673"/>
            <a:ext cx="22979482" cy="1594104"/>
          </a:xfrm>
          <a:prstGeom prst="rect">
            <a:avLst/>
          </a:prstGeom>
          <a:noFill/>
        </p:spPr>
        <p:txBody>
          <a:bodyPr wrap="square" anchor="t" lIns="0" rIns="0" tIns="0" bIns="0">
            <a:spAutoFit/>
          </a:bodyPr>
          <a:lstStyle/>
          <a:p>
            <a:pPr algn="l"/>
            <a:r>
              <a:rPr sz="4600" b="1" i="0">
                <a:solidFill>
                  <a:srgbClr val="000000"/>
                </a:solidFill>
                <a:latin typeface="AvenirNext-DemiBold"/>
              </a:rPr>
              <a:t>The seal did not hold - the search I logged prints all four sealed numbers</a:t>
            </a:r>
          </a:p>
        </p:txBody>
      </p:sp>
      <p:pic>
        <p:nvPicPr>
          <p:cNvPr id="4" name="Picture 3" descr="dof_gauge.png"/>
          <p:cNvPicPr>
            <a:picLocks noChangeAspect="1"/>
          </p:cNvPicPr>
          <p:nvPr/>
        </p:nvPicPr>
        <p:blipFill>
          <a:blip r:embed="rId2"/>
          <a:stretch>
            <a:fillRect/>
          </a:stretch>
        </p:blipFill>
        <p:spPr>
          <a:xfrm>
            <a:off x="7765754" y="2716072"/>
            <a:ext cx="8852490" cy="3203143"/>
          </a:xfrm>
          <a:prstGeom prst="rect">
            <a:avLst/>
          </a:prstGeom>
        </p:spPr>
      </p:pic>
      <p:sp>
        <p:nvSpPr>
          <p:cNvPr id="5" name="TextBox 4"/>
          <p:cNvSpPr txBox="1"/>
          <p:nvPr/>
        </p:nvSpPr>
        <p:spPr>
          <a:xfrm>
            <a:off x="7765754" y="6083807"/>
            <a:ext cx="9753600" cy="1463040"/>
          </a:xfrm>
          <a:prstGeom prst="rect">
            <a:avLst/>
          </a:prstGeom>
          <a:noFill/>
        </p:spPr>
        <p:txBody>
          <a:bodyPr wrap="square" anchor="t" lIns="0" rIns="0" tIns="0" bIns="0">
            <a:spAutoFit/>
          </a:bodyPr>
          <a:lstStyle/>
          <a:p>
            <a:pPr algn="ctr"/>
            <a:r>
              <a:rPr sz="2900" b="1" i="0">
                <a:solidFill>
                  <a:srgbClr val="5E5E5E"/>
                </a:solidFill>
                <a:latin typeface="AvenirNext-DemiBold"/>
              </a:rPr>
              <a:t>Only the four published sigma coefficients were ever sealed - photographs and specifications were always allowed</a:t>
            </a:r>
          </a:p>
        </p:txBody>
      </p:sp>
      <p:sp>
        <p:nvSpPr>
          <p:cNvPr id="6" name="Rectangle 5"/>
          <p:cNvSpPr/>
          <p:nvPr/>
        </p:nvSpPr>
        <p:spPr>
          <a:xfrm>
            <a:off x="719328" y="7348484"/>
            <a:ext cx="121920" cy="802112"/>
          </a:xfrm>
          <a:prstGeom prst="rect">
            <a:avLst/>
          </a:prstGeom>
          <a:solidFill>
            <a:srgbClr val="E2214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7" name="TextBox 6"/>
          <p:cNvSpPr txBox="1"/>
          <p:nvPr/>
        </p:nvSpPr>
        <p:spPr>
          <a:xfrm>
            <a:off x="1255776" y="7159752"/>
            <a:ext cx="22213824" cy="1179576"/>
          </a:xfrm>
          <a:prstGeom prst="rect">
            <a:avLst/>
          </a:prstGeom>
          <a:noFill/>
        </p:spPr>
        <p:txBody>
          <a:bodyPr wrap="square" anchor="ctr" lIns="0" rIns="0" tIns="0" bIns="0">
            <a:spAutoFit/>
          </a:bodyPr>
          <a:lstStyle/>
          <a:p>
            <a:pPr algn="l"/>
            <a:r>
              <a:rPr sz="3600" b="1" i="0">
                <a:solidFill>
                  <a:srgbClr val="E22146"/>
                </a:solidFill>
                <a:latin typeface="AvenirNext-DemiBold"/>
              </a:rPr>
              <a:t>One knob is worth one to four dB on its own, and the residual we explain is 4.85 dB</a:t>
            </a:r>
          </a:p>
        </p:txBody>
      </p:sp>
      <p:sp>
        <p:nvSpPr>
          <p:cNvPr id="8" name="Rectangle 7"/>
          <p:cNvSpPr/>
          <p:nvPr/>
        </p:nvSpPr>
        <p:spPr>
          <a:xfrm>
            <a:off x="719328" y="8757392"/>
            <a:ext cx="121920" cy="727497"/>
          </a:xfrm>
          <a:prstGeom prst="rect">
            <a:avLst/>
          </a:prstGeom>
          <a:solidFill>
            <a:srgbClr val="2644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9" name="TextBox 8"/>
          <p:cNvSpPr txBox="1"/>
          <p:nvPr/>
        </p:nvSpPr>
        <p:spPr>
          <a:xfrm>
            <a:off x="1255776" y="8586216"/>
            <a:ext cx="22213824" cy="1069848"/>
          </a:xfrm>
          <a:prstGeom prst="rect">
            <a:avLst/>
          </a:prstGeom>
          <a:noFill/>
        </p:spPr>
        <p:txBody>
          <a:bodyPr wrap="square" anchor="ctr" lIns="0" rIns="0" tIns="0" bIns="0">
            <a:spAutoFit/>
          </a:bodyPr>
          <a:lstStyle/>
          <a:p>
            <a:pPr algn="l"/>
            <a:r>
              <a:rPr sz="3300" b="0" i="0">
                <a:solidFill>
                  <a:srgbClr val="000000"/>
                </a:solidFill>
                <a:latin typeface="Avenir Next Medium"/>
              </a:rPr>
              <a:t>I cannot prove the four numbers were unseen, so blind intact is false</a:t>
            </a:r>
          </a:p>
        </p:txBody>
      </p:sp>
      <p:sp>
        <p:nvSpPr>
          <p:cNvPr id="10" name="Rectangle 9"/>
          <p:cNvSpPr/>
          <p:nvPr/>
        </p:nvSpPr>
        <p:spPr>
          <a:xfrm>
            <a:off x="719328" y="10091684"/>
            <a:ext cx="121920" cy="802112"/>
          </a:xfrm>
          <a:prstGeom prst="rect">
            <a:avLst/>
          </a:prstGeom>
          <a:solidFill>
            <a:srgbClr val="E2214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11" name="TextBox 10"/>
          <p:cNvSpPr txBox="1"/>
          <p:nvPr/>
        </p:nvSpPr>
        <p:spPr>
          <a:xfrm>
            <a:off x="1255776" y="9902952"/>
            <a:ext cx="22213824" cy="1179576"/>
          </a:xfrm>
          <a:prstGeom prst="rect">
            <a:avLst/>
          </a:prstGeom>
          <a:noFill/>
        </p:spPr>
        <p:txBody>
          <a:bodyPr wrap="square" anchor="ctr" lIns="0" rIns="0" tIns="0" bIns="0">
            <a:spAutoFit/>
          </a:bodyPr>
          <a:lstStyle/>
          <a:p>
            <a:pPr algn="l"/>
            <a:r>
              <a:rPr sz="3600" b="1" i="0">
                <a:solidFill>
                  <a:srgbClr val="E22146"/>
                </a:solidFill>
                <a:latin typeface="AvenirNext-DemiBold"/>
              </a:rPr>
              <a:t>Two things say they were not used - the direction test, and the controls</a:t>
            </a:r>
          </a:p>
        </p:txBody>
      </p:sp>
      <p:sp>
        <p:nvSpPr>
          <p:cNvPr id="12" name="Rectangle 11"/>
          <p:cNvSpPr/>
          <p:nvPr/>
        </p:nvSpPr>
        <p:spPr>
          <a:xfrm>
            <a:off x="760781" y="11384280"/>
            <a:ext cx="22945344" cy="987552"/>
          </a:xfrm>
          <a:prstGeom prst="rect">
            <a:avLst/>
          </a:prstGeom>
          <a:solidFill>
            <a:srgbClr val="FFF3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13" name="Rectangle 12"/>
          <p:cNvSpPr/>
          <p:nvPr/>
        </p:nvSpPr>
        <p:spPr>
          <a:xfrm>
            <a:off x="760781" y="11384280"/>
            <a:ext cx="102413" cy="987552"/>
          </a:xfrm>
          <a:prstGeom prst="rect">
            <a:avLst/>
          </a:prstGeom>
          <a:solidFill>
            <a:srgbClr val="FFBD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14" name="TextBox 13"/>
          <p:cNvSpPr txBox="1"/>
          <p:nvPr/>
        </p:nvSpPr>
        <p:spPr>
          <a:xfrm>
            <a:off x="1199693" y="11384280"/>
            <a:ext cx="22067520" cy="987552"/>
          </a:xfrm>
          <a:prstGeom prst="rect">
            <a:avLst/>
          </a:prstGeom>
          <a:noFill/>
        </p:spPr>
        <p:txBody>
          <a:bodyPr wrap="square" anchor="ctr" lIns="0" rIns="0" tIns="0" bIns="0">
            <a:spAutoFit/>
          </a:bodyPr>
          <a:lstStyle/>
          <a:p>
            <a:pPr algn="l"/>
            <a:r>
              <a:rPr sz="3400" b="1" i="0">
                <a:solidFill>
                  <a:srgbClr val="000000"/>
                </a:solidFill>
                <a:latin typeface="AvenirNext-DemiBold"/>
              </a:rPr>
              <a:t>A cube does not care what the modeller saw, which is why the control comparison still stands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9328" y="449885"/>
            <a:ext cx="20999501" cy="599389"/>
          </a:xfrm>
          <a:prstGeom prst="rect">
            <a:avLst/>
          </a:prstGeom>
          <a:noFill/>
        </p:spPr>
        <p:txBody>
          <a:bodyPr wrap="square" anchor="t" lIns="0" rIns="0" tIns="0" bIns="0">
            <a:spAutoFit/>
          </a:bodyPr>
          <a:lstStyle/>
          <a:p>
            <a:pPr algn="l"/>
            <a:r>
              <a:rPr sz="2900" b="1" i="0">
                <a:solidFill>
                  <a:srgbClr val="2E74B5"/>
                </a:solidFill>
                <a:latin typeface="AvenirNext-DemiBold"/>
              </a:rPr>
              <a:t>OUR TEST  ·  DECISION RULE, PREREGISTERED</a:t>
            </a:r>
          </a:p>
        </p:txBody>
      </p:sp>
      <p:sp>
        <p:nvSpPr>
          <p:cNvPr id="3" name="TextBox 2"/>
          <p:cNvSpPr txBox="1"/>
          <p:nvPr/>
        </p:nvSpPr>
        <p:spPr>
          <a:xfrm>
            <a:off x="699821" y="1039673"/>
            <a:ext cx="22979482" cy="1075944"/>
          </a:xfrm>
          <a:prstGeom prst="rect">
            <a:avLst/>
          </a:prstGeom>
          <a:noFill/>
        </p:spPr>
        <p:txBody>
          <a:bodyPr wrap="square" anchor="t" lIns="0" rIns="0" tIns="0" bIns="0">
            <a:spAutoFit/>
          </a:bodyPr>
          <a:lstStyle/>
          <a:p>
            <a:pPr algn="l"/>
            <a:r>
              <a:rPr sz="5800" b="1" i="0">
                <a:solidFill>
                  <a:srgbClr val="000000"/>
                </a:solidFill>
                <a:latin typeface="AvenirNext-DemiBold"/>
              </a:rPr>
              <a:t>The rule was fixed before the answer was revealed</a:t>
            </a:r>
          </a:p>
        </p:txBody>
      </p:sp>
      <p:sp>
        <p:nvSpPr>
          <p:cNvPr id="4" name="TextBox 3"/>
          <p:cNvSpPr txBox="1"/>
          <p:nvPr/>
        </p:nvSpPr>
        <p:spPr>
          <a:xfrm>
            <a:off x="719328" y="2221992"/>
            <a:ext cx="22945344" cy="658368"/>
          </a:xfrm>
          <a:prstGeom prst="rect">
            <a:avLst/>
          </a:prstGeom>
          <a:noFill/>
        </p:spPr>
        <p:txBody>
          <a:bodyPr wrap="square" anchor="t" lIns="0" rIns="0" tIns="0" bIns="0">
            <a:spAutoFit/>
          </a:bodyPr>
          <a:lstStyle/>
          <a:p>
            <a:pPr algn="l"/>
            <a:r>
              <a:rPr sz="3000" b="0" i="0">
                <a:solidFill>
                  <a:srgbClr val="5E5E5E"/>
                </a:solidFill>
                <a:latin typeface="Avenir Next Medium"/>
              </a:rPr>
              <a:t>Same kernel for every arm - SBR with a physical optics integral, one bounce, no edge term</a:t>
            </a:r>
          </a:p>
        </p:txBody>
      </p:sp>
      <p:graphicFrame>
        <p:nvGraphicFramePr>
          <p:cNvPr id="5" name="Table 4"/>
          <p:cNvGraphicFramePr>
            <a:graphicFrameLocks noGrp="1"/>
          </p:cNvGraphicFramePr>
          <p:nvPr/>
        </p:nvGraphicFramePr>
        <p:xfrm>
          <a:off x="719328" y="3996842"/>
          <a:ext cx="22945343" cy="5760720"/>
        </p:xfrm>
        <a:graphic>
          <a:graphicData uri="http://schemas.openxmlformats.org/drawingml/2006/table">
            <a:tbl>
              <a:tblPr firstRow="1" bandRow="1">
                <a:tableStyleId>{5C22544A-7EE6-4342-B048-85BDC9FD1C3A}</a:tableStyleId>
              </a:tblPr>
              <a:tblGrid>
                <a:gridCol w="9637044"/>
                <a:gridCol w="13308299"/>
              </a:tblGrid>
              <a:tr h="960120">
                <a:tc>
                  <a:txBody>
                    <a:bodyPr wrap="square"/>
                    <a:lstStyle/>
                    <a:p>
                      <a:pPr algn="ctr"/>
                      <a:r>
                        <a:rPr sz="2900" b="1" i="0">
                          <a:solidFill>
                            <a:srgbClr val="FFFFFF"/>
                          </a:solidFill>
                          <a:latin typeface="AvenirNext-DemiBold"/>
                        </a:rPr>
                        <a:t>Quantity or verdict</a:t>
                      </a:r>
                    </a:p>
                  </a:txBody>
                  <a:tcPr anchor="ctr" marL="70000" marR="70000">
                    <a:solidFill>
                      <a:srgbClr val="26448A"/>
                    </a:solidFill>
                  </a:tcPr>
                </a:tc>
                <a:tc>
                  <a:txBody>
                    <a:bodyPr wrap="square"/>
                    <a:lstStyle/>
                    <a:p>
                      <a:pPr algn="ctr"/>
                      <a:r>
                        <a:rPr sz="2900" b="1" i="0">
                          <a:solidFill>
                            <a:srgbClr val="FFFFFF"/>
                          </a:solidFill>
                          <a:latin typeface="AvenirNext-DemiBold"/>
                        </a:rPr>
                        <a:t>Rule fixed in advance</a:t>
                      </a:r>
                    </a:p>
                  </a:txBody>
                  <a:tcPr anchor="ctr" marL="70000" marR="70000">
                    <a:solidFill>
                      <a:srgbClr val="26448A"/>
                    </a:solidFill>
                  </a:tcPr>
                </a:tc>
              </a:tr>
              <a:tr h="960120">
                <a:tc>
                  <a:txBody>
                    <a:bodyPr wrap="square"/>
                    <a:lstStyle/>
                    <a:p>
                      <a:pPr algn="l"/>
                      <a:r>
                        <a:rPr sz="2700" b="1" i="0">
                          <a:solidFill>
                            <a:srgbClr val="000000"/>
                          </a:solidFill>
                          <a:latin typeface="AvenirNext-DemiBold"/>
                        </a:rPr>
                        <a:t>Level, in dB</a:t>
                      </a:r>
                    </a:p>
                  </a:txBody>
                  <a:tcPr anchor="ctr" marL="70000" marR="70000">
                    <a:solidFill>
                      <a:srgbClr val="FFFFFF"/>
                    </a:solidFill>
                  </a:tcPr>
                </a:tc>
                <a:tc>
                  <a:txBody>
                    <a:bodyPr wrap="square"/>
                    <a:lstStyle/>
                    <a:p>
                      <a:pPr algn="ctr"/>
                      <a:r>
                        <a:rPr sz="2700" b="0" i="0">
                          <a:solidFill>
                            <a:srgbClr val="000000"/>
                          </a:solidFill>
                          <a:latin typeface="Avenir Next Medium"/>
                        </a:rPr>
                        <a:t>Beat the best control by more than 2.51 dB</a:t>
                      </a:r>
                    </a:p>
                  </a:txBody>
                  <a:tcPr anchor="ctr" marL="70000" marR="70000">
                    <a:solidFill>
                      <a:srgbClr val="FFFFFF"/>
                    </a:solidFill>
                  </a:tcPr>
                </a:tc>
              </a:tr>
              <a:tr h="960120">
                <a:tc>
                  <a:txBody>
                    <a:bodyPr wrap="square"/>
                    <a:lstStyle/>
                    <a:p>
                      <a:pPr algn="l"/>
                      <a:r>
                        <a:rPr sz="2700" b="1" i="0">
                          <a:solidFill>
                            <a:srgbClr val="000000"/>
                          </a:solidFill>
                          <a:latin typeface="AvenirNext-DemiBold"/>
                        </a:rPr>
                        <a:t>Slope, in dB per GHz</a:t>
                      </a:r>
                    </a:p>
                  </a:txBody>
                  <a:tcPr anchor="ctr" marL="70000" marR="70000">
                    <a:solidFill>
                      <a:srgbClr val="F2F2F2"/>
                    </a:solidFill>
                  </a:tcPr>
                </a:tc>
                <a:tc>
                  <a:txBody>
                    <a:bodyPr wrap="square"/>
                    <a:lstStyle/>
                    <a:p>
                      <a:pPr algn="ctr"/>
                      <a:r>
                        <a:rPr sz="2700" b="0" i="0">
                          <a:solidFill>
                            <a:srgbClr val="000000"/>
                          </a:solidFill>
                          <a:latin typeface="Avenir Next Medium"/>
                        </a:rPr>
                        <a:t>Be twice as close to the measurement as the best control</a:t>
                      </a:r>
                    </a:p>
                  </a:txBody>
                  <a:tcPr anchor="ctr" marL="70000" marR="70000">
                    <a:solidFill>
                      <a:srgbClr val="F2F2F2"/>
                    </a:solidFill>
                  </a:tcPr>
                </a:tc>
              </a:tr>
              <a:tr h="960120">
                <a:tc>
                  <a:txBody>
                    <a:bodyPr wrap="square"/>
                    <a:lstStyle/>
                    <a:p>
                      <a:pPr algn="l"/>
                      <a:r>
                        <a:rPr sz="2700" b="1" i="0">
                          <a:solidFill>
                            <a:srgbClr val="000000"/>
                          </a:solidFill>
                          <a:latin typeface="AvenirNext-DemiBold"/>
                        </a:rPr>
                        <a:t>MEANINGFUL</a:t>
                      </a:r>
                    </a:p>
                  </a:txBody>
                  <a:tcPr anchor="ctr" marL="70000" marR="70000">
                    <a:solidFill>
                      <a:srgbClr val="FFFFFF"/>
                    </a:solidFill>
                  </a:tcPr>
                </a:tc>
                <a:tc>
                  <a:txBody>
                    <a:bodyPr wrap="square"/>
                    <a:lstStyle/>
                    <a:p>
                      <a:pPr algn="ctr"/>
                      <a:r>
                        <a:rPr sz="2700" b="0" i="0">
                          <a:solidFill>
                            <a:srgbClr val="000000"/>
                          </a:solidFill>
                          <a:latin typeface="Avenir Next Medium"/>
                        </a:rPr>
                        <a:t>One of the two clears its threshold</a:t>
                      </a:r>
                    </a:p>
                  </a:txBody>
                  <a:tcPr anchor="ctr" marL="70000" marR="70000">
                    <a:solidFill>
                      <a:srgbClr val="FFFFFF"/>
                    </a:solidFill>
                  </a:tcPr>
                </a:tc>
              </a:tr>
              <a:tr h="960120">
                <a:tc>
                  <a:txBody>
                    <a:bodyPr wrap="square"/>
                    <a:lstStyle/>
                    <a:p>
                      <a:pPr algn="l"/>
                      <a:r>
                        <a:rPr sz="2700" b="1" i="0">
                          <a:solidFill>
                            <a:srgbClr val="000000"/>
                          </a:solidFill>
                          <a:latin typeface="AvenirNext-DemiBold"/>
                        </a:rPr>
                        <a:t>WEAK</a:t>
                      </a:r>
                    </a:p>
                  </a:txBody>
                  <a:tcPr anchor="ctr" marL="70000" marR="70000">
                    <a:solidFill>
                      <a:srgbClr val="F2F2F2"/>
                    </a:solidFill>
                  </a:tcPr>
                </a:tc>
                <a:tc>
                  <a:txBody>
                    <a:bodyPr wrap="square"/>
                    <a:lstStyle/>
                    <a:p>
                      <a:pPr algn="ctr"/>
                      <a:r>
                        <a:rPr sz="2700" b="0" i="0">
                          <a:solidFill>
                            <a:srgbClr val="000000"/>
                          </a:solidFill>
                          <a:latin typeface="Avenir Next Medium"/>
                        </a:rPr>
                        <a:t>We win but under threshold - the claim shrinks</a:t>
                      </a:r>
                    </a:p>
                  </a:txBody>
                  <a:tcPr anchor="ctr" marL="70000" marR="70000">
                    <a:solidFill>
                      <a:srgbClr val="F2F2F2"/>
                    </a:solidFill>
                  </a:tcPr>
                </a:tc>
              </a:tr>
              <a:tr h="960120">
                <a:tc>
                  <a:txBody>
                    <a:bodyPr wrap="square"/>
                    <a:lstStyle/>
                    <a:p>
                      <a:pPr algn="l"/>
                      <a:r>
                        <a:rPr sz="2700" b="1" i="0">
                          <a:solidFill>
                            <a:srgbClr val="000000"/>
                          </a:solidFill>
                          <a:latin typeface="AvenirNext-DemiBold"/>
                        </a:rPr>
                        <a:t>INVALID</a:t>
                      </a:r>
                    </a:p>
                  </a:txBody>
                  <a:tcPr anchor="ctr" marL="70000" marR="70000">
                    <a:solidFill>
                      <a:srgbClr val="FFFFFF"/>
                    </a:solidFill>
                  </a:tcPr>
                </a:tc>
                <a:tc>
                  <a:txBody>
                    <a:bodyPr wrap="square"/>
                    <a:lstStyle/>
                    <a:p>
                      <a:pPr algn="ctr"/>
                      <a:r>
                        <a:rPr sz="2700" b="0" i="0">
                          <a:solidFill>
                            <a:srgbClr val="000000"/>
                          </a:solidFill>
                          <a:latin typeface="Avenir Next Medium"/>
                        </a:rPr>
                        <a:t>Any blinding breach, or an arm run under other conditions</a:t>
                      </a:r>
                    </a:p>
                  </a:txBody>
                  <a:tcPr anchor="ctr" marL="70000" marR="70000">
                    <a:solidFill>
                      <a:srgbClr val="FFFFFF"/>
                    </a:solidFill>
                  </a:tcPr>
                </a:tc>
              </a:tr>
            </a:tbl>
          </a:graphicData>
        </a:graphic>
      </p:graphicFrame>
      <p:sp>
        <p:nvSpPr>
          <p:cNvPr id="6" name="TextBox 5"/>
          <p:cNvSpPr txBox="1"/>
          <p:nvPr/>
        </p:nvSpPr>
        <p:spPr>
          <a:xfrm>
            <a:off x="719328" y="11149736"/>
            <a:ext cx="22945344" cy="850392"/>
          </a:xfrm>
          <a:prstGeom prst="rect">
            <a:avLst/>
          </a:prstGeom>
          <a:noFill/>
        </p:spPr>
        <p:txBody>
          <a:bodyPr wrap="square" anchor="t" lIns="0" rIns="0" tIns="0" bIns="0">
            <a:spAutoFit/>
          </a:bodyPr>
          <a:lstStyle/>
          <a:p>
            <a:pPr algn="ctr"/>
            <a:r>
              <a:rPr sz="4000" b="1" i="0">
                <a:solidFill>
                  <a:srgbClr val="26448A"/>
                </a:solidFill>
                <a:latin typeface="AvenirNext-DemiBold"/>
              </a:rPr>
              <a:t>2.51 dB is what the averaging convention alone can produce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9328" y="449885"/>
            <a:ext cx="20999501" cy="599389"/>
          </a:xfrm>
          <a:prstGeom prst="rect">
            <a:avLst/>
          </a:prstGeom>
          <a:noFill/>
        </p:spPr>
        <p:txBody>
          <a:bodyPr wrap="square" anchor="t" lIns="0" rIns="0" tIns="0" bIns="0">
            <a:spAutoFit/>
          </a:bodyPr>
          <a:lstStyle/>
          <a:p>
            <a:pPr algn="l"/>
            <a:r>
              <a:rPr sz="2900" b="1" i="0">
                <a:solidFill>
                  <a:srgbClr val="2E74B5"/>
                </a:solidFill>
                <a:latin typeface="AvenirNext-DemiBold"/>
              </a:rPr>
              <a:t>RESULT  ·  THE SEAL IS OFF</a:t>
            </a:r>
          </a:p>
        </p:txBody>
      </p:sp>
      <p:sp>
        <p:nvSpPr>
          <p:cNvPr id="3" name="TextBox 2"/>
          <p:cNvSpPr txBox="1"/>
          <p:nvPr/>
        </p:nvSpPr>
        <p:spPr>
          <a:xfrm>
            <a:off x="699821" y="1039673"/>
            <a:ext cx="22979482" cy="893064"/>
          </a:xfrm>
          <a:prstGeom prst="rect">
            <a:avLst/>
          </a:prstGeom>
          <a:noFill/>
        </p:spPr>
        <p:txBody>
          <a:bodyPr wrap="square" anchor="t" lIns="0" rIns="0" tIns="0" bIns="0">
            <a:spAutoFit/>
          </a:bodyPr>
          <a:lstStyle/>
          <a:p>
            <a:pPr algn="l"/>
            <a:r>
              <a:rPr sz="4600" b="1" i="0">
                <a:solidFill>
                  <a:srgbClr val="000000"/>
                </a:solidFill>
                <a:latin typeface="AvenirNext-DemiBold"/>
              </a:rPr>
              <a:t>The level is where we lose, and the slope is not distinguishable</a:t>
            </a:r>
          </a:p>
        </p:txBody>
      </p:sp>
      <p:pic>
        <p:nvPicPr>
          <p:cNvPr id="4" name="Picture 3" descr="p3_curves.png"/>
          <p:cNvPicPr>
            <a:picLocks noChangeAspect="1"/>
          </p:cNvPicPr>
          <p:nvPr/>
        </p:nvPicPr>
        <p:blipFill>
          <a:blip r:embed="rId2"/>
          <a:stretch>
            <a:fillRect/>
          </a:stretch>
        </p:blipFill>
        <p:spPr>
          <a:xfrm>
            <a:off x="7504462" y="2221992"/>
            <a:ext cx="9375074" cy="4139184"/>
          </a:xfrm>
          <a:prstGeom prst="rect">
            <a:avLst/>
          </a:prstGeom>
        </p:spPr>
      </p:pic>
      <p:sp>
        <p:nvSpPr>
          <p:cNvPr id="5" name="TextBox 4"/>
          <p:cNvSpPr txBox="1"/>
          <p:nvPr/>
        </p:nvSpPr>
        <p:spPr>
          <a:xfrm>
            <a:off x="7504462" y="6525768"/>
            <a:ext cx="9753600" cy="1021080"/>
          </a:xfrm>
          <a:prstGeom prst="rect">
            <a:avLst/>
          </a:prstGeom>
          <a:noFill/>
        </p:spPr>
        <p:txBody>
          <a:bodyPr wrap="square" anchor="t" lIns="0" rIns="0" tIns="0" bIns="0">
            <a:spAutoFit/>
          </a:bodyPr>
          <a:lstStyle/>
          <a:p>
            <a:pPr algn="ctr"/>
            <a:r>
              <a:rPr sz="2900" b="1" i="0">
                <a:solidFill>
                  <a:srgbClr val="5E5E5E"/>
                </a:solidFill>
                <a:latin typeface="AvenirNext-DemiBold"/>
              </a:rPr>
              <a:t>Elevation and estimator matched, averaging domain matched under our own reconstruction</a:t>
            </a:r>
          </a:p>
        </p:txBody>
      </p:sp>
      <p:sp>
        <p:nvSpPr>
          <p:cNvPr id="6" name="Rectangle 5"/>
          <p:cNvSpPr/>
          <p:nvPr/>
        </p:nvSpPr>
        <p:spPr>
          <a:xfrm>
            <a:off x="719328" y="7348484"/>
            <a:ext cx="121920" cy="802112"/>
          </a:xfrm>
          <a:prstGeom prst="rect">
            <a:avLst/>
          </a:prstGeom>
          <a:solidFill>
            <a:srgbClr val="E2214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7" name="TextBox 6"/>
          <p:cNvSpPr txBox="1"/>
          <p:nvPr/>
        </p:nvSpPr>
        <p:spPr>
          <a:xfrm>
            <a:off x="1255776" y="7159752"/>
            <a:ext cx="22213824" cy="1179576"/>
          </a:xfrm>
          <a:prstGeom prst="rect">
            <a:avLst/>
          </a:prstGeom>
          <a:noFill/>
        </p:spPr>
        <p:txBody>
          <a:bodyPr wrap="square" anchor="ctr" lIns="0" rIns="0" tIns="0" bIns="0">
            <a:spAutoFit/>
          </a:bodyPr>
          <a:lstStyle/>
          <a:p>
            <a:pPr algn="l"/>
            <a:r>
              <a:rPr sz="3600" b="1" i="0">
                <a:solidFill>
                  <a:srgbClr val="E22146"/>
                </a:solidFill>
                <a:latin typeface="AvenirNext-DemiBold"/>
              </a:rPr>
              <a:t>4.9 dB under band averaged, and 8.0 dB under at 1.8 GHz</a:t>
            </a:r>
          </a:p>
        </p:txBody>
      </p:sp>
      <p:sp>
        <p:nvSpPr>
          <p:cNvPr id="8" name="Rectangle 7"/>
          <p:cNvSpPr/>
          <p:nvPr/>
        </p:nvSpPr>
        <p:spPr>
          <a:xfrm>
            <a:off x="719328" y="8757392"/>
            <a:ext cx="121920" cy="727497"/>
          </a:xfrm>
          <a:prstGeom prst="rect">
            <a:avLst/>
          </a:prstGeom>
          <a:solidFill>
            <a:srgbClr val="2644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9" name="TextBox 8"/>
          <p:cNvSpPr txBox="1"/>
          <p:nvPr/>
        </p:nvSpPr>
        <p:spPr>
          <a:xfrm>
            <a:off x="1255776" y="8586216"/>
            <a:ext cx="22213824" cy="1069848"/>
          </a:xfrm>
          <a:prstGeom prst="rect">
            <a:avLst/>
          </a:prstGeom>
          <a:noFill/>
        </p:spPr>
        <p:txBody>
          <a:bodyPr wrap="square" anchor="ctr" lIns="0" rIns="0" tIns="0" bIns="0">
            <a:spAutoFit/>
          </a:bodyPr>
          <a:lstStyle/>
          <a:p>
            <a:pPr algn="l"/>
            <a:r>
              <a:rPr sz="3300" b="0" i="0">
                <a:solidFill>
                  <a:srgbClr val="000000"/>
                </a:solidFill>
                <a:latin typeface="Avenir Next Medium"/>
              </a:rPr>
              <a:t>Slope 0.420 plus or minus 0.066 against a measured 0.315, which is 1.6 sigma</a:t>
            </a:r>
          </a:p>
        </p:txBody>
      </p:sp>
      <p:sp>
        <p:nvSpPr>
          <p:cNvPr id="10" name="Rectangle 9"/>
          <p:cNvSpPr/>
          <p:nvPr/>
        </p:nvSpPr>
        <p:spPr>
          <a:xfrm>
            <a:off x="719328" y="10091684"/>
            <a:ext cx="121920" cy="802112"/>
          </a:xfrm>
          <a:prstGeom prst="rect">
            <a:avLst/>
          </a:prstGeom>
          <a:solidFill>
            <a:srgbClr val="E2214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11" name="TextBox 10"/>
          <p:cNvSpPr txBox="1"/>
          <p:nvPr/>
        </p:nvSpPr>
        <p:spPr>
          <a:xfrm>
            <a:off x="1255776" y="9902952"/>
            <a:ext cx="22213824" cy="1179576"/>
          </a:xfrm>
          <a:prstGeom prst="rect">
            <a:avLst/>
          </a:prstGeom>
          <a:noFill/>
        </p:spPr>
        <p:txBody>
          <a:bodyPr wrap="square" anchor="ctr" lIns="0" rIns="0" tIns="0" bIns="0">
            <a:spAutoFit/>
          </a:bodyPr>
          <a:lstStyle/>
          <a:p>
            <a:pPr algn="l"/>
            <a:r>
              <a:rPr sz="3600" b="1" i="0">
                <a:solidFill>
                  <a:srgbClr val="E22146"/>
                </a:solidFill>
                <a:latin typeface="AvenirNext-DemiBold"/>
              </a:rPr>
              <a:t>Inside 1.8 to 6 GHz we rise 1.56 against a measured 0.41 - our own band fits worst</a:t>
            </a:r>
          </a:p>
        </p:txBody>
      </p:sp>
      <p:sp>
        <p:nvSpPr>
          <p:cNvPr id="12" name="Rectangle 11"/>
          <p:cNvSpPr/>
          <p:nvPr/>
        </p:nvSpPr>
        <p:spPr>
          <a:xfrm>
            <a:off x="760781" y="11384280"/>
            <a:ext cx="22945344" cy="987552"/>
          </a:xfrm>
          <a:prstGeom prst="rect">
            <a:avLst/>
          </a:prstGeom>
          <a:solidFill>
            <a:srgbClr val="FFF3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13" name="Rectangle 12"/>
          <p:cNvSpPr/>
          <p:nvPr/>
        </p:nvSpPr>
        <p:spPr>
          <a:xfrm>
            <a:off x="760781" y="11384280"/>
            <a:ext cx="102413" cy="987552"/>
          </a:xfrm>
          <a:prstGeom prst="rect">
            <a:avLst/>
          </a:prstGeom>
          <a:solidFill>
            <a:srgbClr val="FFBD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14" name="TextBox 13"/>
          <p:cNvSpPr txBox="1"/>
          <p:nvPr/>
        </p:nvSpPr>
        <p:spPr>
          <a:xfrm>
            <a:off x="1199693" y="11384280"/>
            <a:ext cx="22067520" cy="987552"/>
          </a:xfrm>
          <a:prstGeom prst="rect">
            <a:avLst/>
          </a:prstGeom>
          <a:noFill/>
        </p:spPr>
        <p:txBody>
          <a:bodyPr wrap="square" anchor="ctr" lIns="0" rIns="0" tIns="0" bIns="0">
            <a:spAutoFit/>
          </a:bodyPr>
          <a:lstStyle/>
          <a:p>
            <a:pPr algn="l"/>
            <a:r>
              <a:rPr sz="3400" b="1" i="0">
                <a:solidFill>
                  <a:srgbClr val="000000"/>
                </a:solidFill>
                <a:latin typeface="AvenirNext-DemiBold"/>
              </a:rPr>
              <a:t>Our cross section is biased low where our detection work lives, so our detection probabilities are pessimistic rather than optimistic</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9328" y="449885"/>
            <a:ext cx="20999501" cy="599389"/>
          </a:xfrm>
          <a:prstGeom prst="rect">
            <a:avLst/>
          </a:prstGeom>
          <a:noFill/>
        </p:spPr>
        <p:txBody>
          <a:bodyPr wrap="square" anchor="t" lIns="0" rIns="0" tIns="0" bIns="0">
            <a:spAutoFit/>
          </a:bodyPr>
          <a:lstStyle/>
          <a:p>
            <a:pPr algn="l"/>
            <a:r>
              <a:rPr sz="2900" b="1" i="0">
                <a:solidFill>
                  <a:srgbClr val="2E74B5"/>
                </a:solidFill>
                <a:latin typeface="AvenirNext-DemiBold"/>
              </a:rPr>
              <a:t>RESULT  ·  CONTROLS, SAME KERNEL AND SAME CONDITIONS</a:t>
            </a:r>
          </a:p>
        </p:txBody>
      </p:sp>
      <p:sp>
        <p:nvSpPr>
          <p:cNvPr id="3" name="TextBox 2"/>
          <p:cNvSpPr txBox="1"/>
          <p:nvPr/>
        </p:nvSpPr>
        <p:spPr>
          <a:xfrm>
            <a:off x="699821" y="1039673"/>
            <a:ext cx="22979482" cy="1594104"/>
          </a:xfrm>
          <a:prstGeom prst="rect">
            <a:avLst/>
          </a:prstGeom>
          <a:noFill/>
        </p:spPr>
        <p:txBody>
          <a:bodyPr wrap="square" anchor="t" lIns="0" rIns="0" tIns="0" bIns="0">
            <a:spAutoFit/>
          </a:bodyPr>
          <a:lstStyle/>
          <a:p>
            <a:pPr algn="l"/>
            <a:r>
              <a:rPr sz="4600" b="1" i="0">
                <a:solidFill>
                  <a:srgbClr val="000000"/>
                </a:solidFill>
                <a:latin typeface="AvenirNext-DemiBold"/>
              </a:rPr>
              <a:t>We beat the cube by 2.09 dB, and the level test still does not clear</a:t>
            </a:r>
          </a:p>
        </p:txBody>
      </p:sp>
      <p:pic>
        <p:nvPicPr>
          <p:cNvPr id="4" name="Picture 3" descr="p3_control_bars.png"/>
          <p:cNvPicPr>
            <a:picLocks noChangeAspect="1"/>
          </p:cNvPicPr>
          <p:nvPr/>
        </p:nvPicPr>
        <p:blipFill>
          <a:blip r:embed="rId2"/>
          <a:stretch>
            <a:fillRect/>
          </a:stretch>
        </p:blipFill>
        <p:spPr>
          <a:xfrm>
            <a:off x="6585070" y="2716072"/>
            <a:ext cx="11213858" cy="3645103"/>
          </a:xfrm>
          <a:prstGeom prst="rect">
            <a:avLst/>
          </a:prstGeom>
        </p:spPr>
      </p:pic>
      <p:sp>
        <p:nvSpPr>
          <p:cNvPr id="5" name="TextBox 4"/>
          <p:cNvSpPr txBox="1"/>
          <p:nvPr/>
        </p:nvSpPr>
        <p:spPr>
          <a:xfrm>
            <a:off x="6585070" y="6525767"/>
            <a:ext cx="11213858" cy="1021080"/>
          </a:xfrm>
          <a:prstGeom prst="rect">
            <a:avLst/>
          </a:prstGeom>
          <a:noFill/>
        </p:spPr>
        <p:txBody>
          <a:bodyPr wrap="square" anchor="t" lIns="0" rIns="0" tIns="0" bIns="0">
            <a:spAutoFit/>
          </a:bodyPr>
          <a:lstStyle/>
          <a:p>
            <a:pPr algn="ctr"/>
            <a:r>
              <a:rPr sz="2900" b="1" i="0">
                <a:solidFill>
                  <a:srgbClr val="5E5E5E"/>
                </a:solidFill>
                <a:latin typeface="AvenirNext-DemiBold"/>
              </a:rPr>
              <a:t>Every arm through one kernel, one band, one azimuth grid, one averaging rule</a:t>
            </a:r>
          </a:p>
        </p:txBody>
      </p:sp>
      <p:sp>
        <p:nvSpPr>
          <p:cNvPr id="6" name="Rectangle 5"/>
          <p:cNvSpPr/>
          <p:nvPr/>
        </p:nvSpPr>
        <p:spPr>
          <a:xfrm>
            <a:off x="719328" y="7348484"/>
            <a:ext cx="121920" cy="802112"/>
          </a:xfrm>
          <a:prstGeom prst="rect">
            <a:avLst/>
          </a:prstGeom>
          <a:solidFill>
            <a:srgbClr val="E2214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7" name="TextBox 6"/>
          <p:cNvSpPr txBox="1"/>
          <p:nvPr/>
        </p:nvSpPr>
        <p:spPr>
          <a:xfrm>
            <a:off x="1255776" y="7159752"/>
            <a:ext cx="22213824" cy="1179576"/>
          </a:xfrm>
          <a:prstGeom prst="rect">
            <a:avLst/>
          </a:prstGeom>
          <a:noFill/>
        </p:spPr>
        <p:txBody>
          <a:bodyPr wrap="square" anchor="ctr" lIns="0" rIns="0" tIns="0" bIns="0">
            <a:spAutoFit/>
          </a:bodyPr>
          <a:lstStyle/>
          <a:p>
            <a:pPr algn="l"/>
            <a:r>
              <a:rPr sz="3600" b="1" i="0">
                <a:solidFill>
                  <a:srgbClr val="E22146"/>
                </a:solidFill>
                <a:latin typeface="AvenirNext-DemiBold"/>
              </a:rPr>
              <a:t>The rule asked for 2.51 dB over the best control, and a bare sphere is 0.97 dB out</a:t>
            </a:r>
          </a:p>
        </p:txBody>
      </p:sp>
      <p:sp>
        <p:nvSpPr>
          <p:cNvPr id="8" name="Rectangle 7"/>
          <p:cNvSpPr/>
          <p:nvPr/>
        </p:nvSpPr>
        <p:spPr>
          <a:xfrm>
            <a:off x="719328" y="8757392"/>
            <a:ext cx="121920" cy="727497"/>
          </a:xfrm>
          <a:prstGeom prst="rect">
            <a:avLst/>
          </a:prstGeom>
          <a:solidFill>
            <a:srgbClr val="2644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9" name="TextBox 8"/>
          <p:cNvSpPr txBox="1"/>
          <p:nvPr/>
        </p:nvSpPr>
        <p:spPr>
          <a:xfrm>
            <a:off x="1255776" y="8586216"/>
            <a:ext cx="22213824" cy="1069848"/>
          </a:xfrm>
          <a:prstGeom prst="rect">
            <a:avLst/>
          </a:prstGeom>
          <a:noFill/>
        </p:spPr>
        <p:txBody>
          <a:bodyPr wrap="square" anchor="ctr" lIns="0" rIns="0" tIns="0" bIns="0">
            <a:spAutoFit/>
          </a:bodyPr>
          <a:lstStyle/>
          <a:p>
            <a:pPr algn="l"/>
            <a:r>
              <a:rPr sz="3300" b="0" i="0">
                <a:solidFill>
                  <a:srgbClr val="000000"/>
                </a:solidFill>
                <a:latin typeface="Avenir Next Medium"/>
              </a:rPr>
              <a:t>Any 18 to 37 cm conducting sphere passes a 3 dB level test, so level proves nothing</a:t>
            </a:r>
          </a:p>
        </p:txBody>
      </p:sp>
      <p:sp>
        <p:nvSpPr>
          <p:cNvPr id="10" name="Rectangle 9"/>
          <p:cNvSpPr/>
          <p:nvPr/>
        </p:nvSpPr>
        <p:spPr>
          <a:xfrm>
            <a:off x="719328" y="10091684"/>
            <a:ext cx="121920" cy="802112"/>
          </a:xfrm>
          <a:prstGeom prst="rect">
            <a:avLst/>
          </a:prstGeom>
          <a:solidFill>
            <a:srgbClr val="E2214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11" name="TextBox 10"/>
          <p:cNvSpPr txBox="1"/>
          <p:nvPr/>
        </p:nvSpPr>
        <p:spPr>
          <a:xfrm>
            <a:off x="1255776" y="9902952"/>
            <a:ext cx="22213824" cy="1179576"/>
          </a:xfrm>
          <a:prstGeom prst="rect">
            <a:avLst/>
          </a:prstGeom>
          <a:noFill/>
        </p:spPr>
        <p:txBody>
          <a:bodyPr wrap="square" anchor="ctr" lIns="0" rIns="0" tIns="0" bIns="0">
            <a:spAutoFit/>
          </a:bodyPr>
          <a:lstStyle/>
          <a:p>
            <a:pPr algn="l"/>
            <a:r>
              <a:rPr sz="3600" b="1" i="0">
                <a:solidFill>
                  <a:srgbClr val="E22146"/>
                </a:solidFill>
                <a:latin typeface="AvenirNext-DemiBold"/>
              </a:rPr>
              <a:t>Azimuth spread separates us - ours 0.71 dB out, cube 3.58, sphere 5.44</a:t>
            </a:r>
          </a:p>
        </p:txBody>
      </p:sp>
      <p:sp>
        <p:nvSpPr>
          <p:cNvPr id="12" name="Rectangle 11"/>
          <p:cNvSpPr/>
          <p:nvPr/>
        </p:nvSpPr>
        <p:spPr>
          <a:xfrm>
            <a:off x="760781" y="11384280"/>
            <a:ext cx="22945344" cy="987552"/>
          </a:xfrm>
          <a:prstGeom prst="rect">
            <a:avLst/>
          </a:prstGeom>
          <a:solidFill>
            <a:srgbClr val="FFF3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13" name="Rectangle 12"/>
          <p:cNvSpPr/>
          <p:nvPr/>
        </p:nvSpPr>
        <p:spPr>
          <a:xfrm>
            <a:off x="760781" y="11384280"/>
            <a:ext cx="102413" cy="987552"/>
          </a:xfrm>
          <a:prstGeom prst="rect">
            <a:avLst/>
          </a:prstGeom>
          <a:solidFill>
            <a:srgbClr val="FFBD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14" name="TextBox 13"/>
          <p:cNvSpPr txBox="1"/>
          <p:nvPr/>
        </p:nvSpPr>
        <p:spPr>
          <a:xfrm>
            <a:off x="1199693" y="11384280"/>
            <a:ext cx="22067520" cy="987552"/>
          </a:xfrm>
          <a:prstGeom prst="rect">
            <a:avLst/>
          </a:prstGeom>
          <a:noFill/>
        </p:spPr>
        <p:txBody>
          <a:bodyPr wrap="square" anchor="ctr" lIns="0" rIns="0" tIns="0" bIns="0">
            <a:spAutoFit/>
          </a:bodyPr>
          <a:lstStyle/>
          <a:p>
            <a:pPr algn="l"/>
            <a:r>
              <a:rPr sz="3400" b="1" i="0">
                <a:solidFill>
                  <a:srgbClr val="000000"/>
                </a:solidFill>
                <a:latin typeface="AvenirNext-DemiBold"/>
              </a:rPr>
              <a:t>The mesh work is not paid for by the level, it is paid for by the spread and the slope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9328" y="449885"/>
            <a:ext cx="20999501" cy="599389"/>
          </a:xfrm>
          <a:prstGeom prst="rect">
            <a:avLst/>
          </a:prstGeom>
          <a:noFill/>
        </p:spPr>
        <p:txBody>
          <a:bodyPr wrap="square" anchor="t" lIns="0" rIns="0" tIns="0" bIns="0">
            <a:spAutoFit/>
          </a:bodyPr>
          <a:lstStyle/>
          <a:p>
            <a:pPr algn="l"/>
            <a:r>
              <a:rPr sz="2900" b="1" i="0">
                <a:solidFill>
                  <a:srgbClr val="2E74B5"/>
                </a:solidFill>
                <a:latin typeface="AvenirNext-DemiBold"/>
              </a:rPr>
              <a:t>PRECEDENT  ·  18 PAPERS READ IN FULL FROM AN ARCHIVE OF 305</a:t>
            </a:r>
          </a:p>
        </p:txBody>
      </p:sp>
      <p:sp>
        <p:nvSpPr>
          <p:cNvPr id="3" name="TextBox 2"/>
          <p:cNvSpPr txBox="1"/>
          <p:nvPr/>
        </p:nvSpPr>
        <p:spPr>
          <a:xfrm>
            <a:off x="699821" y="1039673"/>
            <a:ext cx="22979482" cy="1594104"/>
          </a:xfrm>
          <a:prstGeom prst="rect">
            <a:avLst/>
          </a:prstGeom>
          <a:noFill/>
        </p:spPr>
        <p:txBody>
          <a:bodyPr wrap="square" anchor="t" lIns="0" rIns="0" tIns="0" bIns="0">
            <a:spAutoFit/>
          </a:bodyPr>
          <a:lstStyle/>
          <a:p>
            <a:pPr algn="l"/>
            <a:r>
              <a:rPr sz="4600" b="1" i="0">
                <a:solidFill>
                  <a:srgbClr val="000000"/>
                </a:solidFill>
                <a:latin typeface="AvenirNext-DemiBold"/>
              </a:rPr>
              <a:t>Making sigma outside the simulator is published practice, and checking it is the entry fee</a:t>
            </a:r>
          </a:p>
        </p:txBody>
      </p:sp>
      <p:pic>
        <p:nvPicPr>
          <p:cNvPr id="4" name="Picture 3" descr="entryfee_rows.png"/>
          <p:cNvPicPr>
            <a:picLocks noChangeAspect="1"/>
          </p:cNvPicPr>
          <p:nvPr/>
        </p:nvPicPr>
        <p:blipFill>
          <a:blip r:embed="rId2"/>
          <a:stretch>
            <a:fillRect/>
          </a:stretch>
        </p:blipFill>
        <p:spPr>
          <a:xfrm>
            <a:off x="7102203" y="2716072"/>
            <a:ext cx="10179593" cy="3754831"/>
          </a:xfrm>
          <a:prstGeom prst="rect">
            <a:avLst/>
          </a:prstGeom>
        </p:spPr>
      </p:pic>
      <p:sp>
        <p:nvSpPr>
          <p:cNvPr id="5" name="TextBox 4"/>
          <p:cNvSpPr txBox="1"/>
          <p:nvPr/>
        </p:nvSpPr>
        <p:spPr>
          <a:xfrm>
            <a:off x="7102203" y="6635495"/>
            <a:ext cx="10179593" cy="1021080"/>
          </a:xfrm>
          <a:prstGeom prst="rect">
            <a:avLst/>
          </a:prstGeom>
          <a:noFill/>
        </p:spPr>
        <p:txBody>
          <a:bodyPr wrap="square" anchor="t" lIns="0" rIns="0" tIns="0" bIns="0">
            <a:spAutoFit/>
          </a:bodyPr>
          <a:lstStyle/>
          <a:p>
            <a:pPr algn="ctr"/>
            <a:r>
              <a:rPr sz="2900" b="1" i="0">
                <a:solidFill>
                  <a:srgbClr val="5E5E5E"/>
                </a:solidFill>
                <a:latin typeface="AvenirNext-DemiBold"/>
              </a:rPr>
              <a:t>Two of the three measure their sigma and one computes it, and that row is peer reviewed</a:t>
            </a:r>
          </a:p>
        </p:txBody>
      </p:sp>
      <p:sp>
        <p:nvSpPr>
          <p:cNvPr id="6" name="Rectangle 5"/>
          <p:cNvSpPr/>
          <p:nvPr/>
        </p:nvSpPr>
        <p:spPr>
          <a:xfrm>
            <a:off x="719328" y="7458212"/>
            <a:ext cx="121920" cy="802112"/>
          </a:xfrm>
          <a:prstGeom prst="rect">
            <a:avLst/>
          </a:prstGeom>
          <a:solidFill>
            <a:srgbClr val="E2214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7" name="TextBox 6"/>
          <p:cNvSpPr txBox="1"/>
          <p:nvPr/>
        </p:nvSpPr>
        <p:spPr>
          <a:xfrm>
            <a:off x="1255776" y="7269480"/>
            <a:ext cx="22213824" cy="1179576"/>
          </a:xfrm>
          <a:prstGeom prst="rect">
            <a:avLst/>
          </a:prstGeom>
          <a:noFill/>
        </p:spPr>
        <p:txBody>
          <a:bodyPr wrap="square" anchor="ctr" lIns="0" rIns="0" tIns="0" bIns="0">
            <a:spAutoFit/>
          </a:bodyPr>
          <a:lstStyle/>
          <a:p>
            <a:pPr algn="l"/>
            <a:r>
              <a:rPr sz="3600" b="1" i="0">
                <a:solidFill>
                  <a:srgbClr val="E22146"/>
                </a:solidFill>
                <a:latin typeface="AvenirNext-DemiBold"/>
              </a:rPr>
              <a:t>Of those 18, none computes a drone cross section and prints the dBsm it computed</a:t>
            </a:r>
          </a:p>
        </p:txBody>
      </p:sp>
      <p:sp>
        <p:nvSpPr>
          <p:cNvPr id="8" name="Rectangle 7"/>
          <p:cNvSpPr/>
          <p:nvPr/>
        </p:nvSpPr>
        <p:spPr>
          <a:xfrm>
            <a:off x="719328" y="8867120"/>
            <a:ext cx="121920" cy="727497"/>
          </a:xfrm>
          <a:prstGeom prst="rect">
            <a:avLst/>
          </a:prstGeom>
          <a:solidFill>
            <a:srgbClr val="2644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9" name="TextBox 8"/>
          <p:cNvSpPr txBox="1"/>
          <p:nvPr/>
        </p:nvSpPr>
        <p:spPr>
          <a:xfrm>
            <a:off x="1255776" y="8695944"/>
            <a:ext cx="22213824" cy="1069848"/>
          </a:xfrm>
          <a:prstGeom prst="rect">
            <a:avLst/>
          </a:prstGeom>
          <a:noFill/>
        </p:spPr>
        <p:txBody>
          <a:bodyPr wrap="square" anchor="ctr" lIns="0" rIns="0" tIns="0" bIns="0">
            <a:spAutoFit/>
          </a:bodyPr>
          <a:lstStyle/>
          <a:p>
            <a:pPr algn="l"/>
            <a:r>
              <a:rPr sz="3300" b="0" i="0">
                <a:solidFill>
                  <a:srgbClr val="000000"/>
                </a:solidFill>
                <a:latin typeface="Avenir Next Medium"/>
              </a:rPr>
              <a:t>The common way around it is a box for the target, then detection statistics</a:t>
            </a:r>
          </a:p>
        </p:txBody>
      </p:sp>
      <p:sp>
        <p:nvSpPr>
          <p:cNvPr id="10" name="Rectangle 9"/>
          <p:cNvSpPr/>
          <p:nvPr/>
        </p:nvSpPr>
        <p:spPr>
          <a:xfrm>
            <a:off x="719328" y="10183856"/>
            <a:ext cx="121920" cy="727497"/>
          </a:xfrm>
          <a:prstGeom prst="rect">
            <a:avLst/>
          </a:prstGeom>
          <a:solidFill>
            <a:srgbClr val="2644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11" name="TextBox 10"/>
          <p:cNvSpPr txBox="1"/>
          <p:nvPr/>
        </p:nvSpPr>
        <p:spPr>
          <a:xfrm>
            <a:off x="1255776" y="10012680"/>
            <a:ext cx="22213824" cy="1069848"/>
          </a:xfrm>
          <a:prstGeom prst="rect">
            <a:avLst/>
          </a:prstGeom>
          <a:noFill/>
        </p:spPr>
        <p:txBody>
          <a:bodyPr wrap="square" anchor="ctr" lIns="0" rIns="0" tIns="0" bIns="0">
            <a:spAutoFit/>
          </a:bodyPr>
          <a:lstStyle/>
          <a:p>
            <a:pPr algn="l"/>
            <a:r>
              <a:rPr sz="3300" b="0" i="0">
                <a:solidFill>
                  <a:srgbClr val="000000"/>
                </a:solidFill>
                <a:latin typeface="Avenir Next Medium"/>
              </a:rPr>
              <a:t>Our own archive - 305 unique PDFs screened, 18 read end to end, so it is a sample</a:t>
            </a:r>
          </a:p>
        </p:txBody>
      </p:sp>
      <p:sp>
        <p:nvSpPr>
          <p:cNvPr id="12" name="Rectangle 11"/>
          <p:cNvSpPr/>
          <p:nvPr/>
        </p:nvSpPr>
        <p:spPr>
          <a:xfrm>
            <a:off x="760781" y="11384280"/>
            <a:ext cx="22945344" cy="987552"/>
          </a:xfrm>
          <a:prstGeom prst="rect">
            <a:avLst/>
          </a:prstGeom>
          <a:solidFill>
            <a:srgbClr val="FFF3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13" name="Rectangle 12"/>
          <p:cNvSpPr/>
          <p:nvPr/>
        </p:nvSpPr>
        <p:spPr>
          <a:xfrm>
            <a:off x="760781" y="11384280"/>
            <a:ext cx="102413" cy="987552"/>
          </a:xfrm>
          <a:prstGeom prst="rect">
            <a:avLst/>
          </a:prstGeom>
          <a:solidFill>
            <a:srgbClr val="FFBD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14" name="TextBox 13"/>
          <p:cNvSpPr txBox="1"/>
          <p:nvPr/>
        </p:nvSpPr>
        <p:spPr>
          <a:xfrm>
            <a:off x="1199693" y="11384280"/>
            <a:ext cx="22067520" cy="987552"/>
          </a:xfrm>
          <a:prstGeom prst="rect">
            <a:avLst/>
          </a:prstGeom>
          <a:noFill/>
        </p:spPr>
        <p:txBody>
          <a:bodyPr wrap="square" anchor="ctr" lIns="0" rIns="0" tIns="0" bIns="0">
            <a:spAutoFit/>
          </a:bodyPr>
          <a:lstStyle/>
          <a:p>
            <a:pPr algn="l"/>
            <a:r>
              <a:rPr sz="3400" b="1" i="0">
                <a:solidFill>
                  <a:srgbClr val="000000"/>
                </a:solidFill>
                <a:latin typeface="AvenirNext-DemiBold"/>
              </a:rPr>
              <a:t>Every one of them paid the fee in some currency, and ours is one measurement with the controls printed beside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9328" y="449885"/>
            <a:ext cx="20999501" cy="599389"/>
          </a:xfrm>
          <a:prstGeom prst="rect">
            <a:avLst/>
          </a:prstGeom>
          <a:noFill/>
        </p:spPr>
        <p:txBody>
          <a:bodyPr wrap="square" anchor="t" lIns="0" rIns="0" tIns="0" bIns="0">
            <a:spAutoFit/>
          </a:bodyPr>
          <a:lstStyle/>
          <a:p>
            <a:pPr algn="l"/>
            <a:r>
              <a:rPr sz="2900" b="1" i="0">
                <a:solidFill>
                  <a:srgbClr val="2E74B5"/>
                </a:solidFill>
                <a:latin typeface="AvenirNext-DemiBold"/>
              </a:rPr>
              <a:t>NEXT  ·  WHAT IT LICENSES AND WHAT I NEED</a:t>
            </a:r>
          </a:p>
        </p:txBody>
      </p:sp>
      <p:sp>
        <p:nvSpPr>
          <p:cNvPr id="3" name="TextBox 2"/>
          <p:cNvSpPr txBox="1"/>
          <p:nvPr/>
        </p:nvSpPr>
        <p:spPr>
          <a:xfrm>
            <a:off x="699821" y="1039673"/>
            <a:ext cx="22979482" cy="1594104"/>
          </a:xfrm>
          <a:prstGeom prst="rect">
            <a:avLst/>
          </a:prstGeom>
          <a:noFill/>
        </p:spPr>
        <p:txBody>
          <a:bodyPr wrap="square" anchor="t" lIns="0" rIns="0" tIns="0" bIns="0">
            <a:spAutoFit/>
          </a:bodyPr>
          <a:lstStyle/>
          <a:p>
            <a:pPr algn="l"/>
            <a:r>
              <a:rPr sz="4600" b="1" i="0">
                <a:solidFill>
                  <a:srgbClr val="000000"/>
                </a:solidFill>
                <a:latin typeface="AvenirNext-DemiBold"/>
              </a:rPr>
              <a:t>The ask - one outdoor slot, a 0.178 m sphere, and the two airframes on order</a:t>
            </a:r>
          </a:p>
        </p:txBody>
      </p:sp>
      <p:sp>
        <p:nvSpPr>
          <p:cNvPr id="4" name="TextBox 3"/>
          <p:cNvSpPr txBox="1"/>
          <p:nvPr/>
        </p:nvSpPr>
        <p:spPr>
          <a:xfrm>
            <a:off x="760781" y="2716073"/>
            <a:ext cx="22599091" cy="1292352"/>
          </a:xfrm>
          <a:prstGeom prst="rect">
            <a:avLst/>
          </a:prstGeom>
          <a:noFill/>
        </p:spPr>
        <p:txBody>
          <a:bodyPr wrap="square" anchor="t" lIns="0" rIns="0" tIns="0" bIns="0">
            <a:spAutoFit/>
          </a:bodyPr>
          <a:lstStyle/>
          <a:p>
            <a:pPr algn="l"/>
            <a:r>
              <a:rPr sz="3700" b="1" i="0">
                <a:solidFill>
                  <a:srgbClr val="000000"/>
                </a:solidFill>
                <a:latin typeface="AvenirNext-DemiBold"/>
              </a:rPr>
              <a:t>What today licenses - Phantom 4 shape tables on Phantom 3 dimensions </a:t>
            </a:r>
            <a:r>
              <a:rPr sz="3700" b="1" i="0">
                <a:solidFill>
                  <a:srgbClr val="E22146"/>
                </a:solidFill>
                <a:latin typeface="AvenirNext-DemiBold"/>
              </a:rPr>
              <a:t>track the measured slope and sit about 5 dB under the level</a:t>
            </a:r>
          </a:p>
        </p:txBody>
      </p:sp>
      <p:sp>
        <p:nvSpPr>
          <p:cNvPr id="5" name="Rectangle 4"/>
          <p:cNvSpPr/>
          <p:nvPr/>
        </p:nvSpPr>
        <p:spPr>
          <a:xfrm>
            <a:off x="719328" y="4394737"/>
            <a:ext cx="121920" cy="709140"/>
          </a:xfrm>
          <a:prstGeom prst="rect">
            <a:avLst/>
          </a:prstGeom>
          <a:solidFill>
            <a:srgbClr val="2644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6" name="TextBox 5"/>
          <p:cNvSpPr txBox="1"/>
          <p:nvPr/>
        </p:nvSpPr>
        <p:spPr>
          <a:xfrm>
            <a:off x="1255776" y="4227881"/>
            <a:ext cx="22213824" cy="1042853"/>
          </a:xfrm>
          <a:prstGeom prst="rect">
            <a:avLst/>
          </a:prstGeom>
          <a:noFill/>
        </p:spPr>
        <p:txBody>
          <a:bodyPr wrap="square" anchor="ctr" lIns="0" rIns="0" tIns="0" bIns="0">
            <a:spAutoFit/>
          </a:bodyPr>
          <a:lstStyle/>
          <a:p>
            <a:pPr algn="l"/>
            <a:r>
              <a:rPr sz="3300" b="0" i="0">
                <a:solidFill>
                  <a:srgbClr val="000000"/>
                </a:solidFill>
                <a:latin typeface="Avenir Next Medium"/>
              </a:rPr>
              <a:t>Not the per azimuth pattern, not polarization, not rotation, not bistatic geometry</a:t>
            </a:r>
          </a:p>
        </p:txBody>
      </p:sp>
      <p:sp>
        <p:nvSpPr>
          <p:cNvPr id="7" name="Rectangle 6"/>
          <p:cNvSpPr/>
          <p:nvPr/>
        </p:nvSpPr>
        <p:spPr>
          <a:xfrm>
            <a:off x="719328" y="5794206"/>
            <a:ext cx="121920" cy="709140"/>
          </a:xfrm>
          <a:prstGeom prst="rect">
            <a:avLst/>
          </a:prstGeom>
          <a:solidFill>
            <a:srgbClr val="2644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8" name="TextBox 7"/>
          <p:cNvSpPr txBox="1"/>
          <p:nvPr/>
        </p:nvSpPr>
        <p:spPr>
          <a:xfrm>
            <a:off x="1255776" y="5627350"/>
            <a:ext cx="22213824" cy="1042853"/>
          </a:xfrm>
          <a:prstGeom prst="rect">
            <a:avLst/>
          </a:prstGeom>
          <a:noFill/>
        </p:spPr>
        <p:txBody>
          <a:bodyPr wrap="square" anchor="ctr" lIns="0" rIns="0" tIns="0" bIns="0">
            <a:spAutoFit/>
          </a:bodyPr>
          <a:lstStyle/>
          <a:p>
            <a:pPr algn="l"/>
            <a:r>
              <a:rPr sz="3300" b="0" i="0">
                <a:solidFill>
                  <a:srgbClr val="000000"/>
                </a:solidFill>
                <a:latin typeface="Avenir Next Medium"/>
              </a:rPr>
              <a:t>Two internal metal boxes sit outside the boolean union</a:t>
            </a:r>
          </a:p>
        </p:txBody>
      </p:sp>
      <p:sp>
        <p:nvSpPr>
          <p:cNvPr id="9" name="Rectangle 8"/>
          <p:cNvSpPr/>
          <p:nvPr/>
        </p:nvSpPr>
        <p:spPr>
          <a:xfrm>
            <a:off x="719328" y="7210789"/>
            <a:ext cx="121920" cy="781872"/>
          </a:xfrm>
          <a:prstGeom prst="rect">
            <a:avLst/>
          </a:prstGeom>
          <a:solidFill>
            <a:srgbClr val="E2214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10" name="TextBox 9"/>
          <p:cNvSpPr txBox="1"/>
          <p:nvPr/>
        </p:nvSpPr>
        <p:spPr>
          <a:xfrm>
            <a:off x="1255776" y="7026819"/>
            <a:ext cx="22213824" cy="1149812"/>
          </a:xfrm>
          <a:prstGeom prst="rect">
            <a:avLst/>
          </a:prstGeom>
          <a:noFill/>
        </p:spPr>
        <p:txBody>
          <a:bodyPr wrap="square" anchor="ctr" lIns="0" rIns="0" tIns="0" bIns="0">
            <a:spAutoFit/>
          </a:bodyPr>
          <a:lstStyle/>
          <a:p>
            <a:pPr algn="l"/>
            <a:r>
              <a:rPr sz="3600" b="1" i="0">
                <a:solidFill>
                  <a:srgbClr val="E22146"/>
                </a:solidFill>
                <a:latin typeface="AvenirNext-DemiBold"/>
              </a:rPr>
              <a:t>The sphere referenced by exact Mie, since pi r squared is 0.37 dB rms off in our band</a:t>
            </a:r>
          </a:p>
        </p:txBody>
      </p:sp>
      <p:sp>
        <p:nvSpPr>
          <p:cNvPr id="11" name="Rectangle 10"/>
          <p:cNvSpPr/>
          <p:nvPr/>
        </p:nvSpPr>
        <p:spPr>
          <a:xfrm>
            <a:off x="719328" y="8700103"/>
            <a:ext cx="121920" cy="709140"/>
          </a:xfrm>
          <a:prstGeom prst="rect">
            <a:avLst/>
          </a:prstGeom>
          <a:solidFill>
            <a:srgbClr val="2644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12" name="TextBox 11"/>
          <p:cNvSpPr txBox="1"/>
          <p:nvPr/>
        </p:nvSpPr>
        <p:spPr>
          <a:xfrm>
            <a:off x="1255776" y="8533247"/>
            <a:ext cx="22213824" cy="1042853"/>
          </a:xfrm>
          <a:prstGeom prst="rect">
            <a:avLst/>
          </a:prstGeom>
          <a:noFill/>
        </p:spPr>
        <p:txBody>
          <a:bodyPr wrap="square" anchor="ctr" lIns="0" rIns="0" tIns="0" bIns="0">
            <a:spAutoFit/>
          </a:bodyPr>
          <a:lstStyle/>
          <a:p>
            <a:pPr algn="l"/>
            <a:r>
              <a:rPr sz="3300" b="0" i="0">
                <a:solidFill>
                  <a:srgbClr val="000000"/>
                </a:solidFill>
                <a:latin typeface="Avenir Next Medium"/>
              </a:rPr>
              <a:t>Measured at the start and at the end, and more than 1 dB of drift discards the session</a:t>
            </a:r>
          </a:p>
        </p:txBody>
      </p:sp>
      <p:sp>
        <p:nvSpPr>
          <p:cNvPr id="13" name="Rectangle 12"/>
          <p:cNvSpPr/>
          <p:nvPr/>
        </p:nvSpPr>
        <p:spPr>
          <a:xfrm>
            <a:off x="719328" y="10116686"/>
            <a:ext cx="121920" cy="781872"/>
          </a:xfrm>
          <a:prstGeom prst="rect">
            <a:avLst/>
          </a:prstGeom>
          <a:solidFill>
            <a:srgbClr val="E2214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14" name="TextBox 13"/>
          <p:cNvSpPr txBox="1"/>
          <p:nvPr/>
        </p:nvSpPr>
        <p:spPr>
          <a:xfrm>
            <a:off x="1255776" y="9932716"/>
            <a:ext cx="22213824" cy="1149812"/>
          </a:xfrm>
          <a:prstGeom prst="rect">
            <a:avLst/>
          </a:prstGeom>
          <a:noFill/>
        </p:spPr>
        <p:txBody>
          <a:bodyPr wrap="square" anchor="ctr" lIns="0" rIns="0" tIns="0" bIns="0">
            <a:spAutoFit/>
          </a:bodyPr>
          <a:lstStyle/>
          <a:p>
            <a:pPr algn="l"/>
            <a:r>
              <a:rPr sz="3600" b="1" i="0">
                <a:solidFill>
                  <a:srgbClr val="E22146"/>
                </a:solidFill>
                <a:latin typeface="AvenirNext-DemiBold"/>
              </a:rPr>
              <a:t>The ablation - same site, same waveform, same classifier, three target models</a:t>
            </a:r>
          </a:p>
        </p:txBody>
      </p:sp>
      <p:sp>
        <p:nvSpPr>
          <p:cNvPr id="15" name="Rectangle 14"/>
          <p:cNvSpPr/>
          <p:nvPr/>
        </p:nvSpPr>
        <p:spPr>
          <a:xfrm>
            <a:off x="760781" y="11384280"/>
            <a:ext cx="22945344" cy="987552"/>
          </a:xfrm>
          <a:prstGeom prst="rect">
            <a:avLst/>
          </a:prstGeom>
          <a:solidFill>
            <a:srgbClr val="FFF3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16" name="Rectangle 15"/>
          <p:cNvSpPr/>
          <p:nvPr/>
        </p:nvSpPr>
        <p:spPr>
          <a:xfrm>
            <a:off x="760781" y="11384280"/>
            <a:ext cx="102413" cy="987552"/>
          </a:xfrm>
          <a:prstGeom prst="rect">
            <a:avLst/>
          </a:prstGeom>
          <a:solidFill>
            <a:srgbClr val="FFBD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0000" rIns="60000" tIns="30000" bIns="30000"/>
          <a:lstStyle/>
          <a:p>
            <a:pPr algn="ctr"/>
          </a:p>
        </p:txBody>
      </p:sp>
      <p:sp>
        <p:nvSpPr>
          <p:cNvPr id="17" name="TextBox 16"/>
          <p:cNvSpPr txBox="1"/>
          <p:nvPr/>
        </p:nvSpPr>
        <p:spPr>
          <a:xfrm>
            <a:off x="1199693" y="11384280"/>
            <a:ext cx="22067520" cy="987552"/>
          </a:xfrm>
          <a:prstGeom prst="rect">
            <a:avLst/>
          </a:prstGeom>
          <a:noFill/>
        </p:spPr>
        <p:txBody>
          <a:bodyPr wrap="square" anchor="ctr" lIns="0" rIns="0" tIns="0" bIns="0">
            <a:spAutoFit/>
          </a:bodyPr>
          <a:lstStyle/>
          <a:p>
            <a:pPr algn="l"/>
            <a:r>
              <a:rPr sz="3400" b="1" i="0">
                <a:solidFill>
                  <a:srgbClr val="000000"/>
                </a:solidFill>
                <a:latin typeface="AvenirNext-DemiBold"/>
              </a:rPr>
              <a:t>A second anchor that we measured ourselves is the only thing that can separate the shape error from the level error</a:t>
            </a:r>
          </a:p>
        </p:txBody>
      </p:sp>
    </p:spTree>
  </p:cSld>
  <p:clrMapOvr>
    <a:masterClrMapping/>
  </p:clrMapOvr>
</p:sld>
</file>

<file path=ppt/theme/theme1.xml><?xml version="1.0" encoding="utf-8"?>
<a:theme xmlns:a="http://schemas.openxmlformats.org/drawingml/2006/main" name="23_ClassicWhite">
  <a:themeElements>
    <a:clrScheme name="23_ClassicWhite">
      <a:dk1>
        <a:srgbClr val="000000"/>
      </a:dk1>
      <a:lt1>
        <a:srgbClr val="FFFFFF"/>
      </a:lt1>
      <a:dk2>
        <a:srgbClr val="5E5E5E"/>
      </a:dk2>
      <a:lt2>
        <a:srgbClr val="D5D5D5"/>
      </a:lt2>
      <a:accent1>
        <a:srgbClr val="3E74D1"/>
      </a:accent1>
      <a:accent2>
        <a:srgbClr val="33C5B9"/>
      </a:accent2>
      <a:accent3>
        <a:srgbClr val="45B53C"/>
      </a:accent3>
      <a:accent4>
        <a:srgbClr val="FFBD16"/>
      </a:accent4>
      <a:accent5>
        <a:srgbClr val="E22146"/>
      </a:accent5>
      <a:accent6>
        <a:srgbClr val="836BB7"/>
      </a:accent6>
      <a:hlink>
        <a:srgbClr val="0000FF"/>
      </a:hlink>
      <a:folHlink>
        <a:srgbClr val="FF00FF"/>
      </a:folHlink>
    </a:clrScheme>
    <a:fontScheme name="23_ClassicWhite">
      <a:majorFont>
        <a:latin typeface="Avenir Next Regular"/>
        <a:ea typeface="Avenir Next Regular"/>
        <a:cs typeface="Avenir Next Regular"/>
      </a:majorFont>
      <a:minorFont>
        <a:latin typeface="Avenir Next Regular"/>
        <a:ea typeface="Avenir Next Regular"/>
        <a:cs typeface="Avenir Next Regular"/>
      </a:minorFont>
    </a:fontScheme>
    <a:fmtScheme name="23_Clas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1130300"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FFFFFF"/>
            </a:solidFill>
            <a:effectLst/>
            <a:uFillTx/>
            <a:latin typeface="+mn-lt"/>
            <a:ea typeface="+mn-ea"/>
            <a:cs typeface="+mn-cs"/>
            <a:sym typeface="Avenir Next Regular"/>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23_ClassicWhite">
  <a:themeElements>
    <a:clrScheme name="23_ClassicWhite">
      <a:dk1>
        <a:srgbClr val="000000"/>
      </a:dk1>
      <a:lt1>
        <a:srgbClr val="FFFFFF"/>
      </a:lt1>
      <a:dk2>
        <a:srgbClr val="5E5E5E"/>
      </a:dk2>
      <a:lt2>
        <a:srgbClr val="D5D5D5"/>
      </a:lt2>
      <a:accent1>
        <a:srgbClr val="3E74D1"/>
      </a:accent1>
      <a:accent2>
        <a:srgbClr val="33C5B9"/>
      </a:accent2>
      <a:accent3>
        <a:srgbClr val="45B53C"/>
      </a:accent3>
      <a:accent4>
        <a:srgbClr val="FFBD16"/>
      </a:accent4>
      <a:accent5>
        <a:srgbClr val="E22146"/>
      </a:accent5>
      <a:accent6>
        <a:srgbClr val="836BB7"/>
      </a:accent6>
      <a:hlink>
        <a:srgbClr val="0000FF"/>
      </a:hlink>
      <a:folHlink>
        <a:srgbClr val="FF00FF"/>
      </a:folHlink>
    </a:clrScheme>
    <a:fontScheme name="23_ClassicWhite">
      <a:majorFont>
        <a:latin typeface="Avenir Next Regular"/>
        <a:ea typeface="Avenir Next Regular"/>
        <a:cs typeface="Avenir Next Regular"/>
      </a:majorFont>
      <a:minorFont>
        <a:latin typeface="Avenir Next Regular"/>
        <a:ea typeface="Avenir Next Regular"/>
        <a:cs typeface="Avenir Next Regular"/>
      </a:minorFont>
    </a:fontScheme>
    <a:fmtScheme name="23_Clas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1130300"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FFFFFF"/>
            </a:solidFill>
            <a:effectLst/>
            <a:uFillTx/>
            <a:latin typeface="+mn-lt"/>
            <a:ea typeface="+mn-ea"/>
            <a:cs typeface="+mn-cs"/>
            <a:sym typeface="Avenir Next Regular"/>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3.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29428</TotalTime>
  <Words>3186</Words>
  <Application>Microsoft Macintosh PowerPoint</Application>
  <PresentationFormat>사용자 지정</PresentationFormat>
  <Paragraphs>306</Paragraphs>
  <Slides>16</Slides>
  <Notes>16</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16</vt:i4>
      </vt:variant>
    </vt:vector>
  </HeadingPairs>
  <TitlesOfParts>
    <vt:vector size="26" baseType="lpstr">
      <vt:lpstr>Canela Bold</vt:lpstr>
      <vt:lpstr>Canela Deck Regular</vt:lpstr>
      <vt:lpstr>Canela Regular</vt:lpstr>
      <vt:lpstr>Arial</vt:lpstr>
      <vt:lpstr>Avenir Next Medium</vt:lpstr>
      <vt:lpstr>Avenir Next Regular</vt:lpstr>
      <vt:lpstr>AvenirNext-DemiBold</vt:lpstr>
      <vt:lpstr>Helvetica Neue</vt:lpstr>
      <vt:lpstr>Wingdings</vt:lpstr>
      <vt:lpstr>23_ClassicWhite</vt:lpstr>
      <vt:lpstr>Team Meeting</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김재현</dc:creator>
  <cp:lastModifiedBy>Jeong Yunjung</cp:lastModifiedBy>
  <cp:revision>395</cp:revision>
  <dcterms:modified xsi:type="dcterms:W3CDTF">2026-07-21T00:07:50Z</dcterms:modified>
</cp:coreProperties>
</file>