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3"/>
  </p:notesMasterIdLst>
  <p:handoutMasterIdLst>
    <p:handoutMasterId r:id="rId24"/>
  </p:handoutMasterIdLst>
  <p:sldIdLst>
    <p:sldId id="368" r:id="rId2"/>
    <p:sldId id="996" r:id="rId3"/>
    <p:sldId id="997" r:id="rId4"/>
    <p:sldId id="998" r:id="rId5"/>
    <p:sldId id="999" r:id="rId6"/>
    <p:sldId id="1000" r:id="rId7"/>
    <p:sldId id="1001" r:id="rId8"/>
    <p:sldId id="1002" r:id="rId9"/>
    <p:sldId id="1016" r:id="rId10"/>
    <p:sldId id="1017" r:id="rId11"/>
    <p:sldId id="1005" r:id="rId12"/>
    <p:sldId id="1006" r:id="rId13"/>
    <p:sldId id="1007" r:id="rId14"/>
    <p:sldId id="1008" r:id="rId15"/>
    <p:sldId id="1010" r:id="rId16"/>
    <p:sldId id="1011" r:id="rId17"/>
    <p:sldId id="1012" r:id="rId18"/>
    <p:sldId id="1013" r:id="rId19"/>
    <p:sldId id="1014" r:id="rId20"/>
    <p:sldId id="1015" r:id="rId21"/>
    <p:sldId id="1018" r:id="rId2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16"/>
    <p:restoredTop sz="80803" autoAdjust="0"/>
  </p:normalViewPr>
  <p:slideViewPr>
    <p:cSldViewPr snapToGrid="0">
      <p:cViewPr varScale="1">
        <p:scale>
          <a:sx n="89" d="100"/>
          <a:sy n="89" d="100"/>
        </p:scale>
        <p:origin x="293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2026. 7. 14.</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Let me start today's team meeting.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Last time I did two things. First, drone selection — Mavic 4 Pro versus Matrice 4E, comparing echo strength against RTK ground truth. Second, a short review of LaSen, the SenSys paper that tracks a drone using 5G. Since then I was at ICML and had a few other things going on, so I prepared this meeting in a bit of a rush. Today I will show you the Sionna progress — three stages are now built — and then I will introduce one paper.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Today has two parts. First, what I built in Sionna, with a lot of pictures. Second, a short introduction to a paper from ICML that I found interesting.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Let me start with the Sionna simulation.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dirty="0"/>
              <a:t>This is the overall path I took.</a:t>
            </a:r>
            <a:endParaRPr lang="en-US" dirty="0"/>
          </a:p>
          <a:p>
            <a:r>
              <a:rPr lang="en-US" dirty="0"/>
              <a:t>And I will show you details in the later slides</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For the chamber, I copied the specs of the RF playground we were planning to use for the real experiment. It is thirty by twenty by eleven meters. The walls absorb the echoes, so we see only the drone.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dirty="0"/>
              <a:t>For the drone meshes, I first collected the detailed specs and then I asked Claude to build the mesh from those numbers. Let me show you the visualizations.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dirty="0"/>
              <a:t>These are the five meshes. Here they are drawn at the same size, so you can compare the shapes </a:t>
            </a:r>
            <a:endParaRPr lang="en-US" dirty="0"/>
          </a:p>
          <a:p>
            <a:endParaRPr lang="en-US" dirty="0"/>
          </a:p>
          <a:p>
            <a:r>
              <a:rPr dirty="0"/>
              <a:t>The real sizes are very different, and I show that on the next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5773D-7CFE-E0E3-4675-89660C1EA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1E615E-EF83-3CF2-9E22-54613E1B0C6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05A5205-B895-11D1-4158-239E09FD3CB1}"/>
              </a:ext>
            </a:extLst>
          </p:cNvPr>
          <p:cNvSpPr>
            <a:spLocks noGrp="1"/>
          </p:cNvSpPr>
          <p:nvPr>
            <p:ph type="body" sz="quarter" idx="1"/>
          </p:nvPr>
        </p:nvSpPr>
        <p:spPr/>
        <p:txBody>
          <a:bodyPr/>
          <a:lstStyle/>
          <a:p>
            <a:r>
              <a:rPr dirty="0"/>
              <a:t>This is the real size comparison, all at the same scale. The S1000+ is by far the largest — about one meter across — and the Mini 5 Pro fits in your hand, at 250 grams.</a:t>
            </a:r>
            <a:endParaRPr lang="en-US" dirty="0"/>
          </a:p>
          <a:p>
            <a:endParaRPr lang="en-US" dirty="0"/>
          </a:p>
          <a:p>
            <a:r>
              <a:rPr dirty="0"/>
              <a:t>The dashed circles are the propeller discs.</a:t>
            </a:r>
          </a:p>
        </p:txBody>
      </p:sp>
    </p:spTree>
    <p:extLst>
      <p:ext uri="{BB962C8B-B14F-4D97-AF65-F5344CB8AC3E}">
        <p14:creationId xmlns:p14="http://schemas.microsoft.com/office/powerpoint/2010/main" val="3651393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9BBC6-1E54-FF61-5B7D-55930DC4E1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99E34A-51FC-93F3-D506-675D2033D9E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25F917E-165D-377A-90B3-CE150EAE43AD}"/>
              </a:ext>
            </a:extLst>
          </p:cNvPr>
          <p:cNvSpPr>
            <a:spLocks noGrp="1"/>
          </p:cNvSpPr>
          <p:nvPr>
            <p:ph type="body" sz="quarter" idx="1"/>
          </p:nvPr>
        </p:nvSpPr>
        <p:spPr/>
        <p:txBody>
          <a:bodyPr/>
          <a:lstStyle/>
          <a:p>
            <a:r>
              <a:rPr dirty="0"/>
              <a:t>And this is what they look like inside the chamber</a:t>
            </a:r>
          </a:p>
        </p:txBody>
      </p:sp>
    </p:spTree>
    <p:extLst>
      <p:ext uri="{BB962C8B-B14F-4D97-AF65-F5344CB8AC3E}">
        <p14:creationId xmlns:p14="http://schemas.microsoft.com/office/powerpoint/2010/main" val="1990912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dirty="0"/>
              <a:t>These are the real Wi-Fi, LTE and 5G signals, built with the numerology and reference signals. Here is the key point. </a:t>
            </a:r>
            <a:endParaRPr lang="en-US" dirty="0"/>
          </a:p>
          <a:p>
            <a:endParaRPr lang="en-US" dirty="0"/>
          </a:p>
          <a:p>
            <a:r>
              <a:rPr dirty="0"/>
              <a:t>A passive radar can only use a signal it already knows — the reference signal. </a:t>
            </a:r>
            <a:endParaRPr lang="en-US" dirty="0"/>
          </a:p>
          <a:p>
            <a:endParaRPr lang="en-US" dirty="0"/>
          </a:p>
          <a:p>
            <a:r>
              <a:rPr dirty="0"/>
              <a:t>So the range resolution follows the bandwidth of that reference signal, not the bandwidth of the channel. </a:t>
            </a:r>
            <a:endParaRPr lang="en-US" dirty="0"/>
          </a:p>
          <a:p>
            <a:endParaRPr lang="en-US" dirty="0"/>
          </a:p>
          <a:p>
            <a:r>
              <a:rPr dirty="0"/>
              <a:t>Wi-Fi's preamble is always wideband, so about two meters. LTE's CRS — the cell reference signal — is always on, across the full band, so about eight meters. </a:t>
            </a:r>
            <a:endParaRPr lang="en-US" dirty="0"/>
          </a:p>
          <a:p>
            <a:endParaRPr lang="en-US" dirty="0"/>
          </a:p>
          <a:p>
            <a:r>
              <a:rPr dirty="0"/>
              <a:t>And 5G, in an idle cell, sends only the SSB — a narrow seven megahertz beacon sitting in the middle of a one hundred megahertz channel — so about twenty-one meters. So the widest channel gives the worst range.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One word on PRS first, since SSB is familiar but PRS may not be. PRS is the Positioning Reference Signal — a wideband signal the network switches on only when it is actually locating a device. It is not always on.</a:t>
            </a:r>
          </a:p>
          <a:p>
            <a:endParaRPr/>
          </a:p>
          <a:p>
            <a:r>
              <a:t>Now the three modes. In G1, the idle cell, 5G sends only the SSB, so the range is coarse. It gets sharp at G2 — not because the cell is busier, but because PRS turns on and the reference bandwidth jumps from seven to ninety-eight megahertz. At G3 the cell fills up with user data, and nothing improves: we do not know that data, so we cannot use it as a reference.</a:t>
            </a:r>
          </a:p>
          <a:p>
            <a:endParaRPr/>
          </a:p>
          <a:p>
            <a:r>
              <a:t>So for a passive receiver borrowing someone else's cell, the honest baseline for 5G is the SSB.</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dirty="0"/>
              <a:t>Stage three. I split the drone into a frame plus individually spinning rotors, so the body can tilt while the props spin independently — I verified that the frame vertices do not move at all when only the blades rotate. </a:t>
            </a:r>
            <a:r>
              <a:rPr lang="en-US" dirty="0"/>
              <a:t>\</a:t>
            </a:r>
          </a:p>
          <a:p>
            <a:endParaRPr lang="en-US" dirty="0"/>
          </a:p>
          <a:p>
            <a:pPr marL="0" marR="0" lvl="0" indent="0" defTabSz="457200" eaLnBrk="1" fontAlgn="auto" latinLnBrk="0" hangingPunct="1">
              <a:lnSpc>
                <a:spcPct val="117999"/>
              </a:lnSpc>
              <a:spcBef>
                <a:spcPts val="0"/>
              </a:spcBef>
              <a:spcAft>
                <a:spcPts val="0"/>
              </a:spcAft>
              <a:buClrTx/>
              <a:buSzTx/>
              <a:buFontTx/>
              <a:buNone/>
              <a:tabLst/>
              <a:defRPr/>
            </a:pPr>
            <a:r>
              <a:rPr lang="en-US" altLang="ko-KR" dirty="0"/>
              <a:t>Every part is modeled separately: body, arms, motors, propellers, gimbal, landing gear. </a:t>
            </a:r>
          </a:p>
          <a:p>
            <a:endParaRPr lang="en-US" dirty="0"/>
          </a:p>
          <a:p>
            <a:r>
              <a:rPr dirty="0"/>
              <a:t>This is the basis for both micro-Doppler and, later, flight simulation.</a:t>
            </a: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dirty="0"/>
              <a:t>Stage three, the micro-Doppler. </a:t>
            </a:r>
            <a:endParaRPr lang="en-US" dirty="0"/>
          </a:p>
          <a:p>
            <a:r>
              <a:rPr dirty="0"/>
              <a:t>I separated the rotors so the blades can spin on their own, and then I simply asked for the micro-Doppler pattern — and this is what came out. The vertical stripes are the blade flashes, and the spread around the </a:t>
            </a:r>
            <a:r>
              <a:rPr dirty="0" err="1"/>
              <a:t>centre</a:t>
            </a:r>
            <a:r>
              <a:rPr dirty="0"/>
              <a:t> is the Doppler from the blade tips. That is as far as I have taken it for now.</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where the work sits right now. Done: the environment — the chamber and the five meshes; the illuminators — Wi-Fi, LTE and 5G, with their reference signals and the occupancy modes; and the micro-Doppler. Next is the real passive radar chain: a bistatic geometry with the transmitter and the receiver apart, clutter cancellation, and CFAR detection with tracking. I have already started that part, so I can show detection results next time. After that: a fair benchmark of the three signals in terms of detection probability, drone versus bird from the blade signature, and exporting the articulated model to PX4 or Gazebo.</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Now let me briefly introduce the paper from ICML that I found interesting, and then wrap up.</a:t>
            </a:r>
          </a:p>
        </p:txBody>
      </p:sp>
    </p:spTree>
    <p:extLst>
      <p:ext uri="{BB962C8B-B14F-4D97-AF65-F5344CB8AC3E}">
        <p14:creationId xmlns:p14="http://schemas.microsoft.com/office/powerpoint/2010/main" val="30432324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The task is wireless signal recognition. An AI reads a passively received IQ signal and labels it — the modulation type, the wireless technology, or an anomaly. A lot of recent work does this with deep learning, and diffusion models in particular have been doing well, because they are strong denoisers and their learned features transfer nicely to this task.</a:t>
            </a:r>
          </a:p>
        </p:txBody>
      </p:sp>
    </p:spTree>
    <p:extLst>
      <p:ext uri="{BB962C8B-B14F-4D97-AF65-F5344CB8AC3E}">
        <p14:creationId xmlns:p14="http://schemas.microsoft.com/office/powerpoint/2010/main" val="3952428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But the authors point out a gap. Existing diffusion work only adds and removes Gaussian noise. A real channel is not Gaussian — it multiplies the signal, it does not just add to it. So they argue the physics is missing, and they put a physical channel model inside the forward process. The reverse process then learns to undo the channel, not just the noise. They call this de-channeling.</a:t>
            </a:r>
          </a:p>
        </p:txBody>
      </p:sp>
    </p:spTree>
    <p:extLst>
      <p:ext uri="{BB962C8B-B14F-4D97-AF65-F5344CB8AC3E}">
        <p14:creationId xmlns:p14="http://schemas.microsoft.com/office/powerpoint/2010/main" val="9949884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This is the whole pipeline. On the left is the forward process. Instead of adding only Gaussian noise, they first push the signal through a channel — but not a free-form neural channel. They keep a small set of real physical channels: AWGN, Rayleigh, Rician, carrier frequency offset and sampling rate offset. A small network — they call it CPE-Net, the channel parameter estimation network — looks at the signal and outputs softmax weights over those candidates. So the forward process is: mix the physical channels with the estimated weights, apply that, and then add Gaussian noise.</a:t>
            </a:r>
          </a:p>
          <a:p>
            <a:endParaRPr/>
          </a:p>
          <a:p>
            <a:r>
              <a:t>Why constrain it that way? Because they prove that if you let the channel be a free network, the loss has a local minimum where the channel simply becomes one — in other words, the model quietly switches the channel off, and you are back to ordinary denoising.</a:t>
            </a:r>
          </a:p>
          <a:p>
            <a:endParaRPr/>
          </a:p>
          <a:p>
            <a:r>
              <a:t>On the right is the reverse process, which they call FusedFormer. It has a fusion module that combines the time-domain and the spectral view of the signal, and a self-attention module on top. That is the part that learns to undo the channel and the noise. I could not fully follow the attention details yet — that is part of the AI study I planned.</a:t>
            </a:r>
          </a:p>
        </p:txBody>
      </p:sp>
    </p:spTree>
    <p:extLst>
      <p:ext uri="{BB962C8B-B14F-4D97-AF65-F5344CB8AC3E}">
        <p14:creationId xmlns:p14="http://schemas.microsoft.com/office/powerpoint/2010/main" val="16441901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They report state of the art on all four datasets, with an average rank of one. But look at the margins. On RML2016 they get 63.60 against IQFormer's 63.54 — that is six hundredths of a point, and I honestly wonder whether it would survive a different random seed. The one clear win is TechRec: 91.0, against 88.8 for the next best.</a:t>
            </a:r>
          </a:p>
          <a:p>
            <a:endParaRPr/>
          </a:p>
          <a:p>
            <a:r>
              <a:t>What convinced me more than the headline table is their own ablation. If you drop just one physical channel from the candidate set — say the carrier frequency offset — the accuracy falls by about two points, from 63.6 to 61.5. So the physical priors really are doing the work, even though the margin over the previous best model is thin. And interestingly, adding more channel types, like multipath or Nakagami, does not help.</a:t>
            </a:r>
          </a:p>
          <a:p>
            <a:endParaRPr/>
          </a:p>
          <a:p>
            <a:r>
              <a:t>One thing I take from this for our own work: learning buys you a few points, but physics — bandwidth and integration time — buys you tens of decibels.</a:t>
            </a:r>
          </a:p>
        </p:txBody>
      </p:sp>
    </p:spTree>
    <p:extLst>
      <p:ext uri="{BB962C8B-B14F-4D97-AF65-F5344CB8AC3E}">
        <p14:creationId xmlns:p14="http://schemas.microsoft.com/office/powerpoint/2010/main" val="36330826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3CC8C-5659-5EED-9405-F2284EE6BAF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29BCAC2-D6CC-31DC-56B7-78EE93837974}"/>
              </a:ext>
            </a:extLst>
          </p:cNvPr>
          <p:cNvSpPr>
            <a:spLocks noGrp="1" noRot="1" noChangeAspect="1"/>
          </p:cNvSpPr>
          <p:nvPr>
            <p:ph type="sldImg"/>
          </p:nvPr>
        </p:nvSpPr>
        <p:spPr>
          <a:xfrm>
            <a:off x="381000" y="685800"/>
            <a:ext cx="6096000" cy="3429000"/>
          </a:xfrm>
        </p:spPr>
      </p:sp>
      <p:sp>
        <p:nvSpPr>
          <p:cNvPr id="3" name="슬라이드 노트 개체 틀 2">
            <a:extLst>
              <a:ext uri="{FF2B5EF4-FFF2-40B4-BE49-F238E27FC236}">
                <a16:creationId xmlns:a16="http://schemas.microsoft.com/office/drawing/2014/main" id="{E544DC22-367D-F13F-9DC2-F9A4AFF037C9}"/>
              </a:ext>
            </a:extLst>
          </p:cNvPr>
          <p:cNvSpPr>
            <a:spLocks noGrp="1"/>
          </p:cNvSpPr>
          <p:nvPr>
            <p:ph type="body" idx="1"/>
          </p:nvPr>
        </p:nvSpPr>
        <p:spPr/>
        <p:txBody>
          <a:bodyPr/>
          <a:lstStyle/>
          <a:p>
            <a:r>
              <a:t>That is everything from me. Thank you.</a:t>
            </a:r>
          </a:p>
        </p:txBody>
      </p:sp>
    </p:spTree>
    <p:extLst>
      <p:ext uri="{BB962C8B-B14F-4D97-AF65-F5344CB8AC3E}">
        <p14:creationId xmlns:p14="http://schemas.microsoft.com/office/powerpoint/2010/main" val="281962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/2</a:t>
            </a:r>
            <a:r>
              <a:rPr lang="en-US" altLang="ko-KR" dirty="0"/>
              <a:t>3</a:t>
            </a:r>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7.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11.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2.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3.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2026. 07. 14</a:t>
            </a: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Last Meeting</a:t>
            </a:r>
            <a:endParaRPr lang="en-US" altLang="ko-KR" sz="5200" b="1" i="0" dirty="0">
              <a:solidFill>
                <a:srgbClr val="000000"/>
              </a:solidFill>
              <a:latin typeface="AvenirNext-DemiBold"/>
              <a:ea typeface="AvenirNext-DemiBold"/>
              <a:cs typeface="AvenirNext-DemiBold"/>
            </a:endParaRPr>
          </a:p>
        </p:txBody>
      </p:sp>
      <p:sp>
        <p:nvSpPr>
          <p:cNvPr id="14" name="Bullets"/>
          <p:cNvSpPr txBox="1">
            <a:spLocks/>
          </p:cNvSpPr>
          <p:nvPr/>
        </p:nvSpPr>
        <p:spPr>
          <a:xfrm>
            <a:off x="720000" y="2820000"/>
            <a:ext cx="22944000" cy="8400000"/>
          </a:xfrm>
          <a:prstGeom prst="rect">
            <a:avLst/>
          </a:prstGeom>
        </p:spPr>
        <p:txBody>
          <a:bodyPr lIns="50800" tIns="30000" rIns="50800" bIns="30000" anchor="t">
            <a:noAutofit/>
          </a:bodyPr>
          <a:lstStyle/>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What I </a:t>
            </a:r>
            <a:r>
              <a:rPr lang="en-US" altLang="ko-KR" sz="4000" b="1" dirty="0">
                <a:solidFill>
                  <a:srgbClr val="26448A"/>
                </a:solidFill>
              </a:rPr>
              <a:t>did</a:t>
            </a:r>
            <a:endParaRPr lang="en-US" altLang="ko-KR" sz="4000" b="1" i="0" dirty="0">
              <a:solidFill>
                <a:srgbClr val="26448A"/>
              </a:solidFill>
              <a:latin typeface="Avenir Next Medium"/>
              <a:ea typeface="Avenir Next Medium"/>
              <a:cs typeface="Avenir Next Medium"/>
            </a:endParaRP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Drone selection — Mavic 4 Pro vs Matrice 4E (echo vs RTK ground truth)</a:t>
            </a:r>
          </a:p>
          <a:p>
            <a:pPr marL="1260000" indent="-660000" algn="l">
              <a:spcBef>
                <a:spcPts val="900"/>
              </a:spcBef>
              <a:buFont typeface="Wingdings"/>
              <a:buChar char="Ø"/>
            </a:pPr>
            <a:r>
              <a:rPr lang="en-US" altLang="ko-KR" sz="3400" dirty="0"/>
              <a:t>Reviewed LaSen (SenSys '26) — the one 5G tracking paper, with RTK ground truth</a:t>
            </a:r>
            <a:endParaRPr lang="en-US" altLang="ko-KR" sz="3400" b="0" i="0" dirty="0">
              <a:solidFill>
                <a:srgbClr val="000000"/>
              </a:solidFill>
              <a:latin typeface="Avenir Next Medium"/>
              <a:ea typeface="Avenir Next Medium"/>
              <a:cs typeface="Avenir Next Medium"/>
            </a:endParaRPr>
          </a:p>
          <a:p>
            <a:pPr marL="600000" indent="-600000" algn="l">
              <a:spcBef>
                <a:spcPts val="1900"/>
              </a:spcBef>
              <a:buFont typeface="Arial"/>
              <a:buChar char="•"/>
            </a:pPr>
            <a:endParaRPr lang="en-US" altLang="ko-KR" sz="40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What I planned</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Three parallel tracks — PHY anatomy, AI self-study, and the Sionna simulation</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Sionna: a controlled RD-map detection benchmark</a:t>
            </a:r>
          </a:p>
          <a:p>
            <a:pPr marL="1260000" indent="-660000" algn="l">
              <a:spcBef>
                <a:spcPts val="900"/>
              </a:spcBef>
              <a:buFont typeface="Wingdings"/>
              <a:buChar char="Ø"/>
            </a:pPr>
            <a:endParaRPr lang="en-US" altLang="ko-KR" sz="40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Today</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Progress on Sionna — three stages now built (environment → radar → micro-Doppler)</a:t>
            </a:r>
          </a:p>
          <a:p>
            <a:pPr marL="1260000" indent="-660000" algn="l">
              <a:spcBef>
                <a:spcPts val="900"/>
              </a:spcBef>
              <a:buFont typeface="Wingdings"/>
              <a:buChar char="Ø"/>
            </a:pPr>
            <a:r>
              <a:rPr lang="en-US" altLang="ko-KR" sz="3400" dirty="0"/>
              <a:t>Paper Introduction  </a:t>
            </a:r>
            <a:r>
              <a:rPr lang="en-US" altLang="ko-KR" sz="3400" b="0" i="0" dirty="0">
                <a:solidFill>
                  <a:srgbClr val="000000"/>
                </a:solidFill>
                <a:latin typeface="Avenir Next Medium"/>
                <a:ea typeface="Avenir Next Medium"/>
                <a:cs typeface="Avenir Next Medium"/>
              </a:rPr>
              <a:t>— From Denoising to De-Channeling (ICML 2026 Spotlight)</a:t>
            </a:r>
          </a:p>
        </p:txBody>
      </p:sp>
      <p:sp>
        <p:nvSpPr>
          <p:cNvPr id="3" name="Tag">
            <a:extLst>
              <a:ext uri="{FF2B5EF4-FFF2-40B4-BE49-F238E27FC236}">
                <a16:creationId xmlns:a16="http://schemas.microsoft.com/office/drawing/2014/main" id="{1FB3B99C-7F01-F4A5-EB67-C11BE3507E1A}"/>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Recap</a:t>
            </a:r>
          </a:p>
        </p:txBody>
      </p:sp>
      <p:sp>
        <p:nvSpPr>
          <p:cNvPr id="4" name="슬라이드 번호 개체 틀 3">
            <a:extLst>
              <a:ext uri="{FF2B5EF4-FFF2-40B4-BE49-F238E27FC236}">
                <a16:creationId xmlns:a16="http://schemas.microsoft.com/office/drawing/2014/main" id="{6F31C79B-AA14-B5C0-E1E5-438903C06C75}"/>
              </a:ext>
            </a:extLst>
          </p:cNvPr>
          <p:cNvSpPr>
            <a:spLocks noGrp="1"/>
          </p:cNvSpPr>
          <p:nvPr>
            <p:ph type="sldNum" sz="quarter" idx="2"/>
          </p:nvPr>
        </p:nvSpPr>
        <p:spPr/>
        <p:txBody>
          <a:bodyPr/>
          <a:lstStyle/>
          <a:p>
            <a:fld id="{86CB4B4D-7CA3-9044-876B-883B54F8677D}" type="slidenum">
              <a:rPr lang="en-US" altLang="ko-KR" smtClean="0"/>
              <a:t>2</a:t>
            </a:fld>
            <a:r>
              <a:rPr lang="en-US" altLang="ko-KR"/>
              <a:t>/21</a:t>
            </a:r>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Today</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Contents</a:t>
            </a:r>
            <a:endParaRPr lang="en-US" altLang="ko-KR" sz="5200" b="1" i="0" dirty="0">
              <a:solidFill>
                <a:srgbClr val="000000"/>
              </a:solidFill>
              <a:latin typeface="AvenirNext-DemiBold"/>
              <a:ea typeface="AvenirNext-DemiBold"/>
              <a:cs typeface="AvenirNext-DemiBold"/>
            </a:endParaRPr>
          </a:p>
        </p:txBody>
      </p:sp>
      <p:sp>
        <p:nvSpPr>
          <p:cNvPr id="14" name="Bullets"/>
          <p:cNvSpPr txBox="1">
            <a:spLocks/>
          </p:cNvSpPr>
          <p:nvPr/>
        </p:nvSpPr>
        <p:spPr>
          <a:xfrm>
            <a:off x="720000" y="2850000"/>
            <a:ext cx="22944000" cy="8600000"/>
          </a:xfrm>
          <a:prstGeom prst="rect">
            <a:avLst/>
          </a:prstGeom>
        </p:spPr>
        <p:txBody>
          <a:bodyPr lIns="50800" tIns="30000" rIns="50800" bIns="30000" anchor="t">
            <a:noAutofit/>
          </a:bodyPr>
          <a:lstStyle/>
          <a:p>
            <a:pPr marL="600000" indent="-600000" algn="l">
              <a:spcBef>
                <a:spcPts val="1900"/>
              </a:spcBef>
              <a:buFont typeface="Arial"/>
              <a:buChar char="•"/>
            </a:pPr>
            <a:r>
              <a:rPr lang="en-US" altLang="ko-KR" sz="4800" b="1" i="0" dirty="0">
                <a:solidFill>
                  <a:srgbClr val="26448A"/>
                </a:solidFill>
                <a:latin typeface="Avenir Next Medium"/>
                <a:ea typeface="Avenir Next Medium"/>
                <a:cs typeface="Avenir Next Medium"/>
              </a:rPr>
              <a:t>1 · Sionna Progress</a:t>
            </a:r>
          </a:p>
          <a:p>
            <a:pPr marL="1260000" indent="-660000" algn="l">
              <a:spcBef>
                <a:spcPts val="900"/>
              </a:spcBef>
              <a:buFont typeface="Wingdings"/>
              <a:buChar char="Ø"/>
            </a:pPr>
            <a:r>
              <a:rPr lang="en-US" altLang="ko-KR" sz="4000" b="0" i="0" dirty="0">
                <a:solidFill>
                  <a:srgbClr val="000000"/>
                </a:solidFill>
                <a:latin typeface="Avenir Next Medium"/>
                <a:ea typeface="Avenir Next Medium"/>
                <a:cs typeface="Avenir Next Medium"/>
              </a:rPr>
              <a:t>Three stages — environment, illuminators (Wi-Fi / LTE / 5G), and micro-Doppler</a:t>
            </a:r>
          </a:p>
          <a:p>
            <a:pPr marL="600000" indent="-600000" algn="l">
              <a:spcBef>
                <a:spcPts val="1000"/>
              </a:spcBef>
              <a:buFont typeface="Arial"/>
              <a:buChar char="•"/>
            </a:pPr>
            <a:endParaRPr lang="en-US" altLang="ko-KR" sz="2400" b="1" i="0" dirty="0">
              <a:solidFill>
                <a:srgbClr val="26448A"/>
              </a:solidFill>
              <a:latin typeface="Avenir Next Medium"/>
              <a:ea typeface="Avenir Next Medium"/>
              <a:cs typeface="Avenir Next Medium"/>
            </a:endParaRPr>
          </a:p>
          <a:p>
            <a:pPr marL="600000" indent="-600000" algn="l">
              <a:spcBef>
                <a:spcPts val="1900"/>
              </a:spcBef>
              <a:buFont typeface="Arial"/>
              <a:buChar char="•"/>
            </a:pPr>
            <a:endParaRPr lang="en-US" altLang="ko-KR" sz="48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800" b="1" i="0" dirty="0">
                <a:solidFill>
                  <a:srgbClr val="26448A"/>
                </a:solidFill>
                <a:latin typeface="Avenir Next Medium"/>
                <a:ea typeface="Avenir Next Medium"/>
                <a:cs typeface="Avenir Next Medium"/>
              </a:rPr>
              <a:t>2 · Paper </a:t>
            </a:r>
            <a:r>
              <a:rPr lang="en-US" altLang="ko-KR" sz="4800" b="1" dirty="0">
                <a:solidFill>
                  <a:srgbClr val="26448A"/>
                </a:solidFill>
              </a:rPr>
              <a:t>Introduction</a:t>
            </a:r>
            <a:endParaRPr lang="en-US" altLang="ko-KR" sz="4800" b="1" i="0" dirty="0">
              <a:solidFill>
                <a:srgbClr val="26448A"/>
              </a:solidFill>
              <a:latin typeface="Avenir Next Medium"/>
              <a:ea typeface="Avenir Next Medium"/>
              <a:cs typeface="Avenir Next Medium"/>
            </a:endParaRPr>
          </a:p>
          <a:p>
            <a:pPr marL="1260000" indent="-660000" algn="l">
              <a:spcBef>
                <a:spcPts val="900"/>
              </a:spcBef>
              <a:buFont typeface="Wingdings"/>
              <a:buChar char="Ø"/>
            </a:pPr>
            <a:r>
              <a:rPr lang="en-US" altLang="ko-KR" sz="4000" b="0" i="0" dirty="0">
                <a:solidFill>
                  <a:srgbClr val="000000"/>
                </a:solidFill>
                <a:latin typeface="Avenir Next Medium"/>
                <a:ea typeface="Avenir Next Medium"/>
                <a:cs typeface="Avenir Next Medium"/>
              </a:rPr>
              <a:t>From Denoising to De-Channeling (ICML 2026) — physics-informed diffusion for WSR</a:t>
            </a:r>
          </a:p>
          <a:p>
            <a:pPr algn="l">
              <a:spcBef>
                <a:spcPts val="1000"/>
              </a:spcBef>
            </a:pPr>
            <a:endParaRPr lang="en-US" altLang="ko-KR" sz="2400" b="1" i="0" dirty="0">
              <a:solidFill>
                <a:srgbClr val="26448A"/>
              </a:solidFill>
              <a:latin typeface="Avenir Next Medium"/>
              <a:ea typeface="Avenir Next Medium"/>
              <a:cs typeface="Avenir Next Medium"/>
            </a:endParaRPr>
          </a:p>
        </p:txBody>
      </p:sp>
      <p:sp>
        <p:nvSpPr>
          <p:cNvPr id="3" name="슬라이드 번호 개체 틀 2">
            <a:extLst>
              <a:ext uri="{FF2B5EF4-FFF2-40B4-BE49-F238E27FC236}">
                <a16:creationId xmlns:a16="http://schemas.microsoft.com/office/drawing/2014/main" id="{453567E7-E142-0BFE-09F3-D69F04CEBBB4}"/>
              </a:ext>
            </a:extLst>
          </p:cNvPr>
          <p:cNvSpPr>
            <a:spLocks noGrp="1"/>
          </p:cNvSpPr>
          <p:nvPr>
            <p:ph type="sldNum" sz="quarter" idx="2"/>
          </p:nvPr>
        </p:nvSpPr>
        <p:spPr/>
        <p:txBody>
          <a:bodyPr/>
          <a:lstStyle/>
          <a:p>
            <a:fld id="{86CB4B4D-7CA3-9044-876B-883B54F8677D}" type="slidenum">
              <a:rPr lang="en-US" altLang="ko-KR" smtClean="0"/>
              <a:t>3</a:t>
            </a:fld>
            <a:r>
              <a:rPr lang="en-US" altLang="ko-KR"/>
              <a:t>/21</a:t>
            </a:r>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vKicker"/>
          <p:cNvSpPr txBox="1">
            <a:spLocks/>
          </p:cNvSpPr>
          <p:nvPr/>
        </p:nvSpPr>
        <p:spPr>
          <a:xfrm>
            <a:off x="0" y="4050000"/>
            <a:ext cx="24384000" cy="760000"/>
          </a:xfrm>
          <a:prstGeom prst="rect">
            <a:avLst/>
          </a:prstGeom>
        </p:spPr>
        <p:txBody>
          <a:bodyPr lIns="50800" tIns="30000" rIns="50800" bIns="30000" anchor="ctr">
            <a:noAutofit/>
          </a:bodyPr>
          <a:lstStyle/>
          <a:p>
            <a:pPr algn="ctr"/>
            <a:r>
              <a:rPr lang="en-US" altLang="ko-KR" sz="3600" b="1" i="0" dirty="0">
                <a:solidFill>
                  <a:srgbClr val="2E74B5"/>
                </a:solidFill>
                <a:latin typeface="Avenir Next Medium"/>
                <a:ea typeface="Avenir Next Medium"/>
                <a:cs typeface="Avenir Next Medium"/>
              </a:rPr>
              <a:t>PROGRESS REPORT</a:t>
            </a:r>
          </a:p>
        </p:txBody>
      </p:sp>
      <p:sp>
        <p:nvSpPr>
          <p:cNvPr id="12" name="DivTitle"/>
          <p:cNvSpPr txBox="1">
            <a:spLocks/>
          </p:cNvSpPr>
          <p:nvPr/>
        </p:nvSpPr>
        <p:spPr>
          <a:xfrm>
            <a:off x="0" y="4850000"/>
            <a:ext cx="24384000" cy="1550000"/>
          </a:xfrm>
          <a:prstGeom prst="rect">
            <a:avLst/>
          </a:prstGeom>
        </p:spPr>
        <p:txBody>
          <a:bodyPr lIns="50800" tIns="30000" rIns="50800" bIns="30000" anchor="ctr">
            <a:noAutofit/>
          </a:bodyPr>
          <a:lstStyle/>
          <a:p>
            <a:pPr algn="ctr"/>
            <a:r>
              <a:rPr lang="en-US" altLang="ko-KR" sz="7200" b="1" i="0" dirty="0">
                <a:solidFill>
                  <a:srgbClr val="000000"/>
                </a:solidFill>
                <a:latin typeface="AvenirNext-DemiBold"/>
                <a:ea typeface="AvenirNext-DemiBold"/>
                <a:cs typeface="AvenirNext-DemiBold"/>
              </a:rPr>
              <a:t>Sionna Simulation</a:t>
            </a:r>
          </a:p>
        </p:txBody>
      </p:sp>
      <p:sp>
        <p:nvSpPr>
          <p:cNvPr id="13" name="DivSub"/>
          <p:cNvSpPr txBox="1">
            <a:spLocks/>
          </p:cNvSpPr>
          <p:nvPr/>
        </p:nvSpPr>
        <p:spPr>
          <a:xfrm>
            <a:off x="0" y="6520000"/>
            <a:ext cx="24384000" cy="820000"/>
          </a:xfrm>
          <a:prstGeom prst="rect">
            <a:avLst/>
          </a:prstGeom>
        </p:spPr>
        <p:txBody>
          <a:bodyPr lIns="50800" tIns="30000" rIns="50800" bIns="30000" anchor="ctr">
            <a:noAutofit/>
          </a:bodyPr>
          <a:lstStyle/>
          <a:p>
            <a:pPr algn="ctr"/>
            <a:r>
              <a:rPr lang="en-US" altLang="ko-KR" sz="4000" b="0" i="1" dirty="0">
                <a:solidFill>
                  <a:srgbClr val="595959"/>
                </a:solidFill>
                <a:latin typeface="Avenir Next Medium"/>
                <a:ea typeface="Avenir Next Medium"/>
                <a:cs typeface="Avenir Next Medium"/>
              </a:rPr>
              <a:t>From an empty chamber to a drone's radar signature — in three stages</a:t>
            </a:r>
          </a:p>
        </p:txBody>
      </p:sp>
      <p:sp>
        <p:nvSpPr>
          <p:cNvPr id="14" name="DivRoad"/>
          <p:cNvSpPr txBox="1">
            <a:spLocks/>
          </p:cNvSpPr>
          <p:nvPr/>
        </p:nvSpPr>
        <p:spPr>
          <a:xfrm>
            <a:off x="0" y="7780000"/>
            <a:ext cx="24384000" cy="820000"/>
          </a:xfrm>
          <a:prstGeom prst="rect">
            <a:avLst/>
          </a:prstGeom>
        </p:spPr>
        <p:txBody>
          <a:bodyPr lIns="50800" tIns="30000" rIns="50800" bIns="30000" anchor="ctr">
            <a:noAutofit/>
          </a:bodyPr>
          <a:lstStyle/>
          <a:p>
            <a:pPr algn="ctr"/>
            <a:r>
              <a:rPr lang="en-US" altLang="ko-KR" sz="3600" b="1" i="0" dirty="0">
                <a:solidFill>
                  <a:srgbClr val="26448A"/>
                </a:solidFill>
                <a:latin typeface="Avenir Next Medium"/>
                <a:ea typeface="Avenir Next Medium"/>
                <a:cs typeface="Avenir Next Medium"/>
              </a:rPr>
              <a:t>①  Environment    →    ②  Illuminators    →    ③  Micro-Doppler</a:t>
            </a:r>
          </a:p>
        </p:txBody>
      </p:sp>
      <p:sp>
        <p:nvSpPr>
          <p:cNvPr id="3" name="슬라이드 번호 개체 틀 2">
            <a:extLst>
              <a:ext uri="{FF2B5EF4-FFF2-40B4-BE49-F238E27FC236}">
                <a16:creationId xmlns:a16="http://schemas.microsoft.com/office/drawing/2014/main" id="{38FF3B5A-98E6-0FC7-3827-D88D91057EFB}"/>
              </a:ext>
            </a:extLst>
          </p:cNvPr>
          <p:cNvSpPr>
            <a:spLocks noGrp="1"/>
          </p:cNvSpPr>
          <p:nvPr>
            <p:ph type="sldNum" sz="quarter" idx="2"/>
          </p:nvPr>
        </p:nvSpPr>
        <p:spPr/>
        <p:txBody>
          <a:bodyPr/>
          <a:lstStyle/>
          <a:p>
            <a:fld id="{86CB4B4D-7CA3-9044-876B-883B54F8677D}" type="slidenum">
              <a:rPr lang="en-US" altLang="ko-KR" smtClean="0"/>
              <a:t>4</a:t>
            </a:fld>
            <a:r>
              <a:rPr lang="en-US" altLang="ko-KR"/>
              <a:t>/21</a:t>
            </a:r>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Sionna Progress · Overview</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Three Stages, Built on One Scene</a:t>
            </a:r>
            <a:endParaRPr lang="en-US" altLang="ko-KR" sz="5200" b="1" i="0" dirty="0">
              <a:solidFill>
                <a:srgbClr val="000000"/>
              </a:solidFill>
              <a:latin typeface="AvenirNext-DemiBold"/>
              <a:ea typeface="AvenirNext-DemiBold"/>
              <a:cs typeface="AvenirNext-DemiBold"/>
            </a:endParaRPr>
          </a:p>
        </p:txBody>
      </p:sp>
      <p:sp>
        <p:nvSpPr>
          <p:cNvPr id="41" name="L"/>
          <p:cNvSpPr txBox="1"/>
          <p:nvPr/>
        </p:nvSpPr>
        <p:spPr>
          <a:xfrm>
            <a:off x="720000" y="31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① Environment</a:t>
            </a:r>
          </a:p>
        </p:txBody>
      </p:sp>
      <p:sp>
        <p:nvSpPr>
          <p:cNvPr id="42" name="B"/>
          <p:cNvSpPr txBox="1"/>
          <p:nvPr/>
        </p:nvSpPr>
        <p:spPr>
          <a:xfrm>
            <a:off x="5900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Shielded chamber</a:t>
            </a:r>
          </a:p>
        </p:txBody>
      </p:sp>
      <p:sp>
        <p:nvSpPr>
          <p:cNvPr id="43" name="A"/>
          <p:cNvSpPr txBox="1"/>
          <p:nvPr/>
        </p:nvSpPr>
        <p:spPr>
          <a:xfrm>
            <a:off x="11300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4" name="B"/>
          <p:cNvSpPr txBox="1"/>
          <p:nvPr/>
        </p:nvSpPr>
        <p:spPr>
          <a:xfrm>
            <a:off x="12082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5 DJI meshes</a:t>
            </a:r>
          </a:p>
        </p:txBody>
      </p:sp>
      <p:sp>
        <p:nvSpPr>
          <p:cNvPr id="45" name="A"/>
          <p:cNvSpPr txBox="1"/>
          <p:nvPr/>
        </p:nvSpPr>
        <p:spPr>
          <a:xfrm>
            <a:off x="17482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6" name="B"/>
          <p:cNvSpPr txBox="1"/>
          <p:nvPr/>
        </p:nvSpPr>
        <p:spPr>
          <a:xfrm>
            <a:off x="18264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RF materials</a:t>
            </a:r>
          </a:p>
        </p:txBody>
      </p:sp>
      <p:sp>
        <p:nvSpPr>
          <p:cNvPr id="47" name="L"/>
          <p:cNvSpPr txBox="1"/>
          <p:nvPr/>
        </p:nvSpPr>
        <p:spPr>
          <a:xfrm>
            <a:off x="720000" y="550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② Illuminators</a:t>
            </a:r>
          </a:p>
        </p:txBody>
      </p:sp>
      <p:sp>
        <p:nvSpPr>
          <p:cNvPr id="48" name="B"/>
          <p:cNvSpPr txBox="1"/>
          <p:nvPr/>
        </p:nvSpPr>
        <p:spPr>
          <a:xfrm>
            <a:off x="5900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Wi-Fi / LTE / 5G</a:t>
            </a:r>
          </a:p>
          <a:p>
            <a:pPr algn="ctr"/>
            <a:r>
              <a:rPr lang="en-US" altLang="ko-KR" sz="2400" b="1" i="0" dirty="0">
                <a:solidFill>
                  <a:srgbClr val="26448A"/>
                </a:solidFill>
                <a:latin typeface="Avenir Next Medium"/>
                <a:ea typeface="Avenir Next Medium"/>
                <a:cs typeface="Avenir Next Medium"/>
              </a:rPr>
              <a:t>real waveforms</a:t>
            </a:r>
          </a:p>
        </p:txBody>
      </p:sp>
      <p:sp>
        <p:nvSpPr>
          <p:cNvPr id="49" name="A"/>
          <p:cNvSpPr txBox="1"/>
          <p:nvPr/>
        </p:nvSpPr>
        <p:spPr>
          <a:xfrm>
            <a:off x="11300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0" name="B"/>
          <p:cNvSpPr txBox="1"/>
          <p:nvPr/>
        </p:nvSpPr>
        <p:spPr>
          <a:xfrm>
            <a:off x="12082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Reference signals</a:t>
            </a:r>
          </a:p>
          <a:p>
            <a:pPr algn="ctr"/>
            <a:r>
              <a:rPr lang="en-US" altLang="ko-KR" sz="2400" b="1" i="0" dirty="0">
                <a:solidFill>
                  <a:srgbClr val="26448A"/>
                </a:solidFill>
                <a:latin typeface="Avenir Next Medium"/>
                <a:ea typeface="Avenir Next Medium"/>
                <a:cs typeface="Avenir Next Medium"/>
              </a:rPr>
              <a:t>CRS vs SSB</a:t>
            </a:r>
          </a:p>
        </p:txBody>
      </p:sp>
      <p:sp>
        <p:nvSpPr>
          <p:cNvPr id="51" name="A"/>
          <p:cNvSpPr txBox="1"/>
          <p:nvPr/>
        </p:nvSpPr>
        <p:spPr>
          <a:xfrm>
            <a:off x="17482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2" name="B"/>
          <p:cNvSpPr txBox="1"/>
          <p:nvPr/>
        </p:nvSpPr>
        <p:spPr>
          <a:xfrm>
            <a:off x="18264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Occupancy</a:t>
            </a:r>
          </a:p>
          <a:p>
            <a:pPr algn="ctr">
              <a:spcBef>
                <a:spcPts val="200"/>
              </a:spcBef>
            </a:pPr>
            <a:r>
              <a:rPr lang="en-US" altLang="ko-KR" sz="1700" b="0" i="1" dirty="0">
                <a:solidFill>
                  <a:srgbClr val="595959"/>
                </a:solidFill>
                <a:latin typeface="Avenir Next Medium"/>
                <a:ea typeface="Avenir Next Medium"/>
                <a:cs typeface="Avenir Next Medium"/>
              </a:rPr>
              <a:t>G1 – G3</a:t>
            </a:r>
          </a:p>
        </p:txBody>
      </p:sp>
      <p:sp>
        <p:nvSpPr>
          <p:cNvPr id="53" name="L"/>
          <p:cNvSpPr txBox="1"/>
          <p:nvPr/>
        </p:nvSpPr>
        <p:spPr>
          <a:xfrm>
            <a:off x="720000" y="78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③ Micro-Doppler</a:t>
            </a:r>
          </a:p>
        </p:txBody>
      </p:sp>
      <p:sp>
        <p:nvSpPr>
          <p:cNvPr id="54" name="B"/>
          <p:cNvSpPr txBox="1"/>
          <p:nvPr/>
        </p:nvSpPr>
        <p:spPr>
          <a:xfrm>
            <a:off x="5900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Articulated drone</a:t>
            </a:r>
          </a:p>
        </p:txBody>
      </p:sp>
      <p:sp>
        <p:nvSpPr>
          <p:cNvPr id="55" name="A"/>
          <p:cNvSpPr txBox="1"/>
          <p:nvPr/>
        </p:nvSpPr>
        <p:spPr>
          <a:xfrm>
            <a:off x="11300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6" name="B"/>
          <p:cNvSpPr txBox="1"/>
          <p:nvPr/>
        </p:nvSpPr>
        <p:spPr>
          <a:xfrm>
            <a:off x="12082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Blade flash</a:t>
            </a:r>
          </a:p>
          <a:p>
            <a:pPr algn="ctr">
              <a:spcBef>
                <a:spcPts val="200"/>
              </a:spcBef>
            </a:pPr>
            <a:r>
              <a:rPr lang="en-US" altLang="ko-KR" sz="1700" b="0" i="1" dirty="0">
                <a:solidFill>
                  <a:srgbClr val="595959"/>
                </a:solidFill>
                <a:latin typeface="Avenir Next Medium"/>
                <a:ea typeface="Avenir Next Medium"/>
                <a:cs typeface="Avenir Next Medium"/>
              </a:rPr>
              <a:t>+ tip Doppler</a:t>
            </a:r>
          </a:p>
        </p:txBody>
      </p:sp>
      <p:sp>
        <p:nvSpPr>
          <p:cNvPr id="57" name="A"/>
          <p:cNvSpPr txBox="1"/>
          <p:nvPr/>
        </p:nvSpPr>
        <p:spPr>
          <a:xfrm>
            <a:off x="17482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8" name="B"/>
          <p:cNvSpPr txBox="1"/>
          <p:nvPr/>
        </p:nvSpPr>
        <p:spPr>
          <a:xfrm>
            <a:off x="18264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PX4 / Gazebo basis</a:t>
            </a:r>
          </a:p>
        </p:txBody>
      </p:sp>
      <p:sp>
        <p:nvSpPr>
          <p:cNvPr id="3" name="슬라이드 번호 개체 틀 2">
            <a:extLst>
              <a:ext uri="{FF2B5EF4-FFF2-40B4-BE49-F238E27FC236}">
                <a16:creationId xmlns:a16="http://schemas.microsoft.com/office/drawing/2014/main" id="{B4D319FC-14F6-DB38-5437-13D5AAD32ED3}"/>
              </a:ext>
            </a:extLst>
          </p:cNvPr>
          <p:cNvSpPr>
            <a:spLocks noGrp="1"/>
          </p:cNvSpPr>
          <p:nvPr>
            <p:ph type="sldNum" sz="quarter" idx="2"/>
          </p:nvPr>
        </p:nvSpPr>
        <p:spPr/>
        <p:txBody>
          <a:bodyPr/>
          <a:lstStyle/>
          <a:p>
            <a:fld id="{86CB4B4D-7CA3-9044-876B-883B54F8677D}" type="slidenum">
              <a:rPr lang="en-US" altLang="ko-KR" smtClean="0"/>
              <a:t>5</a:t>
            </a:fld>
            <a:r>
              <a:rPr lang="en-US" altLang="ko-KR"/>
              <a:t>/21</a:t>
            </a:r>
            <a:endParaRPr lang="ko-KR"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Environment</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RF Playground — a Shielded Chamber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30 × 20 × 11 m shielded room</a:t>
            </a:r>
          </a:p>
        </p:txBody>
      </p:sp>
      <p:pic>
        <p:nvPicPr>
          <p:cNvPr id="20" name="chamber_render"/>
          <p:cNvPicPr>
            <a:picLocks noChangeAspect="1"/>
          </p:cNvPicPr>
          <p:nvPr/>
        </p:nvPicPr>
        <p:blipFill>
          <a:blip r:embed="rId3"/>
          <a:stretch>
            <a:fillRect/>
          </a:stretch>
        </p:blipFill>
        <p:spPr>
          <a:xfrm>
            <a:off x="-485775" y="2753814"/>
            <a:ext cx="10748513" cy="8061384"/>
          </a:xfrm>
          <a:prstGeom prst="rect">
            <a:avLst/>
          </a:prstGeom>
        </p:spPr>
      </p:pic>
      <p:pic>
        <p:nvPicPr>
          <p:cNvPr id="21" name="chamber_plan"/>
          <p:cNvPicPr>
            <a:picLocks noChangeAspect="1"/>
          </p:cNvPicPr>
          <p:nvPr/>
        </p:nvPicPr>
        <p:blipFill>
          <a:blip r:embed="rId4"/>
          <a:stretch>
            <a:fillRect/>
          </a:stretch>
        </p:blipFill>
        <p:spPr>
          <a:xfrm>
            <a:off x="10262738" y="3511153"/>
            <a:ext cx="14184536" cy="6546709"/>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Sionna render of the chamber (left) · dimensioned plan &amp; elevation (right) — modelled on a real facility</a:t>
            </a:r>
          </a:p>
        </p:txBody>
      </p:sp>
      <p:sp>
        <p:nvSpPr>
          <p:cNvPr id="3" name="슬라이드 번호 개체 틀 2">
            <a:extLst>
              <a:ext uri="{FF2B5EF4-FFF2-40B4-BE49-F238E27FC236}">
                <a16:creationId xmlns:a16="http://schemas.microsoft.com/office/drawing/2014/main" id="{0F15EBE6-09B6-5771-515C-2528A12FBAD8}"/>
              </a:ext>
            </a:extLst>
          </p:cNvPr>
          <p:cNvSpPr>
            <a:spLocks noGrp="1"/>
          </p:cNvSpPr>
          <p:nvPr>
            <p:ph type="sldNum" sz="quarter" idx="2"/>
          </p:nvPr>
        </p:nvSpPr>
        <p:spPr/>
        <p:txBody>
          <a:bodyPr/>
          <a:lstStyle/>
          <a:p>
            <a:fld id="{86CB4B4D-7CA3-9044-876B-883B54F8677D}" type="slidenum">
              <a:rPr lang="en-US" altLang="ko-KR" smtClean="0"/>
              <a:t>6</a:t>
            </a:fld>
            <a:r>
              <a:rPr lang="en-US" altLang="ko-KR"/>
              <a:t>/21</a:t>
            </a:r>
            <a:endParaRPr lang="ko-K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Spec-Driven Meshes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From a Spec Sheet to a 3D Mesh</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Real published specs → built into an exact 3D model</a:t>
            </a:r>
          </a:p>
        </p:txBody>
      </p:sp>
      <p:pic>
        <p:nvPicPr>
          <p:cNvPr id="20" name="build_card"/>
          <p:cNvPicPr>
            <a:picLocks noChangeAspect="1"/>
          </p:cNvPicPr>
          <p:nvPr/>
        </p:nvPicPr>
        <p:blipFill>
          <a:blip r:embed="rId3"/>
          <a:stretch>
            <a:fillRect/>
          </a:stretch>
        </p:blipFill>
        <p:spPr>
          <a:xfrm>
            <a:off x="11566925" y="3621952"/>
            <a:ext cx="12355962" cy="7793761"/>
          </a:xfrm>
          <a:prstGeom prst="rect">
            <a:avLst/>
          </a:prstGeom>
        </p:spPr>
      </p:pic>
      <p:pic>
        <p:nvPicPr>
          <p:cNvPr id="3" name="그림 2">
            <a:extLst>
              <a:ext uri="{FF2B5EF4-FFF2-40B4-BE49-F238E27FC236}">
                <a16:creationId xmlns:a16="http://schemas.microsoft.com/office/drawing/2014/main" id="{B1E7B2DA-7EE1-034C-51F6-ECD7206C1B33}"/>
              </a:ext>
            </a:extLst>
          </p:cNvPr>
          <p:cNvPicPr>
            <a:picLocks noChangeAspect="1"/>
          </p:cNvPicPr>
          <p:nvPr/>
        </p:nvPicPr>
        <p:blipFill>
          <a:blip r:embed="rId4"/>
          <a:stretch>
            <a:fillRect/>
          </a:stretch>
        </p:blipFill>
        <p:spPr>
          <a:xfrm>
            <a:off x="1024000" y="2740000"/>
            <a:ext cx="9986962" cy="9794013"/>
          </a:xfrm>
          <a:prstGeom prst="rect">
            <a:avLst/>
          </a:prstGeom>
        </p:spPr>
      </p:pic>
      <p:sp>
        <p:nvSpPr>
          <p:cNvPr id="4" name="슬라이드 번호 개체 틀 3">
            <a:extLst>
              <a:ext uri="{FF2B5EF4-FFF2-40B4-BE49-F238E27FC236}">
                <a16:creationId xmlns:a16="http://schemas.microsoft.com/office/drawing/2014/main" id="{89C8FDE4-4A56-1279-9E11-D50D8F0632F8}"/>
              </a:ext>
            </a:extLst>
          </p:cNvPr>
          <p:cNvSpPr>
            <a:spLocks noGrp="1"/>
          </p:cNvSpPr>
          <p:nvPr>
            <p:ph type="sldNum" sz="quarter" idx="2"/>
          </p:nvPr>
        </p:nvSpPr>
        <p:spPr/>
        <p:txBody>
          <a:bodyPr/>
          <a:lstStyle/>
          <a:p>
            <a:fld id="{86CB4B4D-7CA3-9044-876B-883B54F8677D}" type="slidenum">
              <a:rPr lang="en-US" altLang="ko-KR" smtClean="0"/>
              <a:t>7</a:t>
            </a:fld>
            <a:r>
              <a:rPr lang="en-US" altLang="ko-KR"/>
              <a:t>/21</a:t>
            </a:r>
            <a:endParaRPr lang="ko-KR"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20" name="turntable"/>
          <p:cNvPicPr>
            <a:picLocks noChangeAspect="1"/>
          </p:cNvPicPr>
          <p:nvPr/>
        </p:nvPicPr>
        <p:blipFill>
          <a:blip r:embed="rId3"/>
          <a:srcRect l="14677" r="11891"/>
          <a:stretch>
            <a:fillRect/>
          </a:stretch>
        </p:blipFill>
        <p:spPr>
          <a:xfrm>
            <a:off x="2079504" y="4332606"/>
            <a:ext cx="20304991" cy="4602464"/>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Meshes rotating (shape comparison) — 4-rotor quads vs the 8-rotor S1000+; each part is its own RF material</a:t>
            </a:r>
          </a:p>
        </p:txBody>
      </p:sp>
      <p:sp>
        <p:nvSpPr>
          <p:cNvPr id="3" name="슬라이드 번호 개체 틀 2">
            <a:extLst>
              <a:ext uri="{FF2B5EF4-FFF2-40B4-BE49-F238E27FC236}">
                <a16:creationId xmlns:a16="http://schemas.microsoft.com/office/drawing/2014/main" id="{F427BCB5-B590-C175-2AEA-3ACFCAD50783}"/>
              </a:ext>
            </a:extLst>
          </p:cNvPr>
          <p:cNvSpPr>
            <a:spLocks noGrp="1"/>
          </p:cNvSpPr>
          <p:nvPr>
            <p:ph type="sldNum" sz="quarter" idx="2"/>
          </p:nvPr>
        </p:nvSpPr>
        <p:spPr/>
        <p:txBody>
          <a:bodyPr/>
          <a:lstStyle/>
          <a:p>
            <a:fld id="{86CB4B4D-7CA3-9044-876B-883B54F8677D}" type="slidenum">
              <a:rPr lang="en-US" altLang="ko-KR" smtClean="0"/>
              <a:t>8</a:t>
            </a:fld>
            <a:r>
              <a:rPr lang="en-US" altLang="ko-KR"/>
              <a:t>/21</a:t>
            </a:r>
            <a:endParaRPr lang="ko-KR"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C4A21-6FFB-0E0C-C794-084CEB8A01C9}"/>
            </a:ext>
          </a:extLst>
        </p:cNvPr>
        <p:cNvGrpSpPr/>
        <p:nvPr/>
      </p:nvGrpSpPr>
      <p:grpSpPr>
        <a:xfrm>
          <a:off x="0" y="0"/>
          <a:ext cx="0" cy="0"/>
          <a:chOff x="0" y="0"/>
          <a:chExt cx="0" cy="0"/>
        </a:xfrm>
      </p:grpSpPr>
      <p:sp>
        <p:nvSpPr>
          <p:cNvPr id="11" name="Tag">
            <a:extLst>
              <a:ext uri="{FF2B5EF4-FFF2-40B4-BE49-F238E27FC236}">
                <a16:creationId xmlns:a16="http://schemas.microsoft.com/office/drawing/2014/main" id="{A81D60AF-3409-42AC-33DB-83171C4C956B}"/>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a:extLst>
              <a:ext uri="{FF2B5EF4-FFF2-40B4-BE49-F238E27FC236}">
                <a16:creationId xmlns:a16="http://schemas.microsoft.com/office/drawing/2014/main" id="{17162CFD-6A59-4360-EE81-72E194C1D721}"/>
              </a:ext>
            </a:extLst>
          </p:cNvPr>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3" name="그림 2">
            <a:extLst>
              <a:ext uri="{FF2B5EF4-FFF2-40B4-BE49-F238E27FC236}">
                <a16:creationId xmlns:a16="http://schemas.microsoft.com/office/drawing/2014/main" id="{31A76158-953A-2AA4-E2D0-1B8E0E64BF09}"/>
              </a:ext>
            </a:extLst>
          </p:cNvPr>
          <p:cNvPicPr>
            <a:picLocks noChangeAspect="1"/>
          </p:cNvPicPr>
          <p:nvPr/>
        </p:nvPicPr>
        <p:blipFill>
          <a:blip r:embed="rId3"/>
          <a:stretch>
            <a:fillRect/>
          </a:stretch>
        </p:blipFill>
        <p:spPr>
          <a:xfrm>
            <a:off x="3890401" y="1980001"/>
            <a:ext cx="16599199" cy="10073693"/>
          </a:xfrm>
          <a:prstGeom prst="rect">
            <a:avLst/>
          </a:prstGeom>
        </p:spPr>
      </p:pic>
      <p:sp>
        <p:nvSpPr>
          <p:cNvPr id="4" name="슬라이드 번호 개체 틀 3">
            <a:extLst>
              <a:ext uri="{FF2B5EF4-FFF2-40B4-BE49-F238E27FC236}">
                <a16:creationId xmlns:a16="http://schemas.microsoft.com/office/drawing/2014/main" id="{C45839B7-DD88-3BBD-97A3-E51BFE7E4BF6}"/>
              </a:ext>
            </a:extLst>
          </p:cNvPr>
          <p:cNvSpPr>
            <a:spLocks noGrp="1"/>
          </p:cNvSpPr>
          <p:nvPr>
            <p:ph type="sldNum" sz="quarter" idx="2"/>
          </p:nvPr>
        </p:nvSpPr>
        <p:spPr/>
        <p:txBody>
          <a:bodyPr/>
          <a:lstStyle/>
          <a:p>
            <a:fld id="{86CB4B4D-7CA3-9044-876B-883B54F8677D}" type="slidenum">
              <a:rPr lang="en-US" altLang="ko-KR" smtClean="0"/>
              <a:t>9</a:t>
            </a:fld>
            <a:r>
              <a:rPr lang="en-US" altLang="ko-KR"/>
              <a:t>/21</a:t>
            </a:r>
            <a:endParaRPr lang="ko-KR" altLang="en-US" dirty="0"/>
          </a:p>
        </p:txBody>
      </p:sp>
    </p:spTree>
    <p:extLst>
      <p:ext uri="{BB962C8B-B14F-4D97-AF65-F5344CB8AC3E}">
        <p14:creationId xmlns:p14="http://schemas.microsoft.com/office/powerpoint/2010/main" val="3086319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92DD3-0297-1320-BE63-3A308AE34431}"/>
            </a:ext>
          </a:extLst>
        </p:cNvPr>
        <p:cNvGrpSpPr/>
        <p:nvPr/>
      </p:nvGrpSpPr>
      <p:grpSpPr>
        <a:xfrm>
          <a:off x="0" y="0"/>
          <a:ext cx="0" cy="0"/>
          <a:chOff x="0" y="0"/>
          <a:chExt cx="0" cy="0"/>
        </a:xfrm>
      </p:grpSpPr>
      <p:sp>
        <p:nvSpPr>
          <p:cNvPr id="11" name="Tag">
            <a:extLst>
              <a:ext uri="{FF2B5EF4-FFF2-40B4-BE49-F238E27FC236}">
                <a16:creationId xmlns:a16="http://schemas.microsoft.com/office/drawing/2014/main" id="{DBBE20D7-65C6-E9F5-BD3C-3E79489D0860}"/>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a:extLst>
              <a:ext uri="{FF2B5EF4-FFF2-40B4-BE49-F238E27FC236}">
                <a16:creationId xmlns:a16="http://schemas.microsoft.com/office/drawing/2014/main" id="{A34C369D-8F9D-B5CD-5CD8-FB8EC2C9DA19}"/>
              </a:ext>
            </a:extLst>
          </p:cNvPr>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4" name="그림 3">
            <a:extLst>
              <a:ext uri="{FF2B5EF4-FFF2-40B4-BE49-F238E27FC236}">
                <a16:creationId xmlns:a16="http://schemas.microsoft.com/office/drawing/2014/main" id="{70B24D19-B346-7DAD-4E41-01CD62121F2C}"/>
              </a:ext>
            </a:extLst>
          </p:cNvPr>
          <p:cNvPicPr>
            <a:picLocks noChangeAspect="1"/>
          </p:cNvPicPr>
          <p:nvPr/>
        </p:nvPicPr>
        <p:blipFill>
          <a:blip r:embed="rId3"/>
          <a:stretch>
            <a:fillRect/>
          </a:stretch>
        </p:blipFill>
        <p:spPr>
          <a:xfrm>
            <a:off x="3254964" y="2404521"/>
            <a:ext cx="17664523" cy="9892132"/>
          </a:xfrm>
          <a:prstGeom prst="rect">
            <a:avLst/>
          </a:prstGeom>
        </p:spPr>
      </p:pic>
      <p:sp>
        <p:nvSpPr>
          <p:cNvPr id="3" name="슬라이드 번호 개체 틀 2">
            <a:extLst>
              <a:ext uri="{FF2B5EF4-FFF2-40B4-BE49-F238E27FC236}">
                <a16:creationId xmlns:a16="http://schemas.microsoft.com/office/drawing/2014/main" id="{DA32AFEF-DF1C-F780-362D-B3B0255CE957}"/>
              </a:ext>
            </a:extLst>
          </p:cNvPr>
          <p:cNvSpPr>
            <a:spLocks noGrp="1"/>
          </p:cNvSpPr>
          <p:nvPr>
            <p:ph type="sldNum" sz="quarter" idx="2"/>
          </p:nvPr>
        </p:nvSpPr>
        <p:spPr/>
        <p:txBody>
          <a:bodyPr/>
          <a:lstStyle/>
          <a:p>
            <a:fld id="{86CB4B4D-7CA3-9044-876B-883B54F8677D}" type="slidenum">
              <a:rPr lang="en-US" altLang="ko-KR" smtClean="0"/>
              <a:t>10</a:t>
            </a:fld>
            <a:r>
              <a:rPr lang="en-US" altLang="ko-KR"/>
              <a:t>/21</a:t>
            </a:r>
            <a:endParaRPr lang="ko-KR" altLang="en-US" dirty="0"/>
          </a:p>
        </p:txBody>
      </p:sp>
    </p:spTree>
    <p:extLst>
      <p:ext uri="{BB962C8B-B14F-4D97-AF65-F5344CB8AC3E}">
        <p14:creationId xmlns:p14="http://schemas.microsoft.com/office/powerpoint/2010/main" val="3702322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Waveforms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Lighting It Up — Wi-Fi vs LTE vs 5G</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Range resolution follows the reference signal's bandwidth — not the channel's (LTE CRS 18 MHz vs 5G SSB 7 MHz)</a:t>
            </a:r>
          </a:p>
        </p:txBody>
      </p:sp>
      <p:sp>
        <p:nvSpPr>
          <p:cNvPr id="3" name="슬라이드 번호 개체 틀 2">
            <a:extLst>
              <a:ext uri="{FF2B5EF4-FFF2-40B4-BE49-F238E27FC236}">
                <a16:creationId xmlns:a16="http://schemas.microsoft.com/office/drawing/2014/main" id="{90ECAB32-0169-A7B4-3631-10B68423CB7C}"/>
              </a:ext>
            </a:extLst>
          </p:cNvPr>
          <p:cNvSpPr>
            <a:spLocks noGrp="1"/>
          </p:cNvSpPr>
          <p:nvPr>
            <p:ph type="sldNum" sz="quarter" idx="2"/>
          </p:nvPr>
        </p:nvSpPr>
        <p:spPr/>
        <p:txBody>
          <a:bodyPr/>
          <a:lstStyle/>
          <a:p>
            <a:fld id="{86CB4B4D-7CA3-9044-876B-883B54F8677D}" type="slidenum">
              <a:rPr lang="en-US" altLang="ko-KR" smtClean="0"/>
              <a:t>11</a:t>
            </a:fld>
            <a:r>
              <a:rPr lang="en-US" altLang="ko-KR"/>
              <a:t>/21</a:t>
            </a:r>
            <a:endParaRPr lang="ko-KR" altLang="en-US" dirty="0"/>
          </a:p>
        </p:txBody>
      </p:sp>
      <p:pic>
        <p:nvPicPr>
          <p:cNvPr id="2" name="그림 1">
            <a:extLst>
              <a:ext uri="{FF2B5EF4-FFF2-40B4-BE49-F238E27FC236}">
                <a16:creationId xmlns:a16="http://schemas.microsoft.com/office/drawing/2014/main" id="{D7EA450C-283E-6579-8AAD-BE43BD8DBD78}"/>
              </a:ext>
            </a:extLst>
          </p:cNvPr>
          <p:cNvPicPr>
            <a:picLocks noChangeAspect="1"/>
          </p:cNvPicPr>
          <p:nvPr/>
        </p:nvPicPr>
        <p:blipFill>
          <a:blip r:embed="rId3"/>
          <a:stretch>
            <a:fillRect/>
          </a:stretch>
        </p:blipFill>
        <p:spPr>
          <a:xfrm>
            <a:off x="2387772" y="2835619"/>
            <a:ext cx="19730519" cy="958817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2 · Reality Check</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Cells Aren’t Always Full — G1 / G2 / G3</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G1→G2 sharpens only because a positioning session turns PRS on (7 → 98 MHz) — filling the cell with user data (G3) changes nothing</a:t>
            </a:r>
          </a:p>
        </p:txBody>
      </p:sp>
      <p:sp>
        <p:nvSpPr>
          <p:cNvPr id="3" name="슬라이드 번호 개체 틀 2">
            <a:extLst>
              <a:ext uri="{FF2B5EF4-FFF2-40B4-BE49-F238E27FC236}">
                <a16:creationId xmlns:a16="http://schemas.microsoft.com/office/drawing/2014/main" id="{61176FD1-60DC-9470-F2BB-602582A4D17B}"/>
              </a:ext>
            </a:extLst>
          </p:cNvPr>
          <p:cNvSpPr>
            <a:spLocks noGrp="1"/>
          </p:cNvSpPr>
          <p:nvPr>
            <p:ph type="sldNum" sz="quarter" idx="2"/>
          </p:nvPr>
        </p:nvSpPr>
        <p:spPr/>
        <p:txBody>
          <a:bodyPr/>
          <a:lstStyle/>
          <a:p>
            <a:fld id="{86CB4B4D-7CA3-9044-876B-883B54F8677D}" type="slidenum">
              <a:rPr lang="en-US" altLang="ko-KR" smtClean="0"/>
              <a:t>12</a:t>
            </a:fld>
            <a:r>
              <a:rPr lang="en-US" altLang="ko-KR"/>
              <a:t>/21</a:t>
            </a:r>
            <a:endParaRPr lang="ko-KR" altLang="en-US" dirty="0"/>
          </a:p>
        </p:txBody>
      </p:sp>
      <p:pic>
        <p:nvPicPr>
          <p:cNvPr id="4" name="그림 3">
            <a:extLst>
              <a:ext uri="{FF2B5EF4-FFF2-40B4-BE49-F238E27FC236}">
                <a16:creationId xmlns:a16="http://schemas.microsoft.com/office/drawing/2014/main" id="{EEFE8BC0-45C7-005F-9AC5-0C270792C243}"/>
              </a:ext>
            </a:extLst>
          </p:cNvPr>
          <p:cNvPicPr>
            <a:picLocks noChangeAspect="1"/>
          </p:cNvPicPr>
          <p:nvPr/>
        </p:nvPicPr>
        <p:blipFill>
          <a:blip r:embed="rId3"/>
          <a:stretch>
            <a:fillRect/>
          </a:stretch>
        </p:blipFill>
        <p:spPr>
          <a:xfrm>
            <a:off x="1678883" y="3608782"/>
            <a:ext cx="21022235" cy="840889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3 · Articulation</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An Articulated Drone — Body ⟂ Props</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Body tilt and rotor spin move on their own — here, both at once</a:t>
            </a:r>
          </a:p>
        </p:txBody>
      </p:sp>
      <p:pic>
        <p:nvPicPr>
          <p:cNvPr id="20" name="articulation_gif"/>
          <p:cNvPicPr>
            <a:picLocks noChangeAspect="1"/>
          </p:cNvPicPr>
          <p:nvPr/>
        </p:nvPicPr>
        <p:blipFill>
          <a:blip r:embed="rId3"/>
          <a:stretch>
            <a:fillRect/>
          </a:stretch>
        </p:blipFill>
        <p:spPr>
          <a:xfrm>
            <a:off x="7797137" y="2964274"/>
            <a:ext cx="8869725" cy="8869725"/>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Mavic 4 Pro: the body wobbles (roll/pitch/yaw) while the props keep spinning — two independent degrees of freedom</a:t>
            </a:r>
          </a:p>
        </p:txBody>
      </p:sp>
      <p:sp>
        <p:nvSpPr>
          <p:cNvPr id="3" name="슬라이드 번호 개체 틀 2">
            <a:extLst>
              <a:ext uri="{FF2B5EF4-FFF2-40B4-BE49-F238E27FC236}">
                <a16:creationId xmlns:a16="http://schemas.microsoft.com/office/drawing/2014/main" id="{655C329E-8B86-F877-AC64-312D58303332}"/>
              </a:ext>
            </a:extLst>
          </p:cNvPr>
          <p:cNvSpPr>
            <a:spLocks noGrp="1"/>
          </p:cNvSpPr>
          <p:nvPr>
            <p:ph type="sldNum" sz="quarter" idx="2"/>
          </p:nvPr>
        </p:nvSpPr>
        <p:spPr/>
        <p:txBody>
          <a:bodyPr/>
          <a:lstStyle/>
          <a:p>
            <a:fld id="{86CB4B4D-7CA3-9044-876B-883B54F8677D}" type="slidenum">
              <a:rPr lang="en-US" altLang="ko-KR" smtClean="0"/>
              <a:t>13</a:t>
            </a:fld>
            <a:r>
              <a:rPr lang="en-US" altLang="ko-KR"/>
              <a:t>/21</a:t>
            </a:r>
            <a:endParaRPr lang="ko-KR"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3 · Micro-Doppler</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Spinning-Blade Signature</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Even while hovering, the spinning blades ripple the echo — a fingerprint we can read</a:t>
            </a:r>
          </a:p>
        </p:txBody>
      </p:sp>
      <p:sp>
        <p:nvSpPr>
          <p:cNvPr id="3" name="슬라이드 번호 개체 틀 2">
            <a:extLst>
              <a:ext uri="{FF2B5EF4-FFF2-40B4-BE49-F238E27FC236}">
                <a16:creationId xmlns:a16="http://schemas.microsoft.com/office/drawing/2014/main" id="{2A7DAF3A-D8F2-CF9F-CC71-65E86C69CF7B}"/>
              </a:ext>
            </a:extLst>
          </p:cNvPr>
          <p:cNvSpPr>
            <a:spLocks noGrp="1"/>
          </p:cNvSpPr>
          <p:nvPr>
            <p:ph type="sldNum" sz="quarter" idx="2"/>
          </p:nvPr>
        </p:nvSpPr>
        <p:spPr/>
        <p:txBody>
          <a:bodyPr/>
          <a:lstStyle/>
          <a:p>
            <a:fld id="{86CB4B4D-7CA3-9044-876B-883B54F8677D}" type="slidenum">
              <a:rPr lang="en-US" altLang="ko-KR" smtClean="0"/>
              <a:t>14</a:t>
            </a:fld>
            <a:r>
              <a:rPr lang="en-US" altLang="ko-KR"/>
              <a:t>/21</a:t>
            </a:r>
            <a:endParaRPr lang="ko-KR" altLang="en-US" dirty="0"/>
          </a:p>
        </p:txBody>
      </p:sp>
      <p:pic>
        <p:nvPicPr>
          <p:cNvPr id="2" name="그림 1">
            <a:extLst>
              <a:ext uri="{FF2B5EF4-FFF2-40B4-BE49-F238E27FC236}">
                <a16:creationId xmlns:a16="http://schemas.microsoft.com/office/drawing/2014/main" id="{AEB9B4B3-7A83-1380-E3AF-A0447FD22280}"/>
              </a:ext>
            </a:extLst>
          </p:cNvPr>
          <p:cNvPicPr>
            <a:picLocks noChangeAspect="1"/>
          </p:cNvPicPr>
          <p:nvPr/>
        </p:nvPicPr>
        <p:blipFill>
          <a:blip r:embed="rId3"/>
          <a:stretch>
            <a:fillRect/>
          </a:stretch>
        </p:blipFill>
        <p:spPr>
          <a:xfrm>
            <a:off x="1873125" y="3495018"/>
            <a:ext cx="19400962" cy="837399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Sionna Progress · Where This Sits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Done in Three Stages — Next: Real Passive Radar</a:t>
            </a:r>
            <a:endParaRPr lang="en-US" altLang="ko-KR" sz="5200" b="1" i="0" dirty="0">
              <a:solidFill>
                <a:srgbClr val="000000"/>
              </a:solidFill>
              <a:latin typeface="AvenirNext-DemiBold"/>
              <a:ea typeface="AvenirNext-DemiBold"/>
              <a:cs typeface="AvenirNext-DemiBold"/>
            </a:endParaRPr>
          </a:p>
        </p:txBody>
      </p:sp>
      <p:sp>
        <p:nvSpPr>
          <p:cNvPr id="41" name="L"/>
          <p:cNvSpPr txBox="1"/>
          <p:nvPr/>
        </p:nvSpPr>
        <p:spPr>
          <a:xfrm>
            <a:off x="720000" y="31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Done ✓</a:t>
            </a:r>
          </a:p>
        </p:txBody>
      </p:sp>
      <p:sp>
        <p:nvSpPr>
          <p:cNvPr id="42" name="B"/>
          <p:cNvSpPr txBox="1"/>
          <p:nvPr/>
        </p:nvSpPr>
        <p:spPr>
          <a:xfrm>
            <a:off x="5900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Environment</a:t>
            </a:r>
          </a:p>
        </p:txBody>
      </p:sp>
      <p:sp>
        <p:nvSpPr>
          <p:cNvPr id="43" name="A"/>
          <p:cNvSpPr txBox="1"/>
          <p:nvPr/>
        </p:nvSpPr>
        <p:spPr>
          <a:xfrm>
            <a:off x="11300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4" name="B"/>
          <p:cNvSpPr txBox="1"/>
          <p:nvPr/>
        </p:nvSpPr>
        <p:spPr>
          <a:xfrm>
            <a:off x="12082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Illuminators</a:t>
            </a:r>
          </a:p>
          <a:p>
            <a:pPr algn="ctr"/>
            <a:r>
              <a:rPr lang="en-US" altLang="ko-KR" sz="2400" b="1" i="0" dirty="0">
                <a:solidFill>
                  <a:srgbClr val="26448A"/>
                </a:solidFill>
                <a:latin typeface="Avenir Next Medium"/>
                <a:ea typeface="Avenir Next Medium"/>
                <a:cs typeface="Avenir Next Medium"/>
              </a:rPr>
              <a:t>Wi-Fi / LTE / 5G</a:t>
            </a:r>
          </a:p>
        </p:txBody>
      </p:sp>
      <p:sp>
        <p:nvSpPr>
          <p:cNvPr id="45" name="A"/>
          <p:cNvSpPr txBox="1"/>
          <p:nvPr/>
        </p:nvSpPr>
        <p:spPr>
          <a:xfrm>
            <a:off x="17482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6" name="B"/>
          <p:cNvSpPr txBox="1"/>
          <p:nvPr/>
        </p:nvSpPr>
        <p:spPr>
          <a:xfrm>
            <a:off x="18264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Micro-Doppler</a:t>
            </a:r>
          </a:p>
        </p:txBody>
      </p:sp>
      <p:sp>
        <p:nvSpPr>
          <p:cNvPr id="47" name="L"/>
          <p:cNvSpPr txBox="1"/>
          <p:nvPr/>
        </p:nvSpPr>
        <p:spPr>
          <a:xfrm>
            <a:off x="720000" y="550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Next</a:t>
            </a:r>
          </a:p>
        </p:txBody>
      </p:sp>
      <p:sp>
        <p:nvSpPr>
          <p:cNvPr id="48" name="B"/>
          <p:cNvSpPr txBox="1"/>
          <p:nvPr/>
        </p:nvSpPr>
        <p:spPr>
          <a:xfrm>
            <a:off x="5900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Bistatic (Tx ≠ Rx)</a:t>
            </a:r>
          </a:p>
        </p:txBody>
      </p:sp>
      <p:sp>
        <p:nvSpPr>
          <p:cNvPr id="49" name="A"/>
          <p:cNvSpPr txBox="1"/>
          <p:nvPr/>
        </p:nvSpPr>
        <p:spPr>
          <a:xfrm>
            <a:off x="11300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0" name="B"/>
          <p:cNvSpPr txBox="1"/>
          <p:nvPr/>
        </p:nvSpPr>
        <p:spPr>
          <a:xfrm>
            <a:off x="12082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Clutter ECA + CFAR</a:t>
            </a:r>
          </a:p>
        </p:txBody>
      </p:sp>
      <p:sp>
        <p:nvSpPr>
          <p:cNvPr id="51" name="A"/>
          <p:cNvSpPr txBox="1"/>
          <p:nvPr/>
        </p:nvSpPr>
        <p:spPr>
          <a:xfrm>
            <a:off x="17482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2" name="B"/>
          <p:cNvSpPr txBox="1"/>
          <p:nvPr/>
        </p:nvSpPr>
        <p:spPr>
          <a:xfrm>
            <a:off x="18264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Detection / tracking</a:t>
            </a:r>
          </a:p>
          <a:p>
            <a:pPr algn="ctr">
              <a:spcBef>
                <a:spcPts val="200"/>
              </a:spcBef>
            </a:pPr>
            <a:r>
              <a:rPr lang="en-US" altLang="ko-KR" sz="1700" b="0" i="1" dirty="0">
                <a:solidFill>
                  <a:srgbClr val="595959"/>
                </a:solidFill>
                <a:latin typeface="Avenir Next Medium"/>
                <a:ea typeface="Avenir Next Medium"/>
                <a:cs typeface="Avenir Next Medium"/>
              </a:rPr>
              <a:t>CFAR → MTT</a:t>
            </a:r>
          </a:p>
        </p:txBody>
      </p:sp>
      <p:sp>
        <p:nvSpPr>
          <p:cNvPr id="53" name="L"/>
          <p:cNvSpPr txBox="1"/>
          <p:nvPr/>
        </p:nvSpPr>
        <p:spPr>
          <a:xfrm>
            <a:off x="720000" y="78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Then</a:t>
            </a:r>
          </a:p>
        </p:txBody>
      </p:sp>
      <p:sp>
        <p:nvSpPr>
          <p:cNvPr id="54" name="B"/>
          <p:cNvSpPr txBox="1"/>
          <p:nvPr/>
        </p:nvSpPr>
        <p:spPr>
          <a:xfrm>
            <a:off x="5900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Export to PX4 / Gazebo</a:t>
            </a:r>
          </a:p>
        </p:txBody>
      </p:sp>
      <p:sp>
        <p:nvSpPr>
          <p:cNvPr id="55" name="A"/>
          <p:cNvSpPr txBox="1"/>
          <p:nvPr/>
        </p:nvSpPr>
        <p:spPr>
          <a:xfrm>
            <a:off x="11300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6" name="B"/>
          <p:cNvSpPr txBox="1"/>
          <p:nvPr/>
        </p:nvSpPr>
        <p:spPr>
          <a:xfrm>
            <a:off x="12082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Drone vs bird ID</a:t>
            </a:r>
          </a:p>
          <a:p>
            <a:pPr algn="ctr">
              <a:spcBef>
                <a:spcPts val="200"/>
              </a:spcBef>
            </a:pPr>
            <a:r>
              <a:rPr lang="en-US" altLang="ko-KR" sz="1700" b="0" i="1" dirty="0">
                <a:solidFill>
                  <a:srgbClr val="595959"/>
                </a:solidFill>
                <a:latin typeface="Avenir Next Medium"/>
                <a:ea typeface="Avenir Next Medium"/>
                <a:cs typeface="Avenir Next Medium"/>
              </a:rPr>
              <a:t>blade signature</a:t>
            </a:r>
          </a:p>
        </p:txBody>
      </p:sp>
      <p:sp>
        <p:nvSpPr>
          <p:cNvPr id="57" name="A"/>
          <p:cNvSpPr txBox="1"/>
          <p:nvPr/>
        </p:nvSpPr>
        <p:spPr>
          <a:xfrm>
            <a:off x="17482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8" name="B"/>
          <p:cNvSpPr txBox="1"/>
          <p:nvPr/>
        </p:nvSpPr>
        <p:spPr>
          <a:xfrm>
            <a:off x="18264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Fair Pd benchmark</a:t>
            </a:r>
          </a:p>
          <a:p>
            <a:pPr algn="ctr"/>
            <a:r>
              <a:rPr lang="en-US" altLang="ko-KR" sz="2400" b="1" i="0" dirty="0">
                <a:solidFill>
                  <a:srgbClr val="26448A"/>
                </a:solidFill>
                <a:latin typeface="Avenir Next Medium"/>
                <a:ea typeface="Avenir Next Medium"/>
                <a:cs typeface="Avenir Next Medium"/>
              </a:rPr>
              <a:t>across signals</a:t>
            </a:r>
          </a:p>
        </p:txBody>
      </p:sp>
      <p:sp>
        <p:nvSpPr>
          <p:cNvPr id="3" name="슬라이드 번호 개체 틀 2">
            <a:extLst>
              <a:ext uri="{FF2B5EF4-FFF2-40B4-BE49-F238E27FC236}">
                <a16:creationId xmlns:a16="http://schemas.microsoft.com/office/drawing/2014/main" id="{C23651DD-A64B-E665-C30F-0A12BF879CC3}"/>
              </a:ext>
            </a:extLst>
          </p:cNvPr>
          <p:cNvSpPr>
            <a:spLocks noGrp="1"/>
          </p:cNvSpPr>
          <p:nvPr>
            <p:ph type="sldNum" sz="quarter" idx="2"/>
          </p:nvPr>
        </p:nvSpPr>
        <p:spPr/>
        <p:txBody>
          <a:bodyPr/>
          <a:lstStyle/>
          <a:p>
            <a:fld id="{86CB4B4D-7CA3-9044-876B-883B54F8677D}" type="slidenum">
              <a:rPr lang="en-US" altLang="ko-KR" smtClean="0"/>
              <a:t>15</a:t>
            </a:fld>
            <a:r>
              <a:rPr lang="en-US" altLang="ko-KR"/>
              <a:t>/21</a:t>
            </a:r>
            <a:endParaRPr lang="ko-KR"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vKicker"/>
          <p:cNvSpPr txBox="1">
            <a:spLocks/>
          </p:cNvSpPr>
          <p:nvPr/>
        </p:nvSpPr>
        <p:spPr>
          <a:xfrm>
            <a:off x="0" y="4050000"/>
            <a:ext cx="24384000" cy="760000"/>
          </a:xfrm>
          <a:prstGeom prst="rect">
            <a:avLst/>
          </a:prstGeom>
        </p:spPr>
        <p:txBody>
          <a:bodyPr lIns="50800" tIns="30000" rIns="50800" bIns="30000" anchor="ctr">
            <a:noAutofit/>
          </a:bodyPr>
          <a:lstStyle/>
          <a:p>
            <a:pPr algn="ctr"/>
            <a:r>
              <a:rPr lang="en-US" altLang="ko-KR" sz="3600" b="1" i="0" dirty="0">
                <a:solidFill>
                  <a:srgbClr val="2E74B5"/>
                </a:solidFill>
                <a:latin typeface="Avenir Next Medium"/>
                <a:ea typeface="Avenir Next Medium"/>
                <a:cs typeface="Avenir Next Medium"/>
              </a:rPr>
              <a:t>PAPER Introduction</a:t>
            </a:r>
          </a:p>
        </p:txBody>
      </p:sp>
      <p:sp>
        <p:nvSpPr>
          <p:cNvPr id="12" name="DivTitle"/>
          <p:cNvSpPr txBox="1">
            <a:spLocks/>
          </p:cNvSpPr>
          <p:nvPr/>
        </p:nvSpPr>
        <p:spPr>
          <a:xfrm>
            <a:off x="0" y="4850000"/>
            <a:ext cx="24384000" cy="1550000"/>
          </a:xfrm>
          <a:prstGeom prst="rect">
            <a:avLst/>
          </a:prstGeom>
        </p:spPr>
        <p:txBody>
          <a:bodyPr lIns="50800" tIns="30000" rIns="50800" bIns="30000" anchor="ctr">
            <a:noAutofit/>
          </a:bodyPr>
          <a:lstStyle/>
          <a:p>
            <a:pPr algn="ctr"/>
            <a:r>
              <a:rPr lang="en-US" altLang="ko-KR" sz="6400" b="1" i="0" dirty="0">
                <a:solidFill>
                  <a:srgbClr val="000000"/>
                </a:solidFill>
                <a:latin typeface="AvenirNext-DemiBold"/>
                <a:ea typeface="AvenirNext-DemiBold"/>
                <a:cs typeface="AvenirNext-DemiBold"/>
              </a:rPr>
              <a:t>From Denoising to De-Channeling</a:t>
            </a:r>
          </a:p>
        </p:txBody>
      </p:sp>
      <p:sp>
        <p:nvSpPr>
          <p:cNvPr id="13" name="DivSub"/>
          <p:cNvSpPr txBox="1">
            <a:spLocks/>
          </p:cNvSpPr>
          <p:nvPr/>
        </p:nvSpPr>
        <p:spPr>
          <a:xfrm>
            <a:off x="0" y="6560000"/>
            <a:ext cx="24384000" cy="820000"/>
          </a:xfrm>
          <a:prstGeom prst="rect">
            <a:avLst/>
          </a:prstGeom>
        </p:spPr>
        <p:txBody>
          <a:bodyPr lIns="50800" tIns="30000" rIns="50800" bIns="30000" anchor="ctr">
            <a:noAutofit/>
          </a:bodyPr>
          <a:lstStyle/>
          <a:p>
            <a:pPr algn="ctr"/>
            <a:r>
              <a:rPr lang="en-US" altLang="ko-KR" sz="4000" b="0" i="1" dirty="0">
                <a:solidFill>
                  <a:srgbClr val="595959"/>
                </a:solidFill>
                <a:latin typeface="Avenir Next Medium"/>
                <a:ea typeface="Avenir Next Medium"/>
                <a:cs typeface="Avenir Next Medium"/>
              </a:rPr>
              <a:t>Integrating physical channel priors into diffusion models</a:t>
            </a:r>
          </a:p>
        </p:txBody>
      </p:sp>
      <p:sp>
        <p:nvSpPr>
          <p:cNvPr id="14" name="DivRoad"/>
          <p:cNvSpPr txBox="1">
            <a:spLocks/>
          </p:cNvSpPr>
          <p:nvPr/>
        </p:nvSpPr>
        <p:spPr>
          <a:xfrm>
            <a:off x="0" y="7820000"/>
            <a:ext cx="24384000" cy="820000"/>
          </a:xfrm>
          <a:prstGeom prst="rect">
            <a:avLst/>
          </a:prstGeom>
        </p:spPr>
        <p:txBody>
          <a:bodyPr lIns="50800" tIns="30000" rIns="50800" bIns="30000" anchor="ctr">
            <a:noAutofit/>
          </a:bodyPr>
          <a:lstStyle/>
          <a:p>
            <a:pPr algn="ctr"/>
            <a:r>
              <a:rPr lang="en-US" altLang="ko-KR" sz="3600" b="1" i="0" dirty="0">
                <a:solidFill>
                  <a:srgbClr val="26448A"/>
                </a:solidFill>
                <a:latin typeface="Avenir Next Medium"/>
                <a:ea typeface="Avenir Next Medium"/>
                <a:cs typeface="Avenir Next Medium"/>
              </a:rPr>
              <a:t>Background    →    Idea    →    Pipeline    →    Results</a:t>
            </a:r>
          </a:p>
        </p:txBody>
      </p:sp>
      <p:sp>
        <p:nvSpPr>
          <p:cNvPr id="15" name="DivMeta"/>
          <p:cNvSpPr txBox="1">
            <a:spLocks/>
          </p:cNvSpPr>
          <p:nvPr/>
        </p:nvSpPr>
        <p:spPr>
          <a:xfrm>
            <a:off x="0" y="8950000"/>
            <a:ext cx="24384000" cy="600000"/>
          </a:xfrm>
          <a:prstGeom prst="rect">
            <a:avLst/>
          </a:prstGeom>
        </p:spPr>
        <p:txBody>
          <a:bodyPr lIns="50800" tIns="30000" rIns="50800" bIns="30000" anchor="ctr">
            <a:noAutofit/>
          </a:bodyPr>
          <a:lstStyle/>
          <a:p>
            <a:pPr algn="ctr"/>
            <a:r>
              <a:rPr lang="en-US" altLang="ko-KR" sz="2600" b="0" i="1" dirty="0">
                <a:solidFill>
                  <a:srgbClr val="595959"/>
                </a:solidFill>
                <a:latin typeface="Avenir Next Medium"/>
                <a:ea typeface="Avenir Next Medium"/>
                <a:cs typeface="Avenir Next Medium"/>
              </a:rPr>
              <a:t>Liu et al., BUPT &amp; Pengcheng Lab  ·  github.com/BUPT-GAMMA/FoundWSR</a:t>
            </a:r>
          </a:p>
        </p:txBody>
      </p:sp>
      <p:sp>
        <p:nvSpPr>
          <p:cNvPr id="3" name="슬라이드 번호 개체 틀 2">
            <a:extLst>
              <a:ext uri="{FF2B5EF4-FFF2-40B4-BE49-F238E27FC236}">
                <a16:creationId xmlns:a16="http://schemas.microsoft.com/office/drawing/2014/main" id="{1F36BBDC-1731-C7DF-F756-4B038C3A1A4D}"/>
              </a:ext>
            </a:extLst>
          </p:cNvPr>
          <p:cNvSpPr>
            <a:spLocks noGrp="1"/>
          </p:cNvSpPr>
          <p:nvPr>
            <p:ph type="sldNum" sz="quarter" idx="2"/>
          </p:nvPr>
        </p:nvSpPr>
        <p:spPr/>
        <p:txBody>
          <a:bodyPr/>
          <a:lstStyle/>
          <a:p>
            <a:fld id="{86CB4B4D-7CA3-9044-876B-883B54F8677D}" type="slidenum">
              <a:rPr lang="en-US" altLang="ko-KR" smtClean="0"/>
              <a:t>16</a:t>
            </a:fld>
            <a:r>
              <a:rPr lang="en-US" altLang="ko-KR"/>
              <a:t>/21</a:t>
            </a:r>
            <a:endParaRPr lang="ko-KR" altLang="en-US" dirty="0"/>
          </a:p>
        </p:txBody>
      </p:sp>
      <p:sp>
        <p:nvSpPr>
          <p:cNvPr id="4" name="DivMeta">
            <a:extLst>
              <a:ext uri="{FF2B5EF4-FFF2-40B4-BE49-F238E27FC236}">
                <a16:creationId xmlns:a16="http://schemas.microsoft.com/office/drawing/2014/main" id="{7F05014A-523F-87FB-1A21-2D28BA0A67C4}"/>
              </a:ext>
            </a:extLst>
          </p:cNvPr>
          <p:cNvSpPr txBox="1">
            <a:spLocks/>
          </p:cNvSpPr>
          <p:nvPr/>
        </p:nvSpPr>
        <p:spPr>
          <a:xfrm>
            <a:off x="114301" y="10477676"/>
            <a:ext cx="24384000" cy="600000"/>
          </a:xfrm>
          <a:prstGeom prst="rect">
            <a:avLst/>
          </a:prstGeom>
        </p:spPr>
        <p:txBody>
          <a:bodyPr lIns="50800" tIns="30000" rIns="50800" bIns="30000" anchor="ctr">
            <a:noAutofit/>
          </a:bodyPr>
          <a:lstStyle/>
          <a:p>
            <a:pPr algn="ctr"/>
            <a:r>
              <a:rPr lang="en-US" altLang="ko-KR" sz="2600" b="1" i="1" dirty="0">
                <a:solidFill>
                  <a:srgbClr val="595959"/>
                </a:solidFill>
              </a:rPr>
              <a:t>ICML 2026 Spotlight Poster</a:t>
            </a:r>
            <a:endParaRPr lang="en-US" altLang="ko-KR" sz="2600" b="1" i="1" dirty="0">
              <a:solidFill>
                <a:srgbClr val="595959"/>
              </a:solidFill>
              <a:latin typeface="Avenir Next Medium"/>
              <a:ea typeface="Avenir Next Medium"/>
              <a:cs typeface="Avenir Next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Background</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Wireless Signal Recognition, Meet Diffusion</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AI labels a received radio signal — but the channel distorts it first</a:t>
            </a:r>
          </a:p>
        </p:txBody>
      </p:sp>
      <p:sp>
        <p:nvSpPr>
          <p:cNvPr id="14" name="CardHdr"/>
          <p:cNvSpPr txBox="1"/>
          <p:nvPr/>
        </p:nvSpPr>
        <p:spPr>
          <a:xfrm>
            <a:off x="820000" y="2980000"/>
            <a:ext cx="10900000" cy="1120000"/>
          </a:xfrm>
          <a:prstGeom prst="rect">
            <a:avLst/>
          </a:prstGeom>
          <a:solidFill>
            <a:srgbClr val="2E74B5"/>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What WSR does</a:t>
            </a:r>
          </a:p>
        </p:txBody>
      </p:sp>
      <p:sp>
        <p:nvSpPr>
          <p:cNvPr id="15" name="CardBody"/>
          <p:cNvSpPr txBox="1"/>
          <p:nvPr/>
        </p:nvSpPr>
        <p:spPr>
          <a:xfrm>
            <a:off x="820000" y="4100000"/>
            <a:ext cx="10900000" cy="6450000"/>
          </a:xfrm>
          <a:prstGeom prst="rect">
            <a:avLst/>
          </a:prstGeom>
          <a:solidFill>
            <a:srgbClr val="EAF1FB"/>
          </a:solidFill>
          <a:ln w="12700">
            <a:solidFill>
              <a:srgbClr val="2E74B5"/>
            </a:solidFill>
          </a:ln>
        </p:spPr>
        <p:txBody>
          <a:bodyPr lIns="320000" tIns="240000" rIns="280000" bIns="200000" anchor="ctr">
            <a:noAutofit/>
          </a:bodyPr>
          <a:lstStyle/>
          <a:p>
            <a:pPr marL="0" indent="0" algn="l">
              <a:spcAft>
                <a:spcPts val="600"/>
              </a:spcAft>
              <a:buNone/>
            </a:pPr>
            <a:r>
              <a:rPr lang="en-US" altLang="ko-KR" sz="3500" b="1" i="1" dirty="0">
                <a:solidFill>
                  <a:srgbClr val="2E74B5"/>
                </a:solidFill>
                <a:latin typeface="Avenir Next Medium"/>
                <a:ea typeface="Avenir Next Medium"/>
                <a:cs typeface="Avenir Next Medium"/>
              </a:rPr>
              <a:t>Read the received signal</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AI labels a passively-received IQ signal</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Modulation type · wireless tech · anomaly</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A cornerstone task for spectrum use &amp; 6G</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But it arrives distorted:  y = h * x + n</a:t>
            </a:r>
          </a:p>
        </p:txBody>
      </p:sp>
      <p:sp>
        <p:nvSpPr>
          <p:cNvPr id="16" name="CardHdr"/>
          <p:cNvSpPr txBox="1"/>
          <p:nvPr/>
        </p:nvSpPr>
        <p:spPr>
          <a:xfrm>
            <a:off x="12660000" y="2980000"/>
            <a:ext cx="10900000" cy="1120000"/>
          </a:xfrm>
          <a:prstGeom prst="rect">
            <a:avLst/>
          </a:prstGeom>
          <a:solidFill>
            <a:srgbClr val="26448A"/>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Why bring in diffusion</a:t>
            </a:r>
          </a:p>
        </p:txBody>
      </p:sp>
      <p:sp>
        <p:nvSpPr>
          <p:cNvPr id="17" name="CardBody"/>
          <p:cNvSpPr txBox="1"/>
          <p:nvPr/>
        </p:nvSpPr>
        <p:spPr>
          <a:xfrm>
            <a:off x="12660000" y="4100000"/>
            <a:ext cx="10900000" cy="6450000"/>
          </a:xfrm>
          <a:prstGeom prst="rect">
            <a:avLst/>
          </a:prstGeom>
          <a:solidFill>
            <a:srgbClr val="E9EDF5"/>
          </a:solidFill>
          <a:ln w="12700">
            <a:solidFill>
              <a:srgbClr val="26448A"/>
            </a:solidFill>
          </a:ln>
        </p:spPr>
        <p:txBody>
          <a:bodyPr lIns="320000" tIns="240000" rIns="280000" bIns="200000" anchor="ctr">
            <a:noAutofit/>
          </a:bodyPr>
          <a:lstStyle/>
          <a:p>
            <a:pPr marL="0" indent="0" algn="l">
              <a:spcAft>
                <a:spcPts val="600"/>
              </a:spcAft>
              <a:buNone/>
            </a:pPr>
            <a:r>
              <a:rPr lang="en-US" altLang="ko-KR" sz="3500" b="1" i="1" dirty="0">
                <a:solidFill>
                  <a:srgbClr val="26448A"/>
                </a:solidFill>
                <a:latin typeface="Avenir Next Medium"/>
                <a:ea typeface="Avenir Next Medium"/>
                <a:cs typeface="Avenir Next Medium"/>
              </a:rPr>
              <a:t>Powerful denoisers</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 Gaussian noise, step by step</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a network learns to remove it</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Its learned features transfer well to WSR</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So: borrow that denoising power for WSR</a:t>
            </a:r>
          </a:p>
        </p:txBody>
      </p:sp>
      <p:sp>
        <p:nvSpPr>
          <p:cNvPr id="18" name="Takeaway"/>
          <p:cNvSpPr txBox="1">
            <a:spLocks/>
          </p:cNvSpPr>
          <p:nvPr/>
        </p:nvSpPr>
        <p:spPr>
          <a:xfrm>
            <a:off x="720000" y="11150000"/>
            <a:ext cx="22944000" cy="850000"/>
          </a:xfrm>
          <a:prstGeom prst="rect">
            <a:avLst/>
          </a:prstGeom>
        </p:spPr>
        <p:txBody>
          <a:bodyPr lIns="50800" tIns="30000" rIns="50800" bIns="30000" anchor="t">
            <a:noAutofit/>
          </a:bodyPr>
          <a:lstStyle/>
          <a:p>
            <a:pPr marL="0" indent="0" algn="ctr">
              <a:buNone/>
            </a:pPr>
            <a:r>
              <a:rPr lang="en-US" altLang="ko-KR" sz="3600" b="1" i="0" dirty="0">
                <a:solidFill>
                  <a:srgbClr val="26448A"/>
                </a:solidFill>
                <a:latin typeface="Avenir Next Medium"/>
                <a:ea typeface="Avenir Next Medium"/>
                <a:cs typeface="Avenir Next Medium"/>
              </a:rPr>
              <a:t>→ The plan: let a diffusion model clean the received signal before recognising it</a:t>
            </a:r>
          </a:p>
        </p:txBody>
      </p:sp>
      <p:sp>
        <p:nvSpPr>
          <p:cNvPr id="3" name="슬라이드 번호 개체 틀 2">
            <a:extLst>
              <a:ext uri="{FF2B5EF4-FFF2-40B4-BE49-F238E27FC236}">
                <a16:creationId xmlns:a16="http://schemas.microsoft.com/office/drawing/2014/main" id="{20E43994-EB3C-E6FA-7B7E-8811468E5919}"/>
              </a:ext>
            </a:extLst>
          </p:cNvPr>
          <p:cNvSpPr>
            <a:spLocks noGrp="1"/>
          </p:cNvSpPr>
          <p:nvPr>
            <p:ph type="sldNum" sz="quarter" idx="2"/>
          </p:nvPr>
        </p:nvSpPr>
        <p:spPr/>
        <p:txBody>
          <a:bodyPr/>
          <a:lstStyle/>
          <a:p>
            <a:fld id="{86CB4B4D-7CA3-9044-876B-883B54F8677D}" type="slidenum">
              <a:rPr lang="en-US" altLang="ko-KR" smtClean="0"/>
              <a:t>17</a:t>
            </a:fld>
            <a:r>
              <a:rPr lang="en-US" altLang="ko-KR"/>
              <a:t>/21</a:t>
            </a:r>
            <a:endParaRPr lang="ko-KR"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The Idea</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Idea — From Denoising to De-Channeling</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The channel isn’t Gaussian — so add a learned channel to the diffusion, not just noise</a:t>
            </a:r>
          </a:p>
        </p:txBody>
      </p:sp>
      <p:sp>
        <p:nvSpPr>
          <p:cNvPr id="14" name="CardHdr"/>
          <p:cNvSpPr txBox="1"/>
          <p:nvPr/>
        </p:nvSpPr>
        <p:spPr>
          <a:xfrm>
            <a:off x="820000" y="2980000"/>
            <a:ext cx="10900000" cy="1120000"/>
          </a:xfrm>
          <a:prstGeom prst="rect">
            <a:avLst/>
          </a:prstGeom>
          <a:solidFill>
            <a:srgbClr val="2E74B5"/>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Standard diffusion</a:t>
            </a:r>
          </a:p>
        </p:txBody>
      </p:sp>
      <p:sp>
        <p:nvSpPr>
          <p:cNvPr id="15" name="CardBody"/>
          <p:cNvSpPr txBox="1"/>
          <p:nvPr/>
        </p:nvSpPr>
        <p:spPr>
          <a:xfrm>
            <a:off x="820000" y="4100000"/>
            <a:ext cx="10900000" cy="6450000"/>
          </a:xfrm>
          <a:prstGeom prst="rect">
            <a:avLst/>
          </a:prstGeom>
          <a:solidFill>
            <a:srgbClr val="EAF1FB"/>
          </a:solidFill>
          <a:ln w="12700">
            <a:solidFill>
              <a:srgbClr val="2E74B5"/>
            </a:solidFill>
          </a:ln>
        </p:spPr>
        <p:txBody>
          <a:bodyPr lIns="320000" tIns="240000" rIns="280000" bIns="200000" anchor="ctr">
            <a:noAutofit/>
          </a:bodyPr>
          <a:lstStyle/>
          <a:p>
            <a:pPr marL="0" indent="0" algn="l">
              <a:spcAft>
                <a:spcPts val="600"/>
              </a:spcAft>
              <a:buNone/>
            </a:pPr>
            <a:r>
              <a:rPr lang="en-US" altLang="ko-KR" sz="3500" b="1" i="1" dirty="0">
                <a:solidFill>
                  <a:srgbClr val="2E74B5"/>
                </a:solidFill>
                <a:latin typeface="Avenir Next Medium"/>
                <a:ea typeface="Avenir Next Medium"/>
                <a:cs typeface="Avenir Next Medium"/>
              </a:rPr>
              <a:t>Denoising only</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adds only Gaussian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can’t undo the channel h</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 features stay channel-distorted</a:t>
            </a:r>
          </a:p>
        </p:txBody>
      </p:sp>
      <p:sp>
        <p:nvSpPr>
          <p:cNvPr id="16" name="CardHdr"/>
          <p:cNvSpPr txBox="1"/>
          <p:nvPr/>
        </p:nvSpPr>
        <p:spPr>
          <a:xfrm>
            <a:off x="12660000" y="2980000"/>
            <a:ext cx="10900000" cy="1120000"/>
          </a:xfrm>
          <a:prstGeom prst="rect">
            <a:avLst/>
          </a:prstGeom>
          <a:solidFill>
            <a:srgbClr val="26448A"/>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PWC-Diff (proposed)</a:t>
            </a:r>
          </a:p>
        </p:txBody>
      </p:sp>
      <p:sp>
        <p:nvSpPr>
          <p:cNvPr id="17" name="CardBody"/>
          <p:cNvSpPr txBox="1"/>
          <p:nvPr/>
        </p:nvSpPr>
        <p:spPr>
          <a:xfrm>
            <a:off x="12660000" y="4100000"/>
            <a:ext cx="10900000" cy="6450000"/>
          </a:xfrm>
          <a:prstGeom prst="rect">
            <a:avLst/>
          </a:prstGeom>
          <a:solidFill>
            <a:srgbClr val="E9EDF5"/>
          </a:solidFill>
          <a:ln w="12700">
            <a:solidFill>
              <a:srgbClr val="26448A"/>
            </a:solidFill>
          </a:ln>
        </p:spPr>
        <p:txBody>
          <a:bodyPr lIns="320000" tIns="240000" rIns="280000" bIns="200000" anchor="ctr">
            <a:noAutofit/>
          </a:bodyPr>
          <a:lstStyle/>
          <a:p>
            <a:pPr marL="0" indent="0" algn="l">
              <a:spcAft>
                <a:spcPts val="600"/>
              </a:spcAft>
              <a:buNone/>
            </a:pPr>
            <a:r>
              <a:rPr lang="en-US" altLang="ko-KR" sz="3500" b="1" i="1" dirty="0">
                <a:solidFill>
                  <a:srgbClr val="26448A"/>
                </a:solidFill>
                <a:latin typeface="Avenir Next Medium"/>
                <a:ea typeface="Avenir Next Medium"/>
                <a:cs typeface="Avenir Next Medium"/>
              </a:rPr>
              <a:t>De-channeling + denoising</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adds a learned channel, then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learns to undo the channel and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 recovers the transmitted signal x</a:t>
            </a:r>
          </a:p>
        </p:txBody>
      </p:sp>
      <p:sp>
        <p:nvSpPr>
          <p:cNvPr id="18" name="Takeaway"/>
          <p:cNvSpPr txBox="1">
            <a:spLocks/>
          </p:cNvSpPr>
          <p:nvPr/>
        </p:nvSpPr>
        <p:spPr>
          <a:xfrm>
            <a:off x="720000" y="11150000"/>
            <a:ext cx="22944000" cy="850000"/>
          </a:xfrm>
          <a:prstGeom prst="rect">
            <a:avLst/>
          </a:prstGeom>
        </p:spPr>
        <p:txBody>
          <a:bodyPr lIns="50800" tIns="30000" rIns="50800" bIns="30000" anchor="t">
            <a:noAutofit/>
          </a:bodyPr>
          <a:lstStyle/>
          <a:p>
            <a:pPr marL="0" indent="0" algn="ctr">
              <a:buNone/>
            </a:pPr>
            <a:r>
              <a:rPr lang="en-US" altLang="ko-KR" sz="3600" b="1" i="0" dirty="0">
                <a:solidFill>
                  <a:srgbClr val="26448A"/>
                </a:solidFill>
                <a:latin typeface="Avenir Next Medium"/>
                <a:ea typeface="Avenir Next Medium"/>
                <a:cs typeface="Avenir Next Medium"/>
              </a:rPr>
              <a:t>→ Move the goal from denoising to de-channeling: model the physical channel, not just the noise</a:t>
            </a:r>
          </a:p>
        </p:txBody>
      </p:sp>
      <p:sp>
        <p:nvSpPr>
          <p:cNvPr id="3" name="슬라이드 번호 개체 틀 2">
            <a:extLst>
              <a:ext uri="{FF2B5EF4-FFF2-40B4-BE49-F238E27FC236}">
                <a16:creationId xmlns:a16="http://schemas.microsoft.com/office/drawing/2014/main" id="{5720F100-E667-22D7-3AF2-328E5D711933}"/>
              </a:ext>
            </a:extLst>
          </p:cNvPr>
          <p:cNvSpPr>
            <a:spLocks noGrp="1"/>
          </p:cNvSpPr>
          <p:nvPr>
            <p:ph type="sldNum" sz="quarter" idx="2"/>
          </p:nvPr>
        </p:nvSpPr>
        <p:spPr/>
        <p:txBody>
          <a:bodyPr/>
          <a:lstStyle/>
          <a:p>
            <a:fld id="{86CB4B4D-7CA3-9044-876B-883B54F8677D}" type="slidenum">
              <a:rPr lang="en-US" altLang="ko-KR" smtClean="0"/>
              <a:t>18</a:t>
            </a:fld>
            <a:r>
              <a:rPr lang="en-US" altLang="ko-KR"/>
              <a:t>/21</a:t>
            </a:r>
            <a:endParaRPr lang="ko-KR"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Pipeline</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PWC-Diff Pipeline, End to End</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Forward corrupts with a learned channel + noise · Reverse (FusedFormer) recovers the signal</a:t>
            </a:r>
          </a:p>
        </p:txBody>
      </p:sp>
      <p:pic>
        <p:nvPicPr>
          <p:cNvPr id="20" name="fig2"/>
          <p:cNvPicPr>
            <a:picLocks noChangeAspect="1"/>
          </p:cNvPicPr>
          <p:nvPr/>
        </p:nvPicPr>
        <p:blipFill>
          <a:blip r:embed="rId3"/>
          <a:stretch>
            <a:fillRect/>
          </a:stretch>
        </p:blipFill>
        <p:spPr>
          <a:xfrm>
            <a:off x="3500440" y="2691330"/>
            <a:ext cx="17762362" cy="9984670"/>
          </a:xfrm>
          <a:prstGeom prst="rect">
            <a:avLst/>
          </a:prstGeom>
        </p:spPr>
      </p:pic>
      <p:sp>
        <p:nvSpPr>
          <p:cNvPr id="3" name="슬라이드 번호 개체 틀 2">
            <a:extLst>
              <a:ext uri="{FF2B5EF4-FFF2-40B4-BE49-F238E27FC236}">
                <a16:creationId xmlns:a16="http://schemas.microsoft.com/office/drawing/2014/main" id="{00B36DF1-9268-E966-942C-4204E95E4A0E}"/>
              </a:ext>
            </a:extLst>
          </p:cNvPr>
          <p:cNvSpPr>
            <a:spLocks noGrp="1"/>
          </p:cNvSpPr>
          <p:nvPr>
            <p:ph type="sldNum" sz="quarter" idx="2"/>
          </p:nvPr>
        </p:nvSpPr>
        <p:spPr/>
        <p:txBody>
          <a:bodyPr/>
          <a:lstStyle/>
          <a:p>
            <a:fld id="{86CB4B4D-7CA3-9044-876B-883B54F8677D}" type="slidenum">
              <a:rPr lang="en-US" altLang="ko-KR" smtClean="0"/>
              <a:t>19</a:t>
            </a:fld>
            <a:r>
              <a:rPr lang="en-US" altLang="ko-KR"/>
              <a:t>/21</a:t>
            </a:r>
            <a:endParaRPr lang="ko-KR"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Results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SOTA — Let’s Read the Table Together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Rank 1.0 overall — the interesting part is where the margins are</a:t>
            </a:r>
          </a:p>
        </p:txBody>
      </p:sp>
      <p:pic>
        <p:nvPicPr>
          <p:cNvPr id="20" name="table2"/>
          <p:cNvPicPr>
            <a:picLocks noChangeAspect="1"/>
          </p:cNvPicPr>
          <p:nvPr/>
        </p:nvPicPr>
        <p:blipFill>
          <a:blip r:embed="rId3"/>
          <a:stretch>
            <a:fillRect/>
          </a:stretch>
        </p:blipFill>
        <p:spPr>
          <a:xfrm>
            <a:off x="2546176" y="2971450"/>
            <a:ext cx="18745199" cy="7453486"/>
          </a:xfrm>
          <a:prstGeom prst="rect">
            <a:avLst/>
          </a:prstGeom>
        </p:spPr>
      </p:pic>
      <p:sp>
        <p:nvSpPr>
          <p:cNvPr id="21" name="Disc"/>
          <p:cNvSpPr txBox="1">
            <a:spLocks/>
          </p:cNvSpPr>
          <p:nvPr/>
        </p:nvSpPr>
        <p:spPr>
          <a:xfrm>
            <a:off x="1240322" y="10897676"/>
            <a:ext cx="22864000" cy="2050000"/>
          </a:xfrm>
          <a:prstGeom prst="rect">
            <a:avLst/>
          </a:prstGeom>
        </p:spPr>
        <p:txBody>
          <a:bodyPr lIns="50800" tIns="30000" rIns="50800" bIns="30000" anchor="t">
            <a:noAutofit/>
          </a:bodyPr>
          <a:lstStyle/>
          <a:p>
            <a:pPr marL="520000" indent="-520000" algn="l">
              <a:spcBef>
                <a:spcPts val="300"/>
              </a:spcBef>
              <a:buFont typeface="Wingdings"/>
              <a:buChar char="Ø"/>
            </a:pPr>
            <a:r>
              <a:rPr lang="en-US" altLang="ko-KR" sz="2800" b="0" i="0" dirty="0">
                <a:solidFill>
                  <a:srgbClr val="000000"/>
                </a:solidFill>
                <a:latin typeface="Avenir Next Medium"/>
                <a:ea typeface="Avenir Next Medium"/>
                <a:cs typeface="Avenir Next Medium"/>
              </a:rPr>
              <a:t>Top rank on all four datasets — but some margins are thin (RML2016: 63.60 vs IQFormer 63.54)</a:t>
            </a:r>
          </a:p>
          <a:p>
            <a:pPr marL="520000" indent="-520000" algn="l">
              <a:spcBef>
                <a:spcPts val="900"/>
              </a:spcBef>
              <a:buFont typeface="Wingdings"/>
              <a:buChar char="Ø"/>
            </a:pPr>
            <a:r>
              <a:rPr lang="en-US" altLang="ko-KR" sz="2800" b="0" i="0" dirty="0">
                <a:solidFill>
                  <a:srgbClr val="000000"/>
                </a:solidFill>
                <a:latin typeface="Avenir Next Medium"/>
                <a:ea typeface="Avenir Next Medium"/>
                <a:cs typeface="Avenir Next Medium"/>
              </a:rPr>
              <a:t>Clearest win is TechRec (WTC): 91.0 avg vs 88.8 next best</a:t>
            </a:r>
          </a:p>
          <a:p>
            <a:pPr marL="520000" indent="-520000" algn="l">
              <a:spcBef>
                <a:spcPts val="900"/>
              </a:spcBef>
              <a:buFont typeface="Wingdings"/>
              <a:buChar char="Ø"/>
            </a:pPr>
            <a:r>
              <a:rPr lang="en-US" altLang="ko-KR" sz="2800" b="1" i="0" dirty="0">
                <a:solidFill>
                  <a:srgbClr val="26448A"/>
                </a:solidFill>
                <a:latin typeface="Avenir Next Medium"/>
                <a:ea typeface="Avenir Next Medium"/>
                <a:cs typeface="Avenir Next Medium"/>
              </a:rPr>
              <a:t>→ Worth discussing: how much of the gain is the de-channeling idea vs the FusedFormer backbone?</a:t>
            </a:r>
          </a:p>
        </p:txBody>
      </p:sp>
      <p:sp>
        <p:nvSpPr>
          <p:cNvPr id="3" name="슬라이드 번호 개체 틀 2">
            <a:extLst>
              <a:ext uri="{FF2B5EF4-FFF2-40B4-BE49-F238E27FC236}">
                <a16:creationId xmlns:a16="http://schemas.microsoft.com/office/drawing/2014/main" id="{20A7B3E4-9178-A3CE-36BE-6419E3709A61}"/>
              </a:ext>
            </a:extLst>
          </p:cNvPr>
          <p:cNvSpPr>
            <a:spLocks noGrp="1"/>
          </p:cNvSpPr>
          <p:nvPr>
            <p:ph type="sldNum" sz="quarter" idx="2"/>
          </p:nvPr>
        </p:nvSpPr>
        <p:spPr/>
        <p:txBody>
          <a:bodyPr/>
          <a:lstStyle/>
          <a:p>
            <a:fld id="{86CB4B4D-7CA3-9044-876B-883B54F8677D}" type="slidenum">
              <a:rPr lang="en-US" altLang="ko-KR" smtClean="0"/>
              <a:t>20</a:t>
            </a:fld>
            <a:r>
              <a:rPr lang="en-US" altLang="ko-KR"/>
              <a:t>/21</a:t>
            </a:r>
            <a:endParaRPr lang="ko-KR"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A7358-8D55-BC02-57A1-173A60DA2F90}"/>
            </a:ext>
          </a:extLst>
        </p:cNvPr>
        <p:cNvGrpSpPr/>
        <p:nvPr/>
      </p:nvGrpSpPr>
      <p:grpSpPr>
        <a:xfrm>
          <a:off x="0" y="0"/>
          <a:ext cx="0" cy="0"/>
          <a:chOff x="0" y="0"/>
          <a:chExt cx="0" cy="0"/>
        </a:xfrm>
      </p:grpSpPr>
      <p:sp>
        <p:nvSpPr>
          <p:cNvPr id="2" name="DivTitle">
            <a:extLst>
              <a:ext uri="{FF2B5EF4-FFF2-40B4-BE49-F238E27FC236}">
                <a16:creationId xmlns:a16="http://schemas.microsoft.com/office/drawing/2014/main" id="{D5D2A389-9FD3-9ABE-4A08-61B3969601AD}"/>
              </a:ext>
            </a:extLst>
          </p:cNvPr>
          <p:cNvSpPr txBox="1">
            <a:spLocks/>
          </p:cNvSpPr>
          <p:nvPr/>
        </p:nvSpPr>
        <p:spPr>
          <a:xfrm>
            <a:off x="0" y="6083000"/>
            <a:ext cx="24384000" cy="1550000"/>
          </a:xfrm>
          <a:prstGeom prst="rect">
            <a:avLst/>
          </a:prstGeom>
        </p:spPr>
        <p:txBody>
          <a:bodyPr lIns="50800" tIns="30000" rIns="50800" bIns="30000" anchor="ctr">
            <a:noAutofit/>
          </a:bodyPr>
          <a:lstStyle/>
          <a:p>
            <a:pPr algn="ctr"/>
            <a:r>
              <a:rPr lang="en-US" altLang="ko-KR" sz="10000" b="1" dirty="0">
                <a:latin typeface="AvenirNext-DemiBold"/>
                <a:ea typeface="AvenirNext-DemiBold"/>
                <a:cs typeface="AvenirNext-DemiBold"/>
              </a:rPr>
              <a:t>Thank you!</a:t>
            </a:r>
            <a:endParaRPr lang="en-US" altLang="ko-KR" sz="10000" b="1" i="0" dirty="0">
              <a:solidFill>
                <a:srgbClr val="000000"/>
              </a:solidFill>
              <a:latin typeface="AvenirNext-DemiBold"/>
              <a:ea typeface="AvenirNext-DemiBold"/>
              <a:cs typeface="AvenirNext-DemiBold"/>
            </a:endParaRPr>
          </a:p>
        </p:txBody>
      </p:sp>
    </p:spTree>
    <p:extLst>
      <p:ext uri="{BB962C8B-B14F-4D97-AF65-F5344CB8AC3E}">
        <p14:creationId xmlns:p14="http://schemas.microsoft.com/office/powerpoint/2010/main" val="566617519"/>
      </p:ext>
    </p:extLst>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29229</TotalTime>
  <Words>2430</Words>
  <Application>Microsoft Macintosh PowerPoint</Application>
  <PresentationFormat>사용자 지정</PresentationFormat>
  <Paragraphs>222</Paragraphs>
  <Slides>21</Slides>
  <Notes>21</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21</vt:i4>
      </vt:variant>
    </vt:vector>
  </HeadingPairs>
  <TitlesOfParts>
    <vt:vector size="31"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363</cp:revision>
  <dcterms:modified xsi:type="dcterms:W3CDTF">2026-07-14T01:23:39Z</dcterms:modified>
</cp:coreProperties>
</file>