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1"/>
  </p:notesMasterIdLst>
  <p:handoutMasterIdLst>
    <p:handoutMasterId r:id="rId12"/>
  </p:handoutMasterIdLst>
  <p:sldIdLst>
    <p:sldId id="368" r:id="rId2"/>
    <p:sldId id="369" r:id="rId3"/>
    <p:sldId id="370" r:id="rId4"/>
    <p:sldId id="371" r:id="rId5"/>
    <p:sldId id="372" r:id="rId6"/>
    <p:sldId id="373" r:id="rId7"/>
    <p:sldId id="374" r:id="rId8"/>
    <p:sldId id="375" r:id="rId9"/>
    <p:sldId id="376" r:id="rId1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27"/>
    <p:restoredTop sz="73655" autoAdjust="0"/>
  </p:normalViewPr>
  <p:slideViewPr>
    <p:cSldViewPr snapToGrid="0">
      <p:cViewPr varScale="1">
        <p:scale>
          <a:sx n="81" d="100"/>
          <a:sy n="81" d="100"/>
        </p:scale>
        <p:origin x="369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2026. 8. 11.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lang="en-US" dirty="0"/>
              <a:t>Today I have done </a:t>
            </a:r>
            <a:r>
              <a:rPr lang="en-US" dirty="0" err="1"/>
              <a:t>sionna</a:t>
            </a:r>
            <a:r>
              <a:rPr lang="en-US" dirty="0"/>
              <a:t> simulation and drew some micro doppler map</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lang="en-US" altLang="ko-KR" dirty="0"/>
              <a:t>For this week's progress, I generated the micro-Doppler signatures for a drone hovering scenario using the </a:t>
            </a:r>
            <a:r>
              <a:rPr lang="en-US" altLang="ko-KR" b="1" dirty="0"/>
              <a:t>Sionna Path Solver</a:t>
            </a:r>
            <a:r>
              <a:rPr lang="en-US" altLang="ko-KR" dirty="0"/>
              <a:t> and the physical optics approach I mentioned before.</a:t>
            </a:r>
          </a:p>
          <a:p>
            <a:endParaRPr lang="en-US" altLang="ko-KR" dirty="0"/>
          </a:p>
          <a:p>
            <a:r>
              <a:rPr lang="en-US" altLang="ko-KR" dirty="0"/>
              <a:t>In the simulation, the rotation speed of each rotor was centered around a calculated estimate of 3,800 RPM. To account for variance, </a:t>
            </a:r>
          </a:p>
          <a:p>
            <a:r>
              <a:rPr lang="en-US" altLang="ko-KR" dirty="0"/>
              <a:t>I applied the dispersion data from Ji-hyuk's previous work and hard-coded randomized values to set fixed rotation speeds for each rotor.</a:t>
            </a:r>
          </a:p>
          <a:p>
            <a:endParaRPr lang="en-US" altLang="ko-KR" dirty="0"/>
          </a:p>
          <a:p>
            <a:r>
              <a:rPr lang="en-US" altLang="ko-KR" dirty="0"/>
              <a:t>A more precise modeling regarding this rotor speed will be refined in my future work."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lang="en-US" altLang="ko-KR" dirty="0"/>
              <a:t>To give you some background, </a:t>
            </a:r>
            <a:r>
              <a:rPr lang="en-US" altLang="ko-KR" b="1" dirty="0"/>
              <a:t>Sionna’s Path Solver</a:t>
            </a:r>
            <a:r>
              <a:rPr lang="en-US" altLang="ko-KR" dirty="0"/>
              <a:t> works by launching rays </a:t>
            </a:r>
            <a:r>
              <a:rPr lang="en-US" altLang="ko-KR" b="1" dirty="0" err="1"/>
              <a:t>isotropically</a:t>
            </a:r>
            <a:r>
              <a:rPr lang="en-US" altLang="ko-KR" dirty="0"/>
              <a:t> from the transmitter. </a:t>
            </a:r>
          </a:p>
          <a:p>
            <a:r>
              <a:rPr lang="en-US" altLang="ko-KR" dirty="0"/>
              <a:t>Each time a ray hits a surface, it obtains the reflection coefficient from that material and multiplies it cumulatively. </a:t>
            </a:r>
          </a:p>
          <a:p>
            <a:r>
              <a:rPr lang="en-US" altLang="ko-KR" dirty="0"/>
              <a:t>The final calculation is then based on the few paths that actually return.</a:t>
            </a:r>
          </a:p>
          <a:p>
            <a:endParaRPr lang="en-US" altLang="ko-KR" dirty="0"/>
          </a:p>
          <a:p>
            <a:r>
              <a:rPr lang="en-US" altLang="ko-KR" dirty="0"/>
              <a:t>On the other hand, </a:t>
            </a:r>
            <a:r>
              <a:rPr lang="en-US" altLang="ko-KR" b="1" dirty="0"/>
              <a:t>our SBR + PO method</a:t>
            </a:r>
            <a:r>
              <a:rPr lang="en-US" altLang="ko-KR" dirty="0"/>
              <a:t> calculates the physical optics scattering integral using a defined formula under a plane-wave illumination assumption. </a:t>
            </a:r>
          </a:p>
          <a:p>
            <a:endParaRPr lang="en-US" altLang="ko-KR" dirty="0"/>
          </a:p>
          <a:p>
            <a:r>
              <a:rPr lang="en-US" altLang="ko-KR" dirty="0"/>
              <a:t>To determine exactly which surfaces are actually illuminated, we shoot a grid of parallel rays at the target and compute the scattering based on the first hit point of each ray.</a:t>
            </a:r>
          </a:p>
          <a:p>
            <a:r>
              <a:rPr lang="en-US" altLang="ko-KR" dirty="0"/>
              <a:t>And for the components designated as transmissive the rays penetrate through. </a:t>
            </a:r>
          </a:p>
          <a:p>
            <a:r>
              <a:rPr lang="en-US" altLang="ko-KR" dirty="0"/>
              <a:t>We then calculate the echo from the internal metal structures and add it to the total, weighted by the transmittance rate.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lang="en-US" altLang="ko-KR" dirty="0"/>
              <a:t>For the simulation setup, I set the center frequency to </a:t>
            </a:r>
            <a:r>
              <a:rPr lang="en-US" altLang="ko-KR" b="1" dirty="0"/>
              <a:t>3.5 GHz</a:t>
            </a:r>
            <a:r>
              <a:rPr lang="en-US" altLang="ko-KR" dirty="0"/>
              <a:t>, representing a standard 5G band. To keep things simple at this stage, I generated the micro-Doppler map based on a scenario using a </a:t>
            </a:r>
            <a:r>
              <a:rPr lang="en-US" altLang="ko-KR" b="1" dirty="0"/>
              <a:t>CW (Continuous Wave) waveform</a:t>
            </a:r>
            <a:r>
              <a:rPr lang="en-US" altLang="ko-KR" dirty="0"/>
              <a:t>.</a:t>
            </a:r>
          </a:p>
          <a:p>
            <a:endParaRPr lang="en-US" altLang="ko-KR" dirty="0"/>
          </a:p>
          <a:p>
            <a:r>
              <a:rPr lang="en-US" altLang="ko-KR" dirty="0"/>
              <a:t>For the STFT parameters, I used a window size of 70 samples, which corresponds to about 3.553 milliseconds. The hop size was set to 2 samples, or roughly 0.1 milliseconds, and the FFT size was 560 points.</a:t>
            </a:r>
          </a:p>
          <a:p>
            <a:endParaRPr lang="en-US" altLang="ko-KR" dirty="0"/>
          </a:p>
          <a:p>
            <a:r>
              <a:rPr lang="en-US" altLang="ko-KR" dirty="0"/>
              <a:t>If you look at the </a:t>
            </a:r>
            <a:r>
              <a:rPr lang="en-US" altLang="ko-KR" b="1" dirty="0"/>
              <a:t>bottom figure</a:t>
            </a:r>
            <a:r>
              <a:rPr lang="en-US" altLang="ko-KR" dirty="0"/>
              <a:t>, it plots the energy in the 430 Hz to 1229 Hz band</a:t>
            </a:r>
          </a:p>
          <a:p>
            <a:endParaRPr lang="en-US" altLang="ko-KR" dirty="0"/>
          </a:p>
          <a:p>
            <a:r>
              <a:rPr lang="en-US" altLang="ko-KR" dirty="0"/>
              <a:t>I targeted this specific range because it is considered to be outside the energy contribution of the </a:t>
            </a:r>
            <a:r>
              <a:rPr lang="en-US" altLang="ko-KR" b="1" dirty="0"/>
              <a:t>drone's rigid body</a:t>
            </a:r>
            <a:r>
              <a:rPr lang="en-US" altLang="ko-KR" dirty="0"/>
              <a:t>.</a:t>
            </a:r>
          </a:p>
          <a:p>
            <a:endParaRPr lang="en-US" altLang="ko-KR" dirty="0"/>
          </a:p>
          <a:p>
            <a:r>
              <a:rPr lang="en-US" altLang="ko-KR" dirty="0"/>
              <a:t>In this analysis, a distinct peak appeared around 127 Hz, which closely aligns with the expected frequency for the propeller rotation speed. Additionally, we could clearly observe peaks emerging at its </a:t>
            </a:r>
            <a:r>
              <a:rPr lang="en-US" altLang="ko-KR" b="1" dirty="0"/>
              <a:t>harmonic frequencies</a:t>
            </a:r>
            <a:r>
              <a:rPr lang="en-US" altLang="ko-KR" dirty="0"/>
              <a:t> as well."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lang="en-US" altLang="ko-KR" dirty="0"/>
              <a:t>Just to clarify, the results shown on the previous slide were specifically limited to a scenario where the drone was 3 meters away.</a:t>
            </a:r>
          </a:p>
          <a:p>
            <a:r>
              <a:rPr lang="en-US" altLang="ko-KR" dirty="0"/>
              <a:t>Following that, I expanded the simulation and performed the STFT analysis across varying distances—specifically at 3 meters, 15 meters, and 40 meters.</a:t>
            </a:r>
          </a:p>
          <a:p>
            <a:r>
              <a:rPr lang="en-US" altLang="ko-KR" dirty="0"/>
              <a:t>As a result, I was able to confirm that the visual STFT patterns remained highly consistent, even in scenarios where the target distance significantly increased</a:t>
            </a:r>
          </a:p>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lang="en-US" altLang="ko-KR" dirty="0"/>
              <a:t>Furthermore, across these varying distances, </a:t>
            </a:r>
            <a:r>
              <a:rPr lang="en-US" altLang="ko-KR" b="1" dirty="0"/>
              <a:t>I</a:t>
            </a:r>
            <a:r>
              <a:rPr lang="en-US" altLang="ko-KR" dirty="0"/>
              <a:t> observed that the energy peaks within the previously mentioned frequency band—along with the peaks at the harmonic positions—remained largely similar.</a:t>
            </a:r>
          </a:p>
          <a:p>
            <a:r>
              <a:rPr lang="en-US" altLang="ko-KR" dirty="0"/>
              <a:t>Additionally, </a:t>
            </a:r>
            <a:r>
              <a:rPr lang="en-US" altLang="ko-KR" b="1" dirty="0"/>
              <a:t>I</a:t>
            </a:r>
            <a:r>
              <a:rPr lang="en-US" altLang="ko-KR" dirty="0"/>
              <a:t> noticed an interesting observation regarding the harmonics.</a:t>
            </a:r>
          </a:p>
          <a:p>
            <a:r>
              <a:rPr lang="en-US" altLang="ko-KR" dirty="0"/>
              <a:t>With </a:t>
            </a:r>
            <a:r>
              <a:rPr lang="en-US" altLang="ko-KR" b="1" dirty="0"/>
              <a:t>my</a:t>
            </a:r>
            <a:r>
              <a:rPr lang="en-US" altLang="ko-KR" dirty="0"/>
              <a:t> PO approach, it is clearly observed that the peak intensity gradually decreases as it moves to higher harmonics. </a:t>
            </a:r>
          </a:p>
          <a:p>
            <a:r>
              <a:rPr lang="en-US" altLang="ko-KR" dirty="0"/>
              <a:t>On the other hand, with the Path Solver method, there were quite a few instances where the peak at the first harmonic appeared almost as high as the original peak.</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lang="en-US" altLang="ko-KR" dirty="0"/>
              <a:t>Lastly, in the 40-meter scenario, </a:t>
            </a:r>
            <a:r>
              <a:rPr lang="en-US" altLang="ko-KR" b="1" dirty="0"/>
              <a:t>I</a:t>
            </a:r>
            <a:r>
              <a:rPr lang="en-US" altLang="ko-KR" dirty="0"/>
              <a:t> generated multiple micro-Doppler maps by varying the random seed values. </a:t>
            </a:r>
            <a:r>
              <a:rPr lang="en-US" altLang="ko-KR" b="1" dirty="0"/>
              <a:t>I</a:t>
            </a:r>
            <a:r>
              <a:rPr lang="en-US" altLang="ko-KR" dirty="0"/>
              <a:t> observed that the clarity of the maps varied depending on the seed.</a:t>
            </a:r>
          </a:p>
          <a:p>
            <a:r>
              <a:rPr lang="en-US" altLang="ko-KR" dirty="0"/>
              <a:t>In contrast, </a:t>
            </a:r>
            <a:r>
              <a:rPr lang="en-US" altLang="ko-KR" b="1" dirty="0"/>
              <a:t>my PO approach</a:t>
            </a:r>
            <a:r>
              <a:rPr lang="en-US" altLang="ko-KR" dirty="0"/>
              <a:t> always yields the exact same result, provided that the distance is fixed and the drone's pose remains the same.</a:t>
            </a:r>
          </a:p>
          <a:p>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lang="en-US" altLang="ko-KR" sz="1500" b="0" i="0" dirty="0">
                <a:effectLst/>
                <a:latin typeface="Helvetica Neue"/>
                <a:ea typeface="Helvetica Neue"/>
                <a:cs typeface="Helvetica Neue"/>
                <a:sym typeface="Helvetica Neue"/>
              </a:rPr>
              <a:t>For my future work, I want to </a:t>
            </a:r>
            <a:r>
              <a:rPr lang="en-US" altLang="ko-KR" sz="1500" b="1" i="0" dirty="0">
                <a:effectLst/>
                <a:latin typeface="Helvetica Neue"/>
                <a:ea typeface="Helvetica Neue"/>
                <a:cs typeface="Helvetica Neue"/>
                <a:sym typeface="Helvetica Neue"/>
              </a:rPr>
              <a:t>make the simulation more realistic</a:t>
            </a:r>
            <a:r>
              <a:rPr lang="en-US" altLang="ko-KR" sz="1500" b="0" i="0" dirty="0">
                <a:effectLst/>
                <a:latin typeface="Helvetica Neue"/>
                <a:ea typeface="Helvetica Neue"/>
                <a:cs typeface="Helvetica Neue"/>
                <a:sym typeface="Helvetica Neue"/>
              </a:rPr>
              <a:t>. I have three directions.</a:t>
            </a:r>
          </a:p>
          <a:p>
            <a:r>
              <a:rPr lang="en-US" altLang="ko-KR" sz="1500" b="1" i="0" dirty="0">
                <a:effectLst/>
                <a:latin typeface="Helvetica Neue"/>
                <a:ea typeface="Helvetica Neue"/>
                <a:cs typeface="Helvetica Neue"/>
                <a:sym typeface="Helvetica Neue"/>
              </a:rPr>
              <a:t>First, the rotor speeds.</a:t>
            </a:r>
            <a:r>
              <a:rPr lang="en-US" altLang="ko-KR" sz="1500" b="0" i="0" dirty="0">
                <a:effectLst/>
                <a:latin typeface="Helvetica Neue"/>
                <a:ea typeface="Helvetica Neue"/>
                <a:cs typeface="Helvetica Neue"/>
                <a:sym typeface="Helvetica Neue"/>
              </a:rPr>
              <a:t> Right now each rotor turns at a </a:t>
            </a:r>
            <a:r>
              <a:rPr lang="en-US" altLang="ko-KR" sz="1500" b="1" i="0" dirty="0">
                <a:effectLst/>
                <a:latin typeface="Helvetica Neue"/>
                <a:ea typeface="Helvetica Neue"/>
                <a:cs typeface="Helvetica Neue"/>
                <a:sym typeface="Helvetica Neue"/>
              </a:rPr>
              <a:t>hard-coded</a:t>
            </a:r>
            <a:r>
              <a:rPr lang="en-US" altLang="ko-KR" sz="1500" b="0" i="0" dirty="0">
                <a:effectLst/>
                <a:latin typeface="Helvetica Neue"/>
                <a:ea typeface="Helvetica Neue"/>
                <a:cs typeface="Helvetica Neue"/>
                <a:sym typeface="Helvetica Neue"/>
              </a:rPr>
              <a:t> value, and the spread between them comes from a flight simulator, not from a real drone. I want to use </a:t>
            </a:r>
            <a:r>
              <a:rPr lang="en-US" altLang="ko-KR" sz="1500" b="1" i="0" dirty="0">
                <a:effectLst/>
                <a:latin typeface="Helvetica Neue"/>
                <a:ea typeface="Helvetica Neue"/>
                <a:cs typeface="Helvetica Neue"/>
                <a:sym typeface="Helvetica Neue"/>
              </a:rPr>
              <a:t>real flight log data</a:t>
            </a:r>
            <a:r>
              <a:rPr lang="en-US" altLang="ko-KR" sz="1500" b="0" i="0" dirty="0">
                <a:effectLst/>
                <a:latin typeface="Helvetica Neue"/>
                <a:ea typeface="Helvetica Neue"/>
                <a:cs typeface="Helvetica Neue"/>
                <a:sym typeface="Helvetica Neue"/>
              </a:rPr>
              <a:t> instead, and also introduce </a:t>
            </a:r>
            <a:r>
              <a:rPr lang="en-US" altLang="ko-KR" sz="1500" b="1" i="0" dirty="0">
                <a:effectLst/>
                <a:latin typeface="Helvetica Neue"/>
                <a:ea typeface="Helvetica Neue"/>
                <a:cs typeface="Helvetica Neue"/>
                <a:sym typeface="Helvetica Neue"/>
              </a:rPr>
              <a:t>temporal variation</a:t>
            </a:r>
            <a:r>
              <a:rPr lang="en-US" altLang="ko-KR" sz="1500" b="0" i="0" dirty="0">
                <a:effectLst/>
                <a:latin typeface="Helvetica Neue"/>
                <a:ea typeface="Helvetica Neue"/>
                <a:cs typeface="Helvetica Neue"/>
                <a:sym typeface="Helvetica Neue"/>
              </a:rPr>
              <a:t>, the way a real drone adjusts its rotors while it stays in place.</a:t>
            </a:r>
          </a:p>
          <a:p>
            <a:r>
              <a:rPr lang="en-US" altLang="ko-KR" sz="1500" b="1" i="0" dirty="0">
                <a:effectLst/>
                <a:latin typeface="Helvetica Neue"/>
                <a:ea typeface="Helvetica Neue"/>
                <a:cs typeface="Helvetica Neue"/>
                <a:sym typeface="Helvetica Neue"/>
              </a:rPr>
              <a:t>Second, noise.</a:t>
            </a:r>
            <a:r>
              <a:rPr lang="en-US" altLang="ko-KR" sz="1500" b="0" i="0" dirty="0">
                <a:effectLst/>
                <a:latin typeface="Helvetica Neue"/>
                <a:ea typeface="Helvetica Neue"/>
                <a:cs typeface="Helvetica Neue"/>
                <a:sym typeface="Helvetica Neue"/>
              </a:rPr>
              <a:t> There is </a:t>
            </a:r>
            <a:r>
              <a:rPr lang="en-US" altLang="ko-KR" sz="1500" b="1" i="0" dirty="0">
                <a:effectLst/>
                <a:latin typeface="Helvetica Neue"/>
                <a:ea typeface="Helvetica Neue"/>
                <a:cs typeface="Helvetica Neue"/>
                <a:sym typeface="Helvetica Neue"/>
              </a:rPr>
              <a:t>no receiver noise</a:t>
            </a:r>
            <a:r>
              <a:rPr lang="en-US" altLang="ko-KR" sz="1500" b="0" i="0" dirty="0">
                <a:effectLst/>
                <a:latin typeface="Helvetica Neue"/>
                <a:ea typeface="Helvetica Neue"/>
                <a:cs typeface="Helvetica Neue"/>
                <a:sym typeface="Helvetica Neue"/>
              </a:rPr>
              <a:t> in this simulation. That is why nothing became harder when the drone moved further away. The echo does get weaker with distance, but each map is scaled to its own brightest point, so we cannot see that. And with no noise, nothing is ever buried. In the real world, </a:t>
            </a:r>
            <a:r>
              <a:rPr lang="en-US" altLang="ko-KR" sz="1500" b="1" i="0" dirty="0">
                <a:effectLst/>
                <a:latin typeface="Helvetica Neue"/>
                <a:ea typeface="Helvetica Neue"/>
                <a:cs typeface="Helvetica Neue"/>
                <a:sym typeface="Helvetica Neue"/>
              </a:rPr>
              <a:t>noise is what decides how far we can detect</a:t>
            </a:r>
            <a:r>
              <a:rPr lang="en-US" altLang="ko-KR" sz="1500" b="0" i="0" dirty="0">
                <a:effectLst/>
                <a:latin typeface="Helvetica Neue"/>
                <a:ea typeface="Helvetica Neue"/>
                <a:cs typeface="Helvetica Neue"/>
                <a:sym typeface="Helvetica Neue"/>
              </a:rPr>
              <a:t>, so I want to add it.</a:t>
            </a:r>
          </a:p>
          <a:p>
            <a:r>
              <a:rPr lang="en-US" altLang="ko-KR" sz="1500" b="1" i="0" dirty="0">
                <a:effectLst/>
                <a:latin typeface="Helvetica Neue"/>
                <a:ea typeface="Helvetica Neue"/>
                <a:cs typeface="Helvetica Neue"/>
                <a:sym typeface="Helvetica Neue"/>
              </a:rPr>
              <a:t>Third, the geometry and the environment.</a:t>
            </a:r>
            <a:r>
              <a:rPr lang="en-US" altLang="ko-KR" sz="1500" b="0" i="0" dirty="0">
                <a:effectLst/>
                <a:latin typeface="Helvetica Neue"/>
                <a:ea typeface="Helvetica Neue"/>
                <a:cs typeface="Helvetica Neue"/>
                <a:sym typeface="Helvetica Neue"/>
              </a:rPr>
              <a:t> Everything today uses </a:t>
            </a:r>
            <a:r>
              <a:rPr lang="en-US" altLang="ko-KR" sz="1500" b="1" i="0" dirty="0">
                <a:effectLst/>
                <a:latin typeface="Helvetica Neue"/>
                <a:ea typeface="Helvetica Neue"/>
                <a:cs typeface="Helvetica Neue"/>
                <a:sym typeface="Helvetica Neue"/>
              </a:rPr>
              <a:t>one station</a:t>
            </a:r>
            <a:r>
              <a:rPr lang="en-US" altLang="ko-KR" sz="1500" b="0" i="0" dirty="0">
                <a:effectLst/>
                <a:latin typeface="Helvetica Neue"/>
                <a:ea typeface="Helvetica Neue"/>
                <a:cs typeface="Helvetica Neue"/>
                <a:sym typeface="Helvetica Neue"/>
              </a:rPr>
              <a:t> that sends and receives at the same place, in </a:t>
            </a:r>
            <a:r>
              <a:rPr lang="en-US" altLang="ko-KR" sz="1500" b="1" i="0" dirty="0">
                <a:effectLst/>
                <a:latin typeface="Helvetica Neue"/>
                <a:ea typeface="Helvetica Neue"/>
                <a:cs typeface="Helvetica Neue"/>
                <a:sym typeface="Helvetica Neue"/>
              </a:rPr>
              <a:t>empty space</a:t>
            </a:r>
            <a:r>
              <a:rPr lang="en-US" altLang="ko-KR" sz="1500" b="0" i="0" dirty="0">
                <a:effectLst/>
                <a:latin typeface="Helvetica Neue"/>
                <a:ea typeface="Helvetica Neue"/>
                <a:cs typeface="Helvetica Neue"/>
                <a:sym typeface="Helvetica Neue"/>
              </a:rPr>
              <a:t>. Our real experiment is a </a:t>
            </a:r>
            <a:r>
              <a:rPr lang="en-US" altLang="ko-KR" sz="1500" b="1" i="0" dirty="0">
                <a:effectLst/>
                <a:latin typeface="Helvetica Neue"/>
                <a:ea typeface="Helvetica Neue"/>
                <a:cs typeface="Helvetica Neue"/>
                <a:sym typeface="Helvetica Neue"/>
              </a:rPr>
              <a:t>passive bistatic</a:t>
            </a:r>
            <a:r>
              <a:rPr lang="en-US" altLang="ko-KR" sz="1500" b="0" i="0" dirty="0">
                <a:effectLst/>
                <a:latin typeface="Helvetica Neue"/>
                <a:ea typeface="Helvetica Neue"/>
                <a:cs typeface="Helvetica Neue"/>
                <a:sym typeface="Helvetica Neue"/>
              </a:rPr>
              <a:t> setup, where the signal comes from someone else's base station, and it happens in a room with walls and a floor. I want to move to that geometry and </a:t>
            </a:r>
            <a:r>
              <a:rPr lang="en-US" altLang="ko-KR" sz="1500" b="1" i="0" dirty="0">
                <a:effectLst/>
                <a:latin typeface="Helvetica Neue"/>
                <a:ea typeface="Helvetica Neue"/>
                <a:cs typeface="Helvetica Neue"/>
                <a:sym typeface="Helvetica Neue"/>
              </a:rPr>
              <a:t>add clutter modelling</a:t>
            </a:r>
            <a:r>
              <a:rPr lang="en-US" altLang="ko-KR" sz="1500" b="0" i="0" dirty="0">
                <a:effectLst/>
                <a:latin typeface="Helvetica Neue"/>
                <a:ea typeface="Helvetica Neue"/>
                <a:cs typeface="Helvetica Neue"/>
                <a:sym typeface="Helvetica Neue"/>
              </a:rPr>
              <a:t>.</a:t>
            </a:r>
          </a:p>
          <a:p>
            <a:r>
              <a:rPr lang="en-US" altLang="ko-KR" sz="1500" b="1" i="0" dirty="0">
                <a:effectLst/>
                <a:latin typeface="Helvetica Neue"/>
                <a:ea typeface="Helvetica Neue"/>
                <a:cs typeface="Helvetica Neue"/>
                <a:sym typeface="Helvetica Neue"/>
              </a:rPr>
              <a:t>All three will make the results worse, and that is the point. They bring the simulation closer to a real measurement.</a:t>
            </a:r>
            <a:endParaRPr lang="en-US" altLang="ko-KR" sz="1500" b="0" i="0" dirty="0">
              <a:effectLst/>
              <a:latin typeface="Helvetica Neue"/>
              <a:ea typeface="Helvetica Neue"/>
              <a:cs typeface="Helvetica Neue"/>
              <a:sym typeface="Helvetica Neue"/>
            </a:endParaRPr>
          </a:p>
          <a:p>
            <a:endParaRPr lang="en-US" altLang="ko-K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623728" y="12947676"/>
            <a:ext cx="1061188" cy="641201"/>
          </a:xfrm>
          <a:prstGeom prst="rect">
            <a:avLst/>
          </a:prstGeom>
        </p:spPr>
        <p:txBody>
          <a:bodyPr wrap="none"/>
          <a:lstStyle/>
          <a:p>
            <a:fld id="{86CB4B4D-7CA3-9044-876B-883B54F8677D}" type="slidenum">
              <a:rPr smtClean="0"/>
              <a:t>‹#›</a:t>
            </a:fld>
            <a:r>
              <a:rPr lang="en-US" dirty="0"/>
              <a:t>/9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5.xml"/><Relationship Id="rId5" Type="http://schemas.openxmlformats.org/officeDocument/2006/relationships/image" Target="../media/image7.emf"/><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2026. 08. 11</a:t>
            </a: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5105400"/>
            <a:ext cx="21457920" cy="822960"/>
          </a:xfrm>
          <a:prstGeom prst="rect">
            <a:avLst/>
          </a:prstGeom>
          <a:noFill/>
        </p:spPr>
        <p:txBody>
          <a:bodyPr wrap="square" lIns="0" tIns="0" rIns="0" bIns="0" anchor="t">
            <a:spAutoFit/>
          </a:bodyPr>
          <a:lstStyle/>
          <a:p>
            <a:pPr algn="ctr"/>
            <a:r>
              <a:rPr sz="3800" b="1" i="0">
                <a:solidFill>
                  <a:srgbClr val="2E74B5"/>
                </a:solidFill>
                <a:latin typeface="AvenirNext-DemiBold"/>
              </a:rPr>
              <a:t>TODAY</a:t>
            </a:r>
          </a:p>
        </p:txBody>
      </p:sp>
      <p:sp>
        <p:nvSpPr>
          <p:cNvPr id="3" name="TextBox 2"/>
          <p:cNvSpPr txBox="1"/>
          <p:nvPr/>
        </p:nvSpPr>
        <p:spPr>
          <a:xfrm>
            <a:off x="1463040" y="6312408"/>
            <a:ext cx="21457920" cy="1082040"/>
          </a:xfrm>
          <a:prstGeom prst="rect">
            <a:avLst/>
          </a:prstGeom>
          <a:noFill/>
        </p:spPr>
        <p:txBody>
          <a:bodyPr wrap="square" lIns="0" tIns="0" rIns="0" bIns="0" anchor="t">
            <a:spAutoFit/>
          </a:bodyPr>
          <a:lstStyle/>
          <a:p>
            <a:pPr algn="ctr"/>
            <a:r>
              <a:rPr sz="6200" b="1" i="0">
                <a:solidFill>
                  <a:srgbClr val="000000"/>
                </a:solidFill>
                <a:latin typeface="AvenirNext-DemiBold"/>
              </a:rPr>
              <a:t>Micro-Doppler of a hovering drone</a:t>
            </a:r>
          </a:p>
        </p:txBody>
      </p:sp>
      <p:sp>
        <p:nvSpPr>
          <p:cNvPr id="4" name="TextBox 3"/>
          <p:cNvSpPr txBox="1"/>
          <p:nvPr/>
        </p:nvSpPr>
        <p:spPr>
          <a:xfrm>
            <a:off x="2194560" y="7778496"/>
            <a:ext cx="19994880" cy="832104"/>
          </a:xfrm>
          <a:prstGeom prst="rect">
            <a:avLst/>
          </a:prstGeom>
          <a:noFill/>
        </p:spPr>
        <p:txBody>
          <a:bodyPr wrap="square" lIns="0" tIns="0" rIns="0" bIns="0" anchor="t">
            <a:spAutoFit/>
          </a:bodyPr>
          <a:lstStyle/>
          <a:p>
            <a:pPr algn="ctr"/>
            <a:r>
              <a:rPr sz="4200" b="0" i="0">
                <a:solidFill>
                  <a:srgbClr val="5E5E5E"/>
                </a:solidFill>
                <a:latin typeface="Avenir Next Medium"/>
              </a:rPr>
              <a:t>Sionna PathSolver vs Our SBR + PO</a:t>
            </a:r>
          </a:p>
        </p:txBody>
      </p:sp>
      <p:sp>
        <p:nvSpPr>
          <p:cNvPr id="5" name="슬라이드 번호 개체 틀 4">
            <a:extLst>
              <a:ext uri="{FF2B5EF4-FFF2-40B4-BE49-F238E27FC236}">
                <a16:creationId xmlns:a16="http://schemas.microsoft.com/office/drawing/2014/main" id="{D2518D9F-593B-ABF1-AA83-C05B45C21E61}"/>
              </a:ext>
            </a:extLst>
          </p:cNvPr>
          <p:cNvSpPr>
            <a:spLocks noGrp="1"/>
          </p:cNvSpPr>
          <p:nvPr>
            <p:ph type="sldNum" sz="quarter" idx="2"/>
          </p:nvPr>
        </p:nvSpPr>
        <p:spPr/>
        <p:txBody>
          <a:bodyPr/>
          <a:lstStyle/>
          <a:p>
            <a:fld id="{86CB4B4D-7CA3-9044-876B-883B54F8677D}" type="slidenum">
              <a:rPr lang="en-US" altLang="ko-KR" smtClean="0"/>
              <a:t>2</a:t>
            </a:fld>
            <a:r>
              <a:rPr lang="en-US" altLang="ko-KR"/>
              <a:t>/9</a:t>
            </a:r>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THE TARGET</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The scenario</a:t>
            </a:r>
          </a:p>
        </p:txBody>
      </p:sp>
      <p:pic>
        <p:nvPicPr>
          <p:cNvPr id="4" name="Picture 3" descr="v18_render.png"/>
          <p:cNvPicPr>
            <a:picLocks noChangeAspect="1"/>
          </p:cNvPicPr>
          <p:nvPr/>
        </p:nvPicPr>
        <p:blipFill>
          <a:blip r:embed="rId3"/>
          <a:stretch>
            <a:fillRect/>
          </a:stretch>
        </p:blipFill>
        <p:spPr>
          <a:xfrm>
            <a:off x="719328" y="2520695"/>
            <a:ext cx="13655040" cy="9387840"/>
          </a:xfrm>
          <a:prstGeom prst="rect">
            <a:avLst/>
          </a:prstGeom>
        </p:spPr>
      </p:pic>
      <p:sp>
        <p:nvSpPr>
          <p:cNvPr id="5" name="TextBox 4"/>
          <p:cNvSpPr txBox="1"/>
          <p:nvPr/>
        </p:nvSpPr>
        <p:spPr>
          <a:xfrm>
            <a:off x="14910816" y="2221992"/>
            <a:ext cx="8753856" cy="1234735"/>
          </a:xfrm>
          <a:prstGeom prst="rect">
            <a:avLst/>
          </a:prstGeom>
          <a:noFill/>
        </p:spPr>
        <p:txBody>
          <a:bodyPr wrap="square" lIns="0" tIns="0" rIns="0" bIns="0" anchor="t">
            <a:spAutoFit/>
          </a:bodyPr>
          <a:lstStyle/>
          <a:p>
            <a:pPr algn="l"/>
            <a:r>
              <a:rPr sz="2800" b="1" i="0">
                <a:solidFill>
                  <a:srgbClr val="2E74B5"/>
                </a:solidFill>
                <a:latin typeface="AvenirNext-DemiBold"/>
              </a:rPr>
              <a:t>The aircraft</a:t>
            </a:r>
          </a:p>
        </p:txBody>
      </p:sp>
      <p:sp>
        <p:nvSpPr>
          <p:cNvPr id="6" name="TextBox 5"/>
          <p:cNvSpPr txBox="1"/>
          <p:nvPr/>
        </p:nvSpPr>
        <p:spPr>
          <a:xfrm>
            <a:off x="14910816" y="3456727"/>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Model</a:t>
            </a:r>
          </a:p>
        </p:txBody>
      </p:sp>
      <p:sp>
        <p:nvSpPr>
          <p:cNvPr id="7" name="TextBox 6"/>
          <p:cNvSpPr txBox="1"/>
          <p:nvPr/>
        </p:nvSpPr>
        <p:spPr>
          <a:xfrm>
            <a:off x="18937590" y="3456727"/>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DJI Matrice 4E</a:t>
            </a:r>
          </a:p>
        </p:txBody>
      </p:sp>
      <p:sp>
        <p:nvSpPr>
          <p:cNvPr id="8" name="TextBox 7"/>
          <p:cNvSpPr txBox="1"/>
          <p:nvPr/>
        </p:nvSpPr>
        <p:spPr>
          <a:xfrm>
            <a:off x="14910816" y="4530410"/>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Propeller</a:t>
            </a:r>
          </a:p>
        </p:txBody>
      </p:sp>
      <p:sp>
        <p:nvSpPr>
          <p:cNvPr id="9" name="TextBox 8"/>
          <p:cNvSpPr txBox="1"/>
          <p:nvPr/>
        </p:nvSpPr>
        <p:spPr>
          <a:xfrm>
            <a:off x="18937590" y="4530410"/>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274 mm, 2 blades</a:t>
            </a:r>
          </a:p>
        </p:txBody>
      </p:sp>
      <p:sp>
        <p:nvSpPr>
          <p:cNvPr id="10" name="TextBox 9"/>
          <p:cNvSpPr txBox="1"/>
          <p:nvPr/>
        </p:nvSpPr>
        <p:spPr>
          <a:xfrm>
            <a:off x="14910816" y="5604092"/>
            <a:ext cx="8753856" cy="1234735"/>
          </a:xfrm>
          <a:prstGeom prst="rect">
            <a:avLst/>
          </a:prstGeom>
          <a:noFill/>
        </p:spPr>
        <p:txBody>
          <a:bodyPr wrap="square" lIns="0" tIns="0" rIns="0" bIns="0" anchor="t">
            <a:spAutoFit/>
          </a:bodyPr>
          <a:lstStyle/>
          <a:p>
            <a:pPr algn="l"/>
            <a:r>
              <a:rPr sz="2800" b="1" i="0">
                <a:solidFill>
                  <a:srgbClr val="2E74B5"/>
                </a:solidFill>
                <a:latin typeface="AvenirNext-DemiBold"/>
              </a:rPr>
              <a:t>Rotor speeds</a:t>
            </a:r>
          </a:p>
        </p:txBody>
      </p:sp>
      <p:sp>
        <p:nvSpPr>
          <p:cNvPr id="11" name="TextBox 10"/>
          <p:cNvSpPr txBox="1"/>
          <p:nvPr/>
        </p:nvSpPr>
        <p:spPr>
          <a:xfrm>
            <a:off x="14910816" y="6838827"/>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Rotor 1</a:t>
            </a:r>
          </a:p>
        </p:txBody>
      </p:sp>
      <p:sp>
        <p:nvSpPr>
          <p:cNvPr id="12" name="TextBox 11"/>
          <p:cNvSpPr txBox="1"/>
          <p:nvPr/>
        </p:nvSpPr>
        <p:spPr>
          <a:xfrm>
            <a:off x="18937590" y="6838827"/>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3808.4 rpm</a:t>
            </a:r>
          </a:p>
        </p:txBody>
      </p:sp>
      <p:sp>
        <p:nvSpPr>
          <p:cNvPr id="13" name="TextBox 12"/>
          <p:cNvSpPr txBox="1"/>
          <p:nvPr/>
        </p:nvSpPr>
        <p:spPr>
          <a:xfrm>
            <a:off x="14910816" y="7912510"/>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Rotor 2</a:t>
            </a:r>
          </a:p>
        </p:txBody>
      </p:sp>
      <p:sp>
        <p:nvSpPr>
          <p:cNvPr id="14" name="TextBox 13"/>
          <p:cNvSpPr txBox="1"/>
          <p:nvPr/>
        </p:nvSpPr>
        <p:spPr>
          <a:xfrm>
            <a:off x="18937590" y="7912510"/>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3791.6 rpm</a:t>
            </a:r>
          </a:p>
        </p:txBody>
      </p:sp>
      <p:sp>
        <p:nvSpPr>
          <p:cNvPr id="15" name="TextBox 14"/>
          <p:cNvSpPr txBox="1"/>
          <p:nvPr/>
        </p:nvSpPr>
        <p:spPr>
          <a:xfrm>
            <a:off x="14910816" y="8986192"/>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Rotor 3</a:t>
            </a:r>
          </a:p>
        </p:txBody>
      </p:sp>
      <p:sp>
        <p:nvSpPr>
          <p:cNvPr id="16" name="TextBox 15"/>
          <p:cNvSpPr txBox="1"/>
          <p:nvPr/>
        </p:nvSpPr>
        <p:spPr>
          <a:xfrm>
            <a:off x="18937590" y="8986192"/>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3795.4 rpm</a:t>
            </a:r>
          </a:p>
        </p:txBody>
      </p:sp>
      <p:sp>
        <p:nvSpPr>
          <p:cNvPr id="17" name="TextBox 16"/>
          <p:cNvSpPr txBox="1"/>
          <p:nvPr/>
        </p:nvSpPr>
        <p:spPr>
          <a:xfrm>
            <a:off x="14910816" y="10059875"/>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Rotor 4</a:t>
            </a:r>
          </a:p>
        </p:txBody>
      </p:sp>
      <p:sp>
        <p:nvSpPr>
          <p:cNvPr id="18" name="TextBox 17"/>
          <p:cNvSpPr txBox="1"/>
          <p:nvPr/>
        </p:nvSpPr>
        <p:spPr>
          <a:xfrm>
            <a:off x="18937590" y="10059875"/>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3804.6 rpm</a:t>
            </a:r>
          </a:p>
        </p:txBody>
      </p:sp>
      <p:sp>
        <p:nvSpPr>
          <p:cNvPr id="19" name="TextBox 18"/>
          <p:cNvSpPr txBox="1"/>
          <p:nvPr/>
        </p:nvSpPr>
        <p:spPr>
          <a:xfrm>
            <a:off x="14910816" y="11133557"/>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Spread</a:t>
            </a:r>
          </a:p>
        </p:txBody>
      </p:sp>
      <p:sp>
        <p:nvSpPr>
          <p:cNvPr id="20" name="TextBox 19"/>
          <p:cNvSpPr txBox="1"/>
          <p:nvPr/>
        </p:nvSpPr>
        <p:spPr>
          <a:xfrm>
            <a:off x="18937590" y="11133557"/>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0.22 %, from Jihyuck prior work</a:t>
            </a:r>
          </a:p>
        </p:txBody>
      </p:sp>
      <p:sp>
        <p:nvSpPr>
          <p:cNvPr id="21" name="슬라이드 번호 개체 틀 20">
            <a:extLst>
              <a:ext uri="{FF2B5EF4-FFF2-40B4-BE49-F238E27FC236}">
                <a16:creationId xmlns:a16="http://schemas.microsoft.com/office/drawing/2014/main" id="{90A93C02-9246-1B6D-053A-362DE593B6A1}"/>
              </a:ext>
            </a:extLst>
          </p:cNvPr>
          <p:cNvSpPr>
            <a:spLocks noGrp="1"/>
          </p:cNvSpPr>
          <p:nvPr>
            <p:ph type="sldNum" sz="quarter" idx="2"/>
          </p:nvPr>
        </p:nvSpPr>
        <p:spPr/>
        <p:txBody>
          <a:bodyPr/>
          <a:lstStyle/>
          <a:p>
            <a:fld id="{86CB4B4D-7CA3-9044-876B-883B54F8677D}" type="slidenum">
              <a:rPr lang="en-US" altLang="ko-KR" smtClean="0"/>
              <a:t>3</a:t>
            </a:fld>
            <a:r>
              <a:rPr lang="en-US" altLang="ko-KR"/>
              <a:t>/9</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THE TWO ENGINES</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How each engine lights the target</a:t>
            </a:r>
          </a:p>
        </p:txBody>
      </p:sp>
      <p:pic>
        <p:nvPicPr>
          <p:cNvPr id="4" name="Picture 3" descr="v18_concept.png"/>
          <p:cNvPicPr>
            <a:picLocks noChangeAspect="1"/>
          </p:cNvPicPr>
          <p:nvPr/>
        </p:nvPicPr>
        <p:blipFill>
          <a:blip r:embed="rId3"/>
          <a:stretch>
            <a:fillRect/>
          </a:stretch>
        </p:blipFill>
        <p:spPr>
          <a:xfrm>
            <a:off x="978802" y="2221992"/>
            <a:ext cx="22426394" cy="9985248"/>
          </a:xfrm>
          <a:prstGeom prst="rect">
            <a:avLst/>
          </a:prstGeom>
        </p:spPr>
      </p:pic>
      <p:sp>
        <p:nvSpPr>
          <p:cNvPr id="5" name="슬라이드 번호 개체 틀 4">
            <a:extLst>
              <a:ext uri="{FF2B5EF4-FFF2-40B4-BE49-F238E27FC236}">
                <a16:creationId xmlns:a16="http://schemas.microsoft.com/office/drawing/2014/main" id="{1501C3EC-E761-581F-DCE7-10B098978565}"/>
              </a:ext>
            </a:extLst>
          </p:cNvPr>
          <p:cNvSpPr>
            <a:spLocks noGrp="1"/>
          </p:cNvSpPr>
          <p:nvPr>
            <p:ph type="sldNum" sz="quarter" idx="2"/>
          </p:nvPr>
        </p:nvSpPr>
        <p:spPr/>
        <p:txBody>
          <a:bodyPr/>
          <a:lstStyle/>
          <a:p>
            <a:fld id="{86CB4B4D-7CA3-9044-876B-883B54F8677D}" type="slidenum">
              <a:rPr lang="en-US" altLang="ko-KR" smtClean="0"/>
              <a:t>4</a:t>
            </a:fld>
            <a:r>
              <a:rPr lang="en-US" altLang="ko-KR"/>
              <a:t>/9</a:t>
            </a:r>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그림 18">
            <a:extLst>
              <a:ext uri="{FF2B5EF4-FFF2-40B4-BE49-F238E27FC236}">
                <a16:creationId xmlns:a16="http://schemas.microsoft.com/office/drawing/2014/main" id="{D007FACB-A1CC-09CD-04BE-DB3675F9D812}"/>
              </a:ext>
            </a:extLst>
          </p:cNvPr>
          <p:cNvPicPr>
            <a:picLocks noChangeAspect="1"/>
          </p:cNvPicPr>
          <p:nvPr/>
        </p:nvPicPr>
        <p:blipFill>
          <a:blip r:embed="rId3"/>
          <a:srcRect l="5239" t="21261" r="45471" b="10771"/>
          <a:stretch>
            <a:fillRect/>
          </a:stretch>
        </p:blipFill>
        <p:spPr>
          <a:xfrm>
            <a:off x="11825361" y="125402"/>
            <a:ext cx="6479628" cy="3779123"/>
          </a:xfrm>
          <a:prstGeom prst="rect">
            <a:avLst/>
          </a:prstGeom>
        </p:spPr>
      </p:pic>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RESULT ONE</a:t>
            </a:r>
          </a:p>
        </p:txBody>
      </p:sp>
      <p:sp>
        <p:nvSpPr>
          <p:cNvPr id="3" name="TextBox 2"/>
          <p:cNvSpPr txBox="1"/>
          <p:nvPr/>
        </p:nvSpPr>
        <p:spPr>
          <a:xfrm>
            <a:off x="699821" y="1039673"/>
            <a:ext cx="7498248" cy="825611"/>
          </a:xfrm>
          <a:prstGeom prst="rect">
            <a:avLst/>
          </a:prstGeom>
          <a:noFill/>
        </p:spPr>
        <p:txBody>
          <a:bodyPr wrap="square" lIns="0" tIns="0" rIns="0" bIns="0" anchor="t">
            <a:spAutoFit/>
          </a:bodyPr>
          <a:lstStyle/>
          <a:p>
            <a:pPr algn="l"/>
            <a:r>
              <a:rPr sz="5800" b="1" i="0" dirty="0">
                <a:solidFill>
                  <a:srgbClr val="000000"/>
                </a:solidFill>
                <a:latin typeface="AvenirNext-DemiBold"/>
              </a:rPr>
              <a:t>Three </a:t>
            </a:r>
            <a:r>
              <a:rPr sz="5800" b="1" i="0" dirty="0" err="1">
                <a:solidFill>
                  <a:srgbClr val="000000"/>
                </a:solidFill>
                <a:latin typeface="AvenirNext-DemiBold"/>
              </a:rPr>
              <a:t>metres</a:t>
            </a:r>
            <a:endParaRPr sz="5800" b="1" i="0" dirty="0">
              <a:solidFill>
                <a:srgbClr val="000000"/>
              </a:solidFill>
              <a:latin typeface="AvenirNext-DemiBold"/>
            </a:endParaRPr>
          </a:p>
        </p:txBody>
      </p:sp>
      <p:pic>
        <p:nvPicPr>
          <p:cNvPr id="4" name="Picture 3" descr="v18_r1.png"/>
          <p:cNvPicPr>
            <a:picLocks noChangeAspect="1"/>
          </p:cNvPicPr>
          <p:nvPr/>
        </p:nvPicPr>
        <p:blipFill>
          <a:blip r:embed="rId4"/>
          <a:srcRect b="12804"/>
          <a:stretch>
            <a:fillRect/>
          </a:stretch>
        </p:blipFill>
        <p:spPr>
          <a:xfrm>
            <a:off x="268068" y="3719095"/>
            <a:ext cx="16053279" cy="7351954"/>
          </a:xfrm>
          <a:prstGeom prst="rect">
            <a:avLst/>
          </a:prstGeom>
        </p:spPr>
      </p:pic>
      <p:sp>
        <p:nvSpPr>
          <p:cNvPr id="5" name="TextBox 4"/>
          <p:cNvSpPr txBox="1"/>
          <p:nvPr/>
        </p:nvSpPr>
        <p:spPr>
          <a:xfrm>
            <a:off x="18110947" y="3914844"/>
            <a:ext cx="3673693" cy="512448"/>
          </a:xfrm>
          <a:prstGeom prst="rect">
            <a:avLst/>
          </a:prstGeom>
          <a:noFill/>
        </p:spPr>
        <p:txBody>
          <a:bodyPr wrap="square" lIns="0" tIns="0" rIns="0" bIns="0" anchor="t">
            <a:spAutoFit/>
          </a:bodyPr>
          <a:lstStyle/>
          <a:p>
            <a:pPr algn="ctr"/>
            <a:r>
              <a:rPr sz="3600" b="1" i="0" dirty="0">
                <a:solidFill>
                  <a:srgbClr val="2E74B5"/>
                </a:solidFill>
                <a:latin typeface="AvenirNext-DemiBold"/>
              </a:rPr>
              <a:t>STFT</a:t>
            </a:r>
            <a:r>
              <a:rPr lang="en-US" sz="3600" b="1" dirty="0">
                <a:solidFill>
                  <a:srgbClr val="2E74B5"/>
                </a:solidFill>
                <a:latin typeface="AvenirNext-DemiBold"/>
              </a:rPr>
              <a:t> Parameters</a:t>
            </a:r>
            <a:endParaRPr sz="3600" b="1" i="0" dirty="0">
              <a:solidFill>
                <a:srgbClr val="2E74B5"/>
              </a:solidFill>
              <a:latin typeface="AvenirNext-DemiBold"/>
            </a:endParaRPr>
          </a:p>
        </p:txBody>
      </p:sp>
      <p:sp>
        <p:nvSpPr>
          <p:cNvPr id="6" name="TextBox 5"/>
          <p:cNvSpPr txBox="1"/>
          <p:nvPr/>
        </p:nvSpPr>
        <p:spPr>
          <a:xfrm>
            <a:off x="16861536" y="4988988"/>
            <a:ext cx="3129443" cy="455509"/>
          </a:xfrm>
          <a:prstGeom prst="rect">
            <a:avLst/>
          </a:prstGeom>
          <a:noFill/>
        </p:spPr>
        <p:txBody>
          <a:bodyPr wrap="square" lIns="0" tIns="0" rIns="0" bIns="0" anchor="t">
            <a:spAutoFit/>
          </a:bodyPr>
          <a:lstStyle/>
          <a:p>
            <a:pPr algn="l"/>
            <a:r>
              <a:rPr sz="3200" b="1" i="0">
                <a:solidFill>
                  <a:srgbClr val="5E5E5E"/>
                </a:solidFill>
                <a:latin typeface="AvenirNext-DemiBold"/>
              </a:rPr>
              <a:t>Window</a:t>
            </a:r>
          </a:p>
        </p:txBody>
      </p:sp>
      <p:sp>
        <p:nvSpPr>
          <p:cNvPr id="7" name="TextBox 6"/>
          <p:cNvSpPr txBox="1"/>
          <p:nvPr/>
        </p:nvSpPr>
        <p:spPr>
          <a:xfrm>
            <a:off x="19990979" y="4988988"/>
            <a:ext cx="3673693" cy="455509"/>
          </a:xfrm>
          <a:prstGeom prst="rect">
            <a:avLst/>
          </a:prstGeom>
          <a:noFill/>
        </p:spPr>
        <p:txBody>
          <a:bodyPr wrap="square" lIns="0" tIns="0" rIns="0" bIns="0" anchor="t">
            <a:spAutoFit/>
          </a:bodyPr>
          <a:lstStyle/>
          <a:p>
            <a:pPr algn="l"/>
            <a:r>
              <a:rPr sz="3200" b="1" i="0" dirty="0">
                <a:solidFill>
                  <a:srgbClr val="000000"/>
                </a:solidFill>
                <a:latin typeface="Avenir Next Medium"/>
              </a:rPr>
              <a:t>Hann, 70 samples</a:t>
            </a:r>
          </a:p>
        </p:txBody>
      </p:sp>
      <p:sp>
        <p:nvSpPr>
          <p:cNvPr id="8" name="TextBox 7"/>
          <p:cNvSpPr txBox="1"/>
          <p:nvPr/>
        </p:nvSpPr>
        <p:spPr>
          <a:xfrm>
            <a:off x="16861536" y="7395072"/>
            <a:ext cx="3129443" cy="455509"/>
          </a:xfrm>
          <a:prstGeom prst="rect">
            <a:avLst/>
          </a:prstGeom>
          <a:noFill/>
        </p:spPr>
        <p:txBody>
          <a:bodyPr wrap="square" lIns="0" tIns="0" rIns="0" bIns="0" anchor="t">
            <a:spAutoFit/>
          </a:bodyPr>
          <a:lstStyle/>
          <a:p>
            <a:pPr algn="l"/>
            <a:r>
              <a:rPr sz="3200" b="1" i="0">
                <a:solidFill>
                  <a:srgbClr val="5E5E5E"/>
                </a:solidFill>
                <a:latin typeface="AvenirNext-DemiBold"/>
              </a:rPr>
              <a:t>Hop size</a:t>
            </a:r>
          </a:p>
        </p:txBody>
      </p:sp>
      <p:sp>
        <p:nvSpPr>
          <p:cNvPr id="9" name="TextBox 8"/>
          <p:cNvSpPr txBox="1"/>
          <p:nvPr/>
        </p:nvSpPr>
        <p:spPr>
          <a:xfrm>
            <a:off x="19990979" y="7395072"/>
            <a:ext cx="3673693" cy="455509"/>
          </a:xfrm>
          <a:prstGeom prst="rect">
            <a:avLst/>
          </a:prstGeom>
          <a:noFill/>
        </p:spPr>
        <p:txBody>
          <a:bodyPr wrap="square" lIns="0" tIns="0" rIns="0" bIns="0" anchor="t">
            <a:spAutoFit/>
          </a:bodyPr>
          <a:lstStyle/>
          <a:p>
            <a:pPr algn="l"/>
            <a:r>
              <a:rPr sz="3200" b="1" i="0" dirty="0">
                <a:solidFill>
                  <a:srgbClr val="000000"/>
                </a:solidFill>
                <a:latin typeface="Avenir Next Medium"/>
              </a:rPr>
              <a:t>2 samples</a:t>
            </a:r>
          </a:p>
        </p:txBody>
      </p:sp>
      <p:sp>
        <p:nvSpPr>
          <p:cNvPr id="10" name="TextBox 9"/>
          <p:cNvSpPr txBox="1"/>
          <p:nvPr/>
        </p:nvSpPr>
        <p:spPr>
          <a:xfrm>
            <a:off x="16861536" y="9801156"/>
            <a:ext cx="3129443" cy="455509"/>
          </a:xfrm>
          <a:prstGeom prst="rect">
            <a:avLst/>
          </a:prstGeom>
          <a:noFill/>
        </p:spPr>
        <p:txBody>
          <a:bodyPr wrap="square" lIns="0" tIns="0" rIns="0" bIns="0" anchor="t">
            <a:spAutoFit/>
          </a:bodyPr>
          <a:lstStyle/>
          <a:p>
            <a:pPr algn="l"/>
            <a:r>
              <a:rPr sz="3200" b="1" i="0">
                <a:solidFill>
                  <a:srgbClr val="5E5E5E"/>
                </a:solidFill>
                <a:latin typeface="AvenirNext-DemiBold"/>
              </a:rPr>
              <a:t>FFT size</a:t>
            </a:r>
          </a:p>
        </p:txBody>
      </p:sp>
      <p:sp>
        <p:nvSpPr>
          <p:cNvPr id="11" name="TextBox 10"/>
          <p:cNvSpPr txBox="1"/>
          <p:nvPr/>
        </p:nvSpPr>
        <p:spPr>
          <a:xfrm>
            <a:off x="19990979" y="9801156"/>
            <a:ext cx="3673693" cy="455509"/>
          </a:xfrm>
          <a:prstGeom prst="rect">
            <a:avLst/>
          </a:prstGeom>
          <a:noFill/>
        </p:spPr>
        <p:txBody>
          <a:bodyPr wrap="square" lIns="0" tIns="0" rIns="0" bIns="0" anchor="t">
            <a:spAutoFit/>
          </a:bodyPr>
          <a:lstStyle/>
          <a:p>
            <a:pPr algn="l"/>
            <a:r>
              <a:rPr sz="3200" b="1" i="0">
                <a:solidFill>
                  <a:srgbClr val="000000"/>
                </a:solidFill>
                <a:latin typeface="Avenir Next Medium"/>
              </a:rPr>
              <a:t>560 points</a:t>
            </a:r>
          </a:p>
        </p:txBody>
      </p:sp>
      <p:sp>
        <p:nvSpPr>
          <p:cNvPr id="12" name="TextBox 11">
            <a:extLst>
              <a:ext uri="{FF2B5EF4-FFF2-40B4-BE49-F238E27FC236}">
                <a16:creationId xmlns:a16="http://schemas.microsoft.com/office/drawing/2014/main" id="{322CC093-C333-5308-E48A-2E40D686813D}"/>
              </a:ext>
            </a:extLst>
          </p:cNvPr>
          <p:cNvSpPr txBox="1"/>
          <p:nvPr/>
        </p:nvSpPr>
        <p:spPr>
          <a:xfrm>
            <a:off x="19990978" y="5550684"/>
            <a:ext cx="3673693" cy="455509"/>
          </a:xfrm>
          <a:prstGeom prst="rect">
            <a:avLst/>
          </a:prstGeom>
          <a:noFill/>
        </p:spPr>
        <p:txBody>
          <a:bodyPr wrap="square" lIns="0" tIns="0" rIns="0" bIns="0" anchor="t">
            <a:spAutoFit/>
          </a:bodyPr>
          <a:lstStyle/>
          <a:p>
            <a:pPr algn="l"/>
            <a:r>
              <a:rPr lang="en-US" altLang="ko-KR" sz="3200" b="1" i="0" dirty="0">
                <a:solidFill>
                  <a:srgbClr val="000000"/>
                </a:solidFill>
                <a:latin typeface="Avenir Next Medium"/>
              </a:rPr>
              <a:t>3.553 </a:t>
            </a:r>
            <a:r>
              <a:rPr lang="en-US" altLang="ko-KR" sz="3200" b="1" i="0" dirty="0" err="1">
                <a:solidFill>
                  <a:srgbClr val="000000"/>
                </a:solidFill>
                <a:latin typeface="Avenir Next Medium"/>
              </a:rPr>
              <a:t>ms</a:t>
            </a:r>
            <a:endParaRPr sz="3200" b="1" i="0" dirty="0">
              <a:solidFill>
                <a:srgbClr val="000000"/>
              </a:solidFill>
              <a:latin typeface="Avenir Next Medium"/>
            </a:endParaRPr>
          </a:p>
        </p:txBody>
      </p:sp>
      <p:sp>
        <p:nvSpPr>
          <p:cNvPr id="13" name="TextBox 12">
            <a:extLst>
              <a:ext uri="{FF2B5EF4-FFF2-40B4-BE49-F238E27FC236}">
                <a16:creationId xmlns:a16="http://schemas.microsoft.com/office/drawing/2014/main" id="{CFF5A301-0634-55B9-8BE1-529D3C41CF19}"/>
              </a:ext>
            </a:extLst>
          </p:cNvPr>
          <p:cNvSpPr txBox="1"/>
          <p:nvPr/>
        </p:nvSpPr>
        <p:spPr>
          <a:xfrm>
            <a:off x="20005610" y="7956768"/>
            <a:ext cx="3673693" cy="455509"/>
          </a:xfrm>
          <a:prstGeom prst="rect">
            <a:avLst/>
          </a:prstGeom>
          <a:noFill/>
        </p:spPr>
        <p:txBody>
          <a:bodyPr wrap="square" lIns="0" tIns="0" rIns="0" bIns="0" anchor="t">
            <a:spAutoFit/>
          </a:bodyPr>
          <a:lstStyle/>
          <a:p>
            <a:pPr algn="l"/>
            <a:r>
              <a:rPr lang="en-US" sz="3200" b="1" i="0" dirty="0">
                <a:solidFill>
                  <a:srgbClr val="000000"/>
                </a:solidFill>
                <a:latin typeface="Avenir Next Medium"/>
              </a:rPr>
              <a:t>0.101 </a:t>
            </a:r>
            <a:r>
              <a:rPr lang="en-US" sz="3200" b="1" i="0" dirty="0" err="1">
                <a:solidFill>
                  <a:srgbClr val="000000"/>
                </a:solidFill>
                <a:latin typeface="Avenir Next Medium"/>
              </a:rPr>
              <a:t>ms</a:t>
            </a:r>
            <a:endParaRPr sz="3200" b="1" i="0" dirty="0">
              <a:solidFill>
                <a:srgbClr val="000000"/>
              </a:solidFill>
              <a:latin typeface="Avenir Next Medium"/>
            </a:endParaRPr>
          </a:p>
        </p:txBody>
      </p:sp>
      <p:sp>
        <p:nvSpPr>
          <p:cNvPr id="14" name="TextBox 13">
            <a:extLst>
              <a:ext uri="{FF2B5EF4-FFF2-40B4-BE49-F238E27FC236}">
                <a16:creationId xmlns:a16="http://schemas.microsoft.com/office/drawing/2014/main" id="{A6F6515D-E3A4-EA3B-D2DE-5CA060A37D43}"/>
              </a:ext>
            </a:extLst>
          </p:cNvPr>
          <p:cNvSpPr txBox="1"/>
          <p:nvPr/>
        </p:nvSpPr>
        <p:spPr>
          <a:xfrm>
            <a:off x="910767" y="2019457"/>
            <a:ext cx="15410580" cy="512448"/>
          </a:xfrm>
          <a:prstGeom prst="rect">
            <a:avLst/>
          </a:prstGeom>
          <a:noFill/>
        </p:spPr>
        <p:txBody>
          <a:bodyPr wrap="square" lIns="0" tIns="0" rIns="0" bIns="0" anchor="t">
            <a:spAutoFit/>
          </a:bodyPr>
          <a:lstStyle/>
          <a:p>
            <a:r>
              <a:rPr lang="en-US" altLang="ko-KR" sz="3600" b="1" i="0" dirty="0">
                <a:solidFill>
                  <a:srgbClr val="2E74B5"/>
                </a:solidFill>
                <a:latin typeface="AvenirNext-DemiBold"/>
              </a:rPr>
              <a:t>3.5 GHz CW S</a:t>
            </a:r>
            <a:r>
              <a:rPr lang="en-US" altLang="ko-KR" sz="3600" b="1" dirty="0">
                <a:solidFill>
                  <a:srgbClr val="2E74B5"/>
                </a:solidFill>
                <a:latin typeface="AvenirNext-DemiBold"/>
              </a:rPr>
              <a:t>c</a:t>
            </a:r>
            <a:r>
              <a:rPr lang="en-US" altLang="ko-KR" sz="3600" b="1" i="0" dirty="0">
                <a:solidFill>
                  <a:srgbClr val="2E74B5"/>
                </a:solidFill>
                <a:latin typeface="AvenirNext-DemiBold"/>
              </a:rPr>
              <a:t>enario</a:t>
            </a:r>
            <a:endParaRPr sz="3600" b="1" i="0" dirty="0">
              <a:solidFill>
                <a:srgbClr val="2E74B5"/>
              </a:solidFill>
              <a:latin typeface="AvenirNext-DemiBold"/>
            </a:endParaRPr>
          </a:p>
        </p:txBody>
      </p:sp>
      <p:pic>
        <p:nvPicPr>
          <p:cNvPr id="18" name="그림 17">
            <a:extLst>
              <a:ext uri="{FF2B5EF4-FFF2-40B4-BE49-F238E27FC236}">
                <a16:creationId xmlns:a16="http://schemas.microsoft.com/office/drawing/2014/main" id="{6D61C216-432E-3AB1-3382-F3652798DB5F}"/>
              </a:ext>
            </a:extLst>
          </p:cNvPr>
          <p:cNvPicPr>
            <a:picLocks noChangeAspect="1"/>
          </p:cNvPicPr>
          <p:nvPr/>
        </p:nvPicPr>
        <p:blipFill>
          <a:blip r:embed="rId5"/>
          <a:stretch>
            <a:fillRect/>
          </a:stretch>
        </p:blipFill>
        <p:spPr>
          <a:xfrm>
            <a:off x="1557153" y="11492384"/>
            <a:ext cx="7772400" cy="765855"/>
          </a:xfrm>
          <a:prstGeom prst="rect">
            <a:avLst/>
          </a:prstGeom>
        </p:spPr>
      </p:pic>
      <p:sp>
        <p:nvSpPr>
          <p:cNvPr id="20" name="슬라이드 번호 개체 틀 19">
            <a:extLst>
              <a:ext uri="{FF2B5EF4-FFF2-40B4-BE49-F238E27FC236}">
                <a16:creationId xmlns:a16="http://schemas.microsoft.com/office/drawing/2014/main" id="{F8326F6B-B6E0-46E3-C53E-52FF2AFDBF0C}"/>
              </a:ext>
            </a:extLst>
          </p:cNvPr>
          <p:cNvSpPr>
            <a:spLocks noGrp="1"/>
          </p:cNvSpPr>
          <p:nvPr>
            <p:ph type="sldNum" sz="quarter" idx="2"/>
          </p:nvPr>
        </p:nvSpPr>
        <p:spPr/>
        <p:txBody>
          <a:bodyPr/>
          <a:lstStyle/>
          <a:p>
            <a:fld id="{86CB4B4D-7CA3-9044-876B-883B54F8677D}" type="slidenum">
              <a:rPr lang="en-US" altLang="ko-KR" smtClean="0"/>
              <a:t>5</a:t>
            </a:fld>
            <a:r>
              <a:rPr lang="en-US" altLang="ko-KR"/>
              <a:t>/9</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RANGE</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Three ranges</a:t>
            </a:r>
          </a:p>
        </p:txBody>
      </p:sp>
      <p:pic>
        <p:nvPicPr>
          <p:cNvPr id="4" name="Picture 3" descr="v18_maps.png"/>
          <p:cNvPicPr>
            <a:picLocks noChangeAspect="1"/>
          </p:cNvPicPr>
          <p:nvPr/>
        </p:nvPicPr>
        <p:blipFill>
          <a:blip r:embed="rId3"/>
          <a:stretch>
            <a:fillRect/>
          </a:stretch>
        </p:blipFill>
        <p:spPr>
          <a:xfrm>
            <a:off x="4317936" y="2221992"/>
            <a:ext cx="15748126" cy="9985248"/>
          </a:xfrm>
          <a:prstGeom prst="rect">
            <a:avLst/>
          </a:prstGeom>
        </p:spPr>
      </p:pic>
      <p:sp>
        <p:nvSpPr>
          <p:cNvPr id="5" name="슬라이드 번호 개체 틀 4">
            <a:extLst>
              <a:ext uri="{FF2B5EF4-FFF2-40B4-BE49-F238E27FC236}">
                <a16:creationId xmlns:a16="http://schemas.microsoft.com/office/drawing/2014/main" id="{E08C058F-A2B3-15B1-1561-11DA82EF429D}"/>
              </a:ext>
            </a:extLst>
          </p:cNvPr>
          <p:cNvSpPr>
            <a:spLocks noGrp="1"/>
          </p:cNvSpPr>
          <p:nvPr>
            <p:ph type="sldNum" sz="quarter" idx="2"/>
          </p:nvPr>
        </p:nvSpPr>
        <p:spPr/>
        <p:txBody>
          <a:bodyPr/>
          <a:lstStyle/>
          <a:p>
            <a:fld id="{86CB4B4D-7CA3-9044-876B-883B54F8677D}" type="slidenum">
              <a:rPr lang="en-US" altLang="ko-KR" smtClean="0"/>
              <a:t>6</a:t>
            </a:fld>
            <a:r>
              <a:rPr lang="en-US" altLang="ko-KR"/>
              <a:t>/9</a:t>
            </a:r>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BAND ENERGY</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Blade tip band energy</a:t>
            </a:r>
          </a:p>
        </p:txBody>
      </p:sp>
      <p:pic>
        <p:nvPicPr>
          <p:cNvPr id="4" name="Picture 3" descr="v18_band.png"/>
          <p:cNvPicPr>
            <a:picLocks noChangeAspect="1"/>
          </p:cNvPicPr>
          <p:nvPr/>
        </p:nvPicPr>
        <p:blipFill>
          <a:blip r:embed="rId3"/>
          <a:stretch>
            <a:fillRect/>
          </a:stretch>
        </p:blipFill>
        <p:spPr>
          <a:xfrm>
            <a:off x="719328" y="3494182"/>
            <a:ext cx="22945344" cy="6480746"/>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7" name="TextBox 6"/>
          <p:cNvSpPr txBox="1"/>
          <p:nvPr/>
        </p:nvSpPr>
        <p:spPr>
          <a:xfrm>
            <a:off x="1199693" y="11384280"/>
            <a:ext cx="22067520" cy="987552"/>
          </a:xfrm>
          <a:prstGeom prst="rect">
            <a:avLst/>
          </a:prstGeom>
          <a:noFill/>
        </p:spPr>
        <p:txBody>
          <a:bodyPr wrap="square" lIns="0" tIns="0" rIns="0" bIns="0" anchor="ctr">
            <a:spAutoFit/>
          </a:bodyPr>
          <a:lstStyle/>
          <a:p>
            <a:pPr algn="l"/>
            <a:r>
              <a:rPr sz="3400" b="1" i="0">
                <a:solidFill>
                  <a:srgbClr val="000000"/>
                </a:solidFill>
                <a:latin typeface="AvenirNext-DemiBold"/>
              </a:rPr>
              <a:t>Both engines put the first line where kinematics says it should be.</a:t>
            </a:r>
          </a:p>
        </p:txBody>
      </p:sp>
      <p:sp>
        <p:nvSpPr>
          <p:cNvPr id="8" name="슬라이드 번호 개체 틀 7">
            <a:extLst>
              <a:ext uri="{FF2B5EF4-FFF2-40B4-BE49-F238E27FC236}">
                <a16:creationId xmlns:a16="http://schemas.microsoft.com/office/drawing/2014/main" id="{FF0F83AD-7162-74B5-C8FD-E1D42E868E6A}"/>
              </a:ext>
            </a:extLst>
          </p:cNvPr>
          <p:cNvSpPr>
            <a:spLocks noGrp="1"/>
          </p:cNvSpPr>
          <p:nvPr>
            <p:ph type="sldNum" sz="quarter" idx="2"/>
          </p:nvPr>
        </p:nvSpPr>
        <p:spPr/>
        <p:txBody>
          <a:bodyPr/>
          <a:lstStyle/>
          <a:p>
            <a:fld id="{86CB4B4D-7CA3-9044-876B-883B54F8677D}" type="slidenum">
              <a:rPr lang="en-US" altLang="ko-KR" smtClean="0"/>
              <a:t>7</a:t>
            </a:fld>
            <a:r>
              <a:rPr lang="en-US" altLang="ko-KR"/>
              <a:t>/9</a:t>
            </a: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TWICE</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Forty metres, repeated runs</a:t>
            </a:r>
          </a:p>
        </p:txBody>
      </p:sp>
      <p:pic>
        <p:nvPicPr>
          <p:cNvPr id="4" name="Picture 3" descr="v18_seed40.png"/>
          <p:cNvPicPr>
            <a:picLocks noChangeAspect="1"/>
          </p:cNvPicPr>
          <p:nvPr/>
        </p:nvPicPr>
        <p:blipFill>
          <a:blip r:embed="rId3"/>
          <a:stretch>
            <a:fillRect/>
          </a:stretch>
        </p:blipFill>
        <p:spPr>
          <a:xfrm>
            <a:off x="719328" y="3829139"/>
            <a:ext cx="22945344" cy="5810833"/>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7" name="TextBox 6"/>
          <p:cNvSpPr txBox="1"/>
          <p:nvPr/>
        </p:nvSpPr>
        <p:spPr>
          <a:xfrm>
            <a:off x="1199693" y="11384280"/>
            <a:ext cx="22067520" cy="987552"/>
          </a:xfrm>
          <a:prstGeom prst="rect">
            <a:avLst/>
          </a:prstGeom>
          <a:noFill/>
        </p:spPr>
        <p:txBody>
          <a:bodyPr wrap="square" lIns="0" tIns="0" rIns="0" bIns="0" anchor="ctr">
            <a:spAutoFit/>
          </a:bodyPr>
          <a:lstStyle/>
          <a:p>
            <a:pPr algn="l"/>
            <a:r>
              <a:rPr sz="3400" b="1" i="0">
                <a:solidFill>
                  <a:srgbClr val="000000"/>
                </a:solidFill>
                <a:latin typeface="AvenirNext-DemiBold"/>
              </a:rPr>
              <a:t>Only the random start differs between these runs.</a:t>
            </a:r>
          </a:p>
        </p:txBody>
      </p:sp>
      <p:sp>
        <p:nvSpPr>
          <p:cNvPr id="8" name="슬라이드 번호 개체 틀 7">
            <a:extLst>
              <a:ext uri="{FF2B5EF4-FFF2-40B4-BE49-F238E27FC236}">
                <a16:creationId xmlns:a16="http://schemas.microsoft.com/office/drawing/2014/main" id="{1E63FC61-AD02-AD94-8DCD-258F8E52F9B6}"/>
              </a:ext>
            </a:extLst>
          </p:cNvPr>
          <p:cNvSpPr>
            <a:spLocks noGrp="1"/>
          </p:cNvSpPr>
          <p:nvPr>
            <p:ph type="sldNum" sz="quarter" idx="2"/>
          </p:nvPr>
        </p:nvSpPr>
        <p:spPr/>
        <p:txBody>
          <a:bodyPr/>
          <a:lstStyle/>
          <a:p>
            <a:fld id="{86CB4B4D-7CA3-9044-876B-883B54F8677D}" type="slidenum">
              <a:rPr lang="en-US" altLang="ko-KR" smtClean="0"/>
              <a:t>8</a:t>
            </a:fld>
            <a:r>
              <a:rPr lang="en-US" altLang="ko-KR"/>
              <a:t>/9</a:t>
            </a:r>
            <a:endParaRPr lang="ko-KR"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FUTURE WORK</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Future work</a:t>
            </a:r>
          </a:p>
        </p:txBody>
      </p:sp>
      <p:sp>
        <p:nvSpPr>
          <p:cNvPr id="4" name="TextBox 3"/>
          <p:cNvSpPr txBox="1"/>
          <p:nvPr/>
        </p:nvSpPr>
        <p:spPr>
          <a:xfrm>
            <a:off x="760781" y="2197913"/>
            <a:ext cx="22599091" cy="728472"/>
          </a:xfrm>
          <a:prstGeom prst="rect">
            <a:avLst/>
          </a:prstGeom>
          <a:noFill/>
        </p:spPr>
        <p:txBody>
          <a:bodyPr wrap="square" lIns="0" tIns="0" rIns="0" bIns="0" anchor="t">
            <a:spAutoFit/>
          </a:bodyPr>
          <a:lstStyle/>
          <a:p>
            <a:pPr algn="l"/>
            <a:r>
              <a:rPr sz="3700" b="1" i="0">
                <a:solidFill>
                  <a:srgbClr val="000000"/>
                </a:solidFill>
                <a:latin typeface="AvenirNext-DemiBold"/>
              </a:rPr>
              <a:t>Three pieces are missing, and each one takes the model </a:t>
            </a:r>
            <a:r>
              <a:rPr sz="3700" b="1" i="0">
                <a:solidFill>
                  <a:srgbClr val="E22146"/>
                </a:solidFill>
                <a:latin typeface="AvenirNext-DemiBold"/>
              </a:rPr>
              <a:t>closer to reality</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6" name="TextBox 5"/>
          <p:cNvSpPr txBox="1"/>
          <p:nvPr/>
        </p:nvSpPr>
        <p:spPr>
          <a:xfrm>
            <a:off x="1255776" y="3145841"/>
            <a:ext cx="22213824" cy="2407818"/>
          </a:xfrm>
          <a:prstGeom prst="rect">
            <a:avLst/>
          </a:prstGeom>
          <a:noFill/>
        </p:spPr>
        <p:txBody>
          <a:bodyPr wrap="square" lIns="0" tIns="0" rIns="0" bIns="0" anchor="ctr">
            <a:spAutoFit/>
          </a:bodyPr>
          <a:lstStyle/>
          <a:p>
            <a:pPr algn="l"/>
            <a:r>
              <a:rPr sz="3300" b="0" i="0">
                <a:solidFill>
                  <a:srgbClr val="000000"/>
                </a:solidFill>
                <a:latin typeface="Avenir Next Medium"/>
              </a:rPr>
              <a:t>Let each rotor wander in speed the way a real one does while holding station</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8" name="TextBox 7"/>
          <p:cNvSpPr txBox="1"/>
          <p:nvPr/>
        </p:nvSpPr>
        <p:spPr>
          <a:xfrm>
            <a:off x="1255776" y="5910275"/>
            <a:ext cx="22213824" cy="2407818"/>
          </a:xfrm>
          <a:prstGeom prst="rect">
            <a:avLst/>
          </a:prstGeom>
          <a:noFill/>
        </p:spPr>
        <p:txBody>
          <a:bodyPr wrap="square" lIns="0" tIns="0" rIns="0" bIns="0" anchor="ctr">
            <a:spAutoFit/>
          </a:bodyPr>
          <a:lstStyle/>
          <a:p>
            <a:pPr algn="l"/>
            <a:r>
              <a:rPr sz="3300" b="0" i="0">
                <a:solidFill>
                  <a:srgbClr val="000000"/>
                </a:solidFill>
                <a:latin typeface="Avenir Next Medium"/>
              </a:rPr>
              <a:t>Add receiver noise, so that distance finally costs something in the picture</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10" name="TextBox 9"/>
          <p:cNvSpPr txBox="1"/>
          <p:nvPr/>
        </p:nvSpPr>
        <p:spPr>
          <a:xfrm>
            <a:off x="1255776" y="9644580"/>
            <a:ext cx="22213824" cy="468077"/>
          </a:xfrm>
          <a:prstGeom prst="rect">
            <a:avLst/>
          </a:prstGeom>
          <a:noFill/>
        </p:spPr>
        <p:txBody>
          <a:bodyPr wrap="square" lIns="0" tIns="0" rIns="0" bIns="0" anchor="ctr">
            <a:spAutoFit/>
          </a:bodyPr>
          <a:lstStyle/>
          <a:p>
            <a:pPr algn="l"/>
            <a:r>
              <a:rPr sz="3300" b="0" i="0" dirty="0">
                <a:solidFill>
                  <a:srgbClr val="000000"/>
                </a:solidFill>
                <a:latin typeface="Avenir Next Medium"/>
              </a:rPr>
              <a:t>Move to the </a:t>
            </a:r>
            <a:r>
              <a:rPr lang="en-US" sz="3300" dirty="0"/>
              <a:t>bistatic or</a:t>
            </a:r>
            <a:r>
              <a:rPr sz="3300" b="0" i="0" dirty="0">
                <a:solidFill>
                  <a:srgbClr val="000000"/>
                </a:solidFill>
                <a:latin typeface="Avenir Next Medium"/>
              </a:rPr>
              <a:t> put clutter into the </a:t>
            </a:r>
            <a:r>
              <a:rPr lang="en-US" sz="3300" b="0" i="0" dirty="0" err="1">
                <a:solidFill>
                  <a:srgbClr val="000000"/>
                </a:solidFill>
                <a:latin typeface="Avenir Next Medium"/>
              </a:rPr>
              <a:t>enviornment</a:t>
            </a:r>
            <a:endParaRPr sz="3300" b="0" i="0" dirty="0">
              <a:solidFill>
                <a:srgbClr val="000000"/>
              </a:solidFill>
              <a:latin typeface="Avenir Next Medium"/>
            </a:endParaRP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13" name="TextBox 12"/>
          <p:cNvSpPr txBox="1"/>
          <p:nvPr/>
        </p:nvSpPr>
        <p:spPr>
          <a:xfrm>
            <a:off x="1199693" y="11384280"/>
            <a:ext cx="22067520" cy="987552"/>
          </a:xfrm>
          <a:prstGeom prst="rect">
            <a:avLst/>
          </a:prstGeom>
          <a:noFill/>
        </p:spPr>
        <p:txBody>
          <a:bodyPr wrap="square" lIns="0" tIns="0" rIns="0" bIns="0" anchor="ctr">
            <a:spAutoFit/>
          </a:bodyPr>
          <a:lstStyle/>
          <a:p>
            <a:pPr algn="l"/>
            <a:r>
              <a:rPr sz="3400" b="1" i="0">
                <a:solidFill>
                  <a:srgbClr val="000000"/>
                </a:solidFill>
                <a:latin typeface="AvenirNext-DemiBold"/>
              </a:rPr>
              <a:t>Each step brings the simulation closer to a real measurement.</a:t>
            </a:r>
          </a:p>
        </p:txBody>
      </p:sp>
      <p:sp>
        <p:nvSpPr>
          <p:cNvPr id="14" name="슬라이드 번호 개체 틀 13">
            <a:extLst>
              <a:ext uri="{FF2B5EF4-FFF2-40B4-BE49-F238E27FC236}">
                <a16:creationId xmlns:a16="http://schemas.microsoft.com/office/drawing/2014/main" id="{4B06A388-2ED7-12CF-C561-09463663913A}"/>
              </a:ext>
            </a:extLst>
          </p:cNvPr>
          <p:cNvSpPr>
            <a:spLocks noGrp="1"/>
          </p:cNvSpPr>
          <p:nvPr>
            <p:ph type="sldNum" sz="quarter" idx="2"/>
          </p:nvPr>
        </p:nvSpPr>
        <p:spPr/>
        <p:txBody>
          <a:bodyPr/>
          <a:lstStyle/>
          <a:p>
            <a:fld id="{86CB4B4D-7CA3-9044-876B-883B54F8677D}" type="slidenum">
              <a:rPr lang="en-US" altLang="ko-KR" smtClean="0"/>
              <a:t>9</a:t>
            </a:fld>
            <a:r>
              <a:rPr lang="en-US" altLang="ko-KR"/>
              <a:t>/9</a:t>
            </a:r>
            <a:endParaRPr lang="ko-KR" altLang="en-US" dirty="0"/>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29510</TotalTime>
  <Words>1146</Words>
  <Application>Microsoft Macintosh PowerPoint</Application>
  <PresentationFormat>사용자 지정</PresentationFormat>
  <Paragraphs>103</Paragraphs>
  <Slides>9</Slides>
  <Notes>9</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9</vt:i4>
      </vt:variant>
    </vt:vector>
  </HeadingPairs>
  <TitlesOfParts>
    <vt:vector size="19"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399</cp:revision>
  <dcterms:modified xsi:type="dcterms:W3CDTF">2026-08-11T00:25:36Z</dcterms:modified>
</cp:coreProperties>
</file>