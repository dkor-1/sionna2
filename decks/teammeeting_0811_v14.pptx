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8"/>
  </p:notesMasterIdLst>
  <p:handoutMasterIdLst>
    <p:handoutMasterId r:id="rId19"/>
  </p:handoutMasterIdLst>
  <p:sldIdLst>
    <p:sldId id="368" r:id="rId2"/>
    <p:sldId id="369" r:id="rId9"/>
    <p:sldId id="370" r:id="rId10"/>
    <p:sldId id="371" r:id="rId11"/>
    <p:sldId id="372" r:id="rId12"/>
    <p:sldId id="373" r:id="rId13"/>
    <p:sldId id="374" r:id="rId14"/>
    <p:sldId id="375" r:id="rId15"/>
    <p:sldId id="376" r:id="rId16"/>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1pPr>
    <a:lvl2pPr marL="0" marR="0" indent="457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2pPr>
    <a:lvl3pPr marL="0" marR="0" indent="914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3pPr>
    <a:lvl4pPr marL="0" marR="0" indent="1371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4pPr>
    <a:lvl5pPr marL="0" marR="0" indent="18288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5pPr>
    <a:lvl6pPr marL="0" marR="0" indent="22860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6pPr>
    <a:lvl7pPr marL="0" marR="0" indent="2743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7pPr>
    <a:lvl8pPr marL="0" marR="0" indent="3200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8pPr>
    <a:lvl9pPr marL="0" marR="0" indent="3657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D3DA"/>
    <a:srgbClr val="FFFFFF"/>
    <a:srgbClr val="F2F2F2"/>
    <a:srgbClr val="00B0F0"/>
    <a:srgbClr val="4285F5"/>
    <a:srgbClr val="F7FAF7"/>
    <a:srgbClr val="434DD6"/>
    <a:srgbClr val="629AF7"/>
    <a:srgbClr val="8E8A8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CEEEE"/>
          </a:solidFill>
        </a:fill>
      </a:tcStyle>
    </a:band2H>
    <a:firstCol>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9036"/>
              <a:lumOff val="17111"/>
            </a:schemeClr>
          </a:solidFill>
        </a:fill>
      </a:tcStyle>
    </a:band2H>
    <a:firstCol>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a:tcStyle>
        <a:tcBdr/>
        <a:fill>
          <a:solidFill>
            <a:srgbClr val="ECEEEF"/>
          </a:solidFill>
        </a:fill>
      </a:tcStyle>
    </a:band2H>
    <a:firstCol>
      <a:tcTxStyle b="on" i="off">
        <a:font>
          <a:latin typeface="AvenirNext-DemiBold"/>
          <a:ea typeface="AvenirNext-DemiBold"/>
          <a:cs typeface="AvenirNext-Demi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AvenirNext-DemiBold"/>
          <a:ea typeface="AvenirNext-DemiBold"/>
          <a:cs typeface="AvenirNext-Demi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AvenirNext-DemiBold"/>
          <a:ea typeface="AvenirNext-DemiBold"/>
          <a:cs typeface="AvenirNext-Demi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F"/>
          </a:solidFill>
        </a:fill>
      </a:tcStyle>
    </a:band2H>
    <a:firstCol>
      <a:tcTxStyle b="on" i="off">
        <a:font>
          <a:latin typeface="AvenirNext-DemiBold"/>
          <a:ea typeface="AvenirNext-DemiBold"/>
          <a:cs typeface="AvenirNext-Demi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89"/>
    <p:restoredTop sz="80803" autoAdjust="0"/>
  </p:normalViewPr>
  <p:slideViewPr>
    <p:cSldViewPr snapToGrid="0">
      <p:cViewPr varScale="1">
        <p:scale>
          <a:sx n="89" d="100"/>
          <a:sy n="89" d="100"/>
        </p:scale>
        <p:origin x="1856" y="184"/>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67" d="100"/>
          <a:sy n="167" d="100"/>
        </p:scale>
        <p:origin x="543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8" Type="http://schemas.openxmlformats.org/officeDocument/2006/relationships/notesMaster" Target="notesMasters/notesMaster1.xml"/><Relationship Id="rId19" Type="http://schemas.openxmlformats.org/officeDocument/2006/relationships/handoutMaster" Target="handoutMasters/handout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7AECBC2-CF38-51D1-D583-52A90E084F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a:extLst>
              <a:ext uri="{FF2B5EF4-FFF2-40B4-BE49-F238E27FC236}">
                <a16:creationId xmlns:a16="http://schemas.microsoft.com/office/drawing/2014/main" id="{696E9E40-1BF4-3EA0-BCD4-FC0B197060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582646-EBD2-134A-994F-649BE9EE867E}" type="datetimeFigureOut">
              <a:rPr kumimoji="1" lang="ko-KR" altLang="en-US" smtClean="0"/>
              <a:t>2026. 7. 21.</a:t>
            </a:fld>
            <a:endParaRPr kumimoji="1" lang="ko-KR" altLang="en-US"/>
          </a:p>
        </p:txBody>
      </p:sp>
      <p:sp>
        <p:nvSpPr>
          <p:cNvPr id="4" name="바닥글 개체 틀 3">
            <a:extLst>
              <a:ext uri="{FF2B5EF4-FFF2-40B4-BE49-F238E27FC236}">
                <a16:creationId xmlns:a16="http://schemas.microsoft.com/office/drawing/2014/main" id="{D7A6D90B-CC0E-8D2B-BBF2-786B86EFBE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5" name="슬라이드 번호 개체 틀 4">
            <a:extLst>
              <a:ext uri="{FF2B5EF4-FFF2-40B4-BE49-F238E27FC236}">
                <a16:creationId xmlns:a16="http://schemas.microsoft.com/office/drawing/2014/main" id="{2D4B1DE0-EB51-D131-A2B1-58E6EC45C0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2210B5E-AAB0-4E42-A7D8-1F877DA2206C}" type="slidenum">
              <a:rPr kumimoji="1" lang="ko-KR" altLang="en-US" smtClean="0"/>
              <a:t>‹#›</a:t>
            </a:fld>
            <a:endParaRPr kumimoji="1" lang="ko-KR" altLang="en-US"/>
          </a:p>
        </p:txBody>
      </p:sp>
    </p:spTree>
    <p:extLst>
      <p:ext uri="{BB962C8B-B14F-4D97-AF65-F5344CB8AC3E}">
        <p14:creationId xmlns:p14="http://schemas.microsoft.com/office/powerpoint/2010/main" val="215781963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1" name="Shape 171"/>
          <p:cNvSpPr>
            <a:spLocks noGrp="1" noRot="1" noChangeAspect="1"/>
          </p:cNvSpPr>
          <p:nvPr>
            <p:ph type="sldImg"/>
          </p:nvPr>
        </p:nvSpPr>
        <p:spPr>
          <a:xfrm>
            <a:off x="1143000" y="685800"/>
            <a:ext cx="4572000" cy="3429000"/>
          </a:xfrm>
          <a:prstGeom prst="rect">
            <a:avLst/>
          </a:prstGeom>
        </p:spPr>
        <p:txBody>
          <a:bodyPr/>
          <a:lstStyle/>
          <a:p>
            <a:endParaRPr/>
          </a:p>
        </p:txBody>
      </p:sp>
      <p:sp>
        <p:nvSpPr>
          <p:cNvPr id="172" name="Shape 17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hf sldNum="0" hdr="0" ftr="0" dt="0"/>
  <p:notesStyle>
    <a:lvl1pPr defTabSz="457200" latinLnBrk="0">
      <a:lnSpc>
        <a:spcPct val="117999"/>
      </a:lnSpc>
      <a:defRPr sz="1500">
        <a:latin typeface="Helvetica Neue"/>
        <a:ea typeface="Helvetica Neue"/>
        <a:cs typeface="Helvetica Neue"/>
        <a:sym typeface="Helvetica Neue"/>
      </a:defRPr>
    </a:lvl1pPr>
    <a:lvl2pPr indent="228600" defTabSz="457200" latinLnBrk="0">
      <a:lnSpc>
        <a:spcPct val="117999"/>
      </a:lnSpc>
      <a:defRPr sz="1500">
        <a:latin typeface="Helvetica Neue"/>
        <a:ea typeface="Helvetica Neue"/>
        <a:cs typeface="Helvetica Neue"/>
        <a:sym typeface="Helvetica Neue"/>
      </a:defRPr>
    </a:lvl2pPr>
    <a:lvl3pPr indent="457200" defTabSz="457200" latinLnBrk="0">
      <a:lnSpc>
        <a:spcPct val="117999"/>
      </a:lnSpc>
      <a:defRPr sz="1500">
        <a:latin typeface="Helvetica Neue"/>
        <a:ea typeface="Helvetica Neue"/>
        <a:cs typeface="Helvetica Neue"/>
        <a:sym typeface="Helvetica Neue"/>
      </a:defRPr>
    </a:lvl3pPr>
    <a:lvl4pPr indent="685800" defTabSz="457200" latinLnBrk="0">
      <a:lnSpc>
        <a:spcPct val="117999"/>
      </a:lnSpc>
      <a:defRPr sz="1500">
        <a:latin typeface="Helvetica Neue"/>
        <a:ea typeface="Helvetica Neue"/>
        <a:cs typeface="Helvetica Neue"/>
        <a:sym typeface="Helvetica Neue"/>
      </a:defRPr>
    </a:lvl4pPr>
    <a:lvl5pPr indent="914400" defTabSz="457200" latinLnBrk="0">
      <a:lnSpc>
        <a:spcPct val="117999"/>
      </a:lnSpc>
      <a:defRPr sz="1500">
        <a:latin typeface="Helvetica Neue"/>
        <a:ea typeface="Helvetica Neue"/>
        <a:cs typeface="Helvetica Neue"/>
        <a:sym typeface="Helvetica Neue"/>
      </a:defRPr>
    </a:lvl5pPr>
    <a:lvl6pPr indent="1143000" defTabSz="457200" latinLnBrk="0">
      <a:lnSpc>
        <a:spcPct val="117999"/>
      </a:lnSpc>
      <a:defRPr sz="1500">
        <a:latin typeface="Helvetica Neue"/>
        <a:ea typeface="Helvetica Neue"/>
        <a:cs typeface="Helvetica Neue"/>
        <a:sym typeface="Helvetica Neue"/>
      </a:defRPr>
    </a:lvl6pPr>
    <a:lvl7pPr indent="1371600" defTabSz="457200" latinLnBrk="0">
      <a:lnSpc>
        <a:spcPct val="117999"/>
      </a:lnSpc>
      <a:defRPr sz="1500">
        <a:latin typeface="Helvetica Neue"/>
        <a:ea typeface="Helvetica Neue"/>
        <a:cs typeface="Helvetica Neue"/>
        <a:sym typeface="Helvetica Neue"/>
      </a:defRPr>
    </a:lvl7pPr>
    <a:lvl8pPr indent="1600200" defTabSz="457200" latinLnBrk="0">
      <a:lnSpc>
        <a:spcPct val="117999"/>
      </a:lnSpc>
      <a:defRPr sz="1500">
        <a:latin typeface="Helvetica Neue"/>
        <a:ea typeface="Helvetica Neue"/>
        <a:cs typeface="Helvetica Neue"/>
        <a:sym typeface="Helvetica Neue"/>
      </a:defRPr>
    </a:lvl8pPr>
    <a:lvl9pPr indent="1828800" defTabSz="457200" latinLnBrk="0">
      <a:lnSpc>
        <a:spcPct val="117999"/>
      </a:lnSpc>
      <a:defRPr sz="15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Good afternoon. One comparison today, nothing else.</a:t>
            </a:r>
          </a:p>
          <a:p/>
          <a:p>
            <a:r>
              <a:t>— 한국어 해설 —</a:t>
            </a:r>
          </a:p>
          <a:p>
            <a:r>
              <a:t>오늘은 비교 하나만 합니다. 그 밖의 것은 넣지 않았습니다.</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One comparison today. Sionna PathSolver against our own kernel, which is shooting bounce ray plus physical optics. Same drone, same pose, same slow time grid, and the only thing that changes is how the echo is formed.</a:t>
            </a:r>
          </a:p>
          <a:p>
            <a:r>
              <a:t>Everything else I have been working on is out of scope for this slide deck. No RCS anchoring, no illuminator choice, no flight logs.</a:t>
            </a:r>
          </a:p>
          <a:p>
            <a:r>
              <a:t>I will show you the maps and then I would like to hear how you read them.</a:t>
            </a:r>
          </a:p>
          <a:p/>
          <a:p>
            <a:r>
              <a:t>— 한국어 해설 —</a:t>
            </a:r>
          </a:p>
          <a:p>
            <a:r>
              <a:t>오늘은 비교 하나입니다. Sionna PathSolver 와 우리 커널(SBR + PO)입니다. 같은 기체, 같은 자세, 같은 슬로타임 격자이고 **바뀌는 것은 산란을 어떻게 계산하는가 하나**입니다.</a:t>
            </a:r>
          </a:p>
          <a:p>
            <a:r>
              <a:t>나머지(RCS 앵커·조명원·비행로그·바이스태틱)는 이번 덱 범위 밖입니다.</a:t>
            </a:r>
          </a:p>
          <a:p>
            <a:r>
              <a:t>⭐그리고 이번 덱은 **제가 결론을 내리는 자리가 아닙니다.** 맵을 보여 드리고 **어떻게 읽어야 하는지 여쭙는 것**이 목적입니다. 마지막 두 장이 질문입니다.</a:t>
            </a:r>
          </a:p>
          <a:p>
            <a:r>
              <a:t>(참고: 이번 주 수치 감사에서 12건을 «검증 부족» 으로 버렸고, 버린 값은 이 덱 어디에도 안 씁니다.)</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Everything on the right is decided by the aircraft, not by us.</a:t>
            </a:r>
          </a:p>
          <a:p>
            <a:r>
              <a:t>The top block is what the airframe is. The middle block follows from it by arithmetic alone, and those three numbers are what I look for in every map. None of them is fitted to data.</a:t>
            </a:r>
          </a:p>
          <a:p>
            <a:r>
              <a:t>The bottom block is only the viewpoint. The radar looks up at the belly, which is the view a ground radar actually gets.</a:t>
            </a:r>
          </a:p>
          <a:p>
            <a:r>
              <a:t>One caveat that is not on the list. The rotor speed spread is a declared value out of a simulator, not a measurement, and real flight logs are wider.</a:t>
            </a:r>
          </a:p>
          <a:p/>
          <a:p>
            <a:r>
              <a:t>— 한국어 해설 —</a:t>
            </a:r>
          </a:p>
          <a:p>
            <a:r>
              <a:t>오른쪽은 전부 **기체가 정하는 값**이지 우리가 고른 값이 아닙니다.</a:t>
            </a:r>
          </a:p>
          <a:p>
            <a:r>
              <a:t>위 블록이 기체 스펙이고, 가운데 블록은 거기서 **산수로만** 따라 나옵니다. ⭐**이 세 숫자가 제가 모든 맵에서 찾는 것**이고, 자료에 맞춘 값이 하나도 없습니다.</a:t>
            </a:r>
          </a:p>
          <a:p>
            <a:r>
              <a:t>아래 블록은 시점입니다 — 레이더가 **배 쪽을 올려다봅니다.** 지상 레이더가 실제로 얻는 시야입니다.</a:t>
            </a:r>
          </a:p>
          <a:p>
            <a:r>
              <a:t>⚠표에 없는 단서 하나: **로터 회전수 산포는 시뮬 유래 선언값**이고 실기체 로그는 더 넓습니다.</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Left, the path solver. Rays leave the radar over the whole sphere and only a few land on the drone, because the target covers a very small angle. That fraction falls as range squared.</a:t>
            </a:r>
          </a:p>
          <a:p>
            <a:r>
              <a:t>Right, our kernel. The grid sits on the target itself, the rays come in parallel, and each one stops at the first surface it meets. Whatever is behind something else is never reached, so occlusion costs nothing.</a:t>
            </a:r>
          </a:p>
          <a:p>
            <a:r>
              <a:t>That is the whole difference. Everything after this point is identical.</a:t>
            </a:r>
          </a:p>
          <a:p/>
          <a:p>
            <a:r>
              <a:t>— 한국어 해설 —</a:t>
            </a:r>
          </a:p>
          <a:p>
            <a:r>
              <a:t>왼쪽이 **path solver** 입니다. 광선이 레이더에서 **온 사방으로** 나가고, 드론에 닿는 건 극히 일부입니다 — 표적이 깔고 앉는 각이 아주 작기 때문입니다. 그 비율이 거리 제곱으로 떨어집니다.</a:t>
            </a:r>
          </a:p>
          <a:p>
            <a:r>
              <a:t>오른쪽이 **우리 커널** 입니다. 격자가 **표적에 붙어** 있고 광선이 나란히 들어와 **처음 만난 면에서 멈춥니다.** 남의 뒤에 숨은 면은 애초에 안 닿으니 **가림이 공짜**입니다.</a:t>
            </a:r>
          </a:p>
          <a:p>
            <a:r>
              <a:t>⭐차이는 이게 전부입니다. **이 다음 단계는 두 엔진이 완전히 같습니다.**</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Two engines, and they work in opposite directions.</a:t>
            </a:r>
          </a:p>
          <a:p>
            <a:r>
              <a:t>The path solver shoots a million rays from the radar over the whole sphere, keeps the few that come back, and multiplies a reflection coefficient along each one. There is no integral over a surface anywhere in it.</a:t>
            </a:r>
          </a:p>
          <a:p>
            <a:r>
              <a:t>Our kernel does the reverse. It puts a grid on the target, lights it with a plane wave, and adds up every lit surface element with its own phase. That is the physical optics integral.</a:t>
            </a:r>
          </a:p>
          <a:p>
            <a:r>
              <a:t>The bottom line is the one that matters. Neither of them has a Doppler formula. We re solve the whole scene at every rotor pose, and the motion lives in how the phase changes from one pose to the next.</a:t>
            </a:r>
          </a:p>
          <a:p>
            <a:r>
              <a:t>If asked why not use the Sionna Doppler field, it allows one velocity vector per object, and a spinning propeller is not one velocity.</a:t>
            </a:r>
          </a:p>
          <a:p/>
          <a:p>
            <a:r>
              <a:t>— 한국어 해설 —</a:t>
            </a:r>
          </a:p>
          <a:p>
            <a:r>
              <a:t>엔진 둘인데 **방향이 반대**입니다.</a:t>
            </a:r>
          </a:p>
          <a:p>
            <a:r>
              <a:t>**path solver** 는 레이더에서 광선 100만 개를 사방으로 쏘고, 돌아온 몇 개만 남겨 반사계수를 곱해 나갑니다. **표면을 적분하는 단계가 없습니다.**</a:t>
            </a:r>
          </a:p>
          <a:p>
            <a:r>
              <a:t>**우리 커널** 은 거꾸로입니다. 격자를 **표적에 붙이고** 평면파로 비춘 뒤, 빛을 받은 면요소를 **위상과 함께 전부 더합니다.** 그게 물리광학 적분입니다.</a:t>
            </a:r>
          </a:p>
          <a:p>
            <a:r>
              <a:t>⭐**맨 아랫줄이 핵심입니다 — 둘 다 도플러 공식을 안 씁니다.** 로터 자세마다 씬을 통째로 다시 풀고, 움직임은 **자세 사이 위상 변화**에 들어 있습니다.</a:t>
            </a:r>
          </a:p>
          <a:p>
            <a:r>
              <a:t>(질문 나오면) Sionna 도플러 필드는 객체당 속도 **한 벡터**만 받습니다. 도는 프로펠러는 한 벡터가 아니라서 못 씁니다.</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Two maps, same 60 millisecond window, same rotor speeds. The vertical arches are blades sweeping past.</a:t>
            </a:r>
          </a:p>
          <a:p>
            <a:r>
              <a:t>The panel below is the measurement. I take the energy in the blade tip band, watch it against time, and find its strongest line. Kinematics predicts it, and it was never fitted.</a:t>
            </a:r>
          </a:p>
          <a:p>
            <a:r>
              <a:t>Both engines land on that prediction.</a:t>
            </a:r>
          </a:p>
          <a:p>
            <a:r>
              <a:t>One trap. The map has hertz going up and the panel below has hertz going across, and they are not the same thing. The one below is a rate of blinking.</a:t>
            </a:r>
          </a:p>
          <a:p>
            <a:r>
              <a:t>And one honest limit. This is the minimum a kernel has to pass, not a full validation. Level is not compared here, because the two arms carry different quantities.</a:t>
            </a:r>
          </a:p>
          <a:p>
            <a:r>
              <a:t>If asked why our number moved since last week, the metric did not change. Our ray grid used to be rebuilt at every pose and is now held still, which removed a false floor.</a:t>
            </a:r>
          </a:p>
          <a:p/>
          <a:p>
            <a:r>
              <a:t>— 한국어 해설 —</a:t>
            </a:r>
          </a:p>
          <a:p>
            <a:r>
              <a:t>맵 두 장, 같은 60 ms 창, 같은 회전수입니다. 세로 아치가 블레이드가 시선을 지나는 순간입니다.</a:t>
            </a:r>
          </a:p>
          <a:p>
            <a:r>
              <a:t>아래 판이 **측정**입니다. 날개끝 띠의 에너지를 시간축으로 보고 최강선을 찾습니다. 운동학이 미리 말한 값이고 **자료에 맞춘 적이 없습니다.**</a:t>
            </a:r>
          </a:p>
          <a:p>
            <a:r>
              <a:t>⭐**두 엔진이 그 예측에 같이 꽂힙니다.**</a:t>
            </a:r>
          </a:p>
          <a:p>
            <a:r>
              <a:t>⚠**함정 하나** — 위 맵은 세로가 Hz, 아래 판은 가로가 Hz 인데 **같은 게 아닙니다.** 아래는 «깜빡이는 속도» 입니다.</a:t>
            </a:r>
          </a:p>
          <a:p>
            <a:r>
              <a:t>⚠**한계 하나** — 이건 커널이 **반드시 통과해야 할 최소 조건**이지 검증 완료가 아닙니다. 레벨은 비교 안 합니다(두 팔의 단위가 다릅니다).</a:t>
            </a:r>
          </a:p>
          <a:p>
            <a:r>
              <a:t>(질문 나오면) 지난주와 우리 숫자가 다른 이유는 **지표가 아니라 격자**입니다. 자세마다 다시 만들던 격자를 고정했고, 그래서 가짜 바닥이 사라졌습니다.</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Left, two ranges. Only the path solver column was solved again. Our column is the same array twice, because the shape of the echo does not depend on range at all, only its strength does.</a:t>
            </a:r>
          </a:p>
          <a:p>
            <a:r>
              <a:t>Right, and this one corrected me. I had written that forty metres was a structural limit. It is not. Holding the poses fixed and raising only the ray count, the empty poses go to zero and the path count comes back to what we get at three metres. So the honest word is price, not capability.</a:t>
            </a:r>
          </a:p>
          <a:p>
            <a:r>
              <a:t>Two things I should say out loud.</a:t>
            </a:r>
          </a:p>
          <a:p>
            <a:r>
              <a:t>The two rows at forty metres are the same computation run twice. The path solver fires random rays, so each run is a little different, and here the two runs pick a different blade rate. That is a caution about using it as a reference.</a:t>
            </a:r>
          </a:p>
          <a:p>
            <a:r>
              <a:t>And every map is normalised to its own brightest point, so the drop in strength with range is invisible here. At forty metres the echo is about twenty four decibels weaker than at three. There is no noise anywhere in this simulation, so nothing fades. Real range limits come from noise, and we have not put any in yet.</a:t>
            </a:r>
          </a:p>
          <a:p/>
          <a:p>
            <a:r>
              <a:t>— 한국어 해설 —</a:t>
            </a:r>
          </a:p>
          <a:p>
            <a:r>
              <a:t>왼쪽, 거리 두 개입니다. **path solver 열만 다시 풀었습니다.** 우리 열은 같은 배열이 두 번인데, **에코의 모양은 거리에 아예 안 기대고 세기만 기대기** 때문입니다.</a:t>
            </a:r>
          </a:p>
          <a:p>
            <a:r>
              <a:t>오른쪽이 **저를 정정한 판**입니다. «40 m 는 구조적 한계» 라고 적었었는데 아니었습니다. 자세를 고정하고 광선 수만 올리니 빈 자세가 0 이 되고 경로 수가 3 m 와 같아집니다. ⇒ 정직한 말은 «못 한다» 가 아니라 **«비싸다»** 입니다.</a:t>
            </a:r>
          </a:p>
          <a:p>
            <a:r>
              <a:t>⭐**반드시 소리 내어 말할 것 둘**</a:t>
            </a:r>
          </a:p>
          <a:p>
            <a:r>
              <a:t>① 40 m 두 줄은 **같은 계산을 두 번 돌린 것**입니다. path solver 는 광선을 무작위로 쏘기 때문에 돌릴 때마다 조금씩 다른데, 여기서는 **두 번이 서로 다른 날개 박자를 골랐습니다**(253 Hz ↔ 127 Hz, 예측 127 Hz). 이걸 기준으로 삼을 때 조심해야 한다는 뜻입니다.</a:t>
            </a:r>
          </a:p>
          <a:p>
            <a:r>
              <a:t>② ⭐**맵이 각자 자기 최대값으로 정규화돼 있어서 «거리가 멀면 약해진다» 가 그림에서 안 보입니다.** 40 m 면 에코가 3 m 보다 **약 24 dB 약합니다.** 그런데 이 시뮬레이션에는 **잡음이 하나도 없어서** 아무것도 묻히지 않습니다. **실제 거리 한계는 잡음이 정하는데 우리는 아직 잡음을 안 넣었습니다.**</a:t>
            </a:r>
          </a:p>
          <a:p>
            <a:r>
              <a:t>(그리고 3 m 는 이 기체의 원거리장 경계 8 m 안쪽이라, 우리 커널의 평면파 가정이 엄밀히는 성립하지 않는 자리입니다.)</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Three questions, and they are real ones.</a:t>
            </a:r>
          </a:p>
          <a:p>
            <a:r>
              <a:t>First. The two simulators put the blade rhythm in the same place. Is that enough to say one of them is checked, or is it too easy a test to pass. I think it is too easy.</a:t>
            </a:r>
          </a:p>
          <a:p>
            <a:r>
              <a:t>Second. One of them uses random rays, so every run gives a slightly different picture. Usually that averages out. Here it does not, because only the propellers move and the rest of the drone is drawn from the same random sample every time. Run it twice and it can pick a different answer for the blade rate. So can a simulator like that be used as a reference, or does it need to be averaged over many runs first.</a:t>
            </a:r>
          </a:p>
          <a:p>
            <a:r>
              <a:t>Third, and this is where I am stuck. One returns the power arriving at the receiver, the other returns how strongly the target scatters. Those are different physical quantities, so subtracting them is meaningless. I would like a suggestion for something both of them genuinely share.</a:t>
            </a:r>
          </a:p>
          <a:p/>
          <a:p>
            <a:r>
              <a:t>— 한국어 해설 —</a:t>
            </a:r>
          </a:p>
          <a:p>
            <a:r>
              <a:t>질문 셋, 전부 진짜 질문입니다.</a:t>
            </a:r>
          </a:p>
          <a:p>
            <a:r>
              <a:t>① 두 시뮬레이터가 **날개 통과 박자를 같은 자리에 찍습니다.** 그것만으로 «한쪽이 검증됐다» 고 할 수 있습니까, 아니면 **너무 쉬운 시험**입니까. 저는 너무 쉽다고 봅니다.</a:t>
            </a:r>
          </a:p>
          <a:p>
            <a:r>
              <a:t>② 한쪽은 **광선을 무작위로 뿌립니다.** 보통은 그 무작위가 평균으로 씻기는데, 여기서는 **안 씻깁니다** — 움직이는 게 프로펠러뿐이라 나머지 기체는 매번 **같은 무작위 표본**으로 그려지기 때문입니다. 그래서 두 번 돌리면 **날개 박자 답이 달라질 수 있습니다.** ⭐이런 시뮬레이터를 기준으로 삼아도 됩니까, 아니면 **여러 번 돌려 평균**부터 내야 합니까.</a:t>
            </a:r>
          </a:p>
          <a:p>
            <a:r>
              <a:t>③ 제일 막힌 것입니다. 한쪽은 **수신기에 도착한 전력**을, 다른 쪽은 **표적이 얼마나 세게 산란하는지**를 냅니다. **물리량이 다르니 빼는 게 의미가 없습니다.** 두 쪽이 진짜로 공유하는 양이 무엇일지 조언을 구합니다.</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Two of these I can start this week.</a:t>
            </a:r>
          </a:p>
          <a:p>
            <a:r>
              <a:t>One. I changed how our simulator lays out its rays, and this talk uses the new version while the written report still uses the old one. So the project currently quotes two slightly different numbers for the same thing. That has to be closed first.</a:t>
            </a:r>
          </a:p>
          <a:p>
            <a:r>
              <a:t>Two. The classification dataset, which is the actual goal of the project. I would rather hear your answer to the second question before I spend the computing time.</a:t>
            </a:r>
          </a:p>
          <a:p>
            <a:r>
              <a:t>Three is the one I cannot close at a desk. The rotor speed variation we assume comes from flight simulator software, not from a real aircraft. Closing it needs telemetry from a drone in flight, which is the field test.</a:t>
            </a:r>
          </a:p>
          <a:p/>
          <a:p>
            <a:r>
              <a:t>— 한국어 해설 —</a:t>
            </a:r>
          </a:p>
          <a:p>
            <a:r>
              <a:t>둘은 이번 주에 시작할 수 있습니다.</a:t>
            </a:r>
          </a:p>
          <a:p>
            <a:r>
              <a:t>① 우리 시뮬레이터가 **광선을 놓는 방식을 이번에 고쳤는데**, 이 발표는 새 판을 쓰고 **문서로 된 리포트는 아직 옛 판**을 씁니다. 그래서 지금 **같은 것에 대해 조금 다른 두 숫자**가 돌아다닙니다. 이것부터 닫아야 합니다.</a:t>
            </a:r>
          </a:p>
          <a:p>
            <a:r>
              <a:t>② **기종 분류 데이터셋** — 이 프로젝트의 실제 목표입니다. 다만 앞 장 ②번 질문에 답을 듣고 계산 시간을 쓰고 싶습니다.</a:t>
            </a:r>
          </a:p>
          <a:p>
            <a:r>
              <a:t>③ 이건 책상에서 못 닫습니다. 우리가 가정한 **로터 회전수 편차가 비행 시뮬레이터 소프트웨어에서 온 값**이고 실기체 값이 아닙니다. 닫으려면 **실제로 나는 드론의 텔레메트리**가 필요합니다 — 즉 야외 필드테스트입니다.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제목">
    <p:spTree>
      <p:nvGrpSpPr>
        <p:cNvPr id="1" name=""/>
        <p:cNvGrpSpPr/>
        <p:nvPr/>
      </p:nvGrpSpPr>
      <p:grpSpPr>
        <a:xfrm>
          <a:off x="0" y="0"/>
          <a:ext cx="0" cy="0"/>
          <a:chOff x="0" y="0"/>
          <a:chExt cx="0" cy="0"/>
        </a:xfrm>
      </p:grpSpPr>
      <p:sp>
        <p:nvSpPr>
          <p:cNvPr id="11" name="저자 및 날짜"/>
          <p:cNvSpPr txBox="1">
            <a:spLocks noGrp="1"/>
          </p:cNvSpPr>
          <p:nvPr>
            <p:ph type="body" sz="quarter" idx="21" hasCustomPrompt="1"/>
          </p:nvPr>
        </p:nvSpPr>
        <p:spPr>
          <a:xfrm>
            <a:off x="1219200" y="11986162"/>
            <a:ext cx="21945599" cy="605791"/>
          </a:xfrm>
          <a:prstGeom prst="rect">
            <a:avLst/>
          </a:prstGeom>
        </p:spPr>
        <p:txBody>
          <a:bodyPr/>
          <a:lstStyle>
            <a:lvl1pPr marL="0" indent="0" algn="ctr" defTabSz="808990">
              <a:lnSpc>
                <a:spcPct val="100000"/>
              </a:lnSpc>
              <a:spcBef>
                <a:spcPts val="0"/>
              </a:spcBef>
              <a:buSzTx/>
              <a:buNone/>
              <a:defRPr sz="2940" spc="-29"/>
            </a:lvl1pPr>
          </a:lstStyle>
          <a:p>
            <a:r>
              <a:t>저자 및 날짜</a:t>
            </a:r>
          </a:p>
        </p:txBody>
      </p:sp>
      <p:sp>
        <p:nvSpPr>
          <p:cNvPr id="12" name="프레젠테이션 제목"/>
          <p:cNvSpPr txBox="1">
            <a:spLocks noGrp="1"/>
          </p:cNvSpPr>
          <p:nvPr>
            <p:ph type="title" hasCustomPrompt="1"/>
          </p:nvPr>
        </p:nvSpPr>
        <p:spPr>
          <a:xfrm>
            <a:off x="1219200" y="3543300"/>
            <a:ext cx="21945600" cy="4267200"/>
          </a:xfrm>
          <a:prstGeom prst="rect">
            <a:avLst/>
          </a:prstGeom>
        </p:spPr>
        <p:txBody>
          <a:bodyPr anchor="b"/>
          <a:lstStyle>
            <a:lvl1pPr>
              <a:defRPr sz="9000" b="1" spc="-90">
                <a:latin typeface="AvenirNext-DemiBold"/>
                <a:ea typeface="AvenirNext-DemiBold"/>
                <a:cs typeface="AvenirNext-DemiBold"/>
                <a:sym typeface="AvenirNext-DemiBold"/>
              </a:defRPr>
            </a:lvl1pPr>
          </a:lstStyle>
          <a:p>
            <a:r>
              <a:t>프레젠테이션 제목</a:t>
            </a:r>
          </a:p>
        </p:txBody>
      </p:sp>
      <p:sp>
        <p:nvSpPr>
          <p:cNvPr id="13" name="Body Level One…"/>
          <p:cNvSpPr txBox="1">
            <a:spLocks noGrp="1"/>
          </p:cNvSpPr>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z="6000" b="1" spc="-59">
                <a:latin typeface="AvenirNext-DemiBold"/>
                <a:ea typeface="AvenirNext-DemiBold"/>
                <a:cs typeface="AvenirNext-DemiBold"/>
                <a:sym typeface="AvenirNext-DemiBold"/>
              </a:defRPr>
            </a:lvl1pPr>
            <a:lvl2pPr marL="0" indent="457200" algn="ctr" defTabSz="825500">
              <a:lnSpc>
                <a:spcPct val="100000"/>
              </a:lnSpc>
              <a:spcBef>
                <a:spcPts val="0"/>
              </a:spcBef>
              <a:buSzTx/>
              <a:buNone/>
              <a:defRPr sz="6000" b="1" spc="-59">
                <a:latin typeface="AvenirNext-DemiBold"/>
                <a:ea typeface="AvenirNext-DemiBold"/>
                <a:cs typeface="AvenirNext-DemiBold"/>
                <a:sym typeface="AvenirNext-DemiBold"/>
              </a:defRPr>
            </a:lvl2pPr>
            <a:lvl3pPr marL="0" indent="914400" algn="ctr" defTabSz="825500">
              <a:lnSpc>
                <a:spcPct val="100000"/>
              </a:lnSpc>
              <a:spcBef>
                <a:spcPts val="0"/>
              </a:spcBef>
              <a:buSzTx/>
              <a:buNone/>
              <a:defRPr sz="6000" b="1" spc="-59">
                <a:latin typeface="AvenirNext-DemiBold"/>
                <a:ea typeface="AvenirNext-DemiBold"/>
                <a:cs typeface="AvenirNext-DemiBold"/>
                <a:sym typeface="AvenirNext-DemiBold"/>
              </a:defRPr>
            </a:lvl3pPr>
            <a:lvl4pPr marL="0" indent="1371600" algn="ctr" defTabSz="825500">
              <a:lnSpc>
                <a:spcPct val="100000"/>
              </a:lnSpc>
              <a:spcBef>
                <a:spcPts val="0"/>
              </a:spcBef>
              <a:buSzTx/>
              <a:buNone/>
              <a:defRPr sz="6000" b="1" spc="-59">
                <a:latin typeface="AvenirNext-DemiBold"/>
                <a:ea typeface="AvenirNext-DemiBold"/>
                <a:cs typeface="AvenirNext-DemiBold"/>
                <a:sym typeface="AvenirNext-DemiBold"/>
              </a:defRPr>
            </a:lvl4pPr>
            <a:lvl5pPr marL="0" indent="1828800" algn="ctr" defTabSz="825500">
              <a:lnSpc>
                <a:spcPct val="100000"/>
              </a:lnSpc>
              <a:spcBef>
                <a:spcPts val="0"/>
              </a:spcBef>
              <a:buSzTx/>
              <a:buNone/>
              <a:defRPr sz="6000" b="1" spc="-59">
                <a:latin typeface="AvenirNext-DemiBold"/>
                <a:ea typeface="AvenirNext-DemiBold"/>
                <a:cs typeface="AvenirNext-DemiBold"/>
                <a:sym typeface="AvenirNext-DemiBold"/>
              </a:defRPr>
            </a:lvl5pPr>
          </a:lstStyle>
          <a:p>
            <a:r>
              <a:t>프레젠테이션 부제</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제목 및 구분점">
    <p:spTree>
      <p:nvGrpSpPr>
        <p:cNvPr id="1" name=""/>
        <p:cNvGrpSpPr/>
        <p:nvPr/>
      </p:nvGrpSpPr>
      <p:grpSpPr>
        <a:xfrm>
          <a:off x="0" y="0"/>
          <a:ext cx="0" cy="0"/>
          <a:chOff x="0" y="0"/>
          <a:chExt cx="0" cy="0"/>
        </a:xfrm>
      </p:grpSpPr>
      <p:sp>
        <p:nvSpPr>
          <p:cNvPr id="42" name="슬라이드 제목"/>
          <p:cNvSpPr txBox="1">
            <a:spLocks noGrp="1"/>
          </p:cNvSpPr>
          <p:nvPr>
            <p:ph type="title" hasCustomPrompt="1"/>
          </p:nvPr>
        </p:nvSpPr>
        <p:spPr>
          <a:prstGeom prst="rect">
            <a:avLst/>
          </a:prstGeom>
        </p:spPr>
        <p:txBody>
          <a:bodyPr/>
          <a:lstStyle/>
          <a:p>
            <a:r>
              <a:t>슬라이드 제목</a:t>
            </a:r>
          </a:p>
        </p:txBody>
      </p:sp>
      <p:sp>
        <p:nvSpPr>
          <p:cNvPr id="43" name="Body Level One…"/>
          <p:cNvSpPr txBox="1">
            <a:spLocks noGrp="1"/>
          </p:cNvSpPr>
          <p:nvPr>
            <p:ph type="body" idx="1" hasCustomPrompt="1"/>
          </p:nvPr>
        </p:nvSpPr>
        <p:spPr>
          <a:prstGeom prst="rect">
            <a:avLst/>
          </a:prstGeom>
        </p:spPr>
        <p:txBody>
          <a:bodyPr/>
          <a:lstStyle/>
          <a:p>
            <a:r>
              <a:t>슬라이드 구분점 텍스트</a:t>
            </a:r>
          </a:p>
          <a:p>
            <a:pPr lvl="1"/>
            <a:endParaRPr/>
          </a:p>
          <a:p>
            <a:pPr lvl="2"/>
            <a:endParaRPr/>
          </a:p>
          <a:p>
            <a:pPr lvl="3"/>
            <a:endParaRPr/>
          </a:p>
          <a:p>
            <a:pPr lvl="4"/>
            <a:endParaRPr/>
          </a:p>
        </p:txBody>
      </p:sp>
      <p:sp>
        <p:nvSpPr>
          <p:cNvPr id="44"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제목, 구분점 및 사진">
    <p:spTree>
      <p:nvGrpSpPr>
        <p:cNvPr id="1" name=""/>
        <p:cNvGrpSpPr/>
        <p:nvPr/>
      </p:nvGrpSpPr>
      <p:grpSpPr>
        <a:xfrm>
          <a:off x="0" y="0"/>
          <a:ext cx="0" cy="0"/>
          <a:chOff x="0" y="0"/>
          <a:chExt cx="0" cy="0"/>
        </a:xfrm>
      </p:grpSpPr>
      <p:sp>
        <p:nvSpPr>
          <p:cNvPr id="60"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61" name="해 질 무렵의 하늘을 배경으로 둔 바다"/>
          <p:cNvSpPr>
            <a:spLocks noGrp="1"/>
          </p:cNvSpPr>
          <p:nvPr>
            <p:ph type="pic" idx="21"/>
          </p:nvPr>
        </p:nvSpPr>
        <p:spPr>
          <a:xfrm>
            <a:off x="12192644" y="718588"/>
            <a:ext cx="10972801" cy="12329624"/>
          </a:xfrm>
          <a:prstGeom prst="rect">
            <a:avLst/>
          </a:prstGeom>
        </p:spPr>
        <p:txBody>
          <a:bodyPr lIns="91439" tIns="45719" rIns="91439" bIns="45719">
            <a:noAutofit/>
          </a:bodyPr>
          <a:lstStyle/>
          <a:p>
            <a:endParaRPr/>
          </a:p>
        </p:txBody>
      </p:sp>
      <p:sp>
        <p:nvSpPr>
          <p:cNvPr id="62" name="슬라이드 부제"/>
          <p:cNvSpPr txBox="1">
            <a:spLocks noGrp="1"/>
          </p:cNvSpPr>
          <p:nvPr>
            <p:ph type="body" sz="quarter" idx="22"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6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6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제목, 구분점 및 작은 라이브 비디오">
    <p:spTree>
      <p:nvGrpSpPr>
        <p:cNvPr id="1" name=""/>
        <p:cNvGrpSpPr/>
        <p:nvPr/>
      </p:nvGrpSpPr>
      <p:grpSpPr>
        <a:xfrm>
          <a:off x="0" y="0"/>
          <a:ext cx="0" cy="0"/>
          <a:chOff x="0" y="0"/>
          <a:chExt cx="0" cy="0"/>
        </a:xfrm>
      </p:grpSpPr>
      <p:sp>
        <p:nvSpPr>
          <p:cNvPr id="7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7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7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7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제목, 구분점 및 큰 라이브 비디오">
    <p:spTree>
      <p:nvGrpSpPr>
        <p:cNvPr id="1" name=""/>
        <p:cNvGrpSpPr/>
        <p:nvPr/>
      </p:nvGrpSpPr>
      <p:grpSpPr>
        <a:xfrm>
          <a:off x="0" y="0"/>
          <a:ext cx="0" cy="0"/>
          <a:chOff x="0" y="0"/>
          <a:chExt cx="0" cy="0"/>
        </a:xfrm>
      </p:grpSpPr>
      <p:sp>
        <p:nvSpPr>
          <p:cNvPr id="8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8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8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8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섹션">
    <p:spTree>
      <p:nvGrpSpPr>
        <p:cNvPr id="1" name=""/>
        <p:cNvGrpSpPr/>
        <p:nvPr/>
      </p:nvGrpSpPr>
      <p:grpSpPr>
        <a:xfrm>
          <a:off x="0" y="0"/>
          <a:ext cx="0" cy="0"/>
          <a:chOff x="0" y="0"/>
          <a:chExt cx="0" cy="0"/>
        </a:xfrm>
      </p:grpSpPr>
      <p:sp>
        <p:nvSpPr>
          <p:cNvPr id="91" name="섹션 제목"/>
          <p:cNvSpPr txBox="1">
            <a:spLocks noGrp="1"/>
          </p:cNvSpPr>
          <p:nvPr>
            <p:ph type="title" hasCustomPrompt="1"/>
          </p:nvPr>
        </p:nvSpPr>
        <p:spPr>
          <a:xfrm>
            <a:off x="1219200" y="3242270"/>
            <a:ext cx="21945600" cy="6604001"/>
          </a:xfrm>
          <a:prstGeom prst="rect">
            <a:avLst/>
          </a:prstGeom>
        </p:spPr>
        <p:txBody>
          <a:bodyPr anchor="ctr"/>
          <a:lstStyle>
            <a:lvl1pPr algn="ctr">
              <a:defRPr sz="12800" spc="0">
                <a:latin typeface="Canela Bold"/>
                <a:ea typeface="Canela Bold"/>
                <a:cs typeface="Canela Bold"/>
                <a:sym typeface="Canela Bold"/>
              </a:defRPr>
            </a:lvl1pPr>
          </a:lstStyle>
          <a:p>
            <a:r>
              <a:t>섹션 제목</a:t>
            </a:r>
          </a:p>
        </p:txBody>
      </p:sp>
      <p:sp>
        <p:nvSpPr>
          <p:cNvPr id="92"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제목 전용">
    <p:spTree>
      <p:nvGrpSpPr>
        <p:cNvPr id="1" name=""/>
        <p:cNvGrpSpPr/>
        <p:nvPr/>
      </p:nvGrpSpPr>
      <p:grpSpPr>
        <a:xfrm>
          <a:off x="0" y="0"/>
          <a:ext cx="0" cy="0"/>
          <a:chOff x="0" y="0"/>
          <a:chExt cx="0" cy="0"/>
        </a:xfrm>
      </p:grpSpPr>
      <p:sp>
        <p:nvSpPr>
          <p:cNvPr id="99" name="슬라이드 제목"/>
          <p:cNvSpPr txBox="1">
            <a:spLocks noGrp="1"/>
          </p:cNvSpPr>
          <p:nvPr>
            <p:ph type="title" hasCustomPrompt="1"/>
          </p:nvPr>
        </p:nvSpPr>
        <p:spPr>
          <a:prstGeom prst="rect">
            <a:avLst/>
          </a:prstGeom>
        </p:spPr>
        <p:txBody>
          <a:bodyPr/>
          <a:lstStyle/>
          <a:p>
            <a:r>
              <a:t>슬라이드 제목</a:t>
            </a:r>
          </a:p>
        </p:txBody>
      </p:sp>
      <p:sp>
        <p:nvSpPr>
          <p:cNvPr id="100"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10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의제">
    <p:spTree>
      <p:nvGrpSpPr>
        <p:cNvPr id="1" name=""/>
        <p:cNvGrpSpPr/>
        <p:nvPr/>
      </p:nvGrpSpPr>
      <p:grpSpPr>
        <a:xfrm>
          <a:off x="0" y="0"/>
          <a:ext cx="0" cy="0"/>
          <a:chOff x="0" y="0"/>
          <a:chExt cx="0" cy="0"/>
        </a:xfrm>
      </p:grpSpPr>
      <p:sp>
        <p:nvSpPr>
          <p:cNvPr id="108" name="의제 제목"/>
          <p:cNvSpPr txBox="1">
            <a:spLocks noGrp="1"/>
          </p:cNvSpPr>
          <p:nvPr>
            <p:ph type="title" hasCustomPrompt="1"/>
          </p:nvPr>
        </p:nvSpPr>
        <p:spPr>
          <a:prstGeom prst="rect">
            <a:avLst/>
          </a:prstGeom>
        </p:spPr>
        <p:txBody>
          <a:bodyPr/>
          <a:lstStyle/>
          <a:p>
            <a:r>
              <a:t>의제 제목</a:t>
            </a:r>
          </a:p>
        </p:txBody>
      </p:sp>
      <p:sp>
        <p:nvSpPr>
          <p:cNvPr id="109" name="Body Level One…"/>
          <p:cNvSpPr txBox="1">
            <a:spLocks noGrp="1"/>
          </p:cNvSpPr>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z="6800" spc="-136">
                <a:latin typeface="Canela Deck Regular"/>
                <a:ea typeface="Canela Deck Regular"/>
                <a:cs typeface="Canela Deck Regular"/>
                <a:sym typeface="Canela Deck Regular"/>
              </a:defRPr>
            </a:lvl1pPr>
            <a:lvl2pPr marL="0" indent="457200" defTabSz="825500">
              <a:lnSpc>
                <a:spcPct val="100000"/>
              </a:lnSpc>
              <a:buSzTx/>
              <a:buNone/>
              <a:defRPr sz="6800" spc="-136">
                <a:latin typeface="Canela Deck Regular"/>
                <a:ea typeface="Canela Deck Regular"/>
                <a:cs typeface="Canela Deck Regular"/>
                <a:sym typeface="Canela Deck Regular"/>
              </a:defRPr>
            </a:lvl2pPr>
            <a:lvl3pPr marL="0" indent="914400" defTabSz="825500">
              <a:lnSpc>
                <a:spcPct val="100000"/>
              </a:lnSpc>
              <a:buSzTx/>
              <a:buNone/>
              <a:defRPr sz="6800" spc="-136">
                <a:latin typeface="Canela Deck Regular"/>
                <a:ea typeface="Canela Deck Regular"/>
                <a:cs typeface="Canela Deck Regular"/>
                <a:sym typeface="Canela Deck Regular"/>
              </a:defRPr>
            </a:lvl3pPr>
            <a:lvl4pPr marL="0" indent="1371600" defTabSz="825500">
              <a:lnSpc>
                <a:spcPct val="100000"/>
              </a:lnSpc>
              <a:buSzTx/>
              <a:buNone/>
              <a:defRPr sz="6800" spc="-136">
                <a:latin typeface="Canela Deck Regular"/>
                <a:ea typeface="Canela Deck Regular"/>
                <a:cs typeface="Canela Deck Regular"/>
                <a:sym typeface="Canela Deck Regular"/>
              </a:defRPr>
            </a:lvl4pPr>
            <a:lvl5pPr marL="0" indent="1828800" defTabSz="825500">
              <a:lnSpc>
                <a:spcPct val="100000"/>
              </a:lnSpc>
              <a:buSzTx/>
              <a:buNone/>
              <a:defRPr sz="6800" spc="-136">
                <a:latin typeface="Canela Deck Regular"/>
                <a:ea typeface="Canela Deck Regular"/>
                <a:cs typeface="Canela Deck Regular"/>
                <a:sym typeface="Canela Deck Regular"/>
              </a:defRPr>
            </a:lvl5pPr>
          </a:lstStyle>
          <a:p>
            <a:r>
              <a:t>의제 주제</a:t>
            </a:r>
          </a:p>
          <a:p>
            <a:pPr lvl="1"/>
            <a:endParaRPr/>
          </a:p>
          <a:p>
            <a:pPr lvl="2"/>
            <a:endParaRPr/>
          </a:p>
          <a:p>
            <a:pPr lvl="3"/>
            <a:endParaRPr/>
          </a:p>
          <a:p>
            <a:pPr lvl="4"/>
            <a:endParaRPr/>
          </a:p>
        </p:txBody>
      </p:sp>
      <p:sp>
        <p:nvSpPr>
          <p:cNvPr id="110" name="의제 부제"/>
          <p:cNvSpPr txBox="1">
            <a:spLocks noGrp="1"/>
          </p:cNvSpPr>
          <p:nvPr>
            <p:ph type="body" sz="quarter" idx="21" hasCustomPrompt="1"/>
          </p:nvPr>
        </p:nvSpPr>
        <p:spPr>
          <a:xfrm>
            <a:off x="1219200" y="2387115"/>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의제 부제</a:t>
            </a:r>
          </a:p>
        </p:txBody>
      </p:sp>
      <p:sp>
        <p:nvSpPr>
          <p:cNvPr id="11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내역서">
    <p:spTree>
      <p:nvGrpSpPr>
        <p:cNvPr id="1" name=""/>
        <p:cNvGrpSpPr/>
        <p:nvPr/>
      </p:nvGrpSpPr>
      <p:grpSpPr>
        <a:xfrm>
          <a:off x="0" y="0"/>
          <a:ext cx="0" cy="0"/>
          <a:chOff x="0" y="0"/>
          <a:chExt cx="0" cy="0"/>
        </a:xfrm>
      </p:grpSpPr>
      <p:sp>
        <p:nvSpPr>
          <p:cNvPr id="118" name="Body Level One…"/>
          <p:cNvSpPr txBox="1">
            <a:spLocks noGrp="1"/>
          </p:cNvSpPr>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r>
              <a:t>내역서</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중요한 사실">
    <p:spTree>
      <p:nvGrpSpPr>
        <p:cNvPr id="1" name=""/>
        <p:cNvGrpSpPr/>
        <p:nvPr/>
      </p:nvGrpSpPr>
      <p:grpSpPr>
        <a:xfrm>
          <a:off x="0" y="0"/>
          <a:ext cx="0" cy="0"/>
          <a:chOff x="0" y="0"/>
          <a:chExt cx="0" cy="0"/>
        </a:xfrm>
      </p:grpSpPr>
      <p:sp>
        <p:nvSpPr>
          <p:cNvPr id="126" name="사실 정보"/>
          <p:cNvSpPr txBox="1">
            <a:spLocks noGrp="1"/>
          </p:cNvSpPr>
          <p:nvPr>
            <p:ph type="body" sz="quarter" idx="21" hasCustomPrompt="1"/>
          </p:nvPr>
        </p:nvSpPr>
        <p:spPr>
          <a:xfrm>
            <a:off x="1219200" y="8462239"/>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사실 정보</a:t>
            </a:r>
          </a:p>
        </p:txBody>
      </p:sp>
      <p:sp>
        <p:nvSpPr>
          <p:cNvPr id="127" name="Body Level One…"/>
          <p:cNvSpPr txBox="1">
            <a:spLocks noGrp="1"/>
          </p:cNvSpPr>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Canela Bold"/>
                <a:ea typeface="Canela Bold"/>
                <a:cs typeface="Canela Bold"/>
                <a:sym typeface="Canela Bold"/>
              </a:defRPr>
            </a:lvl1pPr>
            <a:lvl2pPr marL="0" indent="457200" algn="ctr" defTabSz="2438400">
              <a:lnSpc>
                <a:spcPct val="80000"/>
              </a:lnSpc>
              <a:spcBef>
                <a:spcPts val="0"/>
              </a:spcBef>
              <a:buSzTx/>
              <a:buNone/>
              <a:defRPr sz="22400">
                <a:latin typeface="Canela Bold"/>
                <a:ea typeface="Canela Bold"/>
                <a:cs typeface="Canela Bold"/>
                <a:sym typeface="Canela Bold"/>
              </a:defRPr>
            </a:lvl2pPr>
            <a:lvl3pPr marL="0" indent="914400" algn="ctr" defTabSz="2438400">
              <a:lnSpc>
                <a:spcPct val="80000"/>
              </a:lnSpc>
              <a:spcBef>
                <a:spcPts val="0"/>
              </a:spcBef>
              <a:buSzTx/>
              <a:buNone/>
              <a:defRPr sz="22400">
                <a:latin typeface="Canela Bold"/>
                <a:ea typeface="Canela Bold"/>
                <a:cs typeface="Canela Bold"/>
                <a:sym typeface="Canela Bold"/>
              </a:defRPr>
            </a:lvl3pPr>
            <a:lvl4pPr marL="0" indent="1371600" algn="ctr" defTabSz="2438400">
              <a:lnSpc>
                <a:spcPct val="80000"/>
              </a:lnSpc>
              <a:spcBef>
                <a:spcPts val="0"/>
              </a:spcBef>
              <a:buSzTx/>
              <a:buNone/>
              <a:defRPr sz="22400">
                <a:latin typeface="Canela Bold"/>
                <a:ea typeface="Canela Bold"/>
                <a:cs typeface="Canela Bold"/>
                <a:sym typeface="Canela Bold"/>
              </a:defRPr>
            </a:lvl4pPr>
            <a:lvl5pPr marL="0" indent="1828800" algn="ctr" defTabSz="2438400">
              <a:lnSpc>
                <a:spcPct val="80000"/>
              </a:lnSpc>
              <a:spcBef>
                <a:spcPts val="0"/>
              </a:spcBef>
              <a:buSzTx/>
              <a:buNone/>
              <a:defRPr sz="22400">
                <a:latin typeface="Canela Bold"/>
                <a:ea typeface="Canela Bold"/>
                <a:cs typeface="Canela Bold"/>
                <a:sym typeface="Canela Bold"/>
              </a:defRPr>
            </a:lvl5pPr>
          </a:lstStyle>
          <a:p>
            <a:r>
              <a:t>100%</a:t>
            </a:r>
          </a:p>
          <a:p>
            <a:pPr lvl="1"/>
            <a:endParaRPr/>
          </a:p>
          <a:p>
            <a:pPr lvl="2"/>
            <a:endParaRPr/>
          </a:p>
          <a:p>
            <a:pPr lvl="3"/>
            <a:endParaRPr/>
          </a:p>
          <a:p>
            <a:pPr lvl="4"/>
            <a:endParaRP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인용">
    <p:spTree>
      <p:nvGrpSpPr>
        <p:cNvPr id="1" name=""/>
        <p:cNvGrpSpPr/>
        <p:nvPr/>
      </p:nvGrpSpPr>
      <p:grpSpPr>
        <a:xfrm>
          <a:off x="0" y="0"/>
          <a:ext cx="0" cy="0"/>
          <a:chOff x="0" y="0"/>
          <a:chExt cx="0" cy="0"/>
        </a:xfrm>
      </p:grpSpPr>
      <p:sp>
        <p:nvSpPr>
          <p:cNvPr id="135" name="속성"/>
          <p:cNvSpPr txBox="1">
            <a:spLocks noGrp="1"/>
          </p:cNvSpPr>
          <p:nvPr>
            <p:ph type="body" sz="quarter" idx="21" hasCustomPrompt="1"/>
          </p:nvPr>
        </p:nvSpPr>
        <p:spPr>
          <a:xfrm>
            <a:off x="1219200" y="11100053"/>
            <a:ext cx="21945602" cy="832613"/>
          </a:xfrm>
          <a:prstGeom prst="rect">
            <a:avLst/>
          </a:prstGeom>
        </p:spPr>
        <p:txBody>
          <a:bodyPr anchor="ctr"/>
          <a:lstStyle>
            <a:lvl1pPr marL="0" indent="0" algn="ctr" defTabSz="825500">
              <a:lnSpc>
                <a:spcPct val="100000"/>
              </a:lnSpc>
              <a:spcBef>
                <a:spcPts val="0"/>
              </a:spcBef>
              <a:buSzTx/>
              <a:buNone/>
              <a:defRPr b="1" spc="-44">
                <a:latin typeface="AvenirNext-DemiBold"/>
                <a:ea typeface="AvenirNext-DemiBold"/>
                <a:cs typeface="AvenirNext-DemiBold"/>
                <a:sym typeface="AvenirNext-DemiBold"/>
              </a:defRPr>
            </a:lvl1pPr>
          </a:lstStyle>
          <a:p>
            <a:r>
              <a:t>속성</a:t>
            </a:r>
          </a:p>
        </p:txBody>
      </p:sp>
      <p:sp>
        <p:nvSpPr>
          <p:cNvPr id="136" name="Body Level One…"/>
          <p:cNvSpPr txBox="1">
            <a:spLocks noGrp="1"/>
          </p:cNvSpPr>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Canela Bold"/>
                <a:ea typeface="Canela Bold"/>
                <a:cs typeface="Canela Bold"/>
                <a:sym typeface="Canela Bold"/>
              </a:defRPr>
            </a:lvl1pPr>
            <a:lvl2pPr marL="0" indent="457200" algn="ctr" defTabSz="2438400">
              <a:lnSpc>
                <a:spcPct val="80000"/>
              </a:lnSpc>
              <a:spcBef>
                <a:spcPts val="0"/>
              </a:spcBef>
              <a:buSzTx/>
              <a:buNone/>
              <a:defRPr sz="8400">
                <a:latin typeface="Canela Bold"/>
                <a:ea typeface="Canela Bold"/>
                <a:cs typeface="Canela Bold"/>
                <a:sym typeface="Canela Bold"/>
              </a:defRPr>
            </a:lvl2pPr>
            <a:lvl3pPr marL="0" indent="914400" algn="ctr" defTabSz="2438400">
              <a:lnSpc>
                <a:spcPct val="80000"/>
              </a:lnSpc>
              <a:spcBef>
                <a:spcPts val="0"/>
              </a:spcBef>
              <a:buSzTx/>
              <a:buNone/>
              <a:defRPr sz="8400">
                <a:latin typeface="Canela Bold"/>
                <a:ea typeface="Canela Bold"/>
                <a:cs typeface="Canela Bold"/>
                <a:sym typeface="Canela Bold"/>
              </a:defRPr>
            </a:lvl3pPr>
            <a:lvl4pPr marL="0" indent="1371600" algn="ctr" defTabSz="2438400">
              <a:lnSpc>
                <a:spcPct val="80000"/>
              </a:lnSpc>
              <a:spcBef>
                <a:spcPts val="0"/>
              </a:spcBef>
              <a:buSzTx/>
              <a:buNone/>
              <a:defRPr sz="8400">
                <a:latin typeface="Canela Bold"/>
                <a:ea typeface="Canela Bold"/>
                <a:cs typeface="Canela Bold"/>
                <a:sym typeface="Canela Bold"/>
              </a:defRPr>
            </a:lvl4pPr>
            <a:lvl5pPr marL="0" indent="1828800" algn="ctr" defTabSz="2438400">
              <a:lnSpc>
                <a:spcPct val="80000"/>
              </a:lnSpc>
              <a:spcBef>
                <a:spcPts val="0"/>
              </a:spcBef>
              <a:buSzTx/>
              <a:buNone/>
              <a:defRPr sz="8400">
                <a:latin typeface="Canela Bold"/>
                <a:ea typeface="Canela Bold"/>
                <a:cs typeface="Canela Bold"/>
                <a:sym typeface="Canela Bold"/>
              </a:defRPr>
            </a:lvl5pPr>
          </a:lstStyle>
          <a:p>
            <a:r>
              <a:t>“멋진 인용구”</a:t>
            </a:r>
          </a:p>
          <a:p>
            <a:pPr lvl="1"/>
            <a:endParaRPr/>
          </a:p>
          <a:p>
            <a:pPr lvl="2"/>
            <a:endParaRPr/>
          </a:p>
          <a:p>
            <a:pPr lvl="3"/>
            <a:endParaRPr/>
          </a:p>
          <a:p>
            <a:pPr lvl="4"/>
            <a:endParaRPr/>
          </a:p>
        </p:txBody>
      </p:sp>
      <p:sp>
        <p:nvSpPr>
          <p:cNvPr id="13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사진 - 3장">
    <p:spTree>
      <p:nvGrpSpPr>
        <p:cNvPr id="1" name=""/>
        <p:cNvGrpSpPr/>
        <p:nvPr/>
      </p:nvGrpSpPr>
      <p:grpSpPr>
        <a:xfrm>
          <a:off x="0" y="0"/>
          <a:ext cx="0" cy="0"/>
          <a:chOff x="0" y="0"/>
          <a:chExt cx="0" cy="0"/>
        </a:xfrm>
      </p:grpSpPr>
      <p:sp>
        <p:nvSpPr>
          <p:cNvPr id="144" name="해 질 무렵의 하늘을 배경으로 둔 바다 2"/>
          <p:cNvSpPr>
            <a:spLocks noGrp="1"/>
          </p:cNvSpPr>
          <p:nvPr>
            <p:ph type="pic" sz="quarter" idx="21"/>
          </p:nvPr>
        </p:nvSpPr>
        <p:spPr>
          <a:xfrm>
            <a:off x="15744825" y="5581752"/>
            <a:ext cx="7365408" cy="8280401"/>
          </a:xfrm>
          <a:prstGeom prst="rect">
            <a:avLst/>
          </a:prstGeom>
        </p:spPr>
        <p:txBody>
          <a:bodyPr lIns="91439" tIns="45719" rIns="91439" bIns="45719">
            <a:noAutofit/>
          </a:bodyPr>
          <a:lstStyle/>
          <a:p>
            <a:endParaRPr/>
          </a:p>
        </p:txBody>
      </p:sp>
      <p:sp>
        <p:nvSpPr>
          <p:cNvPr id="145" name="해 질 무렵의 하늘을 배경으로 둔 바다 1"/>
          <p:cNvSpPr>
            <a:spLocks noGrp="1"/>
          </p:cNvSpPr>
          <p:nvPr>
            <p:ph type="pic" sz="quarter" idx="22"/>
          </p:nvPr>
        </p:nvSpPr>
        <p:spPr>
          <a:xfrm>
            <a:off x="15363825" y="1270000"/>
            <a:ext cx="8115300" cy="5409006"/>
          </a:xfrm>
          <a:prstGeom prst="rect">
            <a:avLst/>
          </a:prstGeom>
        </p:spPr>
        <p:txBody>
          <a:bodyPr lIns="91439" tIns="45719" rIns="91439" bIns="45719">
            <a:noAutofit/>
          </a:bodyPr>
          <a:lstStyle/>
          <a:p>
            <a:endParaRPr/>
          </a:p>
        </p:txBody>
      </p:sp>
      <p:sp>
        <p:nvSpPr>
          <p:cNvPr id="146" name="해 질 무렵의 해변과 바다"/>
          <p:cNvSpPr>
            <a:spLocks noGrp="1"/>
          </p:cNvSpPr>
          <p:nvPr>
            <p:ph type="pic" idx="23"/>
          </p:nvPr>
        </p:nvSpPr>
        <p:spPr>
          <a:xfrm>
            <a:off x="-63500" y="1270000"/>
            <a:ext cx="16764000" cy="111760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사진">
    <p:spTree>
      <p:nvGrpSpPr>
        <p:cNvPr id="1" name=""/>
        <p:cNvGrpSpPr/>
        <p:nvPr/>
      </p:nvGrpSpPr>
      <p:grpSpPr>
        <a:xfrm>
          <a:off x="0" y="0"/>
          <a:ext cx="0" cy="0"/>
          <a:chOff x="0" y="0"/>
          <a:chExt cx="0" cy="0"/>
        </a:xfrm>
      </p:grpSpPr>
      <p:sp>
        <p:nvSpPr>
          <p:cNvPr id="154" name="해 질 무렵의 해변과 바다"/>
          <p:cNvSpPr>
            <a:spLocks noGrp="1"/>
          </p:cNvSpPr>
          <p:nvPr>
            <p:ph type="pic" idx="21"/>
          </p:nvPr>
        </p:nvSpPr>
        <p:spPr>
          <a:xfrm>
            <a:off x="1270000" y="-423334"/>
            <a:ext cx="21844000" cy="14562668"/>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
        <p:nvSpPr>
          <p:cNvPr id="2" name="Body Level One…">
            <a:extLst>
              <a:ext uri="{FF2B5EF4-FFF2-40B4-BE49-F238E27FC236}">
                <a16:creationId xmlns:a16="http://schemas.microsoft.com/office/drawing/2014/main" id="{A8802055-71B5-DD4C-5F5C-42B4155A4E7D}"/>
              </a:ext>
            </a:extLst>
          </p:cNvPr>
          <p:cNvSpPr txBox="1">
            <a:spLocks noGrp="1"/>
          </p:cNvSpPr>
          <p:nvPr>
            <p:ph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571500" indent="-571500">
              <a:buFont typeface="Wingdings" panose="05000000000000000000" pitchFamily="2" charset="2"/>
              <a:buChar char="§"/>
              <a:defRPr/>
            </a:lvl1pPr>
            <a:lvl2pPr marL="1440000" indent="-546100">
              <a:spcBef>
                <a:spcPts val="2400"/>
              </a:spcBef>
              <a:buFont typeface="Arial" panose="020B0604020202020204" pitchFamily="34" charset="0"/>
              <a:buChar char="•"/>
              <a:defRPr sz="4000"/>
            </a:lvl2pPr>
            <a:lvl3pPr marL="2160000" indent="-546100">
              <a:buSzPct val="130000"/>
              <a:buFont typeface="Wingdings" panose="05000000000000000000" pitchFamily="2" charset="2"/>
              <a:buChar char="Ø"/>
              <a:defRPr sz="3600"/>
            </a:lvl3pPr>
          </a:lstStyle>
          <a:p>
            <a:r>
              <a:rPr dirty="0" err="1"/>
              <a:t>슬라이드</a:t>
            </a:r>
            <a:r>
              <a:rPr dirty="0"/>
              <a:t> </a:t>
            </a:r>
            <a:r>
              <a:rPr dirty="0" err="1"/>
              <a:t>구분점</a:t>
            </a:r>
            <a:r>
              <a:rPr dirty="0"/>
              <a:t> </a:t>
            </a:r>
            <a:r>
              <a:rPr dirty="0" err="1"/>
              <a:t>텍스트</a:t>
            </a:r>
            <a:endParaRPr lang="en-US" dirty="0"/>
          </a:p>
          <a:p>
            <a:pPr lvl="1"/>
            <a:r>
              <a:rPr lang="en-US" dirty="0"/>
              <a:t>TEXT</a:t>
            </a:r>
          </a:p>
          <a:p>
            <a:pPr lvl="2"/>
            <a:r>
              <a:rPr lang="en-US" dirty="0"/>
              <a:t>TEXT</a:t>
            </a:r>
          </a:p>
          <a:p>
            <a:pPr lvl="1"/>
            <a:endParaRPr lang="en-US" dirty="0"/>
          </a:p>
          <a:p>
            <a:pPr lvl="2"/>
            <a:endParaRPr dirty="0"/>
          </a:p>
          <a:p>
            <a:pPr lvl="1"/>
            <a:endParaRPr dirty="0"/>
          </a:p>
          <a:p>
            <a:pPr lvl="2"/>
            <a:endParaRPr dirty="0"/>
          </a:p>
          <a:p>
            <a:pPr lvl="3"/>
            <a:endParaRPr dirty="0"/>
          </a:p>
          <a:p>
            <a:pPr lvl="4"/>
            <a:endParaRPr dirty="0"/>
          </a:p>
        </p:txBody>
      </p:sp>
    </p:spTree>
    <p:extLst>
      <p:ext uri="{BB962C8B-B14F-4D97-AF65-F5344CB8AC3E}">
        <p14:creationId xmlns:p14="http://schemas.microsoft.com/office/powerpoint/2010/main" val="187757154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22493885" y="12947676"/>
            <a:ext cx="1320874" cy="641201"/>
          </a:xfrm>
          <a:prstGeom prst="rect">
            <a:avLst/>
          </a:prstGeom>
        </p:spPr>
        <p:txBody>
          <a:bodyPr wrap="none"/>
          <a:lstStyle/>
          <a:p>
            <a:fld id="{86CB4B4D-7CA3-9044-876B-883B54F8677D}" type="slidenum">
              <a:rPr smtClean="0"/>
              <a:t>‹#›</a:t>
            </a:fld>
            <a:r>
              <a:rPr lang="en-US" dirty="0"/>
              <a:t>/19</a:t>
            </a:r>
            <a:endParaRPr lang="en-US" altLang="ko-KR" dirty="0"/>
          </a:p>
        </p:txBody>
      </p:sp>
    </p:spTree>
    <p:extLst>
      <p:ext uri="{BB962C8B-B14F-4D97-AF65-F5344CB8AC3E}">
        <p14:creationId xmlns:p14="http://schemas.microsoft.com/office/powerpoint/2010/main" val="314698487"/>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슬라이드 제목"/>
          <p:cNvSpPr txBox="1">
            <a:spLocks noGrp="1"/>
          </p:cNvSpPr>
          <p:nvPr>
            <p:ph type="title" hasCustomPrompt="1"/>
          </p:nvPr>
        </p:nvSpPr>
        <p:spPr>
          <a:xfrm>
            <a:off x="1219200" y="774700"/>
            <a:ext cx="21945600" cy="17272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슬라이드 제목</a:t>
            </a:r>
          </a:p>
        </p:txBody>
      </p:sp>
      <p:sp>
        <p:nvSpPr>
          <p:cNvPr id="3" name="Body Level One…"/>
          <p:cNvSpPr txBox="1">
            <a:spLocks noGrp="1"/>
          </p:cNvSpPr>
          <p:nvPr>
            <p:ph type="body"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err="1"/>
              <a:t>슬라이드</a:t>
            </a:r>
            <a:r>
              <a:rPr dirty="0"/>
              <a:t> </a:t>
            </a:r>
            <a:r>
              <a:rPr dirty="0" err="1"/>
              <a:t>구분점</a:t>
            </a:r>
            <a:r>
              <a:rPr dirty="0"/>
              <a:t> </a:t>
            </a:r>
            <a:r>
              <a:rPr dirty="0" err="1"/>
              <a:t>텍스트</a:t>
            </a:r>
            <a:endParaRPr dirty="0"/>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877040" y="12418060"/>
            <a:ext cx="629921" cy="71120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3500">
                <a:solidFill>
                  <a:srgbClr val="5E5E5E"/>
                </a:solidFill>
                <a:latin typeface="+mn-lt"/>
                <a:ea typeface="+mn-ea"/>
                <a:cs typeface="+mn-cs"/>
                <a:sym typeface="Avenir Next Regular"/>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6" r:id="rId14"/>
    <p:sldLayoutId id="2147483667" r:id="rId15"/>
  </p:sldLayoutIdLst>
  <p:transition spd="med"/>
  <p:hf hdr="0" ftr="0" dt="0"/>
  <p:txStyles>
    <p:titleStyle>
      <a:lvl1pPr marL="0" marR="0" indent="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1pPr>
      <a:lvl2pPr marL="0" marR="0" indent="457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2pPr>
      <a:lvl3pPr marL="0" marR="0" indent="914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3pPr>
      <a:lvl4pPr marL="0" marR="0" indent="1371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4pPr>
      <a:lvl5pPr marL="0" marR="0" indent="18288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5pPr>
      <a:lvl6pPr marL="0" marR="0" indent="22860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6pPr>
      <a:lvl7pPr marL="0" marR="0" indent="2743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7pPr>
      <a:lvl8pPr marL="0" marR="0" indent="3200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8pPr>
      <a:lvl9pPr marL="0" marR="0" indent="3657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9pPr>
    </p:titleStyle>
    <p:bodyStyle>
      <a:lvl1pPr marL="5461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1pPr>
      <a:lvl2pPr marL="10922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2pPr>
      <a:lvl3pPr marL="16383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3pPr>
      <a:lvl4pPr marL="21844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4pPr>
      <a:lvl5pPr marL="27305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p:bodyStyle>
    <p:otherStyle>
      <a:lvl1pPr marL="0" marR="0" indent="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1pPr>
      <a:lvl2pPr marL="0" marR="0" indent="457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2pPr>
      <a:lvl3pPr marL="0" marR="0" indent="914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3pPr>
      <a:lvl4pPr marL="0" marR="0" indent="1371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4pPr>
      <a:lvl5pPr marL="0" marR="0" indent="18288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5pPr>
      <a:lvl6pPr marL="0" marR="0" indent="22860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6pPr>
      <a:lvl7pPr marL="0" marR="0" indent="2743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7pPr>
      <a:lvl8pPr marL="0" marR="0" indent="3200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8pPr>
      <a:lvl9pPr marL="0" marR="0" indent="3657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22755-6404-6BD5-C1E7-7E97B8626164}"/>
            </a:ext>
          </a:extLst>
        </p:cNvPr>
        <p:cNvGrpSpPr/>
        <p:nvPr/>
      </p:nvGrpSpPr>
      <p:grpSpPr>
        <a:xfrm>
          <a:off x="0" y="0"/>
          <a:ext cx="0" cy="0"/>
          <a:chOff x="0" y="0"/>
          <a:chExt cx="0" cy="0"/>
        </a:xfrm>
      </p:grpSpPr>
      <p:sp>
        <p:nvSpPr>
          <p:cNvPr id="174" name="Intelligent Radio Sensing Lab. (IRS Lab)…">
            <a:extLst>
              <a:ext uri="{FF2B5EF4-FFF2-40B4-BE49-F238E27FC236}">
                <a16:creationId xmlns:a16="http://schemas.microsoft.com/office/drawing/2014/main" id="{2A0768BC-77C5-2C8F-FD38-7C79DD42D6D4}"/>
              </a:ext>
            </a:extLst>
          </p:cNvPr>
          <p:cNvSpPr txBox="1">
            <a:spLocks noGrp="1"/>
          </p:cNvSpPr>
          <p:nvPr>
            <p:ph type="body" idx="21"/>
          </p:nvPr>
        </p:nvSpPr>
        <p:spPr>
          <a:xfrm>
            <a:off x="1219200" y="8535303"/>
            <a:ext cx="21945600" cy="255061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a:bodyPr>
          <a:lstStyle/>
          <a:p>
            <a:pPr defTabSz="775969">
              <a:defRPr sz="4700" spc="-47"/>
            </a:pPr>
            <a:r>
              <a:rPr dirty="0">
                <a:latin typeface="Arial" panose="020B0604020202020204" pitchFamily="34" charset="0"/>
                <a:cs typeface="Arial" panose="020B0604020202020204" pitchFamily="34" charset="0"/>
              </a:rPr>
              <a:t>Intelligent Radio Sensing Lab. (IRS Lab)</a:t>
            </a:r>
            <a:endParaRPr lang="en-US" dirty="0">
              <a:latin typeface="Arial" panose="020B0604020202020204" pitchFamily="34" charset="0"/>
              <a:cs typeface="Arial" panose="020B0604020202020204" pitchFamily="34" charset="0"/>
            </a:endParaRPr>
          </a:p>
          <a:p>
            <a:pPr defTabSz="775969">
              <a:defRPr sz="4700" spc="-47"/>
            </a:pPr>
            <a:r>
              <a:rPr lang="en-US" dirty="0">
                <a:latin typeface="Arial" panose="020B0604020202020204" pitchFamily="34" charset="0"/>
                <a:cs typeface="Arial" panose="020B0604020202020204" pitchFamily="34" charset="0"/>
              </a:rPr>
              <a:t>Department of Electrical Engineering and Computer Science</a:t>
            </a:r>
          </a:p>
          <a:p>
            <a:pPr defTabSz="775969">
              <a:defRPr sz="4700" spc="-47"/>
            </a:pPr>
            <a:r>
              <a:rPr lang="en-US" dirty="0">
                <a:latin typeface="Arial" panose="020B0604020202020204" pitchFamily="34" charset="0"/>
                <a:cs typeface="Arial" panose="020B0604020202020204" pitchFamily="34" charset="0"/>
              </a:rPr>
              <a:t>DGIST</a:t>
            </a:r>
            <a:endParaRPr lang="ko-KR" altLang="en-US" dirty="0">
              <a:latin typeface="Arial" panose="020B0604020202020204" pitchFamily="34" charset="0"/>
              <a:cs typeface="Arial" panose="020B0604020202020204" pitchFamily="34" charset="0"/>
            </a:endParaRPr>
          </a:p>
        </p:txBody>
      </p:sp>
      <p:sp>
        <p:nvSpPr>
          <p:cNvPr id="175" name="Title">
            <a:extLst>
              <a:ext uri="{FF2B5EF4-FFF2-40B4-BE49-F238E27FC236}">
                <a16:creationId xmlns:a16="http://schemas.microsoft.com/office/drawing/2014/main" id="{FEF69C24-0A71-478B-4622-AF755BE20C66}"/>
              </a:ext>
            </a:extLst>
          </p:cNvPr>
          <p:cNvSpPr txBox="1">
            <a:spLocks noGrp="1"/>
          </p:cNvSpPr>
          <p:nvPr>
            <p:ph type="ctrTitle"/>
          </p:nvPr>
        </p:nvSpPr>
        <p:spPr>
          <a:xfrm>
            <a:off x="1219200" y="3358256"/>
            <a:ext cx="21945600" cy="2412647"/>
          </a:xfrm>
          <a:prstGeom prst="rect">
            <a:avLst/>
          </a:prstGeom>
        </p:spPr>
        <p:txBody>
          <a:bodyPr>
            <a:normAutofit/>
          </a:bodyPr>
          <a:lstStyle>
            <a:lvl1pPr algn="ctr">
              <a:defRPr sz="11500" spc="-115">
                <a:latin typeface="+mn-lt"/>
                <a:ea typeface="+mn-ea"/>
                <a:cs typeface="+mn-cs"/>
                <a:sym typeface="Avenir Next Regular"/>
              </a:defRPr>
            </a:lvl1pPr>
          </a:lstStyle>
          <a:p>
            <a:r>
              <a:rPr lang="en-US" altLang="ko-KR" sz="8800" dirty="0"/>
              <a:t>Team Meeting</a:t>
            </a:r>
            <a:endParaRPr lang="ko-KR" altLang="en-US" sz="8800" dirty="0">
              <a:latin typeface="Arial" panose="020B0604020202020204" pitchFamily="34" charset="0"/>
              <a:cs typeface="Arial" panose="020B0604020202020204" pitchFamily="34" charset="0"/>
            </a:endParaRPr>
          </a:p>
        </p:txBody>
      </p:sp>
      <p:sp>
        <p:nvSpPr>
          <p:cNvPr id="176" name="Name">
            <a:extLst>
              <a:ext uri="{FF2B5EF4-FFF2-40B4-BE49-F238E27FC236}">
                <a16:creationId xmlns:a16="http://schemas.microsoft.com/office/drawing/2014/main" id="{0BF5DE56-8C9C-68F7-1AAA-48628C929F2B}"/>
              </a:ext>
            </a:extLst>
          </p:cNvPr>
          <p:cNvSpPr txBox="1">
            <a:spLocks noGrp="1"/>
          </p:cNvSpPr>
          <p:nvPr>
            <p:ph type="subTitle" sz="quarter" idx="1"/>
          </p:nvPr>
        </p:nvSpPr>
        <p:spPr>
          <a:xfrm>
            <a:off x="1196898" y="6342708"/>
            <a:ext cx="21945600" cy="2475652"/>
          </a:xfrm>
          <a:prstGeom prst="rect">
            <a:avLst/>
          </a:prstGeom>
        </p:spPr>
        <p:txBody>
          <a:bodyPr>
            <a:normAutofit/>
          </a:bodyPr>
          <a:lstStyle>
            <a:lvl1pPr>
              <a:defRPr sz="6800" spc="-68"/>
            </a:lvl1pPr>
          </a:lstStyle>
          <a:p>
            <a:r>
              <a:rPr lang="en-US" sz="4400" dirty="0" err="1">
                <a:latin typeface="Arial" panose="020B0604020202020204" pitchFamily="34" charset="0"/>
                <a:cs typeface="Arial" panose="020B0604020202020204" pitchFamily="34" charset="0"/>
              </a:rPr>
              <a:t>Yunjung</a:t>
            </a:r>
            <a:r>
              <a:rPr lang="en-US" sz="4400" dirty="0">
                <a:latin typeface="Arial" panose="020B0604020202020204" pitchFamily="34" charset="0"/>
                <a:cs typeface="Arial" panose="020B0604020202020204" pitchFamily="34" charset="0"/>
              </a:rPr>
              <a:t> Jeong</a:t>
            </a:r>
          </a:p>
        </p:txBody>
      </p:sp>
      <p:pic>
        <p:nvPicPr>
          <p:cNvPr id="178" name="ui_kor_eng.svg" descr="ui_kor_eng.svg">
            <a:extLst>
              <a:ext uri="{FF2B5EF4-FFF2-40B4-BE49-F238E27FC236}">
                <a16:creationId xmlns:a16="http://schemas.microsoft.com/office/drawing/2014/main" id="{D19F379D-ACF2-BC9C-AC4C-88D448E95317}"/>
              </a:ext>
            </a:extLst>
          </p:cNvPr>
          <p:cNvPicPr>
            <a:picLocks noChangeAspect="1"/>
          </p:cNvPicPr>
          <p:nvPr/>
        </p:nvPicPr>
        <p:blipFill>
          <a:blip r:embed="rId3"/>
          <a:srcRect l="20301" t="62673" r="49648" b="28626"/>
          <a:stretch>
            <a:fillRect/>
          </a:stretch>
        </p:blipFill>
        <p:spPr>
          <a:xfrm>
            <a:off x="290004" y="123643"/>
            <a:ext cx="3109180" cy="1227469"/>
          </a:xfrm>
          <a:prstGeom prst="rect">
            <a:avLst/>
          </a:prstGeom>
          <a:ln w="12700">
            <a:miter lim="400000"/>
          </a:ln>
        </p:spPr>
      </p:pic>
      <p:sp>
        <p:nvSpPr>
          <p:cNvPr id="4" name="Name">
            <a:extLst>
              <a:ext uri="{FF2B5EF4-FFF2-40B4-BE49-F238E27FC236}">
                <a16:creationId xmlns:a16="http://schemas.microsoft.com/office/drawing/2014/main" id="{DCA5BEBF-35EA-CB12-2A3F-CA4921AF5198}"/>
              </a:ext>
            </a:extLst>
          </p:cNvPr>
          <p:cNvSpPr txBox="1">
            <a:spLocks/>
          </p:cNvSpPr>
          <p:nvPr/>
        </p:nvSpPr>
        <p:spPr>
          <a:xfrm>
            <a:off x="1219200" y="7410006"/>
            <a:ext cx="21945600" cy="22505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ctr" defTabSz="825500" rtl="0" latinLnBrk="0">
              <a:lnSpc>
                <a:spcPct val="100000"/>
              </a:lnSpc>
              <a:spcBef>
                <a:spcPts val="0"/>
              </a:spcBef>
              <a:spcAft>
                <a:spcPts val="0"/>
              </a:spcAft>
              <a:buClrTx/>
              <a:buSzTx/>
              <a:buFontTx/>
              <a:buNone/>
              <a:tabLst/>
              <a:defRPr sz="6800" b="1" i="0" u="none" strike="noStrike" cap="none" spc="-68" baseline="0">
                <a:solidFill>
                  <a:srgbClr val="000000"/>
                </a:solidFill>
                <a:uFillTx/>
                <a:latin typeface="AvenirNext-DemiBold"/>
                <a:ea typeface="AvenirNext-DemiBold"/>
                <a:cs typeface="AvenirNext-DemiBold"/>
                <a:sym typeface="AvenirNext-DemiBold"/>
              </a:defRPr>
            </a:lvl1pPr>
            <a:lvl2pPr marL="0" marR="0" indent="4572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2pPr>
            <a:lvl3pPr marL="0" marR="0" indent="9144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3pPr>
            <a:lvl4pPr marL="0" marR="0" indent="13716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4pPr>
            <a:lvl5pPr marL="0" marR="0" indent="18288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a:lstStyle>
          <a:p>
            <a:pPr hangingPunct="1"/>
            <a:r>
              <a:rPr lang="en-US" sz="4000" dirty="0">
                <a:latin typeface="Arial" panose="020B0604020202020204" pitchFamily="34" charset="0"/>
                <a:cs typeface="Arial" panose="020B0604020202020204" pitchFamily="34" charset="0"/>
              </a:rPr>
              <a:t>2026. 08. 11</a:t>
            </a: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
              <a:rPr/>
              <a:t/>
            </a:fld>
            <a:endParaRPr/>
          </a:p>
        </p:txBody>
      </p:sp>
    </p:spTree>
    <p:extLst>
      <p:ext uri="{BB962C8B-B14F-4D97-AF65-F5344CB8AC3E}">
        <p14:creationId xmlns:p14="http://schemas.microsoft.com/office/powerpoint/2010/main" val="2562497968"/>
      </p:ext>
    </p:extLst>
  </p:cSld>
  <p:clrMapOvr>
    <a:masterClrMapping/>
  </p:clrMapOvr>
  <p:transition spd="med"/>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463040" y="4846320"/>
            <a:ext cx="21457920" cy="822960"/>
          </a:xfrm>
          <a:prstGeom prst="rect">
            <a:avLst/>
          </a:prstGeom>
          <a:noFill/>
        </p:spPr>
        <p:txBody>
          <a:bodyPr wrap="square" anchor="t" lIns="0" rIns="0" tIns="0" bIns="0">
            <a:spAutoFit/>
          </a:bodyPr>
          <a:lstStyle/>
          <a:p>
            <a:pPr algn="ctr"/>
            <a:r>
              <a:rPr sz="3800" b="1" i="0">
                <a:solidFill>
                  <a:srgbClr val="2E74B5"/>
                </a:solidFill>
                <a:latin typeface="AvenirNext-DemiBold"/>
              </a:rPr>
              <a:t>TODAY</a:t>
            </a:r>
          </a:p>
        </p:txBody>
      </p:sp>
      <p:sp>
        <p:nvSpPr>
          <p:cNvPr id="3" name="TextBox 2"/>
          <p:cNvSpPr txBox="1"/>
          <p:nvPr/>
        </p:nvSpPr>
        <p:spPr>
          <a:xfrm>
            <a:off x="1463040" y="6053328"/>
            <a:ext cx="21457920" cy="960120"/>
          </a:xfrm>
          <a:prstGeom prst="rect">
            <a:avLst/>
          </a:prstGeom>
          <a:noFill/>
        </p:spPr>
        <p:txBody>
          <a:bodyPr wrap="square" anchor="t" lIns="0" rIns="0" tIns="0" bIns="0">
            <a:spAutoFit/>
          </a:bodyPr>
          <a:lstStyle/>
          <a:p>
            <a:pPr algn="ctr"/>
            <a:r>
              <a:rPr sz="5400" b="1" i="0">
                <a:solidFill>
                  <a:srgbClr val="000000"/>
                </a:solidFill>
                <a:latin typeface="AvenirNext-DemiBold"/>
              </a:rPr>
              <a:t>Two ways to compute the echo from a hovering drone</a:t>
            </a:r>
          </a:p>
        </p:txBody>
      </p:sp>
      <p:sp>
        <p:nvSpPr>
          <p:cNvPr id="4" name="TextBox 3"/>
          <p:cNvSpPr txBox="1"/>
          <p:nvPr/>
        </p:nvSpPr>
        <p:spPr>
          <a:xfrm>
            <a:off x="2194560" y="7397496"/>
            <a:ext cx="19994880" cy="1472184"/>
          </a:xfrm>
          <a:prstGeom prst="rect">
            <a:avLst/>
          </a:prstGeom>
          <a:noFill/>
        </p:spPr>
        <p:txBody>
          <a:bodyPr wrap="square" anchor="t" lIns="0" rIns="0" tIns="0" bIns="0">
            <a:spAutoFit/>
          </a:bodyPr>
          <a:lstStyle/>
          <a:p>
            <a:pPr algn="ctr"/>
            <a:r>
              <a:rPr sz="4200" b="0" i="0">
                <a:solidFill>
                  <a:srgbClr val="5E5E5E"/>
                </a:solidFill>
                <a:latin typeface="Avenir Next Medium"/>
              </a:rPr>
              <a:t>Sionna PathSolver, which traces rays, against our own kernel, which integrates the lit surface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TARGET</a:t>
            </a:r>
          </a:p>
        </p:txBody>
      </p:sp>
      <p:sp>
        <p:nvSpPr>
          <p:cNvPr id="3" name="TextBox 2"/>
          <p:cNvSpPr txBox="1"/>
          <p:nvPr/>
        </p:nvSpPr>
        <p:spPr>
          <a:xfrm>
            <a:off x="699821" y="1039673"/>
            <a:ext cx="22979482" cy="893064"/>
          </a:xfrm>
          <a:prstGeom prst="rect">
            <a:avLst/>
          </a:prstGeom>
          <a:noFill/>
        </p:spPr>
        <p:txBody>
          <a:bodyPr wrap="square" anchor="t" lIns="0" rIns="0" tIns="0" bIns="0">
            <a:spAutoFit/>
          </a:bodyPr>
          <a:lstStyle/>
          <a:p>
            <a:pPr algn="l"/>
            <a:r>
              <a:rPr sz="4600" b="1" i="0">
                <a:solidFill>
                  <a:srgbClr val="000000"/>
                </a:solidFill>
                <a:latin typeface="AvenirNext-DemiBold"/>
              </a:rPr>
              <a:t>The airframe sets the frequencies before any radar is involved</a:t>
            </a:r>
          </a:p>
        </p:txBody>
      </p:sp>
      <p:pic>
        <p:nvPicPr>
          <p:cNvPr id="4" name="Picture 3" descr="v14_render.png"/>
          <p:cNvPicPr>
            <a:picLocks noChangeAspect="1"/>
          </p:cNvPicPr>
          <p:nvPr/>
        </p:nvPicPr>
        <p:blipFill>
          <a:blip r:embed="rId2"/>
          <a:stretch>
            <a:fillRect/>
          </a:stretch>
        </p:blipFill>
        <p:spPr>
          <a:xfrm>
            <a:off x="719328" y="2520695"/>
            <a:ext cx="13655040" cy="9387840"/>
          </a:xfrm>
          <a:prstGeom prst="rect">
            <a:avLst/>
          </a:prstGeom>
        </p:spPr>
      </p:pic>
      <p:sp>
        <p:nvSpPr>
          <p:cNvPr id="5" name="TextBox 4"/>
          <p:cNvSpPr txBox="1"/>
          <p:nvPr/>
        </p:nvSpPr>
        <p:spPr>
          <a:xfrm>
            <a:off x="14910816" y="2221992"/>
            <a:ext cx="8753856" cy="853757"/>
          </a:xfrm>
          <a:prstGeom prst="rect">
            <a:avLst/>
          </a:prstGeom>
          <a:noFill/>
        </p:spPr>
        <p:txBody>
          <a:bodyPr wrap="square" anchor="t" lIns="0" rIns="0" tIns="0" bIns="0">
            <a:spAutoFit/>
          </a:bodyPr>
          <a:lstStyle/>
          <a:p>
            <a:pPr algn="l"/>
            <a:r>
              <a:rPr sz="2800" b="1" i="0">
                <a:solidFill>
                  <a:srgbClr val="2E74B5"/>
                </a:solidFill>
                <a:latin typeface="AvenirNext-DemiBold"/>
              </a:rPr>
              <a:t>The aircraft</a:t>
            </a:r>
          </a:p>
        </p:txBody>
      </p:sp>
      <p:sp>
        <p:nvSpPr>
          <p:cNvPr id="6" name="TextBox 5"/>
          <p:cNvSpPr txBox="1"/>
          <p:nvPr/>
        </p:nvSpPr>
        <p:spPr>
          <a:xfrm>
            <a:off x="14910816" y="3075749"/>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Model</a:t>
            </a:r>
          </a:p>
        </p:txBody>
      </p:sp>
      <p:sp>
        <p:nvSpPr>
          <p:cNvPr id="7" name="TextBox 6"/>
          <p:cNvSpPr txBox="1"/>
          <p:nvPr/>
        </p:nvSpPr>
        <p:spPr>
          <a:xfrm>
            <a:off x="18937590" y="3075749"/>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DJI Matrice 4E, hovering</a:t>
            </a:r>
          </a:p>
        </p:txBody>
      </p:sp>
      <p:sp>
        <p:nvSpPr>
          <p:cNvPr id="8" name="TextBox 7"/>
          <p:cNvSpPr txBox="1"/>
          <p:nvPr/>
        </p:nvSpPr>
        <p:spPr>
          <a:xfrm>
            <a:off x="14910816" y="3818147"/>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Rotors</a:t>
            </a:r>
          </a:p>
        </p:txBody>
      </p:sp>
      <p:sp>
        <p:nvSpPr>
          <p:cNvPr id="9" name="TextBox 8"/>
          <p:cNvSpPr txBox="1"/>
          <p:nvPr/>
        </p:nvSpPr>
        <p:spPr>
          <a:xfrm>
            <a:off x="18937590" y="3818147"/>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4 rotors, 2 blades each</a:t>
            </a:r>
          </a:p>
        </p:txBody>
      </p:sp>
      <p:sp>
        <p:nvSpPr>
          <p:cNvPr id="10" name="TextBox 9"/>
          <p:cNvSpPr txBox="1"/>
          <p:nvPr/>
        </p:nvSpPr>
        <p:spPr>
          <a:xfrm>
            <a:off x="14910816" y="4560545"/>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Propeller</a:t>
            </a:r>
          </a:p>
        </p:txBody>
      </p:sp>
      <p:sp>
        <p:nvSpPr>
          <p:cNvPr id="11" name="TextBox 10"/>
          <p:cNvSpPr txBox="1"/>
          <p:nvPr/>
        </p:nvSpPr>
        <p:spPr>
          <a:xfrm>
            <a:off x="18937590" y="4560545"/>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274 mm diameter</a:t>
            </a:r>
          </a:p>
        </p:txBody>
      </p:sp>
      <p:sp>
        <p:nvSpPr>
          <p:cNvPr id="12" name="TextBox 11"/>
          <p:cNvSpPr txBox="1"/>
          <p:nvPr/>
        </p:nvSpPr>
        <p:spPr>
          <a:xfrm>
            <a:off x="14910816" y="5302942"/>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Rotor speed</a:t>
            </a:r>
          </a:p>
        </p:txBody>
      </p:sp>
      <p:sp>
        <p:nvSpPr>
          <p:cNvPr id="13" name="TextBox 12"/>
          <p:cNvSpPr txBox="1"/>
          <p:nvPr/>
        </p:nvSpPr>
        <p:spPr>
          <a:xfrm>
            <a:off x="18937590" y="5302942"/>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3800 rpm</a:t>
            </a:r>
          </a:p>
        </p:txBody>
      </p:sp>
      <p:sp>
        <p:nvSpPr>
          <p:cNvPr id="14" name="TextBox 13"/>
          <p:cNvSpPr txBox="1"/>
          <p:nvPr/>
        </p:nvSpPr>
        <p:spPr>
          <a:xfrm>
            <a:off x="14910816" y="6045340"/>
            <a:ext cx="8753856" cy="853757"/>
          </a:xfrm>
          <a:prstGeom prst="rect">
            <a:avLst/>
          </a:prstGeom>
          <a:noFill/>
        </p:spPr>
        <p:txBody>
          <a:bodyPr wrap="square" anchor="t" lIns="0" rIns="0" tIns="0" bIns="0">
            <a:spAutoFit/>
          </a:bodyPr>
          <a:lstStyle/>
          <a:p>
            <a:pPr algn="l"/>
            <a:r>
              <a:rPr sz="2800" b="1" i="0">
                <a:solidFill>
                  <a:srgbClr val="2E74B5"/>
                </a:solidFill>
                <a:latin typeface="AvenirNext-DemiBold"/>
              </a:rPr>
              <a:t>What that implies</a:t>
            </a:r>
          </a:p>
        </p:txBody>
      </p:sp>
      <p:sp>
        <p:nvSpPr>
          <p:cNvPr id="15" name="TextBox 14"/>
          <p:cNvSpPr txBox="1"/>
          <p:nvPr/>
        </p:nvSpPr>
        <p:spPr>
          <a:xfrm>
            <a:off x="14910816" y="6899097"/>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Tip speed</a:t>
            </a:r>
          </a:p>
        </p:txBody>
      </p:sp>
      <p:sp>
        <p:nvSpPr>
          <p:cNvPr id="16" name="TextBox 15"/>
          <p:cNvSpPr txBox="1"/>
          <p:nvPr/>
        </p:nvSpPr>
        <p:spPr>
          <a:xfrm>
            <a:off x="18937590" y="6899097"/>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55 m/s</a:t>
            </a:r>
          </a:p>
        </p:txBody>
      </p:sp>
      <p:sp>
        <p:nvSpPr>
          <p:cNvPr id="17" name="TextBox 16"/>
          <p:cNvSpPr txBox="1"/>
          <p:nvPr/>
        </p:nvSpPr>
        <p:spPr>
          <a:xfrm>
            <a:off x="14910816" y="7641495"/>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Tip Doppler</a:t>
            </a:r>
          </a:p>
        </p:txBody>
      </p:sp>
      <p:sp>
        <p:nvSpPr>
          <p:cNvPr id="18" name="TextBox 17"/>
          <p:cNvSpPr txBox="1"/>
          <p:nvPr/>
        </p:nvSpPr>
        <p:spPr>
          <a:xfrm>
            <a:off x="18937590" y="7641495"/>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1.23 kHz at 3.5 GHz</a:t>
            </a:r>
          </a:p>
        </p:txBody>
      </p:sp>
      <p:sp>
        <p:nvSpPr>
          <p:cNvPr id="19" name="TextBox 18"/>
          <p:cNvSpPr txBox="1"/>
          <p:nvPr/>
        </p:nvSpPr>
        <p:spPr>
          <a:xfrm>
            <a:off x="14910816" y="8383892"/>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Flash rate</a:t>
            </a:r>
          </a:p>
        </p:txBody>
      </p:sp>
      <p:sp>
        <p:nvSpPr>
          <p:cNvPr id="20" name="TextBox 19"/>
          <p:cNvSpPr txBox="1"/>
          <p:nvPr/>
        </p:nvSpPr>
        <p:spPr>
          <a:xfrm>
            <a:off x="18937590" y="8383892"/>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127 Hz, one every 7.9 ms</a:t>
            </a:r>
          </a:p>
        </p:txBody>
      </p:sp>
      <p:sp>
        <p:nvSpPr>
          <p:cNvPr id="21" name="TextBox 20"/>
          <p:cNvSpPr txBox="1"/>
          <p:nvPr/>
        </p:nvSpPr>
        <p:spPr>
          <a:xfrm>
            <a:off x="14910816" y="9126290"/>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Body</a:t>
            </a:r>
          </a:p>
        </p:txBody>
      </p:sp>
      <p:sp>
        <p:nvSpPr>
          <p:cNvPr id="22" name="TextBox 21"/>
          <p:cNvSpPr txBox="1"/>
          <p:nvPr/>
        </p:nvSpPr>
        <p:spPr>
          <a:xfrm>
            <a:off x="18937590" y="9126290"/>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0 Hz, it does not translate</a:t>
            </a:r>
          </a:p>
        </p:txBody>
      </p:sp>
      <p:sp>
        <p:nvSpPr>
          <p:cNvPr id="23" name="TextBox 22"/>
          <p:cNvSpPr txBox="1"/>
          <p:nvPr/>
        </p:nvSpPr>
        <p:spPr>
          <a:xfrm>
            <a:off x="14910816" y="9868687"/>
            <a:ext cx="8753856" cy="853757"/>
          </a:xfrm>
          <a:prstGeom prst="rect">
            <a:avLst/>
          </a:prstGeom>
          <a:noFill/>
        </p:spPr>
        <p:txBody>
          <a:bodyPr wrap="square" anchor="t" lIns="0" rIns="0" tIns="0" bIns="0">
            <a:spAutoFit/>
          </a:bodyPr>
          <a:lstStyle/>
          <a:p>
            <a:pPr algn="l"/>
            <a:r>
              <a:rPr sz="2800" b="1" i="0">
                <a:solidFill>
                  <a:srgbClr val="2E74B5"/>
                </a:solidFill>
                <a:latin typeface="AvenirNext-DemiBold"/>
              </a:rPr>
              <a:t>Where we look from</a:t>
            </a:r>
          </a:p>
        </p:txBody>
      </p:sp>
      <p:sp>
        <p:nvSpPr>
          <p:cNvPr id="24" name="TextBox 23"/>
          <p:cNvSpPr txBox="1"/>
          <p:nvPr/>
        </p:nvSpPr>
        <p:spPr>
          <a:xfrm>
            <a:off x="14910816" y="10722445"/>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Geometry</a:t>
            </a:r>
          </a:p>
        </p:txBody>
      </p:sp>
      <p:sp>
        <p:nvSpPr>
          <p:cNvPr id="25" name="TextBox 24"/>
          <p:cNvSpPr txBox="1"/>
          <p:nvPr/>
        </p:nvSpPr>
        <p:spPr>
          <a:xfrm>
            <a:off x="18937590" y="10722445"/>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Monostatic, 3 m</a:t>
            </a:r>
          </a:p>
        </p:txBody>
      </p:sp>
      <p:sp>
        <p:nvSpPr>
          <p:cNvPr id="26" name="TextBox 25"/>
          <p:cNvSpPr txBox="1"/>
          <p:nvPr/>
        </p:nvSpPr>
        <p:spPr>
          <a:xfrm>
            <a:off x="14910816" y="11464842"/>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Aspect</a:t>
            </a:r>
          </a:p>
        </p:txBody>
      </p:sp>
      <p:sp>
        <p:nvSpPr>
          <p:cNvPr id="27" name="TextBox 26"/>
          <p:cNvSpPr txBox="1"/>
          <p:nvPr/>
        </p:nvSpPr>
        <p:spPr>
          <a:xfrm>
            <a:off x="18937590" y="11464842"/>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az 0 deg, el minus 15 deg, belly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TWO ENGINES</a:t>
            </a:r>
          </a:p>
        </p:txBody>
      </p:sp>
      <p:sp>
        <p:nvSpPr>
          <p:cNvPr id="3" name="TextBox 2"/>
          <p:cNvSpPr txBox="1"/>
          <p:nvPr/>
        </p:nvSpPr>
        <p:spPr>
          <a:xfrm>
            <a:off x="699821" y="1039673"/>
            <a:ext cx="22979482" cy="893064"/>
          </a:xfrm>
          <a:prstGeom prst="rect">
            <a:avLst/>
          </a:prstGeom>
          <a:noFill/>
        </p:spPr>
        <p:txBody>
          <a:bodyPr wrap="square" anchor="t" lIns="0" rIns="0" tIns="0" bIns="0">
            <a:spAutoFit/>
          </a:bodyPr>
          <a:lstStyle/>
          <a:p>
            <a:pPr algn="l"/>
            <a:r>
              <a:rPr sz="4600" b="1" i="0">
                <a:solidFill>
                  <a:srgbClr val="000000"/>
                </a:solidFill>
                <a:latin typeface="AvenirNext-DemiBold"/>
              </a:rPr>
              <a:t>The path solver counts paths, our kernel integrates a surface</a:t>
            </a:r>
          </a:p>
        </p:txBody>
      </p:sp>
      <p:pic>
        <p:nvPicPr>
          <p:cNvPr id="4" name="Picture 3" descr="v14_concept.png"/>
          <p:cNvPicPr>
            <a:picLocks noChangeAspect="1"/>
          </p:cNvPicPr>
          <p:nvPr/>
        </p:nvPicPr>
        <p:blipFill>
          <a:blip r:embed="rId2"/>
          <a:stretch>
            <a:fillRect/>
          </a:stretch>
        </p:blipFill>
        <p:spPr>
          <a:xfrm>
            <a:off x="2056994" y="2221992"/>
            <a:ext cx="20270010" cy="9025127"/>
          </a:xfrm>
          <a:prstGeom prst="rect">
            <a:avLst/>
          </a:prstGeom>
        </p:spPr>
      </p:pic>
      <p:sp>
        <p:nvSpPr>
          <p:cNvPr id="5" name="Rectangle 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Rectangle 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7" name="TextBox 6"/>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Both give one complex number per pose, so only the scattering step differs.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HOW THEY WORK</a:t>
            </a:r>
          </a:p>
        </p:txBody>
      </p:sp>
      <p:sp>
        <p:nvSpPr>
          <p:cNvPr id="3" name="TextBox 2"/>
          <p:cNvSpPr txBox="1"/>
          <p:nvPr/>
        </p:nvSpPr>
        <p:spPr>
          <a:xfrm>
            <a:off x="699821" y="1039673"/>
            <a:ext cx="22979482" cy="893064"/>
          </a:xfrm>
          <a:prstGeom prst="rect">
            <a:avLst/>
          </a:prstGeom>
          <a:noFill/>
        </p:spPr>
        <p:txBody>
          <a:bodyPr wrap="square" anchor="t" lIns="0" rIns="0" tIns="0" bIns="0">
            <a:spAutoFit/>
          </a:bodyPr>
          <a:lstStyle/>
          <a:p>
            <a:pPr algn="l"/>
            <a:r>
              <a:rPr sz="4600" b="1" i="0">
                <a:solidFill>
                  <a:srgbClr val="000000"/>
                </a:solidFill>
                <a:latin typeface="AvenirNext-DemiBold"/>
              </a:rPr>
              <a:t>One traces a few paths, the other integrates a lit surface</a:t>
            </a:r>
          </a:p>
        </p:txBody>
      </p:sp>
      <p:sp>
        <p:nvSpPr>
          <p:cNvPr id="4" name="TextBox 3"/>
          <p:cNvSpPr txBox="1"/>
          <p:nvPr/>
        </p:nvSpPr>
        <p:spPr>
          <a:xfrm>
            <a:off x="760781" y="201503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Both end at one complex number per pose, and </a:t>
            </a:r>
            <a:r>
              <a:rPr sz="3700" b="1" i="0">
                <a:solidFill>
                  <a:srgbClr val="E22146"/>
                </a:solidFill>
                <a:latin typeface="AvenirNext-DemiBold"/>
              </a:rPr>
              <a:t>they get there differently</a:t>
            </a:r>
          </a:p>
        </p:txBody>
      </p:sp>
      <p:graphicFrame>
        <p:nvGraphicFramePr>
          <p:cNvPr id="5" name="Table 4"/>
          <p:cNvGraphicFramePr>
            <a:graphicFrameLocks noGrp="1"/>
          </p:cNvGraphicFramePr>
          <p:nvPr/>
        </p:nvGraphicFramePr>
        <p:xfrm>
          <a:off x="719328" y="3158697"/>
          <a:ext cx="22945343" cy="7680960"/>
        </p:xfrm>
        <a:graphic>
          <a:graphicData uri="http://schemas.openxmlformats.org/drawingml/2006/table">
            <a:tbl>
              <a:tblPr firstRow="1" bandRow="1">
                <a:tableStyleId>{5C22544A-7EE6-4342-B048-85BDC9FD1C3A}</a:tableStyleId>
              </a:tblPr>
              <a:tblGrid>
                <a:gridCol w="6883603"/>
                <a:gridCol w="5047975"/>
                <a:gridCol w="11013765"/>
              </a:tblGrid>
              <a:tr h="960120">
                <a:tc>
                  <a:txBody>
                    <a:bodyPr wrap="square"/>
                    <a:lstStyle/>
                    <a:p>
                      <a:pPr algn="ctr"/>
                      <a:r>
                        <a:rPr sz="2900" b="1" i="0">
                          <a:solidFill>
                            <a:srgbClr val="FFFFFF"/>
                          </a:solidFill>
                          <a:latin typeface="AvenirNext-DemiBold"/>
                        </a:rPr>
                        <a:t>Step</a:t>
                      </a:r>
                    </a:p>
                  </a:txBody>
                  <a:tcPr anchor="ctr" marL="70000" marR="70000">
                    <a:solidFill>
                      <a:srgbClr val="26448A"/>
                    </a:solidFill>
                  </a:tcPr>
                </a:tc>
                <a:tc>
                  <a:txBody>
                    <a:bodyPr wrap="square"/>
                    <a:lstStyle/>
                    <a:p>
                      <a:pPr algn="ctr"/>
                      <a:r>
                        <a:rPr sz="2900" b="1" i="0">
                          <a:solidFill>
                            <a:srgbClr val="FFFFFF"/>
                          </a:solidFill>
                          <a:latin typeface="AvenirNext-DemiBold"/>
                        </a:rPr>
                        <a:t>Sionna PathSolver</a:t>
                      </a:r>
                    </a:p>
                  </a:txBody>
                  <a:tcPr anchor="ctr" marL="70000" marR="70000">
                    <a:solidFill>
                      <a:srgbClr val="26448A"/>
                    </a:solidFill>
                  </a:tcPr>
                </a:tc>
                <a:tc>
                  <a:txBody>
                    <a:bodyPr wrap="square"/>
                    <a:lstStyle/>
                    <a:p>
                      <a:pPr algn="ctr"/>
                      <a:r>
                        <a:rPr sz="2900" b="1" i="0">
                          <a:solidFill>
                            <a:srgbClr val="FFFFFF"/>
                          </a:solidFill>
                          <a:latin typeface="AvenirNext-DemiBold"/>
                        </a:rPr>
                        <a:t>Ours (SBR plus PO)</a:t>
                      </a:r>
                    </a:p>
                  </a:txBody>
                  <a:tcPr anchor="ctr" marL="70000" marR="70000">
                    <a:solidFill>
                      <a:srgbClr val="26448A"/>
                    </a:solidFill>
                  </a:tcPr>
                </a:tc>
              </a:tr>
              <a:tr h="960120">
                <a:tc>
                  <a:txBody>
                    <a:bodyPr wrap="square"/>
                    <a:lstStyle/>
                    <a:p>
                      <a:pPr algn="l"/>
                      <a:r>
                        <a:rPr sz="2700" b="1" i="0">
                          <a:solidFill>
                            <a:srgbClr val="000000"/>
                          </a:solidFill>
                          <a:latin typeface="AvenirNext-DemiBold"/>
                        </a:rPr>
                        <a:t>Where rays start</a:t>
                      </a:r>
                    </a:p>
                  </a:txBody>
                  <a:tcPr anchor="ctr" marL="70000" marR="70000">
                    <a:solidFill>
                      <a:srgbClr val="FFFFFF"/>
                    </a:solidFill>
                  </a:tcPr>
                </a:tc>
                <a:tc>
                  <a:txBody>
                    <a:bodyPr wrap="square"/>
                    <a:lstStyle/>
                    <a:p>
                      <a:pPr algn="ctr"/>
                      <a:r>
                        <a:rPr sz="2700" b="0" i="0">
                          <a:solidFill>
                            <a:srgbClr val="000000"/>
                          </a:solidFill>
                          <a:latin typeface="Avenir Next Medium"/>
                        </a:rPr>
                        <a:t>At the radar, over the whole sphere</a:t>
                      </a:r>
                    </a:p>
                  </a:txBody>
                  <a:tcPr anchor="ctr" marL="70000" marR="70000">
                    <a:solidFill>
                      <a:srgbClr val="FFFFFF"/>
                    </a:solidFill>
                  </a:tcPr>
                </a:tc>
                <a:tc>
                  <a:txBody>
                    <a:bodyPr wrap="square"/>
                    <a:lstStyle/>
                    <a:p>
                      <a:pPr algn="ctr"/>
                      <a:r>
                        <a:rPr sz="2700" b="0" i="0">
                          <a:solidFill>
                            <a:srgbClr val="000000"/>
                          </a:solidFill>
                          <a:latin typeface="Avenir Next Medium"/>
                        </a:rPr>
                        <a:t>On a grid fixed to the target and held across poses</a:t>
                      </a:r>
                    </a:p>
                  </a:txBody>
                  <a:tcPr anchor="ctr" marL="70000" marR="70000">
                    <a:solidFill>
                      <a:srgbClr val="FFFFFF"/>
                    </a:solidFill>
                  </a:tcPr>
                </a:tc>
              </a:tr>
              <a:tr h="960120">
                <a:tc>
                  <a:txBody>
                    <a:bodyPr wrap="square"/>
                    <a:lstStyle/>
                    <a:p>
                      <a:pPr algn="l"/>
                      <a:r>
                        <a:rPr sz="2700" b="1" i="0">
                          <a:solidFill>
                            <a:srgbClr val="000000"/>
                          </a:solidFill>
                          <a:latin typeface="AvenirNext-DemiBold"/>
                        </a:rPr>
                        <a:t>How many</a:t>
                      </a:r>
                    </a:p>
                  </a:txBody>
                  <a:tcPr anchor="ctr" marL="70000" marR="70000">
                    <a:solidFill>
                      <a:srgbClr val="F2F2F2"/>
                    </a:solidFill>
                  </a:tcPr>
                </a:tc>
                <a:tc>
                  <a:txBody>
                    <a:bodyPr wrap="square"/>
                    <a:lstStyle/>
                    <a:p>
                      <a:pPr algn="ctr"/>
                      <a:r>
                        <a:rPr sz="2700" b="0" i="0">
                          <a:solidFill>
                            <a:srgbClr val="000000"/>
                          </a:solidFill>
                          <a:latin typeface="Avenir Next Medium"/>
                        </a:rPr>
                        <a:t>One million directions on a lattice</a:t>
                      </a:r>
                    </a:p>
                  </a:txBody>
                  <a:tcPr anchor="ctr" marL="70000" marR="70000">
                    <a:solidFill>
                      <a:srgbClr val="F2F2F2"/>
                    </a:solidFill>
                  </a:tcPr>
                </a:tc>
                <a:tc>
                  <a:txBody>
                    <a:bodyPr wrap="square"/>
                    <a:lstStyle/>
                    <a:p>
                      <a:pPr algn="ctr"/>
                      <a:r>
                        <a:rPr sz="2700" b="0" i="0">
                          <a:solidFill>
                            <a:srgbClr val="000000"/>
                          </a:solidFill>
                          <a:latin typeface="Avenir Next Medium"/>
                        </a:rPr>
                        <a:t>One per 7.1 mm cell, a twelfth of a wavelength</a:t>
                      </a:r>
                    </a:p>
                  </a:txBody>
                  <a:tcPr anchor="ctr" marL="70000" marR="70000">
                    <a:solidFill>
                      <a:srgbClr val="F2F2F2"/>
                    </a:solidFill>
                  </a:tcPr>
                </a:tc>
              </a:tr>
              <a:tr h="960120">
                <a:tc>
                  <a:txBody>
                    <a:bodyPr wrap="square"/>
                    <a:lstStyle/>
                    <a:p>
                      <a:pPr algn="l"/>
                      <a:r>
                        <a:rPr sz="2700" b="1" i="0">
                          <a:solidFill>
                            <a:srgbClr val="000000"/>
                          </a:solidFill>
                          <a:latin typeface="AvenirNext-DemiBold"/>
                        </a:rPr>
                        <a:t>At a surface</a:t>
                      </a:r>
                    </a:p>
                  </a:txBody>
                  <a:tcPr anchor="ctr" marL="70000" marR="70000">
                    <a:solidFill>
                      <a:srgbClr val="FFFFFF"/>
                    </a:solidFill>
                  </a:tcPr>
                </a:tc>
                <a:tc>
                  <a:txBody>
                    <a:bodyPr wrap="square"/>
                    <a:lstStyle/>
                    <a:p>
                      <a:pPr algn="ctr"/>
                      <a:r>
                        <a:rPr sz="2700" b="0" i="0">
                          <a:solidFill>
                            <a:srgbClr val="000000"/>
                          </a:solidFill>
                          <a:latin typeface="Avenir Next Medium"/>
                        </a:rPr>
                        <a:t>Pick one outcome at random and carry on</a:t>
                      </a:r>
                    </a:p>
                  </a:txBody>
                  <a:tcPr anchor="ctr" marL="70000" marR="70000">
                    <a:solidFill>
                      <a:srgbClr val="FFFFFF"/>
                    </a:solidFill>
                  </a:tcPr>
                </a:tc>
                <a:tc>
                  <a:txBody>
                    <a:bodyPr wrap="square"/>
                    <a:lstStyle/>
                    <a:p>
                      <a:pPr algn="ctr"/>
                      <a:r>
                        <a:rPr sz="2700" b="0" i="0">
                          <a:solidFill>
                            <a:srgbClr val="000000"/>
                          </a:solidFill>
                          <a:latin typeface="Avenir Next Medium"/>
                        </a:rPr>
                        <a:t>Stop at the first hit, then take the next ray</a:t>
                      </a:r>
                    </a:p>
                  </a:txBody>
                  <a:tcPr anchor="ctr" marL="70000" marR="70000">
                    <a:solidFill>
                      <a:srgbClr val="FFFFFF"/>
                    </a:solidFill>
                  </a:tcPr>
                </a:tc>
              </a:tr>
              <a:tr h="960120">
                <a:tc>
                  <a:txBody>
                    <a:bodyPr wrap="square"/>
                    <a:lstStyle/>
                    <a:p>
                      <a:pPr algn="l"/>
                      <a:r>
                        <a:rPr sz="2700" b="1" i="0">
                          <a:solidFill>
                            <a:srgbClr val="000000"/>
                          </a:solidFill>
                          <a:latin typeface="AvenirNext-DemiBold"/>
                        </a:rPr>
                        <a:t>What is summed</a:t>
                      </a:r>
                    </a:p>
                  </a:txBody>
                  <a:tcPr anchor="ctr" marL="70000" marR="70000">
                    <a:solidFill>
                      <a:srgbClr val="F2F2F2"/>
                    </a:solidFill>
                  </a:tcPr>
                </a:tc>
                <a:tc>
                  <a:txBody>
                    <a:bodyPr wrap="square"/>
                    <a:lstStyle/>
                    <a:p>
                      <a:pPr algn="ctr"/>
                      <a:r>
                        <a:rPr sz="2700" b="0" i="0">
                          <a:solidFill>
                            <a:srgbClr val="000000"/>
                          </a:solidFill>
                          <a:latin typeface="Avenir Next Medium"/>
                        </a:rPr>
                        <a:t>The few paths that found their way back</a:t>
                      </a:r>
                    </a:p>
                  </a:txBody>
                  <a:tcPr anchor="ctr" marL="70000" marR="70000">
                    <a:solidFill>
                      <a:srgbClr val="F2F2F2"/>
                    </a:solidFill>
                  </a:tcPr>
                </a:tc>
                <a:tc>
                  <a:txBody>
                    <a:bodyPr wrap="square"/>
                    <a:lstStyle/>
                    <a:p>
                      <a:pPr algn="ctr"/>
                      <a:r>
                        <a:rPr sz="2700" b="0" i="0">
                          <a:solidFill>
                            <a:srgbClr val="000000"/>
                          </a:solidFill>
                          <a:latin typeface="Avenir Next Medium"/>
                        </a:rPr>
                        <a:t>Every lit surface element, each with its phase</a:t>
                      </a:r>
                    </a:p>
                  </a:txBody>
                  <a:tcPr anchor="ctr" marL="70000" marR="70000">
                    <a:solidFill>
                      <a:srgbClr val="F2F2F2"/>
                    </a:solidFill>
                  </a:tcPr>
                </a:tc>
              </a:tr>
              <a:tr h="960120">
                <a:tc>
                  <a:txBody>
                    <a:bodyPr wrap="square"/>
                    <a:lstStyle/>
                    <a:p>
                      <a:pPr algn="l"/>
                      <a:r>
                        <a:rPr sz="2700" b="1" i="0">
                          <a:solidFill>
                            <a:srgbClr val="000000"/>
                          </a:solidFill>
                          <a:latin typeface="AvenirNext-DemiBold"/>
                        </a:rPr>
                        <a:t>Amplitude from</a:t>
                      </a:r>
                    </a:p>
                  </a:txBody>
                  <a:tcPr anchor="ctr" marL="70000" marR="70000">
                    <a:solidFill>
                      <a:srgbClr val="FFFFFF"/>
                    </a:solidFill>
                  </a:tcPr>
                </a:tc>
                <a:tc>
                  <a:txBody>
                    <a:bodyPr wrap="square"/>
                    <a:lstStyle/>
                    <a:p>
                      <a:pPr algn="ctr"/>
                      <a:r>
                        <a:rPr sz="2700" b="0" i="0">
                          <a:solidFill>
                            <a:srgbClr val="000000"/>
                          </a:solidFill>
                          <a:latin typeface="Avenir Next Medium"/>
                        </a:rPr>
                        <a:t>Fresnel coefficients multiplied along the path</a:t>
                      </a:r>
                    </a:p>
                  </a:txBody>
                  <a:tcPr anchor="ctr" marL="70000" marR="70000">
                    <a:solidFill>
                      <a:srgbClr val="FFFFFF"/>
                    </a:solidFill>
                  </a:tcPr>
                </a:tc>
                <a:tc>
                  <a:txBody>
                    <a:bodyPr wrap="square"/>
                    <a:lstStyle/>
                    <a:p>
                      <a:pPr algn="ctr"/>
                      <a:r>
                        <a:rPr sz="2700" b="0" i="0">
                          <a:solidFill>
                            <a:srgbClr val="000000"/>
                          </a:solidFill>
                          <a:latin typeface="Avenir Next Medium"/>
                        </a:rPr>
                        <a:t>Reflection times obliquity times area, integrated</a:t>
                      </a:r>
                    </a:p>
                  </a:txBody>
                  <a:tcPr anchor="ctr" marL="70000" marR="70000">
                    <a:solidFill>
                      <a:srgbClr val="FFFFFF"/>
                    </a:solidFill>
                  </a:tcPr>
                </a:tc>
              </a:tr>
              <a:tr h="960120">
                <a:tc>
                  <a:txBody>
                    <a:bodyPr wrap="square"/>
                    <a:lstStyle/>
                    <a:p>
                      <a:pPr algn="l"/>
                      <a:r>
                        <a:rPr sz="2700" b="1" i="0">
                          <a:solidFill>
                            <a:srgbClr val="000000"/>
                          </a:solidFill>
                          <a:latin typeface="AvenirNext-DemiBold"/>
                        </a:rPr>
                        <a:t>Occlusion</a:t>
                      </a:r>
                    </a:p>
                  </a:txBody>
                  <a:tcPr anchor="ctr" marL="70000" marR="70000">
                    <a:solidFill>
                      <a:srgbClr val="F2F2F2"/>
                    </a:solidFill>
                  </a:tcPr>
                </a:tc>
                <a:tc>
                  <a:txBody>
                    <a:bodyPr wrap="square"/>
                    <a:lstStyle/>
                    <a:p>
                      <a:pPr algn="ctr"/>
                      <a:r>
                        <a:rPr sz="2700" b="0" i="0">
                          <a:solidFill>
                            <a:srgbClr val="000000"/>
                          </a:solidFill>
                          <a:latin typeface="Avenir Next Medium"/>
                        </a:rPr>
                        <a:t>Rays are simply blocked</a:t>
                      </a:r>
                    </a:p>
                  </a:txBody>
                  <a:tcPr anchor="ctr" marL="70000" marR="70000">
                    <a:solidFill>
                      <a:srgbClr val="F2F2F2"/>
                    </a:solidFill>
                  </a:tcPr>
                </a:tc>
                <a:tc>
                  <a:txBody>
                    <a:bodyPr wrap="square"/>
                    <a:lstStyle/>
                    <a:p>
                      <a:pPr algn="ctr"/>
                      <a:r>
                        <a:rPr sz="2700" b="0" i="0">
                          <a:solidFill>
                            <a:srgbClr val="000000"/>
                          </a:solidFill>
                          <a:latin typeface="Avenir Next Medium"/>
                        </a:rPr>
                        <a:t>Hidden facets are never reached, so it is free</a:t>
                      </a:r>
                    </a:p>
                  </a:txBody>
                  <a:tcPr anchor="ctr" marL="70000" marR="70000">
                    <a:solidFill>
                      <a:srgbClr val="F2F2F2"/>
                    </a:solidFill>
                  </a:tcPr>
                </a:tc>
              </a:tr>
              <a:tr h="960120">
                <a:tc>
                  <a:txBody>
                    <a:bodyPr wrap="square"/>
                    <a:lstStyle/>
                    <a:p>
                      <a:pPr algn="l"/>
                      <a:r>
                        <a:rPr sz="2700" b="1" i="0">
                          <a:solidFill>
                            <a:srgbClr val="000000"/>
                          </a:solidFill>
                          <a:latin typeface="AvenirNext-DemiBold"/>
                        </a:rPr>
                        <a:t>Per rotor pose</a:t>
                      </a:r>
                    </a:p>
                  </a:txBody>
                  <a:tcPr anchor="ctr" marL="70000" marR="70000">
                    <a:solidFill>
                      <a:srgbClr val="FFFFFF"/>
                    </a:solidFill>
                  </a:tcPr>
                </a:tc>
                <a:tc>
                  <a:txBody>
                    <a:bodyPr wrap="square"/>
                    <a:lstStyle/>
                    <a:p>
                      <a:pPr algn="ctr"/>
                      <a:r>
                        <a:rPr sz="2700" b="0" i="0">
                          <a:solidFill>
                            <a:srgbClr val="000000"/>
                          </a:solidFill>
                          <a:latin typeface="Avenir Next Medium"/>
                        </a:rPr>
                        <a:t>Re solve the scene, 4096 times</a:t>
                      </a:r>
                    </a:p>
                  </a:txBody>
                  <a:tcPr anchor="ctr" marL="70000" marR="70000">
                    <a:solidFill>
                      <a:srgbClr val="FFFFFF"/>
                    </a:solidFill>
                  </a:tcPr>
                </a:tc>
                <a:tc>
                  <a:txBody>
                    <a:bodyPr wrap="square"/>
                    <a:lstStyle/>
                    <a:p>
                      <a:pPr algn="ctr"/>
                      <a:r>
                        <a:rPr sz="2700" b="0" i="0">
                          <a:solidFill>
                            <a:srgbClr val="000000"/>
                          </a:solidFill>
                          <a:latin typeface="Avenir Next Medium"/>
                        </a:rPr>
                        <a:t>Re integrate the surface, 4096 times</a:t>
                      </a:r>
                    </a:p>
                  </a:txBody>
                  <a:tcPr anchor="ctr" marL="70000" marR="70000">
                    <a:solidFill>
                      <a:srgbClr val="FFFFFF"/>
                    </a:solidFill>
                  </a:tcPr>
                </a:tc>
              </a:tr>
            </a:tbl>
          </a:graphicData>
        </a:graphic>
      </p:graphicFrame>
      <p:sp>
        <p:nvSpPr>
          <p:cNvPr id="6" name="TextBox 5"/>
          <p:cNvSpPr txBox="1"/>
          <p:nvPr/>
        </p:nvSpPr>
        <p:spPr>
          <a:xfrm>
            <a:off x="719328" y="11149736"/>
            <a:ext cx="22945344" cy="850392"/>
          </a:xfrm>
          <a:prstGeom prst="rect">
            <a:avLst/>
          </a:prstGeom>
          <a:noFill/>
        </p:spPr>
        <p:txBody>
          <a:bodyPr wrap="square" anchor="t" lIns="0" rIns="0" tIns="0" bIns="0">
            <a:spAutoFit/>
          </a:bodyPr>
          <a:lstStyle/>
          <a:p>
            <a:pPr algn="ctr"/>
            <a:r>
              <a:rPr sz="4000" b="1" i="0">
                <a:solidFill>
                  <a:srgbClr val="26448A"/>
                </a:solidFill>
                <a:latin typeface="AvenirNext-DemiBold"/>
              </a:rPr>
              <a:t>Neither uses a Doppler formula. Motion lives in the phase, pose by pose.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RESULT ONE</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Both engines print the same blade rhythm</a:t>
            </a:r>
          </a:p>
        </p:txBody>
      </p:sp>
      <p:pic>
        <p:nvPicPr>
          <p:cNvPr id="4" name="Picture 3" descr="v14_r1.png"/>
          <p:cNvPicPr>
            <a:picLocks noChangeAspect="1"/>
          </p:cNvPicPr>
          <p:nvPr/>
        </p:nvPicPr>
        <p:blipFill>
          <a:blip r:embed="rId2"/>
          <a:stretch>
            <a:fillRect/>
          </a:stretch>
        </p:blipFill>
        <p:spPr>
          <a:xfrm>
            <a:off x="719328" y="2860016"/>
            <a:ext cx="15605760" cy="8709198"/>
          </a:xfrm>
          <a:prstGeom prst="rect">
            <a:avLst/>
          </a:prstGeom>
        </p:spPr>
      </p:pic>
      <p:sp>
        <p:nvSpPr>
          <p:cNvPr id="5" name="TextBox 4"/>
          <p:cNvSpPr txBox="1"/>
          <p:nvPr/>
        </p:nvSpPr>
        <p:spPr>
          <a:xfrm>
            <a:off x="16861536" y="2221992"/>
            <a:ext cx="6803136" cy="922332"/>
          </a:xfrm>
          <a:prstGeom prst="rect">
            <a:avLst/>
          </a:prstGeom>
          <a:noFill/>
        </p:spPr>
        <p:txBody>
          <a:bodyPr wrap="square" anchor="t" lIns="0" rIns="0" tIns="0" bIns="0">
            <a:spAutoFit/>
          </a:bodyPr>
          <a:lstStyle/>
          <a:p>
            <a:pPr algn="l"/>
            <a:r>
              <a:rPr sz="2800" b="1" i="0">
                <a:solidFill>
                  <a:srgbClr val="2E74B5"/>
                </a:solidFill>
                <a:latin typeface="AvenirNext-DemiBold"/>
              </a:rPr>
              <a:t>STFT</a:t>
            </a:r>
          </a:p>
        </p:txBody>
      </p:sp>
      <p:sp>
        <p:nvSpPr>
          <p:cNvPr id="6" name="TextBox 5"/>
          <p:cNvSpPr txBox="1"/>
          <p:nvPr/>
        </p:nvSpPr>
        <p:spPr>
          <a:xfrm>
            <a:off x="16861536" y="3144324"/>
            <a:ext cx="3129443" cy="802028"/>
          </a:xfrm>
          <a:prstGeom prst="rect">
            <a:avLst/>
          </a:prstGeom>
          <a:noFill/>
        </p:spPr>
        <p:txBody>
          <a:bodyPr wrap="square" anchor="t" lIns="0" rIns="0" tIns="0" bIns="0">
            <a:spAutoFit/>
          </a:bodyPr>
          <a:lstStyle/>
          <a:p>
            <a:pPr algn="l"/>
            <a:r>
              <a:rPr sz="2600" b="1" i="0">
                <a:solidFill>
                  <a:srgbClr val="5E5E5E"/>
                </a:solidFill>
                <a:latin typeface="AvenirNext-DemiBold"/>
              </a:rPr>
              <a:t>Segment</a:t>
            </a:r>
          </a:p>
        </p:txBody>
      </p:sp>
      <p:sp>
        <p:nvSpPr>
          <p:cNvPr id="7" name="TextBox 6"/>
          <p:cNvSpPr txBox="1"/>
          <p:nvPr/>
        </p:nvSpPr>
        <p:spPr>
          <a:xfrm>
            <a:off x="19990979" y="3144324"/>
            <a:ext cx="3673693" cy="802028"/>
          </a:xfrm>
          <a:prstGeom prst="rect">
            <a:avLst/>
          </a:prstGeom>
          <a:noFill/>
        </p:spPr>
        <p:txBody>
          <a:bodyPr wrap="square" anchor="t" lIns="0" rIns="0" tIns="0" bIns="0">
            <a:spAutoFit/>
          </a:bodyPr>
          <a:lstStyle/>
          <a:p>
            <a:pPr algn="l"/>
            <a:r>
              <a:rPr sz="2600" b="0" i="0">
                <a:solidFill>
                  <a:srgbClr val="000000"/>
                </a:solidFill>
                <a:latin typeface="Avenir Next Medium"/>
              </a:rPr>
              <a:t>70 sample Hann</a:t>
            </a:r>
          </a:p>
        </p:txBody>
      </p:sp>
      <p:sp>
        <p:nvSpPr>
          <p:cNvPr id="8" name="TextBox 7"/>
          <p:cNvSpPr txBox="1"/>
          <p:nvPr/>
        </p:nvSpPr>
        <p:spPr>
          <a:xfrm>
            <a:off x="16861536" y="3946352"/>
            <a:ext cx="3129443" cy="802028"/>
          </a:xfrm>
          <a:prstGeom prst="rect">
            <a:avLst/>
          </a:prstGeom>
          <a:noFill/>
        </p:spPr>
        <p:txBody>
          <a:bodyPr wrap="square" anchor="t" lIns="0" rIns="0" tIns="0" bIns="0">
            <a:spAutoFit/>
          </a:bodyPr>
          <a:lstStyle/>
          <a:p>
            <a:pPr algn="l"/>
            <a:r>
              <a:rPr sz="2600" b="1" i="0">
                <a:solidFill>
                  <a:srgbClr val="5E5E5E"/>
                </a:solidFill>
                <a:latin typeface="AvenirNext-DemiBold"/>
              </a:rPr>
              <a:t/>
            </a:r>
          </a:p>
        </p:txBody>
      </p:sp>
      <p:sp>
        <p:nvSpPr>
          <p:cNvPr id="9" name="TextBox 8"/>
          <p:cNvSpPr txBox="1"/>
          <p:nvPr/>
        </p:nvSpPr>
        <p:spPr>
          <a:xfrm>
            <a:off x="19990979" y="3946352"/>
            <a:ext cx="3673693" cy="802028"/>
          </a:xfrm>
          <a:prstGeom prst="rect">
            <a:avLst/>
          </a:prstGeom>
          <a:noFill/>
        </p:spPr>
        <p:txBody>
          <a:bodyPr wrap="square" anchor="t" lIns="0" rIns="0" tIns="0" bIns="0">
            <a:spAutoFit/>
          </a:bodyPr>
          <a:lstStyle/>
          <a:p>
            <a:pPr algn="l"/>
            <a:r>
              <a:rPr sz="2600" b="0" i="0">
                <a:solidFill>
                  <a:srgbClr val="000000"/>
                </a:solidFill>
                <a:latin typeface="Avenir Next Medium"/>
              </a:rPr>
              <a:t>0.45 blade periods</a:t>
            </a:r>
          </a:p>
        </p:txBody>
      </p:sp>
      <p:sp>
        <p:nvSpPr>
          <p:cNvPr id="10" name="TextBox 9"/>
          <p:cNvSpPr txBox="1"/>
          <p:nvPr/>
        </p:nvSpPr>
        <p:spPr>
          <a:xfrm>
            <a:off x="16861536" y="4748380"/>
            <a:ext cx="3129443" cy="802028"/>
          </a:xfrm>
          <a:prstGeom prst="rect">
            <a:avLst/>
          </a:prstGeom>
          <a:noFill/>
        </p:spPr>
        <p:txBody>
          <a:bodyPr wrap="square" anchor="t" lIns="0" rIns="0" tIns="0" bIns="0">
            <a:spAutoFit/>
          </a:bodyPr>
          <a:lstStyle/>
          <a:p>
            <a:pPr algn="l"/>
            <a:r>
              <a:rPr sz="2600" b="1" i="0">
                <a:solidFill>
                  <a:srgbClr val="5E5E5E"/>
                </a:solidFill>
                <a:latin typeface="AvenirNext-DemiBold"/>
              </a:rPr>
              <a:t>Time step</a:t>
            </a:r>
          </a:p>
        </p:txBody>
      </p:sp>
      <p:sp>
        <p:nvSpPr>
          <p:cNvPr id="11" name="TextBox 10"/>
          <p:cNvSpPr txBox="1"/>
          <p:nvPr/>
        </p:nvSpPr>
        <p:spPr>
          <a:xfrm>
            <a:off x="19990979" y="4748380"/>
            <a:ext cx="3673693" cy="802028"/>
          </a:xfrm>
          <a:prstGeom prst="rect">
            <a:avLst/>
          </a:prstGeom>
          <a:noFill/>
        </p:spPr>
        <p:txBody>
          <a:bodyPr wrap="square" anchor="t" lIns="0" rIns="0" tIns="0" bIns="0">
            <a:spAutoFit/>
          </a:bodyPr>
          <a:lstStyle/>
          <a:p>
            <a:pPr algn="l"/>
            <a:r>
              <a:rPr sz="2600" b="0" i="0">
                <a:solidFill>
                  <a:srgbClr val="000000"/>
                </a:solidFill>
                <a:latin typeface="Avenir Next Medium"/>
              </a:rPr>
              <a:t>3.55 ms</a:t>
            </a:r>
          </a:p>
        </p:txBody>
      </p:sp>
      <p:sp>
        <p:nvSpPr>
          <p:cNvPr id="12" name="TextBox 11"/>
          <p:cNvSpPr txBox="1"/>
          <p:nvPr/>
        </p:nvSpPr>
        <p:spPr>
          <a:xfrm>
            <a:off x="16861536" y="5550408"/>
            <a:ext cx="3129443" cy="802028"/>
          </a:xfrm>
          <a:prstGeom prst="rect">
            <a:avLst/>
          </a:prstGeom>
          <a:noFill/>
        </p:spPr>
        <p:txBody>
          <a:bodyPr wrap="square" anchor="t" lIns="0" rIns="0" tIns="0" bIns="0">
            <a:spAutoFit/>
          </a:bodyPr>
          <a:lstStyle/>
          <a:p>
            <a:pPr algn="l"/>
            <a:r>
              <a:rPr sz="2600" b="1" i="0">
                <a:solidFill>
                  <a:srgbClr val="5E5E5E"/>
                </a:solidFill>
                <a:latin typeface="AvenirNext-DemiBold"/>
              </a:rPr>
              <a:t>Frequency bin</a:t>
            </a:r>
          </a:p>
        </p:txBody>
      </p:sp>
      <p:sp>
        <p:nvSpPr>
          <p:cNvPr id="13" name="TextBox 12"/>
          <p:cNvSpPr txBox="1"/>
          <p:nvPr/>
        </p:nvSpPr>
        <p:spPr>
          <a:xfrm>
            <a:off x="19990979" y="5550408"/>
            <a:ext cx="3673693" cy="802028"/>
          </a:xfrm>
          <a:prstGeom prst="rect">
            <a:avLst/>
          </a:prstGeom>
          <a:noFill/>
        </p:spPr>
        <p:txBody>
          <a:bodyPr wrap="square" anchor="t" lIns="0" rIns="0" tIns="0" bIns="0">
            <a:spAutoFit/>
          </a:bodyPr>
          <a:lstStyle/>
          <a:p>
            <a:pPr algn="l"/>
            <a:r>
              <a:rPr sz="2600" b="0" i="0">
                <a:solidFill>
                  <a:srgbClr val="000000"/>
                </a:solidFill>
                <a:latin typeface="Avenir Next Medium"/>
              </a:rPr>
              <a:t>281 Hz</a:t>
            </a:r>
          </a:p>
        </p:txBody>
      </p:sp>
      <p:sp>
        <p:nvSpPr>
          <p:cNvPr id="14" name="TextBox 13"/>
          <p:cNvSpPr txBox="1"/>
          <p:nvPr/>
        </p:nvSpPr>
        <p:spPr>
          <a:xfrm>
            <a:off x="16861536" y="6352436"/>
            <a:ext cx="6803136" cy="922332"/>
          </a:xfrm>
          <a:prstGeom prst="rect">
            <a:avLst/>
          </a:prstGeom>
          <a:noFill/>
        </p:spPr>
        <p:txBody>
          <a:bodyPr wrap="square" anchor="t" lIns="0" rIns="0" tIns="0" bIns="0">
            <a:spAutoFit/>
          </a:bodyPr>
          <a:lstStyle/>
          <a:p>
            <a:pPr algn="l"/>
            <a:r>
              <a:rPr sz="2800" b="1" i="0">
                <a:solidFill>
                  <a:srgbClr val="2E74B5"/>
                </a:solidFill>
                <a:latin typeface="AvenirNext-DemiBold"/>
              </a:rPr>
              <a:t>Signal</a:t>
            </a:r>
          </a:p>
        </p:txBody>
      </p:sp>
      <p:sp>
        <p:nvSpPr>
          <p:cNvPr id="15" name="TextBox 14"/>
          <p:cNvSpPr txBox="1"/>
          <p:nvPr/>
        </p:nvSpPr>
        <p:spPr>
          <a:xfrm>
            <a:off x="16861536" y="7274768"/>
            <a:ext cx="3129443" cy="802028"/>
          </a:xfrm>
          <a:prstGeom prst="rect">
            <a:avLst/>
          </a:prstGeom>
          <a:noFill/>
        </p:spPr>
        <p:txBody>
          <a:bodyPr wrap="square" anchor="t" lIns="0" rIns="0" tIns="0" bIns="0">
            <a:spAutoFit/>
          </a:bodyPr>
          <a:lstStyle/>
          <a:p>
            <a:pPr algn="l"/>
            <a:r>
              <a:rPr sz="2600" b="1" i="0">
                <a:solidFill>
                  <a:srgbClr val="5E5E5E"/>
                </a:solidFill>
                <a:latin typeface="AvenirNext-DemiBold"/>
              </a:rPr>
              <a:t>Slow time rate</a:t>
            </a:r>
          </a:p>
        </p:txBody>
      </p:sp>
      <p:sp>
        <p:nvSpPr>
          <p:cNvPr id="16" name="TextBox 15"/>
          <p:cNvSpPr txBox="1"/>
          <p:nvPr/>
        </p:nvSpPr>
        <p:spPr>
          <a:xfrm>
            <a:off x="19990979" y="7274768"/>
            <a:ext cx="3673693" cy="802028"/>
          </a:xfrm>
          <a:prstGeom prst="rect">
            <a:avLst/>
          </a:prstGeom>
          <a:noFill/>
        </p:spPr>
        <p:txBody>
          <a:bodyPr wrap="square" anchor="t" lIns="0" rIns="0" tIns="0" bIns="0">
            <a:spAutoFit/>
          </a:bodyPr>
          <a:lstStyle/>
          <a:p>
            <a:pPr algn="l"/>
            <a:r>
              <a:rPr sz="2600" b="0" i="0">
                <a:solidFill>
                  <a:srgbClr val="000000"/>
                </a:solidFill>
                <a:latin typeface="Avenir Next Medium"/>
              </a:rPr>
              <a:t>19.7 kHz</a:t>
            </a:r>
          </a:p>
        </p:txBody>
      </p:sp>
      <p:sp>
        <p:nvSpPr>
          <p:cNvPr id="17" name="TextBox 16"/>
          <p:cNvSpPr txBox="1"/>
          <p:nvPr/>
        </p:nvSpPr>
        <p:spPr>
          <a:xfrm>
            <a:off x="16861536" y="8076796"/>
            <a:ext cx="3129443" cy="802028"/>
          </a:xfrm>
          <a:prstGeom prst="rect">
            <a:avLst/>
          </a:prstGeom>
          <a:noFill/>
        </p:spPr>
        <p:txBody>
          <a:bodyPr wrap="square" anchor="t" lIns="0" rIns="0" tIns="0" bIns="0">
            <a:spAutoFit/>
          </a:bodyPr>
          <a:lstStyle/>
          <a:p>
            <a:pPr algn="l"/>
            <a:r>
              <a:rPr sz="2600" b="1" i="0">
                <a:solidFill>
                  <a:srgbClr val="5E5E5E"/>
                </a:solidFill>
                <a:latin typeface="AvenirNext-DemiBold"/>
              </a:rPr>
              <a:t>Record</a:t>
            </a:r>
          </a:p>
        </p:txBody>
      </p:sp>
      <p:sp>
        <p:nvSpPr>
          <p:cNvPr id="18" name="TextBox 17"/>
          <p:cNvSpPr txBox="1"/>
          <p:nvPr/>
        </p:nvSpPr>
        <p:spPr>
          <a:xfrm>
            <a:off x="19990979" y="8076796"/>
            <a:ext cx="3673693" cy="802028"/>
          </a:xfrm>
          <a:prstGeom prst="rect">
            <a:avLst/>
          </a:prstGeom>
          <a:noFill/>
        </p:spPr>
        <p:txBody>
          <a:bodyPr wrap="square" anchor="t" lIns="0" rIns="0" tIns="0" bIns="0">
            <a:spAutoFit/>
          </a:bodyPr>
          <a:lstStyle/>
          <a:p>
            <a:pPr algn="l"/>
            <a:r>
              <a:rPr sz="2600" b="0" i="0">
                <a:solidFill>
                  <a:srgbClr val="000000"/>
                </a:solidFill>
                <a:latin typeface="Avenir Next Medium"/>
              </a:rPr>
              <a:t>4096 poses, 208 ms</a:t>
            </a:r>
          </a:p>
        </p:txBody>
      </p:sp>
      <p:sp>
        <p:nvSpPr>
          <p:cNvPr id="19" name="TextBox 18"/>
          <p:cNvSpPr txBox="1"/>
          <p:nvPr/>
        </p:nvSpPr>
        <p:spPr>
          <a:xfrm>
            <a:off x="16861536" y="8878824"/>
            <a:ext cx="3129443" cy="802028"/>
          </a:xfrm>
          <a:prstGeom prst="rect">
            <a:avLst/>
          </a:prstGeom>
          <a:noFill/>
        </p:spPr>
        <p:txBody>
          <a:bodyPr wrap="square" anchor="t" lIns="0" rIns="0" tIns="0" bIns="0">
            <a:spAutoFit/>
          </a:bodyPr>
          <a:lstStyle/>
          <a:p>
            <a:pPr algn="l"/>
            <a:r>
              <a:rPr sz="2600" b="1" i="0">
                <a:solidFill>
                  <a:srgbClr val="5E5E5E"/>
                </a:solidFill>
                <a:latin typeface="AvenirNext-DemiBold"/>
              </a:rPr>
              <a:t>Zoom shown</a:t>
            </a:r>
          </a:p>
        </p:txBody>
      </p:sp>
      <p:sp>
        <p:nvSpPr>
          <p:cNvPr id="20" name="TextBox 19"/>
          <p:cNvSpPr txBox="1"/>
          <p:nvPr/>
        </p:nvSpPr>
        <p:spPr>
          <a:xfrm>
            <a:off x="19990979" y="8878824"/>
            <a:ext cx="3673693" cy="802028"/>
          </a:xfrm>
          <a:prstGeom prst="rect">
            <a:avLst/>
          </a:prstGeom>
          <a:noFill/>
        </p:spPr>
        <p:txBody>
          <a:bodyPr wrap="square" anchor="t" lIns="0" rIns="0" tIns="0" bIns="0">
            <a:spAutoFit/>
          </a:bodyPr>
          <a:lstStyle/>
          <a:p>
            <a:pPr algn="l"/>
            <a:r>
              <a:rPr sz="2600" b="0" i="0">
                <a:solidFill>
                  <a:srgbClr val="000000"/>
                </a:solidFill>
                <a:latin typeface="Avenir Next Medium"/>
              </a:rPr>
              <a:t>60 ms</a:t>
            </a:r>
          </a:p>
        </p:txBody>
      </p:sp>
      <p:sp>
        <p:nvSpPr>
          <p:cNvPr id="21" name="TextBox 20"/>
          <p:cNvSpPr txBox="1"/>
          <p:nvPr/>
        </p:nvSpPr>
        <p:spPr>
          <a:xfrm>
            <a:off x="16861536" y="9680852"/>
            <a:ext cx="6803136" cy="922332"/>
          </a:xfrm>
          <a:prstGeom prst="rect">
            <a:avLst/>
          </a:prstGeom>
          <a:noFill/>
        </p:spPr>
        <p:txBody>
          <a:bodyPr wrap="square" anchor="t" lIns="0" rIns="0" tIns="0" bIns="0">
            <a:spAutoFit/>
          </a:bodyPr>
          <a:lstStyle/>
          <a:p>
            <a:pPr algn="l"/>
            <a:r>
              <a:rPr sz="2800" b="1" i="0">
                <a:solidFill>
                  <a:srgbClr val="2E74B5"/>
                </a:solidFill>
                <a:latin typeface="AvenirNext-DemiBold"/>
              </a:rPr>
              <a:t>Colour</a:t>
            </a:r>
          </a:p>
        </p:txBody>
      </p:sp>
      <p:sp>
        <p:nvSpPr>
          <p:cNvPr id="22" name="TextBox 21"/>
          <p:cNvSpPr txBox="1"/>
          <p:nvPr/>
        </p:nvSpPr>
        <p:spPr>
          <a:xfrm>
            <a:off x="16861536" y="10603184"/>
            <a:ext cx="3129443" cy="802028"/>
          </a:xfrm>
          <a:prstGeom prst="rect">
            <a:avLst/>
          </a:prstGeom>
          <a:noFill/>
        </p:spPr>
        <p:txBody>
          <a:bodyPr wrap="square" anchor="t" lIns="0" rIns="0" tIns="0" bIns="0">
            <a:spAutoFit/>
          </a:bodyPr>
          <a:lstStyle/>
          <a:p>
            <a:pPr algn="l"/>
            <a:r>
              <a:rPr sz="2600" b="1" i="0">
                <a:solidFill>
                  <a:srgbClr val="5E5E5E"/>
                </a:solidFill>
                <a:latin typeface="AvenirNext-DemiBold"/>
              </a:rPr>
              <a:t>Map</a:t>
            </a:r>
          </a:p>
        </p:txBody>
      </p:sp>
      <p:sp>
        <p:nvSpPr>
          <p:cNvPr id="23" name="TextBox 22"/>
          <p:cNvSpPr txBox="1"/>
          <p:nvPr/>
        </p:nvSpPr>
        <p:spPr>
          <a:xfrm>
            <a:off x="19990979" y="10603184"/>
            <a:ext cx="3673693" cy="802028"/>
          </a:xfrm>
          <a:prstGeom prst="rect">
            <a:avLst/>
          </a:prstGeom>
          <a:noFill/>
        </p:spPr>
        <p:txBody>
          <a:bodyPr wrap="square" anchor="t" lIns="0" rIns="0" tIns="0" bIns="0">
            <a:spAutoFit/>
          </a:bodyPr>
          <a:lstStyle/>
          <a:p>
            <a:pPr algn="l"/>
            <a:r>
              <a:rPr sz="2600" b="0" i="0">
                <a:solidFill>
                  <a:srgbClr val="000000"/>
                </a:solidFill>
                <a:latin typeface="Avenir Next Medium"/>
              </a:rPr>
              <a:t>jet, 40 dB</a:t>
            </a:r>
          </a:p>
        </p:txBody>
      </p:sp>
      <p:sp>
        <p:nvSpPr>
          <p:cNvPr id="24" name="TextBox 23"/>
          <p:cNvSpPr txBox="1"/>
          <p:nvPr/>
        </p:nvSpPr>
        <p:spPr>
          <a:xfrm>
            <a:off x="16861536" y="11405212"/>
            <a:ext cx="3129443" cy="802028"/>
          </a:xfrm>
          <a:prstGeom prst="rect">
            <a:avLst/>
          </a:prstGeom>
          <a:noFill/>
        </p:spPr>
        <p:txBody>
          <a:bodyPr wrap="square" anchor="t" lIns="0" rIns="0" tIns="0" bIns="0">
            <a:spAutoFit/>
          </a:bodyPr>
          <a:lstStyle/>
          <a:p>
            <a:pPr algn="l"/>
            <a:r>
              <a:rPr sz="2600" b="1" i="0">
                <a:solidFill>
                  <a:srgbClr val="5E5E5E"/>
                </a:solidFill>
                <a:latin typeface="AvenirNext-DemiBold"/>
              </a:rPr>
              <a:t>Reference</a:t>
            </a:r>
          </a:p>
        </p:txBody>
      </p:sp>
      <p:sp>
        <p:nvSpPr>
          <p:cNvPr id="25" name="TextBox 24"/>
          <p:cNvSpPr txBox="1"/>
          <p:nvPr/>
        </p:nvSpPr>
        <p:spPr>
          <a:xfrm>
            <a:off x="19990979" y="11405212"/>
            <a:ext cx="3673693" cy="802028"/>
          </a:xfrm>
          <a:prstGeom prst="rect">
            <a:avLst/>
          </a:prstGeom>
          <a:noFill/>
        </p:spPr>
        <p:txBody>
          <a:bodyPr wrap="square" anchor="t" lIns="0" rIns="0" tIns="0" bIns="0">
            <a:spAutoFit/>
          </a:bodyPr>
          <a:lstStyle/>
          <a:p>
            <a:pPr algn="l"/>
            <a:r>
              <a:rPr sz="2600" b="0" i="0">
                <a:solidFill>
                  <a:srgbClr val="000000"/>
                </a:solidFill>
                <a:latin typeface="Avenir Next Medium"/>
              </a:rPr>
              <a:t>each map to its own peak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RESULT TWO</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Forty metres was a price tag and not a wall</a:t>
            </a:r>
          </a:p>
        </p:txBody>
      </p:sp>
      <p:pic>
        <p:nvPicPr>
          <p:cNvPr id="4" name="Picture 3" descr="v14_r2.png"/>
          <p:cNvPicPr>
            <a:picLocks noChangeAspect="1"/>
          </p:cNvPicPr>
          <p:nvPr/>
        </p:nvPicPr>
        <p:blipFill>
          <a:blip r:embed="rId2"/>
          <a:stretch>
            <a:fillRect/>
          </a:stretch>
        </p:blipFill>
        <p:spPr>
          <a:xfrm>
            <a:off x="2797403" y="2221992"/>
            <a:ext cx="18789192" cy="9025127"/>
          </a:xfrm>
          <a:prstGeom prst="rect">
            <a:avLst/>
          </a:prstGeom>
        </p:spPr>
      </p:pic>
      <p:sp>
        <p:nvSpPr>
          <p:cNvPr id="5" name="Rectangle 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Rectangle 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7" name="TextBox 6"/>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The pattern does not fade with range here because no noise was added.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QUESTIONS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Three things I would like your opinion on</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I can produce these pictures, and I am not sure how to judge them well</a:t>
            </a:r>
          </a:p>
        </p:txBody>
      </p:sp>
      <p:sp>
        <p:nvSpPr>
          <p:cNvPr id="5" name="Rectangle 4"/>
          <p:cNvSpPr/>
          <p:nvPr/>
        </p:nvSpPr>
        <p:spPr>
          <a:xfrm>
            <a:off x="719328" y="3531092"/>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3145841"/>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How closely must two simulators agree before I can call one of them checked</a:t>
            </a:r>
          </a:p>
        </p:txBody>
      </p:sp>
      <p:sp>
        <p:nvSpPr>
          <p:cNvPr id="7" name="Rectangle 6"/>
          <p:cNvSpPr/>
          <p:nvPr/>
        </p:nvSpPr>
        <p:spPr>
          <a:xfrm>
            <a:off x="719328" y="6295526"/>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5910275"/>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One of them gives a different answer each run, so can it be a reference</a:t>
            </a:r>
          </a:p>
        </p:txBody>
      </p:sp>
      <p:sp>
        <p:nvSpPr>
          <p:cNvPr id="9" name="Rectangle 8"/>
          <p:cNvSpPr/>
          <p:nvPr/>
        </p:nvSpPr>
        <p:spPr>
          <a:xfrm>
            <a:off x="719328" y="9059961"/>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8674710"/>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They output different physical units, so what is fair to compare</a:t>
            </a:r>
          </a:p>
        </p:txBody>
      </p:sp>
      <p:sp>
        <p:nvSpPr>
          <p:cNvPr id="11" name="Rectangle 1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Rectangle 1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3" name="TextBox 12"/>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The two agree on timing. They cannot be compared on strength.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NEXT</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What I will do next</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Two of these are computer runs and the last one </a:t>
            </a:r>
            <a:r>
              <a:rPr sz="3700" b="1" i="0">
                <a:solidFill>
                  <a:srgbClr val="E22146"/>
                </a:solidFill>
                <a:latin typeface="AvenirNext-DemiBold"/>
              </a:rPr>
              <a:t>needs a real aircraft</a:t>
            </a:r>
          </a:p>
        </p:txBody>
      </p:sp>
      <p:sp>
        <p:nvSpPr>
          <p:cNvPr id="5" name="Rectangle 4"/>
          <p:cNvSpPr/>
          <p:nvPr/>
        </p:nvSpPr>
        <p:spPr>
          <a:xfrm>
            <a:off x="719328" y="3531092"/>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3145841"/>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Redo the drone maps so the written report and this talk quote one number</a:t>
            </a:r>
          </a:p>
        </p:txBody>
      </p:sp>
      <p:sp>
        <p:nvSpPr>
          <p:cNvPr id="7" name="Rectangle 6"/>
          <p:cNvSpPr/>
          <p:nvPr/>
        </p:nvSpPr>
        <p:spPr>
          <a:xfrm>
            <a:off x="719328" y="6295526"/>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5910275"/>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Build a dataset and train it to tell the drone models apart</a:t>
            </a:r>
          </a:p>
        </p:txBody>
      </p:sp>
      <p:sp>
        <p:nvSpPr>
          <p:cNvPr id="9" name="Rectangle 8"/>
          <p:cNvSpPr/>
          <p:nvPr/>
        </p:nvSpPr>
        <p:spPr>
          <a:xfrm>
            <a:off x="719328" y="9059961"/>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8674710"/>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Measure a real rotor speed in flight, because ours comes out of software</a:t>
            </a:r>
          </a:p>
        </p:txBody>
      </p:sp>
      <p:sp>
        <p:nvSpPr>
          <p:cNvPr id="11" name="Rectangle 1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Rectangle 1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3" name="TextBox 12"/>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Only the last one cannot be done at a desk.</a:t>
            </a:r>
          </a:p>
        </p:txBody>
      </p:sp>
    </p:spTree>
  </p:cSld>
  <p:clrMapOvr>
    <a:masterClrMapping/>
  </p:clrMapOvr>
</p:sld>
</file>

<file path=ppt/theme/theme1.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29428</TotalTime>
  <Words>3186</Words>
  <Application>Microsoft Macintosh PowerPoint</Application>
  <PresentationFormat>사용자 지정</PresentationFormat>
  <Paragraphs>306</Paragraphs>
  <Slides>16</Slides>
  <Notes>16</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16</vt:i4>
      </vt:variant>
    </vt:vector>
  </HeadingPairs>
  <TitlesOfParts>
    <vt:vector size="26" baseType="lpstr">
      <vt:lpstr>Canela Bold</vt:lpstr>
      <vt:lpstr>Canela Deck Regular</vt:lpstr>
      <vt:lpstr>Canela Regular</vt:lpstr>
      <vt:lpstr>Arial</vt:lpstr>
      <vt:lpstr>Avenir Next Medium</vt:lpstr>
      <vt:lpstr>Avenir Next Regular</vt:lpstr>
      <vt:lpstr>AvenirNext-DemiBold</vt:lpstr>
      <vt:lpstr>Helvetica Neue</vt:lpstr>
      <vt:lpstr>Wingdings</vt:lpstr>
      <vt:lpstr>23_ClassicWhite</vt:lpstr>
      <vt:lpstr>Team Meeting</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김재현</dc:creator>
  <cp:lastModifiedBy>Jeong Yunjung</cp:lastModifiedBy>
  <cp:revision>395</cp:revision>
  <dcterms:modified xsi:type="dcterms:W3CDTF">2026-07-21T00:07:50Z</dcterms:modified>
</cp:coreProperties>
</file>