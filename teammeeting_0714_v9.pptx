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368" r:id="rId2"/>
    <p:sldId id="996" r:id="rId3"/>
    <p:sldId id="997" r:id="rId4"/>
    <p:sldId id="998" r:id="rId5"/>
    <p:sldId id="999" r:id="rId6"/>
    <p:sldId id="1000" r:id="rId7"/>
    <p:sldId id="1001" r:id="rId8"/>
    <p:sldId id="1002" r:id="rId9"/>
    <p:sldId id="1016" r:id="rId10"/>
    <p:sldId id="1017" r:id="rId11"/>
    <p:sldId id="1005" r:id="rId14"/>
    <p:sldId id="1006" r:id="rId15"/>
    <p:sldId id="1007" r:id="rId16"/>
    <p:sldId id="1008" r:id="rId17"/>
    <p:sldId id="1010" r:id="rId18"/>
    <p:sldId id="1011" r:id="rId19"/>
    <p:sldId id="1012" r:id="rId20"/>
    <p:sldId id="1013" r:id="rId21"/>
    <p:sldId id="1014" r:id="rId22"/>
    <p:sldId id="1015" r:id="rId23"/>
    <p:sldId id="1018"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0"/>
    <p:restoredTop sz="80803" autoAdjust="0"/>
  </p:normalViewPr>
  <p:slideViewPr>
    <p:cSldViewPr snapToGrid="0">
      <p:cViewPr varScale="1">
        <p:scale>
          <a:sx n="89" d="100"/>
          <a:sy n="89" d="100"/>
        </p:scale>
        <p:origin x="2760"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overall path I took. First the chamber, and the five DJI meshes built from their real specs. Then the radar side: I built the actual Wi-Fi, LTE and 5G waveforms, and looked at which reference signals a passive receiver can really use. And then stage three, where I split the frame from the rotors so each propeller can spin on its own — that gives us the micro-Doppler, and it is also what we would need if we later want to fly these in PX4 or Gazebo. (If asked: I also compute the drone's RCS from the mesh, using physical optics, validated against plate and sphere theory — Sionna's ray tracer supplies the environment and the clutter. I am skipping those details today for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 meshes, I first collected the detailed specs — this is the official DJI page on the left — and then I asked Claude to build the mesh from those numbers. Every part is modeled separately: body, arms, motors, propellers, gimbal, landing gear.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 Here they are drawn at the same size, so you can compare the shapes — four-rotor quads versus the eight-rotor S1000+. 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This is the real size comparison, all at the same scale. The S1000+ is by far the largest — about one meter across — and the Mini 5 Pro fits in your hand, at 250 grams. 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 The point of this slide is scale: in a thirty meter room, these drones are really tiny.</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real Wi-Fi, LTE and 5G signals, built with the correct numerology and reference signals. Here is the key point. A passive radar can only use a signal it already knows — the reference signal. So the range resolution follows the bandwidth of that reference signal, not the bandwidth of the channel. Wi-Fi's preamble is always wideband, so about two meters. LTE's CRS — the cell reference signal — is always on, across the full band, so about eight meters. 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One word on PRS first, since SSB is familiar but PRS may not be. PRS is the Positioning Reference Signal — a wideband signal the network switches on only when it is actually locating a device. It is not always on.</a:t>
            </a:r>
          </a:p>
          <a:p/>
          <a:p>
            <a:r>
              <a:t>Now the three modes. In G1, the idle cell, 5G sends only the SSB, so the range is coarse. It gets sharp at G2 — not because the cell is busier, but because PRS turns on and the reference bandwidth jumps from seven to ninety-eight megahertz. At G3 the cell fills up with user data, and nothing improves: we do not know that data, so we cannot use it as a reference.</a:t>
            </a:r>
          </a:p>
          <a:p/>
          <a:p>
            <a:r>
              <a:t>So for a passive receiver borrowing someone else's cell, the honest baseline for 5G is the SSB.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I split the drone into a frame plus individually spinning rotors, so the body can tilt while the props spin independently — I verified that the frame vertices do not move at all when only the blades rotate. This is the basis for both micro-Doppler and, later, flight simulation.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the micro-Doppler. I separated the rotors so the blades can spin on their own, and then I simply asked for the micro-Doppler pattern — and this is what came out. The vertical stripes are the blade flashes, and the spread around the centre is the Doppler from the blade tips. That is as far as I have taken it for now.</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 right now. Done: the environment — the chamber and the five meshes; the illuminators — Wi-Fi, LTE and 5G, with their reference signals and the occupancy modes; and the micro-Doppler. Next is the real passive radar chain: a bistatic geometry with the transmitter and the receiver apart, clutter cancellation, and CFAR detection with tracking. I have already started that part, so I can show detection results next time. After that: a fair benchmark of the three signals in terms of detection probability, drone versus bird from the blade signature, and exporting the articulated model to PX4 or Gazebo.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 On the left is the forward process. Instead of adding only Gaussian noise, they first push the signal through a channel — but not a free-form neural channel. They keep a small set of real physical channels: AWGN, Rayleigh, Rician, carrier frequency offset and sampling rate offset. A small network — they call it CPE-Net, the channel parameter estimation network — looks at the signal and outputs softmax weights over those candidates. So the forward process is: mix the physical channels with the estimated weights, apply that, and then add Gaussian noise.</a:t>
            </a:r>
          </a:p>
          <a:p/>
          <a:p>
            <a:r>
              <a:t>Why constrain it that way? Because they prove that if you let the channel be a free network, the loss has a local minimum where the channel simply becomes one — in other words, the model quietly switches the channel off, and you are back to ordinary denoising.</a:t>
            </a:r>
          </a:p>
          <a:p/>
          <a:p>
            <a:r>
              <a:t>On the right is the reverse process, which they call FusedFormer. It has a fusion module that combines the time-domain and the spectral view of the signal, and a self-attention module on top. That is the part that learns to undo the channel and the noise. 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with an average rank of one. But look at the margins. On RML2016 they get 63.60 against IQFormer's 63.54 — that is six hundredths of a point, and I honestly wonder whether it would survive a different random seed. The one clear win is TechRec: 91.0, against 88.8 for the next best.</a:t>
            </a:r>
          </a:p>
          <a:p/>
          <a:p>
            <a:r>
              <a:t>What convinced me more than the headline table is their own ablation. If you drop just one physical channel from the candidate set — say the carrier frequency offset — the accuracy falls by about two points, from 63.6 to 61.5. So the physical priors really are doing the work, even though the margin over the previous best model is thin. And interestingly, adding more channel types, like multipath or Nakagami, does not help.</a:t>
            </a:r>
          </a:p>
          <a:p/>
          <a:p>
            <a:r>
              <a:t>One thing I take from this for our own work: learning buys you a few points, but physics — bandwidth and integration time — buys you tens of decibels.</a:t>
            </a:r>
          </a:p>
        </p:txBody>
      </p:sp>
    </p:spTree>
    <p:extLst>
      <p:ext uri="{BB962C8B-B14F-4D97-AF65-F5344CB8AC3E}">
        <p14:creationId xmlns:p14="http://schemas.microsoft.com/office/powerpoint/2010/main" val="3633082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/21</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illuminators (Wi-Fi / LTE / 5G),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/21</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Illuminators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/21</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Each stage reuses the same chamber and the dimension-accurate drone meshes</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Illuminators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r>
              <a:rPr lang="en-US" altLang="ko-KR" sz="2400" b="1" i="0" dirty="0">
                <a:solidFill>
                  <a:srgbClr val="26448A"/>
                </a:solidFill>
                <a:latin typeface="Avenir Next Medium"/>
                <a:ea typeface="Avenir Next Medium"/>
                <a:cs typeface="Avenir Next Medium"/>
              </a:rPr>
              <a:t>real waveforms</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Reference signals</a:t>
            </a:r>
          </a:p>
          <a:p>
            <a:pPr algn="ctr"/>
            <a:r>
              <a:rPr lang="en-US" altLang="ko-KR" sz="2400" b="1" i="0" dirty="0">
                <a:solidFill>
                  <a:srgbClr val="26448A"/>
                </a:solidFill>
                <a:latin typeface="Avenir Next Medium"/>
                <a:ea typeface="Avenir Next Medium"/>
                <a:cs typeface="Avenir Next Medium"/>
              </a:rPr>
              <a:t>CRS vs SSB</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Occupancy</a:t>
            </a:r>
          </a:p>
          <a:p>
            <a:pPr algn="ctr">
              <a:spcBef>
                <a:spcPts val="200"/>
              </a:spcBef>
            </a:pPr>
            <a:r>
              <a:rPr lang="en-US" altLang="ko-KR" sz="1700" b="0" i="1" dirty="0">
                <a:solidFill>
                  <a:srgbClr val="595959"/>
                </a:solidFill>
                <a:latin typeface="Avenir Next Medium"/>
                <a:ea typeface="Avenir Next Medium"/>
                <a:cs typeface="Avenir Next Medium"/>
              </a:rPr>
              <a:t>G1 – 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report1 · report2 · report3 — each a runnable notebook full of figures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/21</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 30 × 20 × 11 m shielded room — the walls soak up echoes, so we see only the drone</a:t>
            </a:r>
          </a:p>
        </p:txBody>
      </p:sp>
      <p:pic>
        <p:nvPicPr>
          <p:cNvPr id="20" name="chamber_render"/>
          <p:cNvPicPr>
            <a:picLocks noChangeAspect="1"/>
          </p:cNvPicPr>
          <p:nvPr/>
        </p:nvPicPr>
        <p:blipFill>
          <a:blip r:embed="rId3"/>
          <a:stretch>
            <a:fillRect/>
          </a:stretch>
        </p:blipFill>
        <p:spPr>
          <a:xfrm>
            <a:off x="-485775" y="2753814"/>
            <a:ext cx="10748513" cy="8061385"/>
          </a:xfrm>
          <a:prstGeom prst="rect">
            <a:avLst/>
          </a:prstGeom>
        </p:spPr>
      </p:pic>
      <p:pic>
        <p:nvPicPr>
          <p:cNvPr id="21" name="chamber_plan"/>
          <p:cNvPicPr>
            <a:picLocks noChangeAspect="1"/>
          </p:cNvPicPr>
          <p:nvPr/>
        </p:nvPicPr>
        <p:blipFill>
          <a:blip r:embed="rId4"/>
          <a:stretch>
            <a:fillRect/>
          </a:stretch>
        </p:blipFill>
        <p:spPr>
          <a:xfrm>
            <a:off x="10262738" y="3511153"/>
            <a:ext cx="14184537"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/21</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double-checked → built into an exact 3D model, part by part</a:t>
            </a:r>
          </a:p>
        </p:txBody>
      </p:sp>
      <p:pic>
        <p:nvPicPr>
          <p:cNvPr id="20" name="build_card"/>
          <p:cNvPicPr>
            <a:picLocks noChangeAspect="1"/>
          </p:cNvPicPr>
          <p:nvPr/>
        </p:nvPicPr>
        <p:blipFill>
          <a:blip r:embed="rId3"/>
          <a:stretch>
            <a:fillRect/>
          </a:stretch>
        </p:blipFill>
        <p:spPr>
          <a:xfrm>
            <a:off x="11566924" y="3621952"/>
            <a:ext cx="12355964"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/21</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3500000"/>
            <a:ext cx="20304991" cy="6267676"/>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/21</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0"/>
            <a:ext cx="16599199" cy="10073694"/>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/21</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3"/>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/21</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13</a:t>
            </a:fld>
            <a:r>
              <a:rPr lang="en-US" altLang="ko-KR"/>
              <a:t>/21</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14</a:t>
            </a:fld>
            <a:r>
              <a:rPr lang="en-US" altLang="ko-KR"/>
              <a:t>/21</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15</a:t>
            </a:fld>
            <a:r>
              <a:rPr lang="en-US" altLang="ko-KR"/>
              <a:t>/21</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16</a:t>
            </a:fld>
            <a:r>
              <a:rPr lang="en-US" altLang="ko-KR"/>
              <a:t>/21</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4" y="3495018"/>
            <a:ext cx="19400964" cy="83739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From a static scene toward a full bistatic detection chain</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Fair Pd benchmark</a:t>
            </a:r>
          </a:p>
          <a:p>
            <a:pPr algn="ctr"/>
            <a:r>
              <a:rPr lang="en-US" altLang="ko-KR" sz="2400" b="1" i="0" dirty="0">
                <a:solidFill>
                  <a:srgbClr val="26448A"/>
                </a:solidFill>
                <a:latin typeface="Avenir Next Medium"/>
                <a:ea typeface="Avenir Next Medium"/>
                <a:cs typeface="Avenir Next Medium"/>
              </a:rPr>
              <a:t>across signals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scene, illuminators &amp; signatures are ready — next is the bistatic detection chain</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17</a:t>
            </a:fld>
            <a:r>
              <a:rPr lang="en-US" altLang="ko-KR"/>
              <a:t>/21</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18</a:t>
            </a:fld>
            <a:r>
              <a:rPr lang="en-US" altLang="ko-KR"/>
              <a:t>/21</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19</a:t>
            </a:fld>
            <a:r>
              <a:rPr lang="en-US" altLang="ko-KR"/>
              <a:t>/21</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20</a:t>
            </a:fld>
            <a:r>
              <a:rPr lang="en-US" altLang="ko-KR"/>
              <a:t>/21</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21</a:t>
            </a:fld>
            <a:r>
              <a:rPr lang="en-US" altLang="ko-KR"/>
              <a:t>/21</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22</a:t>
            </a:fld>
            <a:r>
              <a:rPr lang="en-US" altLang="ko-KR"/>
              <a:t>/21</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29184</TotalTime>
  <Words>1660</Words>
  <Application>Microsoft Macintosh PowerPoint</Application>
  <PresentationFormat>사용자 지정</PresentationFormat>
  <Paragraphs>221</Paragraphs>
  <Slides>23</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23</vt:i4>
      </vt:variant>
    </vt:vector>
  </HeadingPairs>
  <TitlesOfParts>
    <vt:vector size="33"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361</cp:revision>
  <dcterms:modified xsi:type="dcterms:W3CDTF">2026-07-13T16:18:24Z</dcterms:modified>
</cp:coreProperties>
</file>