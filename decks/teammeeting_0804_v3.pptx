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68" r:id="rId2"/>
    <p:sldId id="370" r:id="rId3"/>
    <p:sldId id="371" r:id="rId4"/>
    <p:sldId id="382" r:id="rId5"/>
    <p:sldId id="394" r:id="rId6"/>
    <p:sldId id="393" r:id="rId7"/>
    <p:sldId id="391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3DA"/>
    <a:srgbClr val="FFFFFF"/>
    <a:srgbClr val="F2F2F2"/>
    <a:srgbClr val="00B0F0"/>
    <a:srgbClr val="4285F5"/>
    <a:srgbClr val="F7FAF7"/>
    <a:srgbClr val="434DD6"/>
    <a:srgbClr val="629AF7"/>
    <a:srgbClr val="8E8A8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80806" autoAdjust="0"/>
  </p:normalViewPr>
  <p:slideViewPr>
    <p:cSldViewPr snapToGrid="0">
      <p:cViewPr varScale="1">
        <p:scale>
          <a:sx n="65" d="100"/>
          <a:sy n="65" d="100"/>
        </p:scale>
        <p:origin x="1936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67" d="100"/>
          <a:sy n="167" d="100"/>
        </p:scale>
        <p:origin x="543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AECBC2-CF38-51D1-D583-52A90E084F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6E9E40-1BF4-3EA0-BCD4-FC0B197060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2646-EBD2-134A-994F-649BE9EE867E}" type="datetimeFigureOut">
              <a:rPr kumimoji="1" lang="ko-KR" altLang="en-US" smtClean="0"/>
              <a:t>2026. 8. 4.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A6D90B-CC0E-8D2B-BBF2-786B86EFBE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4B1DE0-EB51-D131-A2B1-58E6EC45C0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10B5E-AAB0-4E42-A7D8-1F877DA2206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78196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15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Last week I mostly spent</a:t>
            </a:r>
            <a:r>
              <a:rPr lang="ko-KR" altLang="en-US" dirty="0"/>
              <a:t> </a:t>
            </a:r>
            <a:r>
              <a:rPr lang="en-US" altLang="ko-KR" dirty="0"/>
              <a:t>most of</a:t>
            </a:r>
            <a:r>
              <a:rPr lang="en-US" dirty="0"/>
              <a:t> time on preparing for the group meeting, since it is the first time for preparing such thing, I think I have fail to manage time.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dirty="0"/>
              <a:t>I found two papers that conducted detailed measurements related to RCS values, and using these two papers, </a:t>
            </a:r>
          </a:p>
          <a:p>
            <a:endParaRPr lang="en-US" altLang="ko-KR" dirty="0"/>
          </a:p>
          <a:p>
            <a:r>
              <a:rPr lang="en-US" altLang="ko-KR" dirty="0"/>
              <a:t>I plan to verify the drone meshes that I created and the RCS values generated by the physical optics method.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dirty="0"/>
              <a:t>The first paper was published in </a:t>
            </a:r>
            <a:r>
              <a:rPr lang="en-US" altLang="ko-KR" dirty="0" err="1"/>
              <a:t>EuCAP</a:t>
            </a:r>
            <a:r>
              <a:rPr lang="en-US" altLang="ko-KR" dirty="0"/>
              <a:t>, and as shown in the figure on the right, </a:t>
            </a:r>
          </a:p>
          <a:p>
            <a:endParaRPr lang="en-US" altLang="ko-KR" dirty="0"/>
          </a:p>
          <a:p>
            <a:r>
              <a:rPr lang="en-US" altLang="ko-KR" dirty="0"/>
              <a:t>it is a paper that obtained RCS values by illuminating the drone from various angles in a chamber.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6A77-0174-2FDA-0012-A2E0DE37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B6452-CB8C-3389-84A3-D7C310CA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CAFFB-249E-5D31-C8EE-D5C6AF06FF3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dirty="0"/>
              <a:t>The second paper is a paper published in IEEE WCL, which references the previously introduced paper, </a:t>
            </a:r>
          </a:p>
          <a:p>
            <a:endParaRPr lang="en-US" altLang="ko-KR" dirty="0"/>
          </a:p>
          <a:p>
            <a:r>
              <a:rPr lang="en-US" altLang="ko-KR" dirty="0"/>
              <a:t>and it is a paper that measured not only monostatic but also bistatic settings, various models, and various bands</a:t>
            </a:r>
          </a:p>
          <a:p>
            <a:endParaRPr lang="en-US" dirty="0"/>
          </a:p>
          <a:p>
            <a:br>
              <a:rPr lang="en-US" dirty="0"/>
            </a:br>
            <a:r>
              <a:rPr lang="ko-KR" altLang="en-US" dirty="0"/>
              <a:t>추가로 저번에 말씀드렸던 맥락인데 </a:t>
            </a:r>
            <a:r>
              <a:rPr lang="ko-KR" altLang="en-US" dirty="0" err="1"/>
              <a:t>시오나의</a:t>
            </a:r>
            <a:r>
              <a:rPr lang="ko-KR" altLang="en-US" dirty="0"/>
              <a:t> 경우 </a:t>
            </a:r>
            <a:r>
              <a:rPr lang="en-US" altLang="ko-KR" dirty="0"/>
              <a:t>ray</a:t>
            </a:r>
            <a:r>
              <a:rPr lang="ko-KR" altLang="en-US" dirty="0"/>
              <a:t>가 표면 재질의 반사율에 의한 변동이고</a:t>
            </a:r>
            <a:r>
              <a:rPr lang="en-US" altLang="ko-KR" dirty="0"/>
              <a:t>,</a:t>
            </a:r>
            <a:r>
              <a:rPr lang="ko-KR" altLang="en-US" dirty="0"/>
              <a:t> 물체 전체가 얼마나 </a:t>
            </a:r>
            <a:r>
              <a:rPr lang="ko-KR" altLang="en-US" dirty="0" err="1"/>
              <a:t>되쏘냐가</a:t>
            </a:r>
            <a:r>
              <a:rPr lang="ko-KR" altLang="en-US" dirty="0"/>
              <a:t> 아닙니다</a:t>
            </a:r>
            <a:r>
              <a:rPr lang="en-US" altLang="ko-KR" dirty="0"/>
              <a:t>.</a:t>
            </a:r>
            <a:r>
              <a:rPr lang="ko-KR" altLang="en-US" dirty="0"/>
              <a:t> 이때 물체 전체가 반사하는 값을 구하기 위한 과정이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9045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B005-4DDC-B020-5485-B132984F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CCAAE-5226-BFF7-BF85-242747775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43944-7325-F73D-B0F0-1EE60304B0D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3329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dirty="0"/>
              <a:t>And recently, I have been devoting most of my time to preparing for the group meeting.</a:t>
            </a:r>
          </a:p>
          <a:p>
            <a:endParaRPr lang="en-US" altLang="ko-KR" dirty="0"/>
          </a:p>
          <a:p>
            <a:r>
              <a:rPr lang="en-US" altLang="ko-KR" dirty="0"/>
              <a:t>I am currently creating it with my own thoughts on the overall structure and narrative.</a:t>
            </a:r>
          </a:p>
          <a:p>
            <a:r>
              <a:rPr lang="en-US" altLang="ko-KR" dirty="0"/>
              <a:t>However, there is a question I would like to ask.</a:t>
            </a:r>
          </a:p>
          <a:p>
            <a:endParaRPr lang="en-US" altLang="ko-KR" dirty="0"/>
          </a:p>
          <a:p>
            <a:r>
              <a:rPr lang="en-US" altLang="ko-KR" dirty="0"/>
              <a:t>Looking at the picture on the right, </a:t>
            </a:r>
          </a:p>
          <a:p>
            <a:endParaRPr lang="en-US" altLang="ko-KR" dirty="0"/>
          </a:p>
          <a:p>
            <a:r>
              <a:rPr lang="en-US" altLang="ko-KR" dirty="0"/>
              <a:t>this paper contains large number of equations. A total of 64 equations are written, and even while trying to understand them strictly, if I look at the later steps and go back to the previous steps, the equations become faint in my mind again, </a:t>
            </a:r>
          </a:p>
          <a:p>
            <a:endParaRPr lang="en-US" altLang="ko-KR" dirty="0"/>
          </a:p>
          <a:p>
            <a:r>
              <a:rPr lang="en-US" altLang="ko-KR" dirty="0"/>
              <a:t>and I feel like it is not very meaningful to explain all these equations at the group meeting seminar.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So, I am not sure to what level it is appropriate to explain the equations.</a:t>
            </a:r>
          </a:p>
          <a:p>
            <a:endParaRPr lang="en-US" altLang="ko-KR" dirty="0"/>
          </a:p>
          <a:p>
            <a:r>
              <a:rPr lang="en-US" altLang="ko-KR" dirty="0"/>
              <a:t>Also, since the novelty of this paper itself is presenting a new platform, </a:t>
            </a:r>
          </a:p>
          <a:p>
            <a:r>
              <a:rPr lang="en-US" altLang="ko-KR" dirty="0"/>
              <a:t>and the various equations seem to be a pipeline built by gathering and referencing already established contents scattered here and there into one place, </a:t>
            </a:r>
          </a:p>
          <a:p>
            <a:endParaRPr lang="en-US" altLang="ko-KR" dirty="0"/>
          </a:p>
          <a:p>
            <a:r>
              <a:rPr lang="en-US" altLang="ko-KR" dirty="0"/>
              <a:t>I am even more unsure if explaining the equations is meaningful.</a:t>
            </a:r>
          </a:p>
          <a:p>
            <a:endParaRPr lang="en-US" altLang="ko-KR" dirty="0"/>
          </a:p>
          <a:p>
            <a:r>
              <a:rPr lang="ko-KR" altLang="en-US" dirty="0"/>
              <a:t>그래서 전체적인 파이프라인이 어떻게 구축되어 있는지 설명하고</a:t>
            </a:r>
            <a:endParaRPr lang="en-US" alt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z="2940" spc="-29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9000" b="1" spc="-90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b="1" spc="-59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b="1" spc="-59">
                <a:latin typeface="AvenirNext-DemiBold"/>
                <a:ea typeface="AvenirNext-DemiBold"/>
                <a:cs typeface="AvenirNext-DemiBold"/>
                <a:sym typeface="AvenirNext-D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b="1" spc="-59">
                <a:latin typeface="AvenirNext-DemiBold"/>
                <a:ea typeface="AvenirNext-DemiBold"/>
                <a:cs typeface="AvenirNext-DemiBold"/>
                <a:sym typeface="AvenirNext-D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b="1" spc="-59">
                <a:latin typeface="AvenirNext-DemiBold"/>
                <a:ea typeface="AvenirNext-DemiBold"/>
                <a:cs typeface="AvenirNext-DemiBold"/>
                <a:sym typeface="AvenirNext-D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b="1" spc="-59">
                <a:latin typeface="AvenirNext-DemiBold"/>
                <a:ea typeface="AvenirNext-DemiBold"/>
                <a:cs typeface="AvenirNext-DemiBold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1" name="해 질 무렵의 하늘을 배경으로 둔 바다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슬라이드 부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3390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72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3390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2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3390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 algn="ctr">
              <a:defRPr sz="12800" spc="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의제 부제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4224" b="1" spc="-42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사실 정보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pc="-44"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</a:lstStyle>
          <a:p>
            <a:r>
              <a:t>속성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Canela Bold"/>
                <a:ea typeface="Canela Bold"/>
                <a:cs typeface="Canela Bold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Canela Bold"/>
                <a:ea typeface="Canela Bold"/>
                <a:cs typeface="Canela Bold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Canela Bold"/>
                <a:ea typeface="Canela Bold"/>
                <a:cs typeface="Canela Bold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Canela Bold"/>
                <a:ea typeface="Canela Bold"/>
                <a:cs typeface="Canela Bold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Canela Bold"/>
                <a:ea typeface="Canela Bold"/>
                <a:cs typeface="Canela Bold"/>
                <a:sym typeface="Canela Bold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해 질 무렵의 하늘을 배경으로 둔 바다 2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해 질 무렵의 하늘을 배경으로 둔 바다 1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해 질 무렵의 해변과 바다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해 질 무렵의 해변과 바다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"/>
          <p:cNvSpPr/>
          <p:nvPr/>
        </p:nvSpPr>
        <p:spPr>
          <a:xfrm>
            <a:off x="-5438" y="564834"/>
            <a:ext cx="385436" cy="1702397"/>
          </a:xfrm>
          <a:prstGeom prst="rect">
            <a:avLst/>
          </a:prstGeom>
          <a:gradFill>
            <a:gsLst>
              <a:gs pos="0">
                <a:srgbClr val="5191C8"/>
              </a:gs>
              <a:gs pos="928">
                <a:srgbClr val="6CC1EE"/>
              </a:gs>
              <a:gs pos="100000">
                <a:srgbClr val="26448A"/>
              </a:gs>
            </a:gsLst>
            <a:lin ang="5665584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63B2E2"/>
                </a:solidFill>
                <a:latin typeface="+mn-lt"/>
                <a:ea typeface="+mn-ea"/>
                <a:cs typeface="+mn-cs"/>
                <a:sym typeface="Avenir Next Regular"/>
              </a:defRPr>
            </a:pPr>
            <a:endParaRPr/>
          </a:p>
        </p:txBody>
      </p:sp>
      <p:sp>
        <p:nvSpPr>
          <p:cNvPr id="163" name="Line"/>
          <p:cNvSpPr/>
          <p:nvPr/>
        </p:nvSpPr>
        <p:spPr>
          <a:xfrm>
            <a:off x="672574" y="12767429"/>
            <a:ext cx="23038852" cy="1"/>
          </a:xfrm>
          <a:prstGeom prst="line">
            <a:avLst/>
          </a:prstGeom>
          <a:ln w="25400">
            <a:solidFill>
              <a:srgbClr val="000000">
                <a:alpha val="65278"/>
              </a:srgbClr>
            </a:solidFill>
            <a:miter lim="400000"/>
          </a:ln>
          <a:effectLst>
            <a:outerShdw blurRad="50800" dist="63500" dir="2700000" rotWithShape="0">
              <a:srgbClr val="000000">
                <a:alpha val="24218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64" name="ui_kor_eng.svg" descr="ui_kor_eng.svg"/>
          <p:cNvPicPr>
            <a:picLocks noChangeAspect="1"/>
          </p:cNvPicPr>
          <p:nvPr/>
        </p:nvPicPr>
        <p:blipFill>
          <a:blip r:embed="rId2"/>
          <a:srcRect l="20326" t="44369" r="49479" b="48396"/>
          <a:stretch>
            <a:fillRect/>
          </a:stretch>
        </p:blipFill>
        <p:spPr>
          <a:xfrm>
            <a:off x="540495" y="12877676"/>
            <a:ext cx="2097531" cy="68526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A8802055-71B5-DD4C-5F5C-42B4155A4E7D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571500" indent="-571500">
              <a:buFont typeface="Wingdings" panose="05000000000000000000" pitchFamily="2" charset="2"/>
              <a:buChar char="§"/>
              <a:defRPr/>
            </a:lvl1pPr>
            <a:lvl2pPr marL="1440000" indent="-546100">
              <a:spcBef>
                <a:spcPts val="2400"/>
              </a:spcBef>
              <a:buFont typeface="Arial" panose="020B0604020202020204" pitchFamily="34" charset="0"/>
              <a:buChar char="•"/>
              <a:defRPr sz="4000"/>
            </a:lvl2pPr>
            <a:lvl3pPr marL="2160000" indent="-546100">
              <a:buSzPct val="130000"/>
              <a:buFont typeface="Wingdings" panose="05000000000000000000" pitchFamily="2" charset="2"/>
              <a:buChar char="Ø"/>
              <a:defRPr sz="3600"/>
            </a:lvl3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lang="en-US" dirty="0"/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1"/>
            <a:endParaRPr lang="en-US" dirty="0"/>
          </a:p>
          <a:p>
            <a:pPr lvl="2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757154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"/>
          <p:cNvSpPr/>
          <p:nvPr/>
        </p:nvSpPr>
        <p:spPr>
          <a:xfrm>
            <a:off x="-5438" y="564834"/>
            <a:ext cx="385436" cy="1702397"/>
          </a:xfrm>
          <a:prstGeom prst="rect">
            <a:avLst/>
          </a:prstGeom>
          <a:gradFill>
            <a:gsLst>
              <a:gs pos="0">
                <a:srgbClr val="5191C8"/>
              </a:gs>
              <a:gs pos="928">
                <a:srgbClr val="6CC1EE"/>
              </a:gs>
              <a:gs pos="100000">
                <a:srgbClr val="26448A"/>
              </a:gs>
            </a:gsLst>
            <a:lin ang="5665584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63B2E2"/>
                </a:solidFill>
                <a:latin typeface="+mn-lt"/>
                <a:ea typeface="+mn-ea"/>
                <a:cs typeface="+mn-cs"/>
                <a:sym typeface="Avenir Next Regular"/>
              </a:defRPr>
            </a:pPr>
            <a:endParaRPr/>
          </a:p>
        </p:txBody>
      </p:sp>
      <p:sp>
        <p:nvSpPr>
          <p:cNvPr id="163" name="Line"/>
          <p:cNvSpPr/>
          <p:nvPr/>
        </p:nvSpPr>
        <p:spPr>
          <a:xfrm>
            <a:off x="672574" y="12767429"/>
            <a:ext cx="23038852" cy="1"/>
          </a:xfrm>
          <a:prstGeom prst="line">
            <a:avLst/>
          </a:prstGeom>
          <a:ln w="25400">
            <a:solidFill>
              <a:srgbClr val="000000">
                <a:alpha val="65278"/>
              </a:srgbClr>
            </a:solidFill>
            <a:miter lim="400000"/>
          </a:ln>
          <a:effectLst>
            <a:outerShdw blurRad="50800" dist="63500" dir="2700000" rotWithShape="0">
              <a:srgbClr val="000000">
                <a:alpha val="24218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64" name="ui_kor_eng.svg" descr="ui_kor_eng.svg"/>
          <p:cNvPicPr>
            <a:picLocks noChangeAspect="1"/>
          </p:cNvPicPr>
          <p:nvPr/>
        </p:nvPicPr>
        <p:blipFill>
          <a:blip r:embed="rId2"/>
          <a:srcRect l="20326" t="44369" r="49479" b="48396"/>
          <a:stretch>
            <a:fillRect/>
          </a:stretch>
        </p:blipFill>
        <p:spPr>
          <a:xfrm>
            <a:off x="540495" y="12877676"/>
            <a:ext cx="2097531" cy="68526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493885" y="12947676"/>
            <a:ext cx="1320874" cy="64120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 smtClean="0"/>
              <a:t>‹#›</a:t>
            </a:fld>
            <a:r>
              <a:rPr lang="en-US" dirty="0"/>
              <a:t>/19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69848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7040" y="12418060"/>
            <a:ext cx="629921" cy="711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5E5E5E"/>
                </a:solidFill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6" r:id="rId14"/>
    <p:sldLayoutId id="2147483667" r:id="rId15"/>
  </p:sldLayoutIdLst>
  <p:transition spd="med"/>
  <p:hf hdr="0" ftr="0" dt="0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7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22755-6404-6BD5-C1E7-7E97B862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Intelligent Radio Sensing Lab. (IRS Lab)…">
            <a:extLst>
              <a:ext uri="{FF2B5EF4-FFF2-40B4-BE49-F238E27FC236}">
                <a16:creationId xmlns:a16="http://schemas.microsoft.com/office/drawing/2014/main" id="{2A0768BC-77C5-2C8F-FD38-7C79DD42D6D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1219200" y="8535303"/>
            <a:ext cx="21945600" cy="255061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defTabSz="775969">
              <a:defRPr sz="4700" spc="-47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Intelligent Radio Sensing Lab. (IRS Lab)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75969">
              <a:defRPr sz="4700" spc="-47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of Electrical Engineering and Computer Science</a:t>
            </a:r>
          </a:p>
          <a:p>
            <a:pPr defTabSz="775969">
              <a:defRPr sz="4700" spc="-47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DGIST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itle">
            <a:extLst>
              <a:ext uri="{FF2B5EF4-FFF2-40B4-BE49-F238E27FC236}">
                <a16:creationId xmlns:a16="http://schemas.microsoft.com/office/drawing/2014/main" id="{FEF69C24-0A71-478B-4622-AF755BE20C6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19200" y="3358256"/>
            <a:ext cx="21945600" cy="241264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500" spc="-115"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r>
              <a:rPr lang="en-US" altLang="ko-KR" sz="8800" dirty="0"/>
              <a:t>Team Meeting</a:t>
            </a:r>
            <a:endParaRPr lang="ko-KR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Name">
            <a:extLst>
              <a:ext uri="{FF2B5EF4-FFF2-40B4-BE49-F238E27FC236}">
                <a16:creationId xmlns:a16="http://schemas.microsoft.com/office/drawing/2014/main" id="{0BF5DE56-8C9C-68F7-1AAA-48628C929F2B}"/>
              </a:ext>
            </a:extLst>
          </p:cNvPr>
          <p:cNvSpPr txBox="1">
            <a:spLocks noGrp="1"/>
          </p:cNvSpPr>
          <p:nvPr>
            <p:ph type="subTitle" sz="quarter" idx="1"/>
          </p:nvPr>
        </p:nvSpPr>
        <p:spPr>
          <a:xfrm>
            <a:off x="1196898" y="6342708"/>
            <a:ext cx="21945600" cy="24756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800" spc="-68"/>
            </a:lvl1pPr>
          </a:lstStyle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Yunjung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Jeong</a:t>
            </a:r>
          </a:p>
        </p:txBody>
      </p:sp>
      <p:pic>
        <p:nvPicPr>
          <p:cNvPr id="178" name="ui_kor_eng.svg" descr="ui_kor_eng.svg">
            <a:extLst>
              <a:ext uri="{FF2B5EF4-FFF2-40B4-BE49-F238E27FC236}">
                <a16:creationId xmlns:a16="http://schemas.microsoft.com/office/drawing/2014/main" id="{D19F379D-ACF2-BC9C-AC4C-88D448E95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1" t="62673" r="49648" b="28626"/>
          <a:stretch>
            <a:fillRect/>
          </a:stretch>
        </p:blipFill>
        <p:spPr>
          <a:xfrm>
            <a:off x="290004" y="123643"/>
            <a:ext cx="3109180" cy="122746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Name">
            <a:extLst>
              <a:ext uri="{FF2B5EF4-FFF2-40B4-BE49-F238E27FC236}">
                <a16:creationId xmlns:a16="http://schemas.microsoft.com/office/drawing/2014/main" id="{DCA5BEBF-35EA-CB12-2A3F-CA4921AF5198}"/>
              </a:ext>
            </a:extLst>
          </p:cNvPr>
          <p:cNvSpPr txBox="1">
            <a:spLocks/>
          </p:cNvSpPr>
          <p:nvPr/>
        </p:nvSpPr>
        <p:spPr>
          <a:xfrm>
            <a:off x="1219200" y="7410006"/>
            <a:ext cx="21945600" cy="225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1" i="0" u="none" strike="noStrike" cap="none" spc="-68" baseline="0">
                <a:solidFill>
                  <a:srgbClr val="000000"/>
                </a:solidFill>
                <a:uFillTx/>
                <a:latin typeface="AvenirNext-DemiBold"/>
                <a:ea typeface="AvenirNext-DemiBold"/>
                <a:cs typeface="AvenirNext-DemiBold"/>
                <a:sym typeface="AvenirNext-DemiBold"/>
              </a:defRPr>
            </a:lvl1pPr>
            <a:lvl2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59" baseline="0">
                <a:solidFill>
                  <a:srgbClr val="000000"/>
                </a:solidFill>
                <a:uFillTx/>
                <a:latin typeface="AvenirNext-DemiBold"/>
                <a:ea typeface="AvenirNext-DemiBold"/>
                <a:cs typeface="AvenirNext-DemiBold"/>
                <a:sym typeface="AvenirNext-DemiBold"/>
              </a:defRPr>
            </a:lvl2pPr>
            <a:lvl3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59" baseline="0">
                <a:solidFill>
                  <a:srgbClr val="000000"/>
                </a:solidFill>
                <a:uFillTx/>
                <a:latin typeface="AvenirNext-DemiBold"/>
                <a:ea typeface="AvenirNext-DemiBold"/>
                <a:cs typeface="AvenirNext-DemiBold"/>
                <a:sym typeface="AvenirNext-DemiBold"/>
              </a:defRPr>
            </a:lvl3pPr>
            <a:lvl4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59" baseline="0">
                <a:solidFill>
                  <a:srgbClr val="000000"/>
                </a:solidFill>
                <a:uFillTx/>
                <a:latin typeface="AvenirNext-DemiBold"/>
                <a:ea typeface="AvenirNext-DemiBold"/>
                <a:cs typeface="AvenirNext-DemiBold"/>
                <a:sym typeface="AvenirNext-DemiBold"/>
              </a:defRPr>
            </a:lvl4pPr>
            <a:lvl5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59" baseline="0">
                <a:solidFill>
                  <a:srgbClr val="000000"/>
                </a:solidFill>
                <a:uFillTx/>
                <a:latin typeface="AvenirNext-DemiBold"/>
                <a:ea typeface="AvenirNext-DemiBold"/>
                <a:cs typeface="AvenirNext-DemiBold"/>
                <a:sym typeface="AvenirNext-DemiBold"/>
              </a:defRPr>
            </a:lvl5pPr>
            <a:lvl6pPr marL="3276600" marR="0" indent="-546100" algn="l" defTabSz="2438338" rtl="0" latinLnBrk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150000"/>
              <a:buFontTx/>
              <a:buChar char="•"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6pPr>
            <a:lvl7pPr marL="3822700" marR="0" indent="-546100" algn="l" defTabSz="2438338" rtl="0" latinLnBrk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150000"/>
              <a:buFontTx/>
              <a:buChar char="•"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7pPr>
            <a:lvl8pPr marL="4368800" marR="0" indent="-546100" algn="l" defTabSz="2438338" rtl="0" latinLnBrk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150000"/>
              <a:buFontTx/>
              <a:buChar char="•"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8pPr>
            <a:lvl9pPr marL="4914900" marR="0" indent="-546100" algn="l" defTabSz="2438338" rtl="0" latinLnBrk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150000"/>
              <a:buFontTx/>
              <a:buChar char="•"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9pPr>
          </a:lstStyle>
          <a:p>
            <a:pPr hangingPunct="1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2026. 08. 04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0849" y="12418060"/>
            <a:ext cx="629921" cy="711201"/>
          </a:xfrm>
          <a:prstGeom prst="rect">
            <a:avLst/>
          </a:prstGeom>
        </p:spPr>
        <p:txBody>
          <a:bodyPr/>
          <a:lstStyle/>
          <a:p>
            <a: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5624979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9328" y="449885"/>
            <a:ext cx="20999501" cy="599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E74B5"/>
                </a:solidFill>
                <a:latin typeface="AvenirNext-DemiBol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821" y="1039673"/>
            <a:ext cx="22979482" cy="1075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000000"/>
                </a:solidFill>
                <a:latin typeface="AvenirNext-DemiBold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781" y="2197913"/>
            <a:ext cx="22599091" cy="728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 dirty="0">
                <a:solidFill>
                  <a:srgbClr val="E22146"/>
                </a:solidFill>
                <a:latin typeface="AvenirNext-DemiBold"/>
              </a:rPr>
              <a:t>A short week, and two papers worth flagging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328" y="3465503"/>
            <a:ext cx="121920" cy="1358564"/>
          </a:xfrm>
          <a:prstGeom prst="rect">
            <a:avLst/>
          </a:prstGeom>
          <a:solidFill>
            <a:srgbClr val="264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5776" y="3145841"/>
            <a:ext cx="22213824" cy="1997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Avenir Next Medium"/>
              </a:rPr>
              <a:t>Part 1 - RCS references for the drone mesh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E07095-0EA9-2E45-0470-0EA40C2D05B4}"/>
              </a:ext>
            </a:extLst>
          </p:cNvPr>
          <p:cNvGrpSpPr/>
          <p:nvPr/>
        </p:nvGrpSpPr>
        <p:grpSpPr>
          <a:xfrm>
            <a:off x="685190" y="8366760"/>
            <a:ext cx="22750272" cy="1997888"/>
            <a:chOff x="719328" y="5500345"/>
            <a:chExt cx="22750272" cy="1997888"/>
          </a:xfrm>
        </p:grpSpPr>
        <p:sp>
          <p:nvSpPr>
            <p:cNvPr id="7" name="Rectangle 6"/>
            <p:cNvSpPr/>
            <p:nvPr/>
          </p:nvSpPr>
          <p:spPr>
            <a:xfrm>
              <a:off x="719328" y="5820007"/>
              <a:ext cx="121920" cy="1358564"/>
            </a:xfrm>
            <a:prstGeom prst="rect">
              <a:avLst/>
            </a:prstGeom>
            <a:solidFill>
              <a:srgbClr val="264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55776" y="5500345"/>
              <a:ext cx="22213824" cy="1997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3300" b="0" i="0">
                  <a:solidFill>
                    <a:srgbClr val="000000"/>
                  </a:solidFill>
                  <a:latin typeface="Avenir Next Medium"/>
                </a:rPr>
                <a:t>Part 2 - OpenISAC group meeting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51CD73A-334E-739F-D8BE-418D821ED146}"/>
              </a:ext>
            </a:extLst>
          </p:cNvPr>
          <p:cNvGrpSpPr/>
          <p:nvPr/>
        </p:nvGrpSpPr>
        <p:grpSpPr>
          <a:xfrm>
            <a:off x="1706880" y="5349240"/>
            <a:ext cx="21762720" cy="1080000"/>
            <a:chOff x="1706880" y="8174510"/>
            <a:chExt cx="21762720" cy="1080000"/>
          </a:xfrm>
        </p:grpSpPr>
        <p:sp>
          <p:nvSpPr>
            <p:cNvPr id="9" name="Rectangle 8"/>
            <p:cNvSpPr/>
            <p:nvPr/>
          </p:nvSpPr>
          <p:spPr>
            <a:xfrm>
              <a:off x="1706880" y="8174510"/>
              <a:ext cx="121920" cy="108000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82368" y="8174510"/>
              <a:ext cx="21287232" cy="108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2800" b="0" i="0">
                  <a:solidFill>
                    <a:srgbClr val="000000"/>
                  </a:solidFill>
                  <a:latin typeface="Avenir Next Medium"/>
                </a:rPr>
                <a:t>Paper 1: Mono-static 3D UAV RCS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83EF8AF-9B89-F224-39ED-8C3098D12468}"/>
              </a:ext>
            </a:extLst>
          </p:cNvPr>
          <p:cNvGrpSpPr/>
          <p:nvPr/>
        </p:nvGrpSpPr>
        <p:grpSpPr>
          <a:xfrm>
            <a:off x="1706880" y="6720840"/>
            <a:ext cx="21823680" cy="1080000"/>
            <a:chOff x="1645920" y="10529014"/>
            <a:chExt cx="21823680" cy="1080000"/>
          </a:xfrm>
        </p:grpSpPr>
        <p:sp>
          <p:nvSpPr>
            <p:cNvPr id="11" name="Rectangle 10"/>
            <p:cNvSpPr/>
            <p:nvPr/>
          </p:nvSpPr>
          <p:spPr>
            <a:xfrm>
              <a:off x="1645920" y="10529014"/>
              <a:ext cx="121920" cy="108000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82368" y="10529014"/>
              <a:ext cx="21287232" cy="108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2800" b="0" i="0" dirty="0">
                  <a:solidFill>
                    <a:srgbClr val="000000"/>
                  </a:solidFill>
                  <a:latin typeface="Avenir Next Medium"/>
                </a:rPr>
                <a:t>Paper 2: Multiband monostatic and bistatic RCS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4360164"/>
            <a:ext cx="2145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2E74B5"/>
                </a:solidFill>
                <a:latin typeface="AvenirNext-DemiBold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567172"/>
            <a:ext cx="21457920" cy="108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0" b="1" i="0">
                <a:solidFill>
                  <a:srgbClr val="000000"/>
                </a:solidFill>
                <a:latin typeface="AvenirNext-DemiBold"/>
              </a:rPr>
              <a:t>RCS references for the drone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7033260"/>
            <a:ext cx="19994880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>
                <a:solidFill>
                  <a:srgbClr val="5E5E5E"/>
                </a:solidFill>
                <a:latin typeface="Avenir Next Medium"/>
              </a:rPr>
              <a:t>Two measurement papers found while preparing the Sionna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9328" y="449885"/>
            <a:ext cx="20999501" cy="599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E74B5"/>
                </a:solidFill>
                <a:latin typeface="AvenirNext-DemiBold"/>
              </a:rPr>
              <a:t>PART 1 · RCS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821" y="1039673"/>
            <a:ext cx="22979482" cy="1075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000000"/>
                </a:solidFill>
                <a:latin typeface="AvenirNext-DemiBold"/>
              </a:rPr>
              <a:t>Two measured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781" y="2197913"/>
            <a:ext cx="22599091" cy="728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 dirty="0">
                <a:solidFill>
                  <a:srgbClr val="E22146"/>
                </a:solidFill>
                <a:latin typeface="AvenirNext-DemiBold"/>
              </a:rPr>
              <a:t>Measured RCS, which is what the mesh has never been checked against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0E4B6-6AF5-34C7-576A-7C321DA0B4BD}"/>
              </a:ext>
            </a:extLst>
          </p:cNvPr>
          <p:cNvGrpSpPr/>
          <p:nvPr/>
        </p:nvGrpSpPr>
        <p:grpSpPr>
          <a:xfrm>
            <a:off x="720000" y="3240000"/>
            <a:ext cx="10519258" cy="7936687"/>
            <a:chOff x="719328" y="3145841"/>
            <a:chExt cx="10519258" cy="7936687"/>
          </a:xfrm>
        </p:grpSpPr>
        <p:sp>
          <p:nvSpPr>
            <p:cNvPr id="5" name="Rectangle 4"/>
            <p:cNvSpPr/>
            <p:nvPr/>
          </p:nvSpPr>
          <p:spPr>
            <a:xfrm>
              <a:off x="719328" y="3145841"/>
              <a:ext cx="10519258" cy="1050646"/>
            </a:xfrm>
            <a:prstGeom prst="rect">
              <a:avLst/>
            </a:prstGeom>
            <a:solidFill>
              <a:srgbClr val="264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11936" y="3145841"/>
              <a:ext cx="9973056" cy="10506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sz="3400" b="1" i="0">
                  <a:solidFill>
                    <a:srgbClr val="FFBD16"/>
                  </a:solidFill>
                  <a:latin typeface="AvenirNext-DemiBold"/>
                </a:rPr>
                <a:t>1   Mono-static 3D UAV RCS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19328" y="4196486"/>
              <a:ext cx="10519258" cy="6886042"/>
            </a:xfrm>
            <a:prstGeom prst="rect">
              <a:avLst/>
            </a:prstGeom>
            <a:noFill/>
            <a:ln w="19050">
              <a:solidFill>
                <a:srgbClr val="D5D5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0704" y="5661273"/>
              <a:ext cx="9836506" cy="39564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800" b="0" i="0" dirty="0">
                  <a:solidFill>
                    <a:srgbClr val="000000"/>
                  </a:solidFill>
                  <a:latin typeface="Avenir Next Medium"/>
                </a:rPr>
                <a:t>On Experimental Analysis of Mono-Static 3D UAV RCS for ISAC Channel Modeling</a:t>
              </a:r>
            </a:p>
            <a:p>
              <a:pPr algn="l"/>
              <a:r>
                <a:rPr sz="2800" b="0" dirty="0">
                  <a:solidFill>
                    <a:srgbClr val="000000"/>
                  </a:solidFill>
                  <a:latin typeface="Avenir Next Medium"/>
                </a:rPr>
                <a:t>Yuan, Yu, Li, and Fan - </a:t>
              </a:r>
              <a:r>
                <a:rPr sz="2800" b="0" dirty="0" err="1">
                  <a:solidFill>
                    <a:srgbClr val="000000"/>
                  </a:solidFill>
                  <a:latin typeface="Avenir Next Medium"/>
                </a:rPr>
                <a:t>EuCAP</a:t>
              </a:r>
              <a:r>
                <a:rPr sz="2800" b="0" dirty="0">
                  <a:solidFill>
                    <a:srgbClr val="000000"/>
                  </a:solidFill>
                  <a:latin typeface="Avenir Next Medium"/>
                </a:rPr>
                <a:t> 2025</a:t>
              </a:r>
            </a:p>
            <a:p>
              <a:pPr algn="l"/>
              <a:endParaRPr sz="2800" b="0" dirty="0">
                <a:solidFill>
                  <a:srgbClr val="000000"/>
                </a:solidFill>
                <a:latin typeface="Avenir Next Medium"/>
              </a:endParaRPr>
            </a:p>
            <a:p>
              <a:pPr algn="l"/>
              <a:r>
                <a:rPr sz="2800" b="0" dirty="0">
                  <a:solidFill>
                    <a:srgbClr val="000000"/>
                  </a:solidFill>
                  <a:latin typeface="Avenir Next Medium"/>
                </a:rPr>
                <a:t>Measured mono-static UAV RCS over a three-dimensional aspect grid.</a:t>
              </a:r>
            </a:p>
            <a:p>
              <a:pPr algn="l"/>
              <a:endParaRPr sz="2800" b="0" dirty="0">
                <a:solidFill>
                  <a:srgbClr val="000000"/>
                </a:solidFill>
                <a:latin typeface="Avenir Next Medium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60A5FAE1-DEF0-E7E4-37C3-501EA8992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085" y="3554330"/>
            <a:ext cx="10957787" cy="6886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D5BB-7E52-D331-993B-082769B4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91894D-5491-4B10-DC1F-589764D046D6}"/>
              </a:ext>
            </a:extLst>
          </p:cNvPr>
          <p:cNvSpPr txBox="1"/>
          <p:nvPr/>
        </p:nvSpPr>
        <p:spPr>
          <a:xfrm>
            <a:off x="719328" y="449885"/>
            <a:ext cx="20999501" cy="599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E74B5"/>
                </a:solidFill>
                <a:latin typeface="AvenirNext-DemiBold"/>
              </a:rPr>
              <a:t>PART 1 · RCS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AAB08-6F14-FBAA-3862-DD3818385626}"/>
              </a:ext>
            </a:extLst>
          </p:cNvPr>
          <p:cNvSpPr txBox="1"/>
          <p:nvPr/>
        </p:nvSpPr>
        <p:spPr>
          <a:xfrm>
            <a:off x="699821" y="1039673"/>
            <a:ext cx="22979482" cy="1075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000000"/>
                </a:solidFill>
                <a:latin typeface="AvenirNext-DemiBold"/>
              </a:rPr>
              <a:t>Two measured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49258-6568-E1C5-C78E-7AD6859DE6AF}"/>
              </a:ext>
            </a:extLst>
          </p:cNvPr>
          <p:cNvSpPr txBox="1"/>
          <p:nvPr/>
        </p:nvSpPr>
        <p:spPr>
          <a:xfrm>
            <a:off x="760781" y="2197913"/>
            <a:ext cx="22599091" cy="728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 dirty="0">
                <a:solidFill>
                  <a:srgbClr val="E22146"/>
                </a:solidFill>
                <a:latin typeface="AvenirNext-DemiBold"/>
              </a:rPr>
              <a:t>Measured RCS, which is what the mesh has never been checked against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189FE0C-E2CE-542A-C28C-7B24D78B0043}"/>
              </a:ext>
            </a:extLst>
          </p:cNvPr>
          <p:cNvGrpSpPr/>
          <p:nvPr/>
        </p:nvGrpSpPr>
        <p:grpSpPr>
          <a:xfrm>
            <a:off x="720000" y="3240000"/>
            <a:ext cx="10519258" cy="7936687"/>
            <a:chOff x="760781" y="3417303"/>
            <a:chExt cx="10519258" cy="793668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6878F6-7A82-F7CC-FC7B-E29445559797}"/>
                </a:ext>
              </a:extLst>
            </p:cNvPr>
            <p:cNvSpPr/>
            <p:nvPr/>
          </p:nvSpPr>
          <p:spPr>
            <a:xfrm>
              <a:off x="760781" y="3417303"/>
              <a:ext cx="10519258" cy="1050646"/>
            </a:xfrm>
            <a:prstGeom prst="rect">
              <a:avLst/>
            </a:prstGeom>
            <a:solidFill>
              <a:srgbClr val="264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0C14E4-3C21-CEB0-8D25-F6BAB72A8884}"/>
                </a:ext>
              </a:extLst>
            </p:cNvPr>
            <p:cNvSpPr txBox="1"/>
            <p:nvPr/>
          </p:nvSpPr>
          <p:spPr>
            <a:xfrm>
              <a:off x="1053389" y="3417303"/>
              <a:ext cx="9973056" cy="10506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sz="3400" b="1" i="0" dirty="0">
                  <a:solidFill>
                    <a:srgbClr val="FFBD16"/>
                  </a:solidFill>
                  <a:latin typeface="AvenirNext-DemiBold"/>
                </a:rPr>
                <a:t>2   Multiband monostatic and bistatic RCS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C43643-E326-3102-0A58-78CF9A8FEBCD}"/>
                </a:ext>
              </a:extLst>
            </p:cNvPr>
            <p:cNvSpPr/>
            <p:nvPr/>
          </p:nvSpPr>
          <p:spPr>
            <a:xfrm>
              <a:off x="760781" y="4467948"/>
              <a:ext cx="10519258" cy="6886042"/>
            </a:xfrm>
            <a:prstGeom prst="rect">
              <a:avLst/>
            </a:prstGeom>
            <a:noFill/>
            <a:ln w="19050">
              <a:solidFill>
                <a:srgbClr val="D5D5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000" tIns="30000" rIns="60000" bIns="30000"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F614C-B486-8659-6772-B7216896CB9E}"/>
                </a:ext>
              </a:extLst>
            </p:cNvPr>
            <p:cNvSpPr txBox="1"/>
            <p:nvPr/>
          </p:nvSpPr>
          <p:spPr>
            <a:xfrm>
              <a:off x="1102157" y="6126634"/>
              <a:ext cx="9836506" cy="35686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800" b="0" i="0" dirty="0">
                  <a:solidFill>
                    <a:srgbClr val="000000"/>
                  </a:solidFill>
                  <a:latin typeface="Avenir Next Medium"/>
                </a:rPr>
                <a:t>Multiband Monostatic and Bistatic RCS Characterization of AAVs for ISAC Channel Modeling</a:t>
              </a:r>
            </a:p>
            <a:p>
              <a:pPr algn="l"/>
              <a:r>
                <a:rPr sz="2800" b="0" dirty="0">
                  <a:solidFill>
                    <a:srgbClr val="000000"/>
                  </a:solidFill>
                  <a:latin typeface="Avenir Next Medium"/>
                </a:rPr>
                <a:t>Das et al. - IEEE Wireless Communications Letters, 2026</a:t>
              </a:r>
            </a:p>
            <a:p>
              <a:pPr algn="l"/>
              <a:endParaRPr sz="2800" b="0" dirty="0">
                <a:solidFill>
                  <a:srgbClr val="000000"/>
                </a:solidFill>
                <a:latin typeface="Avenir Next Medium"/>
              </a:endParaRPr>
            </a:p>
            <a:p>
              <a:pPr algn="l"/>
              <a:r>
                <a:rPr sz="2800" b="0" dirty="0">
                  <a:solidFill>
                    <a:srgbClr val="000000"/>
                  </a:solidFill>
                  <a:latin typeface="Avenir Next Medium"/>
                </a:rPr>
                <a:t>Adds the bistatic geometry and several frequency bands.</a:t>
              </a:r>
            </a:p>
            <a:p>
              <a:pPr algn="l"/>
              <a:endParaRPr sz="2800" b="0" dirty="0">
                <a:solidFill>
                  <a:srgbClr val="000000"/>
                </a:solidFill>
                <a:latin typeface="Avenir Next Medium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A5E23798-8944-A479-6E25-0C6BA62A7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259" y="4290645"/>
            <a:ext cx="10578253" cy="606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6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5AB5-B72E-87E9-B5DE-DE7DA93D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6DF75-3901-BE9A-706B-5953CEF29EEC}"/>
              </a:ext>
            </a:extLst>
          </p:cNvPr>
          <p:cNvSpPr txBox="1"/>
          <p:nvPr/>
        </p:nvSpPr>
        <p:spPr>
          <a:xfrm>
            <a:off x="1463040" y="4268724"/>
            <a:ext cx="21457920" cy="540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800" b="1" i="0" dirty="0">
                <a:solidFill>
                  <a:srgbClr val="2E74B5"/>
                </a:solidFill>
                <a:latin typeface="AvenirNext-DemiBold"/>
              </a:rPr>
              <a:t>PART 2</a:t>
            </a:r>
            <a:endParaRPr sz="3800" b="1" i="0" dirty="0">
              <a:solidFill>
                <a:srgbClr val="2E74B5"/>
              </a:solidFill>
              <a:latin typeface="AvenirNext-D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7744D-BA20-3223-385A-101E80BDCC21}"/>
              </a:ext>
            </a:extLst>
          </p:cNvPr>
          <p:cNvSpPr txBox="1"/>
          <p:nvPr/>
        </p:nvSpPr>
        <p:spPr>
          <a:xfrm>
            <a:off x="1463040" y="5475732"/>
            <a:ext cx="21457920" cy="882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0" b="1" i="0" dirty="0">
                <a:solidFill>
                  <a:srgbClr val="000000"/>
                </a:solidFill>
                <a:latin typeface="AvenirNext-DemiBold"/>
              </a:rPr>
              <a:t>OpenISAC group meeting</a:t>
            </a:r>
          </a:p>
        </p:txBody>
      </p:sp>
    </p:spTree>
    <p:extLst>
      <p:ext uri="{BB962C8B-B14F-4D97-AF65-F5344CB8AC3E}">
        <p14:creationId xmlns:p14="http://schemas.microsoft.com/office/powerpoint/2010/main" val="407406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9328" y="449885"/>
            <a:ext cx="20999501" cy="599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E74B5"/>
                </a:solidFill>
                <a:latin typeface="AvenirNext-DemiBold"/>
              </a:rPr>
              <a:t>PART 2 · OPENISAC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821" y="1039673"/>
            <a:ext cx="22979482" cy="1075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000000"/>
                </a:solidFill>
                <a:latin typeface="AvenirNext-DemiBold"/>
              </a:rPr>
              <a:t>Group meeting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781" y="2197913"/>
            <a:ext cx="22599091" cy="728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000000"/>
                </a:solidFill>
                <a:latin typeface="AvenirNext-DemiBold"/>
              </a:rPr>
              <a:t>Most of this week went into the OpenISAC review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5E25FDE-DA2F-6641-8EBF-843E6B6E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" y="2924064"/>
            <a:ext cx="12006279" cy="66497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D5A2D77-98C4-C745-F7D1-117BB5F3E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879" y="1039673"/>
            <a:ext cx="11035931" cy="112690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DEBC22-160E-CE6F-8EB3-2F3FF08CF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821" y="9590154"/>
            <a:ext cx="4692650" cy="30396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30421</TotalTime>
  <Words>603</Words>
  <Application>Microsoft Macintosh PowerPoint</Application>
  <PresentationFormat>사용자 지정</PresentationFormat>
  <Paragraphs>70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Canela Bold</vt:lpstr>
      <vt:lpstr>Canela Deck Regular</vt:lpstr>
      <vt:lpstr>Canela Regular</vt:lpstr>
      <vt:lpstr>Arial</vt:lpstr>
      <vt:lpstr>Avenir Next Medium</vt:lpstr>
      <vt:lpstr>Avenir Next Regular</vt:lpstr>
      <vt:lpstr>AvenirNext-DemiBold</vt:lpstr>
      <vt:lpstr>Helvetica Neue</vt:lpstr>
      <vt:lpstr>Wingdings</vt:lpstr>
      <vt:lpstr>23_ClassicWhite</vt:lpstr>
      <vt:lpstr>Team Meeting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김재현</dc:creator>
  <cp:lastModifiedBy>Jeong Yunjung</cp:lastModifiedBy>
  <cp:revision>399</cp:revision>
  <dcterms:modified xsi:type="dcterms:W3CDTF">2026-08-04T06:00:56Z</dcterms:modified>
</cp:coreProperties>
</file>