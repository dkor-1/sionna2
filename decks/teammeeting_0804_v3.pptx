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handoutMasterIdLst>
    <p:handoutMasterId r:id="rId19"/>
  </p:handoutMasterIdLst>
  <p:sldIdLst>
    <p:sldId id="368" r:id="rId2"/>
    <p:sldId id="369" r:id="rId9"/>
    <p:sldId id="370" r:id="rId10"/>
    <p:sldId id="371" r:id="rId11"/>
    <p:sldId id="372" r:id="rId12"/>
    <p:sldId id="373" r:id="rId13"/>
    <p:sldId id="374" r:id="rId14"/>
    <p:sldId id="375" r:id="rId15"/>
    <p:sldId id="376" r:id="rId16"/>
    <p:sldId id="377" r:id="rId17"/>
    <p:sldId id="378" r:id="rId8"/>
    <p:sldId id="379" r:id="rId7"/>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89"/>
    <p:restoredTop sz="80803" autoAdjust="0"/>
  </p:normalViewPr>
  <p:slideViewPr>
    <p:cSldViewPr snapToGrid="0">
      <p:cViewPr varScale="1">
        <p:scale>
          <a:sx n="89" d="100"/>
          <a:sy n="89" d="100"/>
        </p:scale>
        <p:origin x="185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2026. 7. 21.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Good morning.</a:t>
            </a:r>
          </a:p>
          <a:p>
            <a:r>
              <a:t>Today is one experiment, reported in order.</a:t>
            </a:r>
          </a:p>
          <a:p>
            <a:r>
              <a:t>I built a Phantom 3 mesh with the published answer sealed, I preregistered the rule that decides it, and I put two dumb objects through the same pipeline to compete with it.</a:t>
            </a:r>
          </a:p>
          <a:p>
            <a:r>
              <a:t>The mesh arm has run and the seal is off, so there is a number on the screen today. The two control arms have not run, so there is no verdict yet.</a:t>
            </a:r>
          </a:p>
          <a:p>
            <a:r>
              <a:t>What I bring is the anchor, the design, the rule, the first number, and one ask.</a:t>
            </a:r>
          </a:p>
          <a:p/>
          <a:p>
            <a:r>
              <a:t>Q: Why report a test before the controls are in?</a:t>
            </a:r>
          </a:p>
          <a:p>
            <a:r>
              <a:t>A: Because the rule had to be fixed before the seal came off, and the number you will see was produced under that rule.</a:t>
            </a:r>
          </a:p>
          <a:p/>
          <a:p>
            <a:r>
              <a:t>— 한국어 해설 —</a:t>
            </a:r>
          </a:p>
          <a:p>
            <a:r>
              <a:t>오늘은 실험 하나를 순서대로 보고합니다.</a:t>
            </a:r>
          </a:p>
          <a:p>
            <a:r>
              <a:t>정답을 봉인한 채 Phantom 3 메쉬를 만들었고, 판정 규칙을 미리 등록했고, 단순한 물체 둘을 같은 경로로 통과시켜 경쟁시킵니다.</a:t>
            </a:r>
          </a:p>
          <a:p>
            <a:r>
              <a:t>⭐ 메쉬 팔은 돌았고 봉인도 풀렸습니다. 그래서 오늘은 화면에 숫자가 있습니다. 다만 대조군 두 팔이 안 돌아서 판정은 없습니다.</a:t>
            </a:r>
          </a:p>
          <a:p>
            <a:r>
              <a:t>가져온 것은 앵커, 설계, 규칙, 첫 숫자, 그리고 요청 하나입니다.</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One sentence first, so nobody has to reconstruct it later.</a:t>
            </a:r>
          </a:p>
          <a:p>
            <a:r>
              <a:t>I built a Phantom 3 mesh with the published answer sealed, and I preregistered a pass or fail rule with two dumb object controls.</a:t>
            </a:r>
          </a:p>
          <a:p>
            <a:r>
              <a:t>Four facts under it.</a:t>
            </a:r>
          </a:p>
          <a:p>
            <a:r>
              <a:t>One. The external yardstick is a single anechoic chamber measurement of a real DJI Phantom 3, and it reaches us through two published papers.</a:t>
            </a:r>
          </a:p>
          <a:p>
            <a:r>
              <a:t>Two. The blind arm ran end to end and the seal has since been opened. Against the one comparison where elevation, averaging convention and estimator are all matched, our azimuth averaged level sits four point nine dB under the measured curve, band averaged, and seven point nine seven dB under at one point eight gigahertz.</a:t>
            </a:r>
          </a:p>
          <a:p>
            <a:r>
              <a:t>Three. Our fitted frequency slope is zero point four two zero dB per gigahertz with a standard error of zero point zero six six. The elevation matched measurement is zero point three one five. That is one point six sigma, so at ninety five percent the two slopes are not distinguishable.</a:t>
            </a:r>
          </a:p>
          <a:p>
            <a:r>
              <a:t>Four. The conducting cube and the plain box have not been run. The preregistered rule scores our arm against those controls, so there is no verdict today and I will not do the subtraction informally in this room.</a:t>
            </a:r>
          </a:p>
          <a:p/>
          <a:p>
            <a:r>
              <a:t>Q: If your own number exists, why not just call it now?</a:t>
            </a:r>
          </a:p>
          <a:p>
            <a:r>
              <a:t>A: Because the rule grades a margin over the controls, not an error against the anchor alone. A number without its baseline is exactly what this design exists to avoid.</a:t>
            </a:r>
          </a:p>
          <a:p/>
          <a:p>
            <a:r>
              <a:t>— 한국어 해설 —</a:t>
            </a:r>
          </a:p>
          <a:p>
            <a:r>
              <a:t>먼저 한 문장으로 말하고 시작합니다.</a:t>
            </a:r>
          </a:p>
          <a:p>
            <a:r>
              <a:t>정답을 봉인한 채 Phantom 3 메쉬를 만들었고, 합격/불합격 규칙과 무지성 대조군 두 개를 미리 등록했습니다.</a:t>
            </a:r>
          </a:p>
          <a:p>
            <a:r>
              <a:t>그 아래 사실 넷입니다.</a:t>
            </a:r>
          </a:p>
          <a:p>
            <a:r>
              <a:t>1. 외부 잣대는 실제 DJI Phantom 3 를 무향실에서 재 측정 1건이고, 논문 두 편을 통해 우리에게 옵니다.</a:t>
            </a:r>
          </a:p>
          <a:p>
            <a:r>
              <a:t>2. 눈감은 팔은 끝까지 돌았고 그 뒤 봉인을 풀었습니다. 고도·규약·추정량이 모두 정합한 유일한 대조에서 우리 방위평균 레벨은 밴드평균 4.9 dB 낮고, 1.8 GHz 에서는 7.97 dB 낮습니다.</a:t>
            </a:r>
          </a:p>
          <a:p>
            <a:r>
              <a:t>3. 우리 기울기는 0.420 ± 0.066 dB/GHz, 고도정합 실측은 0.315 입니다. 1.6σ 라 95% 에서 구분되지 않습니다.</a:t>
            </a:r>
          </a:p>
          <a:p>
            <a:r>
              <a:t>4. 완전도체 정육면체와 단순 상자는 아직 안 돌았습니다. 규칙은 대조군 대비 여유폭을 채점하므로 오늘 판정은 없고, 이 자리에서 즉석으로 뺄셈하지 않습니다.</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anchor, and the first thing to get right is who measured what.</a:t>
            </a:r>
          </a:p>
          <a:p>
            <a:r>
              <a:t>The conference paper is On Experimental Analysis of Mono-Static 3D UAV RCS for ISAC Channel Modeling, by Zhiqiang Yuan, Le Yu, Chunhui Li and Wei Fan, at the nineteenth European Conference on Antennas and Propagation, twenty twenty five. No page numbers are printed on it. That paper reports the measurement.</a:t>
            </a:r>
          </a:p>
          <a:p>
            <a:r>
              <a:t>The letter is Multiband Monostatic and Bistatic RCS Characterization of AAVs for ISAC Channel Modeling, by Shrayan Das, Peize Zhang, Veikko Hovinen, Marko E. Leinonen, Aarno Parssinen and Pekka Kyosti, in IEEE Wireless Communications Letters, volume fifteen, pages three seven three one to three seven three five, twenty twenty six.</a:t>
            </a:r>
          </a:p>
          <a:p>
            <a:r>
              <a:t>The letter did not measure this target. Its own contribution bullet says the Phantom 2 dataset is newly measured in that work, whereas the data for the Mini 2, the Phantom 3 and the M350 RTK were obtained from another work. RCS is radar cross section, ISAC is integrated sensing and communication, and AAV is the authors' word for an autonomous aerial vehicle.</a:t>
            </a:r>
          </a:p>
          <a:p>
            <a:r>
              <a:t>The target is a DJI Phantom 3 with a horizontal diagonal of thirty five centimetres and a height of twenty centimetres. That diagonal is exactly what our own mesh is built to.</a:t>
            </a:r>
          </a:p>
          <a:p>
            <a:r>
              <a:t>The grid is one point eight to eighteen point two gigahertz, two thousand eight hundred and one frequency points, azimuth from minus ninety to plus ninety degrees in two degree steps. Half a circle, because the airframe is symmetric. Elevation is three sides rather than a sweep, theta equal to ninety, zero and one hundred eighty degrees. The measured cross sections run from minus forty to plus five dBsm.</a:t>
            </a:r>
          </a:p>
          <a:p>
            <a:r>
              <a:t>The last two bullets are quoted from the paper. They say the step size may be too large at higher frequencies, and that ideally all polarization states should be measured. They give the reason in the same sentence, and the reason is time constraints. Rotor rotation is excluded for the same kind of reason, because the sweep over two thousand eight hundred and one points is far longer than a blade revolution.</a:t>
            </a:r>
          </a:p>
          <a:p>
            <a:r>
              <a:t>One line that is ours and not theirs, and it is not on the slide. Our own sampling rule is a step no larger than lambda over four D, on the motor diagonal, which is the convention these papers use. At eighteen point two gigahertz on a thirty five centimetre diagonal that is zero point six seven degrees, so their two degrees is about three times coarser by our rule. On the bounding box convention with propellers included the same rule gives a different number, so the convention has to be named whenever the number is used.</a:t>
            </a:r>
          </a:p>
          <a:p/>
          <a:p>
            <a:r>
              <a:t>Q: Are you saying their measurement is wrong?</a:t>
            </a:r>
          </a:p>
          <a:p>
            <a:r>
              <a:t>A: No. It is the best external number available, and both limitations on this slide are ones they wrote themselves.</a:t>
            </a:r>
          </a:p>
          <a:p/>
          <a:p>
            <a:r>
              <a:t>— 한국어 해설 —</a:t>
            </a:r>
          </a:p>
          <a:p>
            <a:r>
              <a:t>앵커입니다. 가장 먼저 바로잡을 것은 '누가 무엇을 쟀는가' 입니다.</a:t>
            </a:r>
          </a:p>
          <a:p>
            <a:r>
              <a:t>학회 논문은 Yuan·Yu·Li·Fan 의 EuCAP 2025 이고, 이 논문이 측정을 보고합니다. 인쇄된 쪽번호는 없습니다.</a:t>
            </a:r>
          </a:p>
          <a:p>
            <a:r>
              <a:t>레터는 Das·Zhang·Hovinen·Leinonen·Pärssinen·Kyösti 의 IEEE WCL 15권 3731-3735쪽, 2026년입니다.</a:t>
            </a:r>
          </a:p>
          <a:p>
            <a:r>
              <a:t>⭐ 레터는 이 표적을 재지 않았습니다. 자기 기여 항목에 'Phantom 2 만 본 연구에서 새로 측정했고, Mini 2·Phantom 3·M350 RTK 의 RCS 자료는 다른 연구에서 얻었다' 고 적습니다.</a:t>
            </a:r>
          </a:p>
          <a:p>
            <a:r>
              <a:t>표적은 수평 대각 35 cm, 높이 20 cm 의 DJI Phantom 3 입니다. 그 대각이 우리 메쉬가 맞춰 짓는 값과 같습니다.</a:t>
            </a:r>
          </a:p>
          <a:p>
            <a:r>
              <a:t>격자는 1.8-18.2 GHz, 2801 주파수점, 방위 -90~+90도 2도 간격입니다. 반쪽인 이유는 기체 대칭입니다. 고도는 소인이 아니라 theta 90/0/180 세 면입니다. 측정된 단면적은 -40~+5 dBsm 입니다.</a:t>
            </a:r>
          </a:p>
          <a:p>
            <a:r>
              <a:t>마지막 두 불릿은 축자 인용입니다. 고주파에서 2도가 너무 클 수 있다, 이상적으로는 전 편파를 재야 한다. 이유도 같은 문장에 있고 그것은 시간입니다. 로터 정지도 같은 이유입니다.</a:t>
            </a:r>
          </a:p>
          <a:p>
            <a:r>
              <a:t>우리 것 한 줄은 화면에 안 올렸습니다. lambda/4D 규약은 모터 대각 기준(앵커 논문들이 쓰는 규약)이고, 18.2 GHz·35 cm 에서 0.67도입니다. 즉 2도는 우리 기준 약 3배 성깁니다. bbox 규약(프롭 포함)이면 값이 달라지므로 어느 D 인지 항상 밝힙니다.</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recipe belongs to the conference paper, not to both papers, and that matters.</a:t>
            </a:r>
          </a:p>
          <a:p>
            <a:r>
              <a:t>The letter shares only the coherent subtraction and the sixth order Kaiser gate. It has no compact antenna test range at all, and it calibrates against a metallic cylinder of radius five point five centimetres and height thirty centimetres with a cross section of plus two point eight dBsm, not against a sphere.</a:t>
            </a:r>
          </a:p>
          <a:p>
            <a:r>
              <a:t>A vector network analyser sweeps frequency and records amplitude and phase. Because the phase is there, two things become possible that power alone cannot do. Coherent background subtraction, which is step four, and range gating, which is step five. Step five inverse Fourier transforms the frequency response into a range profile, applies a sixth order Kaiser window over a chosen delay window, and transforms back.</a:t>
            </a:r>
          </a:p>
          <a:p>
            <a:r>
              <a:t>Step six is where the number becomes absolute. Gated target power divided by gated sphere power, multiplied by the sphere's known cross section, so every chain gain, cable loss and antenna gain cancels in the ratio.</a:t>
            </a:r>
          </a:p>
          <a:p>
            <a:r>
              <a:t>The transmit and receive antennas are printed as vertically polarized directional antennas. That is the paper's own wording and I do not upgrade it to a specific antenna type from the photograph.</a:t>
            </a:r>
          </a:p>
          <a:p>
            <a:r>
              <a:t>The compact antenna test range in the caption is the parabolic reflector that folds a spherical wave into a plane wave, so a short chamber still gives a far field measurement. We do not have one, and that single fact is why our own campaign has to go outdoors and buy the distance physically.</a:t>
            </a:r>
          </a:p>
          <a:p>
            <a:r>
              <a:t>On the sphere. They use a metal sphere of radius seventeen point eight centimetres and quote its cross section as minus ten dBsm, frequency independent. Pi r squared for that radius is minus ten point zero two dBsm, so the optical limit is almost certainly what they used, and the paper does not say.</a:t>
            </a:r>
          </a:p>
          <a:p>
            <a:r>
              <a:t>We computed what that costs. Over their upper band above five gigahertz the error is about zero point two dB and it is harmless. Over our band, one point eight to five point two one gigahertz, it is zero point three seven dB root mean square, swinging plus or minus about zero point nine dB. Their approximation is reasonable for them and unusable for us, which is why we use exact Mie instead.</a:t>
            </a:r>
          </a:p>
          <a:p/>
          <a:p>
            <a:r>
              <a:t>Q: Is exact Mie a correction to their result?</a:t>
            </a:r>
          </a:p>
          <a:p>
            <a:r>
              <a:t>A: No. It is a choice for our own future measurement. Their number stands as printed.</a:t>
            </a:r>
          </a:p>
          <a:p/>
          <a:p>
            <a:r>
              <a:t>— 한국어 해설 —</a:t>
            </a:r>
          </a:p>
          <a:p>
            <a:r>
              <a:t>이 레시피는 학회 논문의 것이고, 두 논문 공통이 아닙니다.</a:t>
            </a:r>
          </a:p>
          <a:p>
            <a:r>
              <a:t>레터가 공유하는 것은 코히런트 배경차감과 6차 Kaiser 게이팅뿐입니다. 레터에는 compact antenna test range 언급이 아예 없고, 교정체도 구가 아니라 반경 5.5 cm·높이 30 cm 금속 원기둥(+2.8 dBsm)입니다.</a:t>
            </a:r>
          </a:p>
          <a:p>
            <a:r>
              <a:t>VNA 가 진폭과 위상을 함께 기록하기 때문에 4단계 코히런트 차감과 5단계 레인지 게이팅이 가능합니다.</a:t>
            </a:r>
          </a:p>
          <a:p>
            <a:r>
              <a:t>6단계가 절대값을 만듭니다. 게이팅된 표적 전력을 구 전력으로 나누고 구의 기지 단면적을 곱하면 체인 이득·케이블 손실·안테나 이득이 소거됩니다.</a:t>
            </a:r>
          </a:p>
          <a:p>
            <a:r>
              <a:t>⭐ 송수신 안테나 표기는 원문 그대로 'vertically polarized directional antennas' 입니다. 안테나 종류를 그림에서 추정해 적지 않습니다.</a:t>
            </a:r>
          </a:p>
          <a:p>
            <a:r>
              <a:t>캡션의 compact range 는 파라볼릭 반사경입니다. 우리는 그게 없고, 그 한 줄이 우리 실측이 야외로 갈 수밖에 없는 이유입니다.</a:t>
            </a:r>
          </a:p>
          <a:p>
            <a:r>
              <a:t>교정구는 반경 17.8 cm, -10 dBsm 상수입니다. 같은 반경의 pi r 제곱이 -10.02 dBsm 이라 광학 점근으로 보이는데 논문은 밝히지 않습니다.</a:t>
            </a:r>
          </a:p>
          <a:p>
            <a:r>
              <a:t>그 대가를 계산했습니다. 5 GHz 위쪽 그들 대역에서는 약 0.2 dB 로 무해합니다. 우리 대역 1.8-5.21 GHz 에서는 rms 0.37 dB, 편차 ±0.9 dB 입니다. 그래서 우리는 정확 Mie 를 씁니다.</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page decides how much weight the anchor can carry, and I want to state the evidence rather than the verdict.</a:t>
            </a:r>
          </a:p>
          <a:p>
            <a:r>
              <a:t>Strand one. The letter thanks Professor Wei Fan of Southeast University for providing the measured cross section data for the Mini 2, the Phantom 3 and the M350 RTK. Strand two. Wei Fan is the last author of the conference paper, at the same laboratory of the same university. Strand three. The Phantom 3 column of the letter's settings table matches the conference paper on four items. The band, the two thousand eight hundred and one points, the half circle azimuth at two degrees, and anechoic far field. Half circle azimuth and two thousand eight hundred and one points are a fingerprint. No other airframe in that table has either.</a:t>
            </a:r>
          </a:p>
          <a:p>
            <a:r>
              <a:t>Now the line that cuts the other way, and it is printed. The letter never cites the conference paper. The work it names as the source of that data is a twenty twenty six China Communications paper, and it separately cites a twenty twenty five IEEE Antennas and Wireless Propagation Letters paper from the same group. So there are at least three related papers on that side, and the one we hold is one of them.</a:t>
            </a:r>
          </a:p>
          <a:p>
            <a:r>
              <a:t>That is why I say very unlikely to be independent rather than one campaign. The consequence is the same either way. We hold one yardstick read twice, not two yardsticks.</a:t>
            </a:r>
          </a:p>
          <a:p>
            <a:r>
              <a:t>The letter prints a mean model of zero point two one f minus nineteen point one nine dBsm, with f in gigahertz, at zero bistatic angle. Its table has seven Phantom 3 cells across bistatic angle, the slope is the same in all seven and the intercept walks from minus nineteen point one nine to minus nineteen point eight two. We take the zero degree cell because our comparison is monostatic. And that table has no text layer, so the coefficients were read by eye off an eight hundred dot per inch render, which is why the provenance is printed on the slide and not only spoken.</a:t>
            </a:r>
          </a:p>
          <a:p>
            <a:r>
              <a:t>The conference paper, for the azimuth plane, prints zero point three one five f minus sixteen point one five dBsm, and that one is in the text layer. Evaluated at our three carriers, one point eight four three, three point five and five point two one gigahertz, the two models differ by three point two three, three point four one and three point five nine dB. That subtraction is ours. Neither paper puts the two side by side.</a:t>
            </a:r>
          </a:p>
          <a:p>
            <a:r>
              <a:t>One more honest caveat. Neither paper defines whether the mean is taken in the linear domain or in the dB domain, and that is a real part of the gap. It comes back on the decision rule slide and on the result.</a:t>
            </a:r>
          </a:p>
          <a:p/>
          <a:p>
            <a:r>
              <a:t>Q: Should we then average the two models?</a:t>
            </a:r>
          </a:p>
          <a:p>
            <a:r>
              <a:t>A: I do not. Averaging assumes independence, and the acknowledgment plus the fingerprint argue against it. I compare against the elevation matched one and report the other beside it.</a:t>
            </a:r>
          </a:p>
          <a:p/>
          <a:p>
            <a:r>
              <a:t>— 한국어 해설 —</a:t>
            </a:r>
          </a:p>
          <a:p>
            <a:r>
              <a:t>앵커가 얼마나 무게를 견디는지 정하는 장입니다. 판정이 아니라 증거를 나열합니다.</a:t>
            </a:r>
          </a:p>
          <a:p>
            <a:r>
              <a:t>1. 레터 사사가 Mini 2·Phantom 3·M350 RTK 측정 자료를 Southeast University 의 Wei Fan 교수에게 받았다고 적습니다. 2. Wei Fan 은 학회 논문의 마지막 저자이고 소속 연구실도 같습니다. 3. 레터 설정표의 Phantom 3 열이 학회 논문과 네 항목에서 일치합니다. 반쪽 방위와 2801점은 그 표에서 이 측정만의 지문입니다.</a:t>
            </a:r>
          </a:p>
          <a:p>
            <a:r>
              <a:t>⭐ 반대로 가는 인쇄된 사실도 같이 놓습니다. 레터는 학회 논문을 인용하지 않습니다. 자료 출처로 지목한 것은 2026년 China Communications 논문이고, 같은 그룹의 2025년 AWPL 논문을 따로 인용합니다. 즉 그쪽 관련 논문이 최소 3편이고 우리가 가진 판은 그중 하나입니다.</a:t>
            </a:r>
          </a:p>
          <a:p>
            <a:r>
              <a:t>그래서 '한 캠페인' 이라 단정하지 않고 '독립일 가능성이 매우 낮다' 로 적습니다. 결론의 크기는 어느 쪽이든 같습니다.</a:t>
            </a:r>
          </a:p>
          <a:p>
            <a:r>
              <a:t>레터 계수는 바이스태틱 각 0도 칸입니다. 그 표의 Phantom 3 칸은 7개이고 기울기는 전부 0.21, 절편은 -19.19에서 -19.82까지 걷습니다. 모노스태틱 비교라 0도 칸을 씁니다. 그리고 그 표는 텍스트 레이어가 없어 800 dpi 렌더에서 눈으로 읽었습니다. 그래서 화면에도 그 사실을 적었습니다.</a:t>
            </a:r>
          </a:p>
          <a:p>
            <a:r>
              <a:t>학회 논문 값은 텍스트 레이어에 있습니다. 우리 세 반송파에서 두 모형은 3.23/3.41/3.59 dB 벌어집니다. 이 뺄셈은 우리가 한 것입니다.</a:t>
            </a:r>
          </a:p>
          <a:p>
            <a:r>
              <a:t>단서 하나 더. 두 논문 다 평균을 선형영역에서 냈는지 dB 영역에서 냈는지 정의하지 않습니다. 이 문제는 판정 규칙 장과 결과 장에서 다시 나옵니다.</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Before our own test, I want to place what we are doing inside published practice. This is one table now, because the previous version listed the same three papers twice.</a:t>
            </a:r>
          </a:p>
          <a:p>
            <a:r>
              <a:t>All three make a target cross section outside the propagation simulator and then insert it. That is exactly our architecture. Two of the three measure it and one computes it, and the one that computes it is the middle row. That middle row is our slot, and it cleared peer review in that exact role. All three are published journal papers.</a:t>
            </a:r>
          </a:p>
          <a:p>
            <a:r>
              <a:t>The first is Yuxiang Zhang, Jianhua Zhang, Huiwen Gong, Xidong Hu, Jiwei Zhang, Hongbo Xing, Shilin Luo, Yifeng Xiong, Li Yu, Zhiqiang Yuan, Guangyi Liu and Tao Jiang, IEEE Journal on Selected Areas in Communications, volume forty four, pages seven zero two to seven one six, twenty twenty six. They also calibrated absolutely against a half metre metal sphere, theoretical minus seven point zero seven dBsm against a measured minus eight point nine six.</a:t>
            </a:r>
          </a:p>
          <a:p>
            <a:r>
              <a:t>The second is Yoshana Deep, Patrick Held, Shobha Sundar Ram, Dagmar Steinhauser, Anshu Gupta, Frank Gruson, Andreas Koch and Anirban Roy, IET Radar, Sonar and Navigation, volume fourteen, issue six, pages eight three three to eight four four, twenty twenty. Their sentence, quoted exactly. While there are several commercially available electromagnetic solvers that carry out ray tracing, we developed our solver in-house in order to customise it for speed and efficiency. Their ten percent and eighty one percent are the abstract's numbers for the first trajectory. On the second one, with a turn, the error is thirteen percent and the Doppler similarity drops to seventy one percent, and the paper says so.</a:t>
            </a:r>
          </a:p>
          <a:p>
            <a:r>
              <a:t>The third is Heraldo C. A. Costa, Saw J. Myint, Carsten Andrich, Sebastian W. Giehl, Maximilian Engelhardt, Christian Schneider and Reiner S. Thomae, IEEE Journal of Selected Topics in Electromagnetics, Antennas and Propagation, volume one, pages two zero eight to two two two, twenty twenty five. Their printed error metric, mean square error under zero point zero one and Pearson correlation above zero point nine nine, was computed with their simpler analytic body model, not with the injected measured library, and the cell says so. The injected library is validated by figure contrast.</a:t>
            </a:r>
          </a:p>
          <a:p>
            <a:r>
              <a:t>Now the scope line, and I want it exact. This is our own archive. Three hundred and five unique PDFs screened by term count, eighteen read end to end. It is a sample, not a census, and it is not a web search. Inside those eighteen, seventeen claim some form of target scattering, three print an absolute dBsm they computed rather than assumed, and those three targets are a vehicle, a pedestrian and an aircraft. None of the eighteen prints a computed absolute dBsm for a drone.</a:t>
            </a:r>
          </a:p>
          <a:p>
            <a:r>
              <a:t>The most common way around it is to replace the target with a box. One paper models a human as a one point eight by zero point five by zero point two five metre cuboid, another models a UAV as a metallic cube, and both then print detection statistics to two decimal places. That is the context our own controls sit in.</a:t>
            </a:r>
          </a:p>
          <a:p/>
          <a:p>
            <a:r>
              <a:t>Q: Does none of the eighteen mean nobody has done it?</a:t>
            </a:r>
          </a:p>
          <a:p>
            <a:r>
              <a:t>A: No. It means eighteen papers we read in full, and I will not stretch that into a statement about the literature.</a:t>
            </a:r>
          </a:p>
          <a:p/>
          <a:p>
            <a:r>
              <a:t>— 한국어 해설 —</a:t>
            </a:r>
          </a:p>
          <a:p>
            <a:r>
              <a:t>우리 시험 전에, 우리가 하는 일이 게재된 관행 안에 있음을 놓습니다. 이전 판이 같은 세 논문을 두 번 나열해서 표 하나로 합쳤습니다.</a:t>
            </a:r>
          </a:p>
          <a:p>
            <a:r>
              <a:t>세 편 모두 표적 단면적을 전파 시뮬레이터 밖에서 만들어 안으로 넣습니다. 우리 구조와 같습니다. 셋 중 둘은 측정하고 하나만 계산하며, 계산하는 쪽이 가운데 행입니다. 가운데 행이 우리 자리이고, 바로 그 역할로 동료심사를 통과했습니다. 세 편 다 게재본입니다.</a:t>
            </a:r>
          </a:p>
          <a:p>
            <a:r>
              <a:t>첫째 JSAC 2026, 저자 12인. 0.5 m 금속구 절대교정 -7.07 대 -8.96 dBsm 도 있습니다.</a:t>
            </a:r>
          </a:p>
          <a:p>
            <a:r>
              <a:t>둘째 IET RSN 2020, 저자 8인. 자체 솔버 문장이 축자 인용입니다. 10 퍼센트·81 퍼센트는 첫 궤적 값이고, 회전이 있는 둘째 궤적은 13 퍼센트·71 퍼센트입니다.</a:t>
            </a:r>
          </a:p>
          <a:p>
            <a:r>
              <a:t>셋째 JSTEAP 2025, 저자 7인. 인쇄된 MSE·Pearson 은 주입 라이브러리가 아니라 그들의 더 단순한 해석적 몸통 모형으로 계산된 값이라, 표 칸에 그 사실을 적었습니다.</a:t>
            </a:r>
          </a:p>
          <a:p>
            <a:r>
              <a:t>범위입니다. 고유 PDF 305편 선별, 18편 전문 정독. 전수가 아니라 표본이고 웹 검색이 아닙니다. 18편 중 17편이 표적 산란을 주장하고, 계산된 절대 dBsm 을 인쇄한 것은 3편(차량·보행자·항공기)이며, 드론은 0편입니다.</a:t>
            </a:r>
          </a:p>
          <a:p>
            <a:r>
              <a:t>가장 흔한 우회는 표적을 상자로 바꾸는 것입니다. 사람을 1.8 x 0.5 x 0.25 m 직육면체로, UAV 를 금속 정육면체로 놓고 검출 통계를 소수점까지 인쇄합니다.</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object the whole talk is about, so it goes on the screen.</a:t>
            </a:r>
          </a:p>
          <a:p>
            <a:r>
              <a:t>Twenty eight thousand one hundred and sixty triangles, eight material groups, nineteen connected parts. Motor to motor diagonal three hundred and fifty millimetres, which is the spec sheet value and the same thirty five centimetres the measurement papers print. Mass one thousand two hundred and eighty grams. Colour in the figure is the pure material class, and the same rule is used for every airframe we have.</a:t>
            </a:r>
          </a:p>
          <a:p>
            <a:r>
              <a:t>One dimension does not match and I want it said here rather than found later. Our mesh uses the manufacturer published height of one hundred and eighty five millimetres. The measurement papers write twenty centimetres. That is seven and a half percent shorter, and it works in the direction of a lower cross section.</a:t>
            </a:r>
          </a:p>
          <a:p>
            <a:r>
              <a:t>Now the design problem, stated as a ratio. What can we actually compare against the anchor? Two numbers. The level and the slope of a straight line fitted to the azimuth averaged cross section against frequency. Two thousand eight hundred and one frequency points are not two thousand eight hundred and one observations, because that mean curve is smooth. The anchor publishes only a fitted mean model anyway, and the per angle data is in neither paper.</a:t>
            </a:r>
          </a:p>
          <a:p>
            <a:r>
              <a:t>What does it take to build this? At least twenty four choices that no measurement forces. Twenty four knobs against two numbers is twelve to one. If I can see the answer while I turn the knobs, I will hit both numbers, and hitting them will mean nothing, because I cannot tell whether the method matched or the knobs did.</a:t>
            </a:r>
          </a:p>
          <a:p>
            <a:r>
              <a:t>So the whole test is one rule. Every choice is fixed while the answer is sealed, and only then is the seal opened. Two consequences I accepted in advance. A mismatch is a result and gets reported the same way, which is what happened on the level. And if the blinding is broken the experiment is not postponed, it is void, because there is no way to repair it afterwards.</a:t>
            </a:r>
          </a:p>
          <a:p/>
          <a:p>
            <a:r>
              <a:t>Q: Why not compare the full pattern instead of two numbers, and get more observations?</a:t>
            </a:r>
          </a:p>
          <a:p>
            <a:r>
              <a:t>A: Because the anchor only publishes a fitted mean model. The per angle data is not in either paper.</a:t>
            </a:r>
          </a:p>
          <a:p/>
          <a:p>
            <a:r>
              <a:t>— 한국어 해설 —</a:t>
            </a:r>
          </a:p>
          <a:p>
            <a:r>
              <a:t>이 발표 전체가 다루는 물건입니다. 그래서 화면에 올렸습니다.</a:t>
            </a:r>
          </a:p>
          <a:p>
            <a:r>
              <a:t>삼각형 28,160개, 재질 그룹 8개, 연결 부품 19개. 모터 대각 350 mm 로 스펙시트 값이며 측정 논문의 35 cm 와 같습니다. 질량 1,280 g. 그림의 색은 순수 재질 분류이고 모든 기체에 같은 규칙입니다.</a:t>
            </a:r>
          </a:p>
          <a:p>
            <a:r>
              <a:t>⚠ 안 맞는 치수 하나를 먼저 말합니다. 우리 메쉬는 제조사 공표 높이 185 mm 를 씁니다. 측정 논문은 20 cm 로 적습니다. 7.5 퍼센트 낮고, 단면적을 낮추는 방향입니다.</a:t>
            </a:r>
          </a:p>
          <a:p>
            <a:r>
              <a:t>설계 문제를 비율로 말씀드립니다. 앵커와 맞대볼 수 있는 것은 둘입니다. 방위평균 단면적을 주파수에 직선 적합했을 때의 레벨과 기울기입니다. 2801 주파수점은 2801 관측이 아닙니다.</a:t>
            </a:r>
          </a:p>
          <a:p>
            <a:r>
              <a:t>Phantom 3 메쉬 하나를 세우려면 실측이 강제하지 않는 선택이 최소 24개 필요합니다. 자유도 24 대 관측 2, 12대1 입니다. 정답을 보면서 손잡이를 돌리면 둘 다 맞출 수 있고, 맞춘 것이 방법인지 손잡이인지 구분이 안 됩니다.</a:t>
            </a:r>
          </a:p>
          <a:p>
            <a:r>
              <a:t>그래서 시험 전체가 규칙 하나입니다. 정답이 봉인된 상태에서 모든 선택을 고정하고, 그 다음에 봉인을 엽니다. 두 가지를 미리 받아들였습니다. 안 맞아도 그대로 결과로 보고하고(레벨에서 실제로 그렇게 됐습니다), 눈감기가 깨지면 연기가 아니라 무효입니다.</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twenty four, and the seal, and the one thing that went wrong.</a:t>
            </a:r>
          </a:p>
          <a:p>
            <a:r>
              <a:t>One sentence sorts everything. Would this number change if our model changed? If yes it is an answer and it is sealed. If no it is a setting and it is allowed. So the anchor coefficients were sealed wherever they live, including inside our own source and our own ledger files, along with the results tables, the results figure and the results text. The conference paper was sealed entirely and never opened during the build. Four literals were sealed by string, zero point two one, minus nineteen point one nine, zero point three one five and minus sixteen point one five. Allowed were the measurement settings table, manufacturer manuals and archived specification pages, the manufacturer line drawing measured at six hundred dots per inch, teardown guides, and our own field schema. Refusing the measurement settings would mean computing in a different band on a different angle grid, and then the test is void for a different reason.</a:t>
            </a:r>
          </a:p>
          <a:p>
            <a:r>
              <a:t>The caption is the status line. The seal was lifted once every choice was fixed, which is why the anchor coefficients can be on the earlier slide and the comparison can be on the later one.</a:t>
            </a:r>
          </a:p>
          <a:p>
            <a:r>
              <a:t>Row by row. Target identity. The papers never say which Phantom 3 variant. In the letter the word appears five times, never with a qualifier, and the conference paper names no variant either. Variants differ by five percent in mass. And the propeller is not named. Stock polymer against carbon filled is eleven point one dB on the propeller group alone, the largest single lever in the list, and we carry it as a flagged sensitivity case rather than as a second specification.</a:t>
            </a:r>
          </a:p>
          <a:p>
            <a:r>
              <a:t>Fields with no published value. Of forty two registry fields for this airframe, ten have no published value anywhere. Nine are in this row and the tenth is the gimbal style, counted in row four. DJI publishes the stator, not the bell. We left them empty on purpose and the code defaults them, which is itself a choice.</a:t>
            </a:r>
          </a:p>
          <a:p>
            <a:r>
              <a:t>Shape tables inherited whole. This row decides what the test means. Our Phantom 3 mesh takes four shape blocks whole from the Phantom 4 because the repository holds no Phantom 3 photograph to measure, and we have already computed that the two airframes differ. The Phantom 3 shell is about twenty three percent thinner and its legs about seven percent longer. We know they differ and we share the tables anyway.</a:t>
            </a:r>
          </a:p>
          <a:p>
            <a:r>
              <a:t>The last row packs three tiers, nine choices. None of the five existing gimbal styles fits, so a new branch was written blind. The shell code path automatically inserts a magnesium structural plate, while our own research concluded the Phantom 3 has no magnesium core at all, that came in with the Phantom 4. That one biases us upward, which is worth remembering when the result comes out low. And the bounding box is forced on height only, by house rule, and that device absorbs every shape error. A matching bounding box is not evidence of shape.</a:t>
            </a:r>
          </a:p>
          <a:p>
            <a:r>
              <a:t>Now the takeaway, which is the disclosure. While searching our documentation by target name, the search output itself carried back three quantities from three files, all without those files being opened. Two azimuth averaged levels at three point five gigahertz from the prior reading notes, the Phantom 3 envelope margin deltas at our three carriers from the injection precedent notes, and a bistatic intercept shift plus an azimuth spread fit from the engine validation notes. None of the four sealed literals appeared in any of them, and no number in the resulting specification file is a function of any cross section quantity. Every number in it is a manufacturer published value, a pixel measurement off a manufacturer drawing, or an explicit derivation from those. The working rule that came out of it is that searching by target name is not a blindfold, because the answer travels in the search output. The safe form filters the output before you read it.</a:t>
            </a:r>
          </a:p>
          <a:p>
            <a:r>
              <a:t>One more thing on the seal that I will state and let you grade. Our own documentation was advertising that a ready made Phantom 3 registration patch already existed in one of our output files, with a measured against modelled comparison in dB. It was left closed, and two more files were closed for the same reason without being told to.</a:t>
            </a:r>
          </a:p>
          <a:p/>
          <a:p>
            <a:r>
              <a:t>Q: How do you prove the seal held?</a:t>
            </a:r>
          </a:p>
          <a:p>
            <a:r>
              <a:t>A: Every blind step returns a log of what it opened and what it deliberately refused, and that log is inside the output file. A separate adversarial pass audits it against the version history and the file timestamps.</a:t>
            </a:r>
          </a:p>
          <a:p/>
          <a:p>
            <a:r>
              <a:t>— 한국어 해설 —</a:t>
            </a:r>
          </a:p>
          <a:p>
            <a:r>
              <a:t>24개, 봉인, 그리고 잘못된 한 건입니다.</a:t>
            </a:r>
          </a:p>
          <a:p>
            <a:r>
              <a:t>분류 기준은 한 문장입니다. 우리 모델을 바꾸면 이 숫자가 달라지는가. 달라지면 답이므로 봉인, 아니면 설정이므로 허용입니다. 앵커 계수는 우리 소스와 원장 파일 안에 있는 것까지 봉인이고, 결과표·결과그림·결과 본문도 봉인, 학회 논문은 통째로 미개봉이었습니다. 리터럴 4개는 문자열로 봉인했습니다.</a:t>
            </a:r>
          </a:p>
          <a:p>
            <a:r>
              <a:t>⭐ 캡션이 상태 표시입니다. 모든 선택이 고정된 뒤 봉인을 풀었고, 그래서 앞 장에 앵커 계수를, 뒤 장에 대조 결과를 띄울 수 있습니다.</a:t>
            </a:r>
          </a:p>
          <a:p>
            <a:r>
              <a:t>1행. 논문은 변종을 안 밝힙니다. 레터에서 'Phantom 3' 가 5회 나오는데 수식어가 없고, 학회 논문도 변종을 적지 않습니다. 변종 질량차 5 퍼센트. 프로펠러도 미상이고 순정 폴리머 대 카본은 프롭 그룹에서만 11.1 dB 입니다.</a:t>
            </a:r>
          </a:p>
          <a:p>
            <a:r>
              <a:t>2행. 등록 필드 42개 중 공표값 없는 것이 10개인데, 9개가 이 행이고 나머지 하나(짐벌 스타일)는 4행에 셉니다.</a:t>
            </a:r>
          </a:p>
          <a:p>
            <a:r>
              <a:t>3행이 시험의 성격을 정합니다. 저장소에 P3 사진이 없어 형상표 4블록을 P4 에서 통째로 상속했고, 두 기체가 다르다는 것을 우리가 이미 계산했습니다. 셸 약 23 퍼센트 얇고 다리 약 7 퍼센트 깁니다.</a:t>
            </a:r>
          </a:p>
          <a:p>
            <a:r>
              <a:t>4행은 세 계층 9개를 묶었습니다. 짐벌 5종 중 맞는 게 없어 눈감은 채 새 분기를 썼고, 셸 경로가 마그네슘 판을 자동으로 넣는데 P3 에는 마그네슘 골격이 없습니다. ⭐ 이건 우리를 위로 밀어 올리는 편향이라, 결과가 낮게 나온 것을 설명하지 못합니다. bbox 는 높이만 강제하며 그 장치가 남은 형상 오차를 흡수합니다.</a:t>
            </a:r>
          </a:p>
          <a:p>
            <a:r>
              <a:t>⭐ 결론 띠가 유출 신고입니다. 기록에 남은 유출은 3건입니다. 3.5 GHz 방위평균 레벨 2개, 우리 세 반송파의 봉투마진 델타, 바이스태틱 절편 이동과 방위확산 적합입니다. 셋 다 파일을 열지 않은 채 검색 출력에 딸려 나왔고, 봉인 리터럴 4개는 어디에도 없었습니다. 결과 스펙 파일의 어떤 숫자도 단면적 량의 함수가 아닙니다.</a:t>
            </a:r>
          </a:p>
          <a:p>
            <a:r>
              <a:t>교훈은 표적 이름 grep 이 눈가리개가 아니라는 것입니다. 안전한 형태는 읽기 전에 출력을 거르는 것입니다.</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Matching well is not enough on its own. The question is how well is well enough to mean something. That question is live today, because our own arm has a number and the controls do not.</a:t>
            </a:r>
          </a:p>
          <a:p>
            <a:r>
              <a:t>So we send stupid objects through the identical pipeline and let them set the baseline. A perfectly conducting cube of the same volume, and a plain rectangular box of the same bounding box with propellers included. The value of the mesh work is then not the absolute error. It is the margin over that baseline.</a:t>
            </a:r>
          </a:p>
          <a:p>
            <a:r>
              <a:t>Everything in the lead has to be identical across the three arms. The same kernel and the same code path, the same band and the same frequency samples, the same azimuth grid, the same elevation, the same averaging convention, and the same frequency window for extracting the level and the slope. If the anchor was fitted over a different window, we refit the anchor rather than moving our own.</a:t>
            </a:r>
          </a:p>
          <a:p>
            <a:r>
              <a:t>One definitional trap I will name before someone else does. The full drone mesh is not watertight, so its volume needs a definition. We define it as the sum of the watertight volumes of the connected parts, and that definition goes in the output file. Without it the control itself is attackable.</a:t>
            </a:r>
          </a:p>
          <a:p>
            <a:r>
              <a:t>Now the caption, which is our own prior evidence and is unflattering. Two of our own spec built airframes were run through the untouched shared code path against community reference meshes at three point five gigahertz, elevation fifteen degrees. On the azimuth average they landed within zero point five eight and one point eight dB. Their per azimuth root mean square error over the same meshes was seven point one eight and ten point zero dB.</a:t>
            </a:r>
          </a:p>
          <a:p>
            <a:r>
              <a:t>Two things about that prior. It is a computation of one mesh against another mesh, not a comparison against a measurement, so it prices the discriminator and not the physics. And it says the azimuth average is a blunt discriminator. Expect the controls to come close. If they do, that is the finding and it gets written exactly that way.</a:t>
            </a:r>
          </a:p>
          <a:p/>
          <a:p>
            <a:r>
              <a:t>Q: Why a cube and not something drone shaped?</a:t>
            </a:r>
          </a:p>
          <a:p>
            <a:r>
              <a:t>A: Because a drone shaped control would smuggle in the very shape work we are trying to price.</a:t>
            </a:r>
          </a:p>
          <a:p/>
          <a:p>
            <a:r>
              <a:t>— 한국어 해설 —</a:t>
            </a:r>
          </a:p>
          <a:p>
            <a:r>
              <a:t>잘 맞았다는 사실만으로는 부족합니다. 물어야 할 것은 얼마나 잘 맞아야 의미가 있느냐입니다. 오늘 이 질문이 살아있는 이유는 우리 팔은 숫자가 있고 대조군은 없기 때문입니다.</a:t>
            </a:r>
          </a:p>
          <a:p>
            <a:r>
              <a:t>그래서 멍청한 물체를 똑같은 경로로 통과시켜 기준선을 만듭니다. 같은 부피의 완전도체 정육면체, 그리고 프롭 포함 같은 bbox 의 단순 직육면체입니다. 메쉬 작업의 값어치는 절대 오차가 아니라 그 기준선 대비 개선폭입니다.</a:t>
            </a:r>
          </a:p>
          <a:p>
            <a:r>
              <a:t>리드의 항목은 세 팔에서 전부 같아야 합니다. 같은 커널·코드경로, 같은 대역과 주파수 표본, 같은 방위격자, 같은 고도, 같은 평균 규약, 레벨과 기울기를 뽑는 같은 주파수 구간.</a:t>
            </a:r>
          </a:p>
          <a:p>
            <a:r>
              <a:t>정의 함정 하나. 드론 메쉬는 워터타이트가 아니라 부피에 정의가 필요합니다. 연결요소별 워터타이트 부피의 합으로 정의하고 산출 파일에 적습니다.</a:t>
            </a:r>
          </a:p>
          <a:p>
            <a:r>
              <a:t>⭐ 캡션이 우리 자신의 사전 증거이고 불리한 쪽입니다. 우리 스펙으로 지은 기체 2대를 손 안 댄 공용 경로로 3.5 GHz·고도 15도에서 커뮤니티 참조 메쉬와 대조했을 때, 방위평균은 0.58/1.80 dB 안에 들어왔지만 방위별 RMS 는 7.18/10.00 dB 였습니다.</a:t>
            </a:r>
          </a:p>
          <a:p>
            <a:r>
              <a:t>두 가지를 분명히 합니다. 이건 우리 메쉬를 커뮤니티 참조 메쉬에 대고 잰 계산이지 실측 대조가 아닙니다. 그리고 방위평균이 둔한 판별량이라는 뜻입니다. 대조군이 근접할 가능성이 높고, 그렇게 나오면 그것이 결과입니다.</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deliverable, and it deliberately had to exist before the answer did.</a:t>
            </a:r>
          </a:p>
          <a:p>
            <a:r>
              <a:t>The two errors are reported apart, never combined. The level error in dB and the slope error in dB per gigahertz.</a:t>
            </a:r>
          </a:p>
          <a:p>
            <a:r>
              <a:t>The level threshold is two point five one dB and it is not arbitrary. Choosing between two defensible averaging conventions, a mean taken in the linear domain or a mean taken in the dB domain, moves the level by that much on its own when the fluctuation is exponential. Any improvement smaller than that could have been manufactured by a convention choice. Both branches get computed and both get reported. On our own pattern the measured gap between the two conventions averages three point six dB and runs from one to seven, so the theoretical two point five one is the conservative end.</a:t>
            </a:r>
          </a:p>
          <a:p>
            <a:r>
              <a:t>Now the reconciliation that the caption states, because two numbers in this deck have to sit together. Three point two to three point six dB is the spread between the anchor's own two summaries, which is the resolution of the yardstick itself. Two point five one dB is a margin our arm has to take over the best control. They are different quantities. Both arms are compared against the same anchor, so a common anchor offset partly cancels in the margin. But since the threshold does sit under the yardstick's own spread, the level is the weak test and the slope is the real one.</a:t>
            </a:r>
          </a:p>
          <a:p>
            <a:r>
              <a:t>The slope rule is a ratio rather than a threshold, because the slope is the quantity that actually tests whether multi scale structure was captured, and because a constant level offset cancels in a slope. Ours has to be at least twice as close to the measurement as the best control is. One honest footnote. That cancellation is exact on the exponential branch only. On the log normal branch the convention offset depends on frequency and it moves the letter's effective slope from zero point two one zero to zero point two four eight.</a:t>
            </a:r>
          </a:p>
          <a:p>
            <a:r>
              <a:t>Three verdicts. MEANINGFUL if one of the two clears. WEAK if we win but under the threshold, in which case the honest claim shrinks to a statement about scatterers of roughly the right size, which is not a claim about our geometry. INVALID if there is any trace of a blinding breach or an arm run under different conditions.</a:t>
            </a:r>
          </a:p>
          <a:p>
            <a:r>
              <a:t>The takeaway is the kernel and it matters for scope. Shooting and bouncing rays for visibility with a physical optics surface integral for the field, one bounce, dielectric shells penetrated so interior scatterers add coherently, and nothing else. The physical theory of diffraction edge correction we wrote is not in this test and it is not in the production kernel either. It has zero call sites there and that path has never been executed. Its sign convention was audited and repaired this week, the root cause was a lost minus in one normalisation step, and the code now reproduces the published Michaeli edge current coefficients to twelve digits. But a verified kernel that nothing calls is not a capability of this test, and I am claiming nothing from it today.</a:t>
            </a:r>
          </a:p>
          <a:p/>
          <a:p>
            <a:r>
              <a:t>Q: When does the verdict arrive?</a:t>
            </a:r>
          </a:p>
          <a:p>
            <a:r>
              <a:t>A: When the two control arms finish. The rule above does not move between now and then, and that is the only reason it is worth anything.</a:t>
            </a:r>
          </a:p>
          <a:p/>
          <a:p>
            <a:r>
              <a:t>— 한국어 해설 —</a:t>
            </a:r>
          </a:p>
          <a:p>
            <a:r>
              <a:t>이것이 산출물이고, 의도적으로 답보다 먼저 존재해야 하는 부분입니다.</a:t>
            </a:r>
          </a:p>
          <a:p>
            <a:r>
              <a:t>두 오차는 따로 보고하고 절대 합치지 않습니다.</a:t>
            </a:r>
          </a:p>
          <a:p>
            <a:r>
              <a:t>레벨 문턱 2.51 dB 는 임의값이 아닙니다. 선형영역 평균이냐 dB영역 평균이냐 두 정당한 규약 중 무엇을 고르느냐만으로 레벨이 그만큼 움직입니다. ⭐ 우리 패턴에서 직접 잰 규약차는 평균 3.63 dB, 범위 0.96~7.16 dB 였습니다. 즉 이론값 2.51 은 보수적인 쪽입니다.</a:t>
            </a:r>
          </a:p>
          <a:p>
            <a:r>
              <a:t>⭐ 캡션이 화해 문장입니다. 3.2-3.6 dB 는 앵커 자신의 두 요약 사이 격차, 즉 잣대의 분해능입니다. 2.51 dB 는 우리 팔이 최선 대조군 대비 가져가야 할 여유폭입니다. 서로 다른 양이고, 두 팔이 같은 앵커에 대해 채점되므로 공통 오프셋은 상당 부분 상쇄됩니다. 다만 문턱이 잣대 분해능 아래에 있으므로 레벨은 약한 시험이고 기울기가 진짜 시험입니다.</a:t>
            </a:r>
          </a:p>
          <a:p>
            <a:r>
              <a:t>기울기 규칙은 문턱이 아니라 비율입니다. ⚠ 단 상쇄가 정확한 것은 지수분포 분기에서뿐이고, 로그정규 분기에서는 레터의 실효기울기가 0.210 → 0.248 로 올라갑니다.</a:t>
            </a:r>
          </a:p>
          <a:p>
            <a:r>
              <a:t>판정은 셋입니다. MEANINGFUL / WEAK(크기 진술로 축소) / INVALID.</a:t>
            </a:r>
          </a:p>
          <a:p>
            <a:r>
              <a:t>⭐ 결론 띠가 커널이고 범위 때문에 중요합니다. 가림은 SBR, 필드는 물리광학 면적분, 1회 반사, 유전체 셸 투과로 내부 산란체 코히런트 가산, 그게 전부입니다. 우리가 쓴 PTD 모서리 보정은 이 시험에 없고 생산 커널에도 없습니다. 호출처가 0건이고 그 경로는 한 번도 실행된 적이 없습니다. 부호 규약은 이번 주에 감사·수리됐고(근원은 정규화 단계에서 잃어버린 마이너스 부호), 코드가 문헌의 Michaeli 모서리전류 계수를 12자리로 재현합니다. 하지만 아무도 호출하지 않는 커널은 이 시험의 능력이 아니고, 오늘 거기서 아무것도 주장하지 않습니다.</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result, and it is a mismatch on one axis and an agreement on the other.</a:t>
            </a:r>
          </a:p>
          <a:p>
            <a:r>
              <a:t>First, what ran. Three hundred sixty azimuth angles at one degree spacing, twenty one frequency points from one point eight to eighteen point two gigahertz on the azimuth plane, ten elevation cuts in all, ray spacing lambda over sixteen, eighty three minutes of wall clock across two GPUs. Our fitted mean model on the azimuth plane is zero point four two zero dB per gigahertz with a standard error of zero point zero six six, with a fit root mean square of one point four three dB.</a:t>
            </a:r>
          </a:p>
          <a:p>
            <a:r>
              <a:t>Two convergence controls ran with it. Changing the ray grid from lambda over sixteen to lambda over twelve moves the mean by zero point five two dB root mean square. Doubling the azimuth samples from three hundred sixty to seven hundred twenty moves it by at most zero point zero three dB. So the azimuth sampling is converged and the ray grid is the live sensitivity.</a:t>
            </a:r>
          </a:p>
          <a:p>
            <a:r>
              <a:t>Now the comparison, and the choice of comparand is the whole game. The letter's model is elevation pooled and ours is one azimuth plane, so that pair is not matched. The conference paper's theta equal to ninety curve is the azimuth plane, it uses the same linear domain average, and it is a single frequency ratio like ours. Elevation, convention and estimator all match, so that is the comparand and everything else is context.</a:t>
            </a:r>
          </a:p>
          <a:p>
            <a:r>
              <a:t>Against it, our level is four point nine one dB low band averaged, seven point nine seven dB low at one point eight gigahertz, and three point three seven dB low at five point nine. The residual trend across the whole band is zero point zero six dB per gigahertz at zero point nine sigma, so above six gigahertz it is close to a constant offset and the structure is all at the bottom of the band.</a:t>
            </a:r>
          </a:p>
          <a:p>
            <a:r>
              <a:t>On the slope, ours is zero point four two zero and theirs is zero point three one five. The excess is zero point one zero five dB per gigahertz at one point six sigma, which does not clear ninety five percent. Against the letter it would be three point two sigma, but the letter is elevation pooled and I am not going to use a mismatched comparand to manufacture a difference. And our own slope is endpoint sensitive. Dropping both end frequencies moves it from zero point four two to zero point three three.</a:t>
            </a:r>
          </a:p>
          <a:p>
            <a:r>
              <a:t>Inside our own operating band, one point eight to six gigahertz, ours rises at one point five six dB per gigahertz against a measured zero point four one. So the band our detection work actually lives in is the band we fit worst, and our cross section there is biased low, which makes our detection probabilities pessimistic rather than optimistic.</a:t>
            </a:r>
          </a:p>
          <a:p>
            <a:r>
              <a:t>What could produce a low level. Our mesh is one hundred and eighty five millimetres tall against the twenty centimetres in the papers. Our kernel is one bounce physical optics with no edge diffraction and no cross polarisation, against a vertical to vertical measurement. Our material path is one scalar reflection magnitude per group. Two of those push down. The magnesium plate we insert pushes up, so it does not explain the deficit. I am not picking a winner today. Separating them is the next experiment, and I am not going to attribute this to the missing edge term just because we happen to have written one.</a:t>
            </a:r>
          </a:p>
          <a:p>
            <a:r>
              <a:t>The honest status. Nothing was refitted after the seal came off. The output file was not edited to make this comparison nicer, and where it disagrees it is written down as disagreeing.</a:t>
            </a:r>
          </a:p>
          <a:p/>
          <a:p>
            <a:r>
              <a:t>Q: You are four point nine dB out and your threshold was two point five one. Is it not already failed?</a:t>
            </a:r>
          </a:p>
          <a:p>
            <a:r>
              <a:t>A: No, and that distinction matters. Two point five one dB is a margin over the controls, not an error against the anchor. Whether four point nine dB passes depends entirely on how far out the cube and the box land, and that is exactly why the controls exist.</a:t>
            </a:r>
          </a:p>
          <a:p/>
          <a:p>
            <a:r>
              <a:t>— 한국어 해설 —</a:t>
            </a:r>
          </a:p>
          <a:p>
            <a:r>
              <a:t>결과입니다. 한 축은 안 맞고 한 축은 구분되지 않습니다.</a:t>
            </a:r>
          </a:p>
          <a:p>
            <a:r>
              <a:t>무엇이 돌았는지부터. 방위 360점(1도 간격), 방위면에서 1.8-18.2 GHz 21주파수, 고도 단면 총 10개, 광선격자 lambda/16, GPU 2장으로 벽시계 83분입니다. 방위면 평균모형은 0.420 ± 0.066 dB/GHz, 적합 rms 1.43 dB 입니다.</a:t>
            </a:r>
          </a:p>
          <a:p>
            <a:r>
              <a:t>수렴 대조 두 건도 같이 돌았습니다. 광선격자 lambda/16 → lambda/12 는 평균을 rms 0.52 dB 움직이고, 방위표본 360 → 720 은 최대 0.03 dB 움직입니다. 방위는 수렴했고 살아있는 민감도는 광선격자입니다.</a:t>
            </a:r>
          </a:p>
          <a:p>
            <a:r>
              <a:t>⭐ 비교 대상을 고르는 것이 핵심입니다. 레터 모형은 고도풀링이고 우리는 방위면 하나라 짝이 안 맞습니다. 학회 논문의 theta=90 곡선은 방위면이고 같은 선형평균이며 우리처럼 단일주파수 비입니다. 고도·규약·추정량이 모두 정합하므로 이것이 비교 대상이고 나머지는 맥락입니다.</a:t>
            </a:r>
          </a:p>
          <a:p>
            <a:r>
              <a:t>그것에 대해 우리 레벨은 밴드평균 4.91 dB 낮고, 1.8 GHz 에서 7.97 dB, 5.9 GHz 에서 3.37 dB 낮습니다. 잔차의 전대역 추세는 0.06 dB/GHz · 0.9σ 라 6 GHz 위로는 사실상 상수 오프셋이고 구조는 전부 대역 밑바닥에 있습니다.</a:t>
            </a:r>
          </a:p>
          <a:p>
            <a:r>
              <a:t>기울기는 우리 0.420, 저쪽 0.315. 초과는 0.105 dB/GHz · 1.6σ 로 95% 를 못 넘습니다. 레터 대비면 3.2σ 지만 레터는 고도풀링이라, 정합하지 않은 대상으로 차이를 지어내지 않습니다. ⚠ 우리 기울기 자체도 끝점 민감입니다. 양 끝점을 빼면 0.42 → 0.33 입니다.</a:t>
            </a:r>
          </a:p>
          <a:p>
            <a:r>
              <a:t>우리 운용대역 1.8-6.0 GHz 에서는 우리가 1.56, 실측이 0.41 dB/GHz 로 오릅니다. 즉 디텍션 작업이 사는 대역이 가장 못 맞추는 대역이고, 거기서 우리 σ 가 낮으므로 우리 Pd 는 낙관이 아니라 비관 쪽으로 치우쳐 있습니다.</a:t>
            </a:r>
          </a:p>
          <a:p>
            <a:r>
              <a:t>⚠ 레벨을 낮출 후보들. 메쉬 높이 185 mm 대 논문 200 mm, 1회반사 PO 로 모서리 회절·교차편파 없음(실측은 VV), 그룹당 스칼라 |Γ| 하나. 마그네슘 판은 반대로 올리므로 설명이 안 됩니다. ⭐ 오늘 범인을 지명하지 않습니다. 우리가 PTD 를 썼다는 이유로 모서리항 탓으로 돌리지 않습니다.</a:t>
            </a:r>
          </a:p>
          <a:p>
            <a:r>
              <a:t>상태는 정직하게. 봉인 해제 뒤 재적합·재계산은 없습니다. 안 맞는 항은 안 맞는 채로 적었습니다.</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What today buys, what it does not, and what I need next.</a:t>
            </a:r>
          </a:p>
          <a:p>
            <a:r>
              <a:t>The licence first, in one sentence, because it is easy to inflate. Phantom 4 shape tables carrying Phantom 3 dimensions track the measured frequency slope on the azimuth plane and sit about five dB under the measured level. Nothing wider.</a:t>
            </a:r>
          </a:p>
          <a:p>
            <a:r>
              <a:t>What it does not license. Not the per azimuth pattern, because we compare an average and two fit coefficients, and our own computed prior shows an average right to one or two dB alongside a per azimuth error of seven to ten dB. Not polarization, because our material path is one scalar reflection magnitude per material group and the anchor is vertical to vertical only. Not rotation, because these are static poses and the rotor speed ceiling is one of the unknown fields anyway. Not bistatic geometry, because going bistatic changes the obliquity term inside the physical optics integral itself and that is not in the code today. And not any airframe outside the Phantom 4 shape table family. Three other airframes we own use a different code path altogether.</a:t>
            </a:r>
          </a:p>
          <a:p>
            <a:r>
              <a:t>One defect I will not hide, and it is the second bullet. Two internal metal boxes are missing from the boolean union list, so their interior faces are still present in the integral. Part of the five dB is therefore not shape fidelity, and this test cannot separate the two. That is on the fix list before the controls run.</a:t>
            </a:r>
          </a:p>
          <a:p>
            <a:r>
              <a:t>Now the ask, and it is in the title. One outdoor slot with clear line of sight and enough distance to make far field physically, a calibration sphere of radius zero point one seven eight metres which is the same size the anchor used, and the two airframes we already own, the Matrice 4E and the Mini 5 Pro.</a:t>
            </a:r>
          </a:p>
          <a:p>
            <a:r>
              <a:t>The sphere is referenced by exact Mie rather than by pi r squared, and that is the same calculation from the protocol slide. Over our band the optical limit is zero point three seven dB root mean square off, swinging plus or minus about zero point nine dB.</a:t>
            </a:r>
          </a:p>
          <a:p>
            <a:r>
              <a:t>The success criterion is a number rather than a feeling. Measure the sphere at the start and at the end of the session. The difference is that session's drift budget, and if it exceeds one dB the session data is discarded. Why outdoors. We have no compact antenna test range, so the distance has to be bought physically. The cost is a ground reflection we then have to gate out, and that is on the plan.</a:t>
            </a:r>
          </a:p>
          <a:p>
            <a:r>
              <a:t>The experiment that decides whether any of this was worth doing is the ablation. Same site, same waveform, same classifier, and only the target model swapped three ways. The plain box, our mesh, and the measured airframe. If detection performance does not move across those three, the target model was never the bottleneck, and we should say so and stop.</a:t>
            </a:r>
          </a:p>
          <a:p>
            <a:r>
              <a:t>One precedent worth naming. Among the papers we read in full, exactly one names this problem and fixes it. It writes that absolute radiometry does not survive the sim to real gap, and then anchors the whole scene with a single trihedral corner reflector. That is the shape of what I am asking for. And today's five dB is precisely why the anchor cannot be skipped.</a:t>
            </a:r>
          </a:p>
          <a:p/>
          <a:p>
            <a:r>
              <a:t>Q: Why not fix the boolean union first and rerun?</a:t>
            </a:r>
          </a:p>
          <a:p>
            <a:r>
              <a:t>A: That is the plan, and it is cheap. What it cannot fix is the absolute level, because there is no second measured anchor in the record to check it against. That is the outdoor slot.</a:t>
            </a:r>
          </a:p>
          <a:p/>
          <a:p>
            <a:r>
              <a:t>— 한국어 해설 —</a:t>
            </a:r>
          </a:p>
          <a:p>
            <a:r>
              <a:t>오늘이 사는 것, 못 사는 것, 그리고 다음에 필요한 것입니다.</a:t>
            </a:r>
          </a:p>
          <a:p>
            <a:r>
              <a:t>⭐ 먼저 허가 범위를 한 문장으로. 'Phantom 4 형상표에 Phantom 3 제원을 얹은 조합은 방위면에서 측정된 주파수 기울기를 따라가고, 레벨은 약 5 dB 낮게 앉는다.' 그 이상은 없습니다.</a:t>
            </a:r>
          </a:p>
          <a:p>
            <a:r>
              <a:t>허가하지 않는 것. 방위별 패턴 아님(우리 계산 사전증거가 평균 1-2 dB, 방위별 7-10 dB), 편파 아님, 회전 아님, 바이스태틱 아님, 그리고 Phantom 4 형상표 가족 밖 기체 아님. 보유 기체 셋은 코드경로가 아예 다릅니다.</a:t>
            </a:r>
          </a:p>
          <a:p>
            <a:r>
              <a:t>숨기지 않을 결함 하나가 둘째 불릿입니다. 내부 금속 상자 두 개가 불리언 합집합에서 빠져 내부 면이 적분에 남아 있습니다. 즉 5 dB 의 일부는 형상 충실도가 아니고, 이 시험은 둘을 분리하지 못합니다. 대조군 실행 전 수정 목록에 있습니다.</a:t>
            </a:r>
          </a:p>
          <a:p>
            <a:r>
              <a:t>요청은 제목에 있습니다. 야외 슬롯 하나, 반경 0.178 m 교정구 하나, 보유 기체 두 대(Matrice 4E, Mini 5 Pro).</a:t>
            </a:r>
          </a:p>
          <a:p>
            <a:r>
              <a:t>교정구 기준값은 pi r 제곱이 아니라 정확 Mie 입니다. 성공 기준은 느낌이 아니라 숫자입니다. 세션 시작과 끝에 구를 재고 차이가 1 dB 를 넘으면 자료를 폐기합니다.</a:t>
            </a:r>
          </a:p>
          <a:p>
            <a:r>
              <a:t>값어치를 판정하는 실험이 ablation 입니다. 같은 부지·파형·분류기에서 표적 모형만 셋으로 바꿉니다. 세 갈래에서 성능이 안 움직이면 표적 모형은 병목이 아니었던 것이고, 그렇게 말하고 멈춰야 합니다.</a:t>
            </a:r>
          </a:p>
          <a:p>
            <a:r>
              <a:t>선례 하나. 정독한 논문 중 정확히 한 편이 이 문제에 이름을 붙이고 삼면 코너리플렉터 하나로 씬 전체를 앵커합니다. 오늘의 5 dB 가 바로 그 앵커를 건너뛸 수 없는 이유입니다.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493885" y="12947676"/>
            <a:ext cx="1320874" cy="641201"/>
          </a:xfrm>
          <a:prstGeom prst="rect">
            <a:avLst/>
          </a:prstGeom>
        </p:spPr>
        <p:txBody>
          <a:bodyPr wrap="none"/>
          <a:lstStyle/>
          <a:p>
            <a:fld id="{86CB4B4D-7CA3-9044-876B-883B54F8677D}" type="slidenum">
              <a:rPr smtClean="0"/>
              <a:t>‹#›</a:t>
            </a:fld>
            <a:r>
              <a:rPr lang="en-US" dirty="0"/>
              <a:t>/19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2026. 08. 04</a:t>
            </a: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
              <a:rPr/>
              <a:t/>
            </a:fld>
            <a:endParaRP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TODAY  ·  ONE EXPERIMENT, REPORTED IN ORDER</a:t>
            </a:r>
          </a:p>
        </p:txBody>
      </p:sp>
      <p:sp>
        <p:nvSpPr>
          <p:cNvPr id="3" name="TextBox 2"/>
          <p:cNvSpPr txBox="1"/>
          <p:nvPr/>
        </p:nvSpPr>
        <p:spPr>
          <a:xfrm>
            <a:off x="699821" y="1039673"/>
            <a:ext cx="22979482" cy="1075944"/>
          </a:xfrm>
          <a:prstGeom prst="rect">
            <a:avLst/>
          </a:prstGeom>
          <a:noFill/>
        </p:spPr>
        <p:txBody>
          <a:bodyPr wrap="square" anchor="t" lIns="0" rIns="0" tIns="0" bIns="0">
            <a:spAutoFit/>
          </a:bodyPr>
          <a:lstStyle/>
          <a:p>
            <a:pPr algn="l"/>
            <a:r>
              <a:rPr sz="5800" b="1" i="0">
                <a:solidFill>
                  <a:srgbClr val="000000"/>
                </a:solidFill>
                <a:latin typeface="AvenirNext-DemiBold"/>
              </a:rPr>
              <a:t>What I did, in one sentence</a:t>
            </a:r>
          </a:p>
        </p:txBody>
      </p:sp>
      <p:sp>
        <p:nvSpPr>
          <p:cNvPr id="4" name="TextBox 3"/>
          <p:cNvSpPr txBox="1"/>
          <p:nvPr/>
        </p:nvSpPr>
        <p:spPr>
          <a:xfrm>
            <a:off x="760781" y="219791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I built a Phantom 3 mesh with the published answer </a:t>
            </a:r>
            <a:r>
              <a:rPr sz="3700" b="1" i="0">
                <a:solidFill>
                  <a:srgbClr val="E22146"/>
                </a:solidFill>
                <a:latin typeface="AvenirNext-DemiBold"/>
              </a:rPr>
              <a:t>sealed</a:t>
            </a:r>
            <a:r>
              <a:rPr sz="3700" b="1" i="0">
                <a:solidFill>
                  <a:srgbClr val="000000"/>
                </a:solidFill>
                <a:latin typeface="AvenirNext-DemiBold"/>
              </a:rPr>
              <a:t>, and preregistered a pass or fail rule with two dumb object controls</a:t>
            </a:r>
          </a:p>
        </p:txBody>
      </p:sp>
      <p:sp>
        <p:nvSpPr>
          <p:cNvPr id="5" name="Rectangle 4"/>
          <p:cNvSpPr/>
          <p:nvPr/>
        </p:nvSpPr>
        <p:spPr>
          <a:xfrm>
            <a:off x="719328" y="3949541"/>
            <a:ext cx="121920" cy="1019235"/>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3709721"/>
            <a:ext cx="22213824" cy="1498874"/>
          </a:xfrm>
          <a:prstGeom prst="rect">
            <a:avLst/>
          </a:prstGeom>
          <a:noFill/>
        </p:spPr>
        <p:txBody>
          <a:bodyPr wrap="square" anchor="ctr" lIns="0" rIns="0" tIns="0" bIns="0">
            <a:spAutoFit/>
          </a:bodyPr>
          <a:lstStyle/>
          <a:p>
            <a:pPr algn="l"/>
            <a:r>
              <a:rPr sz="3300" b="0" i="0">
                <a:solidFill>
                  <a:srgbClr val="000000"/>
                </a:solidFill>
                <a:latin typeface="Avenir Next Medium"/>
              </a:rPr>
              <a:t>The anchor is one anechoic measurement of a real Phantom 3, reaching us through two papers</a:t>
            </a:r>
          </a:p>
        </p:txBody>
      </p:sp>
      <p:sp>
        <p:nvSpPr>
          <p:cNvPr id="7" name="Rectangle 6"/>
          <p:cNvSpPr/>
          <p:nvPr/>
        </p:nvSpPr>
        <p:spPr>
          <a:xfrm>
            <a:off x="719328" y="5829628"/>
            <a:ext cx="121920" cy="112377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1255776" y="5565211"/>
            <a:ext cx="22213824" cy="1652605"/>
          </a:xfrm>
          <a:prstGeom prst="rect">
            <a:avLst/>
          </a:prstGeom>
          <a:noFill/>
        </p:spPr>
        <p:txBody>
          <a:bodyPr wrap="square" anchor="ctr" lIns="0" rIns="0" tIns="0" bIns="0">
            <a:spAutoFit/>
          </a:bodyPr>
          <a:lstStyle/>
          <a:p>
            <a:pPr algn="l"/>
            <a:r>
              <a:rPr sz="3600" b="1" i="0">
                <a:solidFill>
                  <a:srgbClr val="E22146"/>
                </a:solidFill>
                <a:latin typeface="AvenirNext-DemiBold"/>
              </a:rPr>
              <a:t>The blind arm ran, the seal is off, and our level sits 4.9 dB under the measured curve</a:t>
            </a:r>
          </a:p>
        </p:txBody>
      </p:sp>
      <p:sp>
        <p:nvSpPr>
          <p:cNvPr id="9" name="Rectangle 8"/>
          <p:cNvSpPr/>
          <p:nvPr/>
        </p:nvSpPr>
        <p:spPr>
          <a:xfrm>
            <a:off x="719328" y="7814252"/>
            <a:ext cx="121920" cy="1019235"/>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1255776" y="7574432"/>
            <a:ext cx="22213824" cy="1498874"/>
          </a:xfrm>
          <a:prstGeom prst="rect">
            <a:avLst/>
          </a:prstGeom>
          <a:noFill/>
        </p:spPr>
        <p:txBody>
          <a:bodyPr wrap="square" anchor="ctr" lIns="0" rIns="0" tIns="0" bIns="0">
            <a:spAutoFit/>
          </a:bodyPr>
          <a:lstStyle/>
          <a:p>
            <a:pPr algn="l"/>
            <a:r>
              <a:rPr sz="3300" b="0" i="0">
                <a:solidFill>
                  <a:srgbClr val="000000"/>
                </a:solidFill>
                <a:latin typeface="Avenir Next Medium"/>
              </a:rPr>
              <a:t>The frequency slope is not distinguishable from that same measurement at 95 percent</a:t>
            </a:r>
          </a:p>
        </p:txBody>
      </p:sp>
      <p:sp>
        <p:nvSpPr>
          <p:cNvPr id="11" name="Rectangle 10"/>
          <p:cNvSpPr/>
          <p:nvPr/>
        </p:nvSpPr>
        <p:spPr>
          <a:xfrm>
            <a:off x="719328" y="9694340"/>
            <a:ext cx="121920" cy="112377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9429923"/>
            <a:ext cx="22213824" cy="1652605"/>
          </a:xfrm>
          <a:prstGeom prst="rect">
            <a:avLst/>
          </a:prstGeom>
          <a:noFill/>
        </p:spPr>
        <p:txBody>
          <a:bodyPr wrap="square" anchor="ctr" lIns="0" rIns="0" tIns="0" bIns="0">
            <a:spAutoFit/>
          </a:bodyPr>
          <a:lstStyle/>
          <a:p>
            <a:pPr algn="l"/>
            <a:r>
              <a:rPr sz="3600" b="1" i="0">
                <a:solidFill>
                  <a:srgbClr val="E22146"/>
                </a:solidFill>
                <a:latin typeface="AvenirNext-DemiBold"/>
              </a:rPr>
              <a:t>The two control arms have not run, so the preregistered verdict has no baseline yet</a:t>
            </a:r>
          </a:p>
        </p:txBody>
      </p:sp>
      <p:sp>
        <p:nvSpPr>
          <p:cNvPr id="13" name="Rectangle 12"/>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Rectangle 13"/>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5" name="TextBox 14"/>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The rule was fixed before the answer, which is what makes either outcome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ANCHOR  ·  EUCAP 2025  ·  IEEE WCL 2026</a:t>
            </a:r>
          </a:p>
        </p:txBody>
      </p:sp>
      <p:sp>
        <p:nvSpPr>
          <p:cNvPr id="3" name="TextBox 2"/>
          <p:cNvSpPr txBox="1"/>
          <p:nvPr/>
        </p:nvSpPr>
        <p:spPr>
          <a:xfrm>
            <a:off x="699821" y="1039673"/>
            <a:ext cx="22979482" cy="1075944"/>
          </a:xfrm>
          <a:prstGeom prst="rect">
            <a:avLst/>
          </a:prstGeom>
          <a:noFill/>
        </p:spPr>
        <p:txBody>
          <a:bodyPr wrap="square" anchor="t" lIns="0" rIns="0" tIns="0" bIns="0">
            <a:spAutoFit/>
          </a:bodyPr>
          <a:lstStyle/>
          <a:p>
            <a:pPr algn="l"/>
            <a:r>
              <a:rPr sz="5800" b="1" i="0">
                <a:solidFill>
                  <a:srgbClr val="000000"/>
                </a:solidFill>
                <a:latin typeface="AvenirNext-DemiBold"/>
              </a:rPr>
              <a:t>Only one of these two papers measured the Phantom 3</a:t>
            </a:r>
          </a:p>
        </p:txBody>
      </p:sp>
      <p:sp>
        <p:nvSpPr>
          <p:cNvPr id="4" name="TextBox 3"/>
          <p:cNvSpPr txBox="1"/>
          <p:nvPr/>
        </p:nvSpPr>
        <p:spPr>
          <a:xfrm>
            <a:off x="760781" y="219791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A DJI Phantom 3 of </a:t>
            </a:r>
            <a:r>
              <a:rPr sz="3700" b="1" i="0">
                <a:solidFill>
                  <a:srgbClr val="E22146"/>
                </a:solidFill>
                <a:latin typeface="AvenirNext-DemiBold"/>
              </a:rPr>
              <a:t>35 cm horizontal diagonal and 20 cm height</a:t>
            </a:r>
            <a:r>
              <a:rPr sz="3700" b="1" i="0">
                <a:solidFill>
                  <a:srgbClr val="000000"/>
                </a:solidFill>
                <a:latin typeface="AvenirNext-DemiBold"/>
              </a:rPr>
              <a:t>, anechoic and far field</a:t>
            </a:r>
          </a:p>
        </p:txBody>
      </p:sp>
      <p:sp>
        <p:nvSpPr>
          <p:cNvPr id="5" name="Rectangle 4"/>
          <p:cNvSpPr/>
          <p:nvPr/>
        </p:nvSpPr>
        <p:spPr>
          <a:xfrm>
            <a:off x="719328" y="3884233"/>
            <a:ext cx="121920" cy="741677"/>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3709721"/>
            <a:ext cx="22213824" cy="1090702"/>
          </a:xfrm>
          <a:prstGeom prst="rect">
            <a:avLst/>
          </a:prstGeom>
          <a:noFill/>
        </p:spPr>
        <p:txBody>
          <a:bodyPr wrap="square" anchor="ctr" lIns="0" rIns="0" tIns="0" bIns="0">
            <a:spAutoFit/>
          </a:bodyPr>
          <a:lstStyle/>
          <a:p>
            <a:pPr algn="l"/>
            <a:r>
              <a:rPr sz="3600" b="1" i="0">
                <a:solidFill>
                  <a:srgbClr val="E22146"/>
                </a:solidFill>
                <a:latin typeface="AvenirNext-DemiBold"/>
              </a:rPr>
              <a:t>Zhiqiang Yuan, Le Yu, Chunhui Li, Wei Fan - EuCAP 2025, and this is the measurement</a:t>
            </a:r>
          </a:p>
        </p:txBody>
      </p:sp>
      <p:sp>
        <p:nvSpPr>
          <p:cNvPr id="7" name="Rectangle 6"/>
          <p:cNvSpPr/>
          <p:nvPr/>
        </p:nvSpPr>
        <p:spPr>
          <a:xfrm>
            <a:off x="719328" y="5221823"/>
            <a:ext cx="121920" cy="741677"/>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1255776" y="5047310"/>
            <a:ext cx="22213824" cy="1090702"/>
          </a:xfrm>
          <a:prstGeom prst="rect">
            <a:avLst/>
          </a:prstGeom>
          <a:noFill/>
        </p:spPr>
        <p:txBody>
          <a:bodyPr wrap="square" anchor="ctr" lIns="0" rIns="0" tIns="0" bIns="0">
            <a:spAutoFit/>
          </a:bodyPr>
          <a:lstStyle/>
          <a:p>
            <a:pPr algn="l"/>
            <a:r>
              <a:rPr sz="3600" b="1" i="0">
                <a:solidFill>
                  <a:srgbClr val="E22146"/>
                </a:solidFill>
                <a:latin typeface="AvenirNext-DemiBold"/>
              </a:rPr>
              <a:t>Shrayan Das, Peize Zhang, Veikko Hovinen, Marko E. Leinonen, Aarno Pärssinen, Pekka Kyösti</a:t>
            </a:r>
          </a:p>
        </p:txBody>
      </p:sp>
      <p:sp>
        <p:nvSpPr>
          <p:cNvPr id="9" name="Rectangle 8"/>
          <p:cNvSpPr/>
          <p:nvPr/>
        </p:nvSpPr>
        <p:spPr>
          <a:xfrm>
            <a:off x="1645920" y="6543179"/>
            <a:ext cx="121920" cy="672684"/>
          </a:xfrm>
          <a:prstGeom prst="rect">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2182368" y="6384900"/>
            <a:ext cx="21287232" cy="989241"/>
          </a:xfrm>
          <a:prstGeom prst="rect">
            <a:avLst/>
          </a:prstGeom>
          <a:noFill/>
        </p:spPr>
        <p:txBody>
          <a:bodyPr wrap="square" anchor="ctr" lIns="0" rIns="0" tIns="0" bIns="0">
            <a:spAutoFit/>
          </a:bodyPr>
          <a:lstStyle/>
          <a:p>
            <a:pPr algn="l"/>
            <a:r>
              <a:rPr sz="2800" b="0" i="0">
                <a:solidFill>
                  <a:srgbClr val="000000"/>
                </a:solidFill>
                <a:latin typeface="Avenir Next Medium"/>
              </a:rPr>
              <a:t>IEEE Wireless Communications Letters 15, 3731-3735, 2026, which reuses that data</a:t>
            </a:r>
          </a:p>
        </p:txBody>
      </p:sp>
      <p:sp>
        <p:nvSpPr>
          <p:cNvPr id="11" name="Rectangle 10"/>
          <p:cNvSpPr/>
          <p:nvPr/>
        </p:nvSpPr>
        <p:spPr>
          <a:xfrm>
            <a:off x="719328" y="7779308"/>
            <a:ext cx="121920" cy="672684"/>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7621029"/>
            <a:ext cx="22213824" cy="989241"/>
          </a:xfrm>
          <a:prstGeom prst="rect">
            <a:avLst/>
          </a:prstGeom>
          <a:noFill/>
        </p:spPr>
        <p:txBody>
          <a:bodyPr wrap="square" anchor="ctr" lIns="0" rIns="0" tIns="0" bIns="0">
            <a:spAutoFit/>
          </a:bodyPr>
          <a:lstStyle/>
          <a:p>
            <a:pPr algn="l"/>
            <a:r>
              <a:rPr sz="3300" b="0" i="0">
                <a:solidFill>
                  <a:srgbClr val="000000"/>
                </a:solidFill>
                <a:latin typeface="Avenir Next Medium"/>
              </a:rPr>
              <a:t>The grid - 1.8 to 18.2 GHz, 2801 points, azimuth -90 to 90 deg in 2 deg steps</a:t>
            </a:r>
          </a:p>
        </p:txBody>
      </p:sp>
      <p:sp>
        <p:nvSpPr>
          <p:cNvPr id="13" name="Rectangle 12"/>
          <p:cNvSpPr/>
          <p:nvPr/>
        </p:nvSpPr>
        <p:spPr>
          <a:xfrm>
            <a:off x="719328" y="9015437"/>
            <a:ext cx="121920" cy="672684"/>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255776" y="8857158"/>
            <a:ext cx="22213824" cy="989241"/>
          </a:xfrm>
          <a:prstGeom prst="rect">
            <a:avLst/>
          </a:prstGeom>
          <a:noFill/>
        </p:spPr>
        <p:txBody>
          <a:bodyPr wrap="square" anchor="ctr" lIns="0" rIns="0" tIns="0" bIns="0">
            <a:spAutoFit/>
          </a:bodyPr>
          <a:lstStyle/>
          <a:p>
            <a:pPr algn="l"/>
            <a:r>
              <a:rPr sz="3300" b="0" i="0">
                <a:solidFill>
                  <a:srgbClr val="000000"/>
                </a:solidFill>
                <a:latin typeface="Avenir Next Medium"/>
              </a:rPr>
              <a:t>"the chosen step size may be too large at higher frequencies"</a:t>
            </a:r>
          </a:p>
        </p:txBody>
      </p:sp>
      <p:sp>
        <p:nvSpPr>
          <p:cNvPr id="15" name="Rectangle 14"/>
          <p:cNvSpPr/>
          <p:nvPr/>
        </p:nvSpPr>
        <p:spPr>
          <a:xfrm>
            <a:off x="719328" y="10251566"/>
            <a:ext cx="121920" cy="672684"/>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6" name="TextBox 15"/>
          <p:cNvSpPr txBox="1"/>
          <p:nvPr/>
        </p:nvSpPr>
        <p:spPr>
          <a:xfrm>
            <a:off x="1255776" y="10093287"/>
            <a:ext cx="22213824" cy="989241"/>
          </a:xfrm>
          <a:prstGeom prst="rect">
            <a:avLst/>
          </a:prstGeom>
          <a:noFill/>
        </p:spPr>
        <p:txBody>
          <a:bodyPr wrap="square" anchor="ctr" lIns="0" rIns="0" tIns="0" bIns="0">
            <a:spAutoFit/>
          </a:bodyPr>
          <a:lstStyle/>
          <a:p>
            <a:pPr algn="l"/>
            <a:r>
              <a:rPr sz="3300" b="0" i="0">
                <a:solidFill>
                  <a:srgbClr val="000000"/>
                </a:solidFill>
                <a:latin typeface="Avenir Next Medium"/>
              </a:rPr>
              <a:t>"RCS measurements should be ideally taken across all polarization states"</a:t>
            </a:r>
          </a:p>
        </p:txBody>
      </p:sp>
      <p:sp>
        <p:nvSpPr>
          <p:cNvPr id="17" name="Rectangle 16"/>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8" name="Rectangle 17"/>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9" name="TextBox 18"/>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Both are their own sentences, and the reason they print is time, not physics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PROTOCOL  ·  THE EUCAP 2025 MEASUREMENT</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The conference paper's protocol is six steps, and every step is printed</a:t>
            </a:r>
          </a:p>
        </p:txBody>
      </p:sp>
      <p:sp>
        <p:nvSpPr>
          <p:cNvPr id="4" name="TextBox 3"/>
          <p:cNvSpPr txBox="1"/>
          <p:nvPr/>
        </p:nvSpPr>
        <p:spPr>
          <a:xfrm>
            <a:off x="719328" y="2716073"/>
            <a:ext cx="22945344" cy="658368"/>
          </a:xfrm>
          <a:prstGeom prst="rect">
            <a:avLst/>
          </a:prstGeom>
          <a:noFill/>
        </p:spPr>
        <p:txBody>
          <a:bodyPr wrap="square" anchor="t" lIns="0" rIns="0" tIns="0" bIns="0">
            <a:spAutoFit/>
          </a:bodyPr>
          <a:lstStyle/>
          <a:p>
            <a:pPr algn="l"/>
            <a:r>
              <a:rPr sz="3000" b="0" i="0">
                <a:solidFill>
                  <a:srgbClr val="5E5E5E"/>
                </a:solidFill>
                <a:latin typeface="Avenir Next Medium"/>
              </a:rPr>
              <a:t>Two port vector network analyser, vertically polarised directional antennas, compact range</a:t>
            </a:r>
          </a:p>
        </p:txBody>
      </p:sp>
      <p:graphicFrame>
        <p:nvGraphicFramePr>
          <p:cNvPr id="5" name="Table 4"/>
          <p:cNvGraphicFramePr>
            <a:graphicFrameLocks noGrp="1"/>
          </p:cNvGraphicFramePr>
          <p:nvPr/>
        </p:nvGraphicFramePr>
        <p:xfrm>
          <a:off x="719328" y="3880159"/>
          <a:ext cx="22945343" cy="6720840"/>
        </p:xfrm>
        <a:graphic>
          <a:graphicData uri="http://schemas.openxmlformats.org/drawingml/2006/table">
            <a:tbl>
              <a:tblPr firstRow="1" bandRow="1">
                <a:tableStyleId>{5C22544A-7EE6-4342-B048-85BDC9FD1C3A}</a:tableStyleId>
              </a:tblPr>
              <a:tblGrid>
                <a:gridCol w="9637044"/>
                <a:gridCol w="13308299"/>
              </a:tblGrid>
              <a:tr h="960120">
                <a:tc>
                  <a:txBody>
                    <a:bodyPr wrap="square"/>
                    <a:lstStyle/>
                    <a:p>
                      <a:pPr algn="ctr"/>
                      <a:r>
                        <a:rPr sz="2900" b="1" i="0">
                          <a:solidFill>
                            <a:srgbClr val="FFFFFF"/>
                          </a:solidFill>
                          <a:latin typeface="AvenirNext-DemiBold"/>
                        </a:rPr>
                        <a:t>Step</a:t>
                      </a:r>
                    </a:p>
                  </a:txBody>
                  <a:tcPr anchor="ctr" marL="70000" marR="70000">
                    <a:solidFill>
                      <a:srgbClr val="26448A"/>
                    </a:solidFill>
                  </a:tcPr>
                </a:tc>
                <a:tc>
                  <a:txBody>
                    <a:bodyPr wrap="square"/>
                    <a:lstStyle/>
                    <a:p>
                      <a:pPr algn="ctr"/>
                      <a:r>
                        <a:rPr sz="2900" b="1" i="0">
                          <a:solidFill>
                            <a:srgbClr val="FFFFFF"/>
                          </a:solidFill>
                          <a:latin typeface="AvenirNext-DemiBold"/>
                        </a:rPr>
                        <a:t>What is recorded or done</a:t>
                      </a:r>
                    </a:p>
                  </a:txBody>
                  <a:tcPr anchor="ctr" marL="70000" marR="70000">
                    <a:solidFill>
                      <a:srgbClr val="26448A"/>
                    </a:solidFill>
                  </a:tcPr>
                </a:tc>
              </a:tr>
              <a:tr h="960120">
                <a:tc>
                  <a:txBody>
                    <a:bodyPr wrap="square"/>
                    <a:lstStyle/>
                    <a:p>
                      <a:pPr algn="l"/>
                      <a:r>
                        <a:rPr sz="2700" b="1" i="0">
                          <a:solidFill>
                            <a:srgbClr val="000000"/>
                          </a:solidFill>
                          <a:latin typeface="AvenirNext-DemiBold"/>
                        </a:rPr>
                        <a:t>1  Background</a:t>
                      </a:r>
                    </a:p>
                  </a:txBody>
                  <a:tcPr anchor="ctr" marL="70000" marR="70000">
                    <a:solidFill>
                      <a:srgbClr val="FFFFFF"/>
                    </a:solidFill>
                  </a:tcPr>
                </a:tc>
                <a:tc>
                  <a:txBody>
                    <a:bodyPr wrap="square"/>
                    <a:lstStyle/>
                    <a:p>
                      <a:pPr algn="ctr"/>
                      <a:r>
                        <a:rPr sz="2700" b="0" i="0">
                          <a:solidFill>
                            <a:srgbClr val="000000"/>
                          </a:solidFill>
                          <a:latin typeface="Avenir Next Medium"/>
                        </a:rPr>
                        <a:t>Chamber response with the target off the turntable</a:t>
                      </a:r>
                    </a:p>
                  </a:txBody>
                  <a:tcPr anchor="ctr" marL="70000" marR="70000">
                    <a:solidFill>
                      <a:srgbClr val="FFFFFF"/>
                    </a:solidFill>
                  </a:tcPr>
                </a:tc>
              </a:tr>
              <a:tr h="960120">
                <a:tc>
                  <a:txBody>
                    <a:bodyPr wrap="square"/>
                    <a:lstStyle/>
                    <a:p>
                      <a:pPr algn="l"/>
                      <a:r>
                        <a:rPr sz="2700" b="1" i="0">
                          <a:solidFill>
                            <a:srgbClr val="000000"/>
                          </a:solidFill>
                          <a:latin typeface="AvenirNext-DemiBold"/>
                        </a:rPr>
                        <a:t>2  Calibration</a:t>
                      </a:r>
                    </a:p>
                  </a:txBody>
                  <a:tcPr anchor="ctr" marL="70000" marR="70000">
                    <a:solidFill>
                      <a:srgbClr val="F2F2F2"/>
                    </a:solidFill>
                  </a:tcPr>
                </a:tc>
                <a:tc>
                  <a:txBody>
                    <a:bodyPr wrap="square"/>
                    <a:lstStyle/>
                    <a:p>
                      <a:pPr algn="ctr"/>
                      <a:r>
                        <a:rPr sz="2700" b="0" i="0">
                          <a:solidFill>
                            <a:srgbClr val="000000"/>
                          </a:solidFill>
                          <a:latin typeface="Avenir Next Medium"/>
                        </a:rPr>
                        <a:t>Metal sphere of radius 17.8 cm with a known sigma of -10 dBsm</a:t>
                      </a:r>
                    </a:p>
                  </a:txBody>
                  <a:tcPr anchor="ctr" marL="70000" marR="70000">
                    <a:solidFill>
                      <a:srgbClr val="F2F2F2"/>
                    </a:solidFill>
                  </a:tcPr>
                </a:tc>
              </a:tr>
              <a:tr h="960120">
                <a:tc>
                  <a:txBody>
                    <a:bodyPr wrap="square"/>
                    <a:lstStyle/>
                    <a:p>
                      <a:pPr algn="l"/>
                      <a:r>
                        <a:rPr sz="2700" b="1" i="0">
                          <a:solidFill>
                            <a:srgbClr val="000000"/>
                          </a:solidFill>
                          <a:latin typeface="AvenirNext-DemiBold"/>
                        </a:rPr>
                        <a:t>3  Target</a:t>
                      </a:r>
                    </a:p>
                  </a:txBody>
                  <a:tcPr anchor="ctr" marL="70000" marR="70000">
                    <a:solidFill>
                      <a:srgbClr val="FFFFFF"/>
                    </a:solidFill>
                  </a:tcPr>
                </a:tc>
                <a:tc>
                  <a:txBody>
                    <a:bodyPr wrap="square"/>
                    <a:lstStyle/>
                    <a:p>
                      <a:pPr algn="ctr"/>
                      <a:r>
                        <a:rPr sz="2700" b="0" i="0">
                          <a:solidFill>
                            <a:srgbClr val="000000"/>
                          </a:solidFill>
                          <a:latin typeface="Avenir Next Medium"/>
                        </a:rPr>
                        <a:t>Response at every azimuth angle, target at the same turntable centre</a:t>
                      </a:r>
                    </a:p>
                  </a:txBody>
                  <a:tcPr anchor="ctr" marL="70000" marR="70000">
                    <a:solidFill>
                      <a:srgbClr val="FFFFFF"/>
                    </a:solidFill>
                  </a:tcPr>
                </a:tc>
              </a:tr>
              <a:tr h="960120">
                <a:tc>
                  <a:txBody>
                    <a:bodyPr wrap="square"/>
                    <a:lstStyle/>
                    <a:p>
                      <a:pPr algn="l"/>
                      <a:r>
                        <a:rPr sz="2700" b="1" i="0">
                          <a:solidFill>
                            <a:srgbClr val="000000"/>
                          </a:solidFill>
                          <a:latin typeface="AvenirNext-DemiBold"/>
                        </a:rPr>
                        <a:t>4  Subtraction</a:t>
                      </a:r>
                    </a:p>
                  </a:txBody>
                  <a:tcPr anchor="ctr" marL="70000" marR="70000">
                    <a:solidFill>
                      <a:srgbClr val="F2F2F2"/>
                    </a:solidFill>
                  </a:tcPr>
                </a:tc>
                <a:tc>
                  <a:txBody>
                    <a:bodyPr wrap="square"/>
                    <a:lstStyle/>
                    <a:p>
                      <a:pPr algn="ctr"/>
                      <a:r>
                        <a:rPr sz="2700" b="0" i="0">
                          <a:solidFill>
                            <a:srgbClr val="000000"/>
                          </a:solidFill>
                          <a:latin typeface="Avenir Next Medium"/>
                        </a:rPr>
                        <a:t>Background removed phase coherently, so coupling goes with it</a:t>
                      </a:r>
                    </a:p>
                  </a:txBody>
                  <a:tcPr anchor="ctr" marL="70000" marR="70000">
                    <a:solidFill>
                      <a:srgbClr val="F2F2F2"/>
                    </a:solidFill>
                  </a:tcPr>
                </a:tc>
              </a:tr>
              <a:tr h="960120">
                <a:tc>
                  <a:txBody>
                    <a:bodyPr wrap="square"/>
                    <a:lstStyle/>
                    <a:p>
                      <a:pPr algn="l"/>
                      <a:r>
                        <a:rPr sz="2700" b="1" i="0">
                          <a:solidFill>
                            <a:srgbClr val="000000"/>
                          </a:solidFill>
                          <a:latin typeface="AvenirNext-DemiBold"/>
                        </a:rPr>
                        <a:t>5  Range gating</a:t>
                      </a:r>
                    </a:p>
                  </a:txBody>
                  <a:tcPr anchor="ctr" marL="70000" marR="70000">
                    <a:solidFill>
                      <a:srgbClr val="FFFFFF"/>
                    </a:solidFill>
                  </a:tcPr>
                </a:tc>
                <a:tc>
                  <a:txBody>
                    <a:bodyPr wrap="square"/>
                    <a:lstStyle/>
                    <a:p>
                      <a:pPr algn="ctr"/>
                      <a:r>
                        <a:rPr sz="2700" b="0" i="0">
                          <a:solidFill>
                            <a:srgbClr val="000000"/>
                          </a:solidFill>
                          <a:latin typeface="Avenir Next Medium"/>
                        </a:rPr>
                        <a:t>Inverse Fourier transform, sixth order Kaiser window, transform back</a:t>
                      </a:r>
                    </a:p>
                  </a:txBody>
                  <a:tcPr anchor="ctr" marL="70000" marR="70000">
                    <a:solidFill>
                      <a:srgbClr val="FFFFFF"/>
                    </a:solidFill>
                  </a:tcPr>
                </a:tc>
              </a:tr>
              <a:tr h="960120">
                <a:tc>
                  <a:txBody>
                    <a:bodyPr wrap="square"/>
                    <a:lstStyle/>
                    <a:p>
                      <a:pPr algn="l"/>
                      <a:r>
                        <a:rPr sz="2700" b="1" i="0">
                          <a:solidFill>
                            <a:srgbClr val="000000"/>
                          </a:solidFill>
                          <a:latin typeface="AvenirNext-DemiBold"/>
                        </a:rPr>
                        <a:t>6  Absolute sigma</a:t>
                      </a:r>
                    </a:p>
                  </a:txBody>
                  <a:tcPr anchor="ctr" marL="70000" marR="70000">
                    <a:solidFill>
                      <a:srgbClr val="F2F2F2"/>
                    </a:solidFill>
                  </a:tcPr>
                </a:tc>
                <a:tc>
                  <a:txBody>
                    <a:bodyPr wrap="square"/>
                    <a:lstStyle/>
                    <a:p>
                      <a:pPr algn="ctr"/>
                      <a:r>
                        <a:rPr sz="2700" b="0" i="0">
                          <a:solidFill>
                            <a:srgbClr val="000000"/>
                          </a:solidFill>
                          <a:latin typeface="Avenir Next Medium"/>
                        </a:rPr>
                        <a:t>Power ratio to the sphere, multiplied by the sphere known sigma</a:t>
                      </a:r>
                    </a:p>
                  </a:txBody>
                  <a:tcPr anchor="ctr" marL="70000" marR="70000">
                    <a:solidFill>
                      <a:srgbClr val="F2F2F2"/>
                    </a:solidFill>
                  </a:tcPr>
                </a:tc>
              </a:tr>
            </a:tbl>
          </a:graphicData>
        </a:graphic>
      </p:graphicFrame>
      <p:sp>
        <p:nvSpPr>
          <p:cNvPr id="6" name="TextBox 5"/>
          <p:cNvSpPr txBox="1"/>
          <p:nvPr/>
        </p:nvSpPr>
        <p:spPr>
          <a:xfrm>
            <a:off x="719328" y="11149736"/>
            <a:ext cx="22945344" cy="850392"/>
          </a:xfrm>
          <a:prstGeom prst="rect">
            <a:avLst/>
          </a:prstGeom>
          <a:noFill/>
        </p:spPr>
        <p:txBody>
          <a:bodyPr wrap="square" anchor="t" lIns="0" rIns="0" tIns="0" bIns="0">
            <a:spAutoFit/>
          </a:bodyPr>
          <a:lstStyle/>
          <a:p>
            <a:pPr algn="ctr"/>
            <a:r>
              <a:rPr sz="4000" b="1" i="0">
                <a:solidFill>
                  <a:srgbClr val="26448A"/>
                </a:solidFill>
                <a:latin typeface="AvenirNext-DemiBold"/>
              </a:rPr>
              <a:t>We inherit steps four to six, and our sphere reference is exact Mie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PROVENANCE  ·  HOW FAR THE YARDSTICK CAN BE TRUSTED</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The two summaries differ by about 3 dB, and that is the yardstick's resolution</a:t>
            </a:r>
          </a:p>
        </p:txBody>
      </p:sp>
      <p:sp>
        <p:nvSpPr>
          <p:cNvPr id="4" name="TextBox 3"/>
          <p:cNvSpPr txBox="1"/>
          <p:nvPr/>
        </p:nvSpPr>
        <p:spPr>
          <a:xfrm>
            <a:off x="760781" y="271607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Three strands say the two are not independent, and </a:t>
            </a:r>
            <a:r>
              <a:rPr sz="3700" b="1" i="0">
                <a:solidFill>
                  <a:srgbClr val="E22146"/>
                </a:solidFill>
                <a:latin typeface="AvenirNext-DemiBold"/>
              </a:rPr>
              <a:t>one printed line cuts the other way</a:t>
            </a:r>
          </a:p>
        </p:txBody>
      </p:sp>
      <p:sp>
        <p:nvSpPr>
          <p:cNvPr id="5" name="Rectangle 4"/>
          <p:cNvSpPr/>
          <p:nvPr/>
        </p:nvSpPr>
        <p:spPr>
          <a:xfrm>
            <a:off x="719328" y="4375234"/>
            <a:ext cx="121920" cy="626252"/>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4227881"/>
            <a:ext cx="22213824" cy="920958"/>
          </a:xfrm>
          <a:prstGeom prst="rect">
            <a:avLst/>
          </a:prstGeom>
          <a:noFill/>
        </p:spPr>
        <p:txBody>
          <a:bodyPr wrap="square" anchor="ctr" lIns="0" rIns="0" tIns="0" bIns="0">
            <a:spAutoFit/>
          </a:bodyPr>
          <a:lstStyle/>
          <a:p>
            <a:pPr algn="l"/>
            <a:r>
              <a:rPr sz="3300" b="0" i="0">
                <a:solidFill>
                  <a:srgbClr val="000000"/>
                </a:solidFill>
                <a:latin typeface="Avenir Next Medium"/>
              </a:rPr>
              <a:t>"thank Prof. Wei Fan from Southeast University for providing the measured RCS data"</a:t>
            </a:r>
          </a:p>
        </p:txBody>
      </p:sp>
      <p:sp>
        <p:nvSpPr>
          <p:cNvPr id="7" name="Rectangle 6"/>
          <p:cNvSpPr/>
          <p:nvPr/>
        </p:nvSpPr>
        <p:spPr>
          <a:xfrm>
            <a:off x="1645920" y="5543080"/>
            <a:ext cx="121920" cy="626252"/>
          </a:xfrm>
          <a:prstGeom prst="rect">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2182368" y="5395727"/>
            <a:ext cx="21287232" cy="920958"/>
          </a:xfrm>
          <a:prstGeom prst="rect">
            <a:avLst/>
          </a:prstGeom>
          <a:noFill/>
        </p:spPr>
        <p:txBody>
          <a:bodyPr wrap="square" anchor="ctr" lIns="0" rIns="0" tIns="0" bIns="0">
            <a:spAutoFit/>
          </a:bodyPr>
          <a:lstStyle/>
          <a:p>
            <a:pPr algn="l"/>
            <a:r>
              <a:rPr sz="2800" b="0" i="0">
                <a:solidFill>
                  <a:srgbClr val="000000"/>
                </a:solidFill>
                <a:latin typeface="Avenir Next Medium"/>
              </a:rPr>
              <a:t>the letter's acknowledgment, and Wei Fan is an author of the conference paper</a:t>
            </a:r>
          </a:p>
        </p:txBody>
      </p:sp>
      <p:sp>
        <p:nvSpPr>
          <p:cNvPr id="9" name="Rectangle 8"/>
          <p:cNvSpPr/>
          <p:nvPr/>
        </p:nvSpPr>
        <p:spPr>
          <a:xfrm>
            <a:off x="719328" y="6710927"/>
            <a:ext cx="121920" cy="626252"/>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1255776" y="6563573"/>
            <a:ext cx="22213824" cy="920958"/>
          </a:xfrm>
          <a:prstGeom prst="rect">
            <a:avLst/>
          </a:prstGeom>
          <a:noFill/>
        </p:spPr>
        <p:txBody>
          <a:bodyPr wrap="square" anchor="ctr" lIns="0" rIns="0" tIns="0" bIns="0">
            <a:spAutoFit/>
          </a:bodyPr>
          <a:lstStyle/>
          <a:p>
            <a:pPr algn="l"/>
            <a:r>
              <a:rPr sz="3300" b="0" i="0">
                <a:solidFill>
                  <a:srgbClr val="000000"/>
                </a:solidFill>
                <a:latin typeface="Avenir Next Medium"/>
              </a:rPr>
              <a:t>Four settings match - band, 2801 points, half circle azimuth at 2 deg, anechoic</a:t>
            </a:r>
          </a:p>
        </p:txBody>
      </p:sp>
      <p:sp>
        <p:nvSpPr>
          <p:cNvPr id="11" name="Rectangle 10"/>
          <p:cNvSpPr/>
          <p:nvPr/>
        </p:nvSpPr>
        <p:spPr>
          <a:xfrm>
            <a:off x="719328" y="7878773"/>
            <a:ext cx="121920" cy="626252"/>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7731420"/>
            <a:ext cx="22213824" cy="920958"/>
          </a:xfrm>
          <a:prstGeom prst="rect">
            <a:avLst/>
          </a:prstGeom>
          <a:noFill/>
        </p:spPr>
        <p:txBody>
          <a:bodyPr wrap="square" anchor="ctr" lIns="0" rIns="0" tIns="0" bIns="0">
            <a:spAutoFit/>
          </a:bodyPr>
          <a:lstStyle/>
          <a:p>
            <a:pPr algn="l"/>
            <a:r>
              <a:rPr sz="3300" b="0" i="0">
                <a:solidFill>
                  <a:srgbClr val="000000"/>
                </a:solidFill>
                <a:latin typeface="Avenir Next Medium"/>
              </a:rPr>
              <a:t>Against that, the letter never cites the conference paper and names a third work</a:t>
            </a:r>
          </a:p>
        </p:txBody>
      </p:sp>
      <p:sp>
        <p:nvSpPr>
          <p:cNvPr id="13" name="Rectangle 12"/>
          <p:cNvSpPr/>
          <p:nvPr/>
        </p:nvSpPr>
        <p:spPr>
          <a:xfrm>
            <a:off x="719328" y="9046619"/>
            <a:ext cx="121920" cy="626252"/>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255776" y="8899266"/>
            <a:ext cx="22213824" cy="920958"/>
          </a:xfrm>
          <a:prstGeom prst="rect">
            <a:avLst/>
          </a:prstGeom>
          <a:noFill/>
        </p:spPr>
        <p:txBody>
          <a:bodyPr wrap="square" anchor="ctr" lIns="0" rIns="0" tIns="0" bIns="0">
            <a:spAutoFit/>
          </a:bodyPr>
          <a:lstStyle/>
          <a:p>
            <a:pPr algn="l"/>
            <a:r>
              <a:rPr sz="3300" b="0" i="0">
                <a:solidFill>
                  <a:srgbClr val="000000"/>
                </a:solidFill>
                <a:latin typeface="Avenir Next Medium"/>
              </a:rPr>
              <a:t>The letter prints 0.21f - 19.19 dBsm at zero bistatic angle, read from an image only table</a:t>
            </a:r>
          </a:p>
        </p:txBody>
      </p:sp>
      <p:sp>
        <p:nvSpPr>
          <p:cNvPr id="15" name="Rectangle 14"/>
          <p:cNvSpPr/>
          <p:nvPr/>
        </p:nvSpPr>
        <p:spPr>
          <a:xfrm>
            <a:off x="719328" y="10229579"/>
            <a:ext cx="121920" cy="690483"/>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6" name="TextBox 15"/>
          <p:cNvSpPr txBox="1"/>
          <p:nvPr/>
        </p:nvSpPr>
        <p:spPr>
          <a:xfrm>
            <a:off x="1255776" y="10067112"/>
            <a:ext cx="22213824" cy="1015416"/>
          </a:xfrm>
          <a:prstGeom prst="rect">
            <a:avLst/>
          </a:prstGeom>
          <a:noFill/>
        </p:spPr>
        <p:txBody>
          <a:bodyPr wrap="square" anchor="ctr" lIns="0" rIns="0" tIns="0" bIns="0">
            <a:spAutoFit/>
          </a:bodyPr>
          <a:lstStyle/>
          <a:p>
            <a:pPr algn="l"/>
            <a:r>
              <a:rPr sz="3600" b="1" i="0">
                <a:solidFill>
                  <a:srgbClr val="E22146"/>
                </a:solidFill>
                <a:latin typeface="AvenirNext-DemiBold"/>
              </a:rPr>
              <a:t>The conference paper prints 0.315f - 16.15 dBsm, so the two differ by 3.2 to 3.6 dB</a:t>
            </a:r>
          </a:p>
        </p:txBody>
      </p:sp>
      <p:sp>
        <p:nvSpPr>
          <p:cNvPr id="17" name="Rectangle 16"/>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8" name="Rectangle 17"/>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9" name="TextBox 18"/>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About 3 dB is the yardstick's own resolution, so no claim of ours can be finer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PRECEDENT  ·  18 PAPERS READ IN FULL FROM AN ARCHIVE OF 305</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Making sigma outside the simulator and injecting it is published practice</a:t>
            </a:r>
          </a:p>
        </p:txBody>
      </p:sp>
      <p:graphicFrame>
        <p:nvGraphicFramePr>
          <p:cNvPr id="4" name="Table 3"/>
          <p:cNvGraphicFramePr>
            <a:graphicFrameLocks noGrp="1"/>
          </p:cNvGraphicFramePr>
          <p:nvPr/>
        </p:nvGraphicFramePr>
        <p:xfrm>
          <a:off x="719328" y="4628504"/>
          <a:ext cx="22945343" cy="3840480"/>
        </p:xfrm>
        <a:graphic>
          <a:graphicData uri="http://schemas.openxmlformats.org/drawingml/2006/table">
            <a:tbl>
              <a:tblPr firstRow="1" bandRow="1">
                <a:tableStyleId>{5C22544A-7EE6-4342-B048-85BDC9FD1C3A}</a:tableStyleId>
              </a:tblPr>
              <a:tblGrid>
                <a:gridCol w="6883603"/>
                <a:gridCol w="5047975"/>
                <a:gridCol w="11013765"/>
              </a:tblGrid>
              <a:tr h="960120">
                <a:tc>
                  <a:txBody>
                    <a:bodyPr wrap="square"/>
                    <a:lstStyle/>
                    <a:p>
                      <a:pPr algn="ctr"/>
                      <a:r>
                        <a:rPr sz="2900" b="1" i="0">
                          <a:solidFill>
                            <a:srgbClr val="FFFFFF"/>
                          </a:solidFill>
                          <a:latin typeface="AvenirNext-DemiBold"/>
                        </a:rPr>
                        <a:t>Paper</a:t>
                      </a:r>
                    </a:p>
                  </a:txBody>
                  <a:tcPr anchor="ctr" marL="70000" marR="70000">
                    <a:solidFill>
                      <a:srgbClr val="26448A"/>
                    </a:solidFill>
                  </a:tcPr>
                </a:tc>
                <a:tc>
                  <a:txBody>
                    <a:bodyPr wrap="square"/>
                    <a:lstStyle/>
                    <a:p>
                      <a:pPr algn="ctr"/>
                      <a:r>
                        <a:rPr sz="2900" b="1" i="0">
                          <a:solidFill>
                            <a:srgbClr val="FFFFFF"/>
                          </a:solidFill>
                          <a:latin typeface="AvenirNext-DemiBold"/>
                        </a:rPr>
                        <a:t>Sigma from</a:t>
                      </a:r>
                    </a:p>
                  </a:txBody>
                  <a:tcPr anchor="ctr" marL="70000" marR="70000">
                    <a:solidFill>
                      <a:srgbClr val="26448A"/>
                    </a:solidFill>
                  </a:tcPr>
                </a:tc>
                <a:tc>
                  <a:txBody>
                    <a:bodyPr wrap="square"/>
                    <a:lstStyle/>
                    <a:p>
                      <a:pPr algn="ctr"/>
                      <a:r>
                        <a:rPr sz="2900" b="1" i="0">
                          <a:solidFill>
                            <a:srgbClr val="FFFFFF"/>
                          </a:solidFill>
                          <a:latin typeface="AvenirNext-DemiBold"/>
                        </a:rPr>
                        <a:t>How that sigma was checked</a:t>
                      </a:r>
                    </a:p>
                  </a:txBody>
                  <a:tcPr anchor="ctr" marL="70000" marR="70000">
                    <a:solidFill>
                      <a:srgbClr val="26448A"/>
                    </a:solidFill>
                  </a:tcPr>
                </a:tc>
              </a:tr>
              <a:tr h="960120">
                <a:tc>
                  <a:txBody>
                    <a:bodyPr wrap="square"/>
                    <a:lstStyle/>
                    <a:p>
                      <a:pPr algn="l"/>
                      <a:r>
                        <a:rPr sz="2700" b="1" i="0">
                          <a:solidFill>
                            <a:srgbClr val="000000"/>
                          </a:solidFill>
                          <a:latin typeface="AvenirNext-DemiBold"/>
                        </a:rPr>
                        <a:t>IEEE Journal on Selected Areas in Communications, 2026</a:t>
                      </a:r>
                    </a:p>
                  </a:txBody>
                  <a:tcPr anchor="ctr" marL="70000" marR="70000">
                    <a:solidFill>
                      <a:srgbClr val="FFFFFF"/>
                    </a:solidFill>
                  </a:tcPr>
                </a:tc>
                <a:tc>
                  <a:txBody>
                    <a:bodyPr wrap="square"/>
                    <a:lstStyle/>
                    <a:p>
                      <a:pPr algn="ctr"/>
                      <a:r>
                        <a:rPr sz="2700" b="0" i="0">
                          <a:solidFill>
                            <a:srgbClr val="000000"/>
                          </a:solidFill>
                          <a:latin typeface="Avenir Next Medium"/>
                        </a:rPr>
                        <a:t>Measured</a:t>
                      </a:r>
                    </a:p>
                  </a:txBody>
                  <a:tcPr anchor="ctr" marL="70000" marR="70000">
                    <a:solidFill>
                      <a:srgbClr val="FFFFFF"/>
                    </a:solidFill>
                  </a:tcPr>
                </a:tc>
                <a:tc>
                  <a:txBody>
                    <a:bodyPr wrap="square"/>
                    <a:lstStyle/>
                    <a:p>
                      <a:pPr algn="ctr"/>
                      <a:r>
                        <a:rPr sz="2700" b="0" i="0">
                          <a:solidFill>
                            <a:srgbClr val="000000"/>
                          </a:solidFill>
                          <a:latin typeface="Avenir Next Medium"/>
                        </a:rPr>
                        <a:t>The 28 GHz band held out of the fit, then predicted</a:t>
                      </a:r>
                    </a:p>
                  </a:txBody>
                  <a:tcPr anchor="ctr" marL="70000" marR="70000">
                    <a:solidFill>
                      <a:srgbClr val="FFFFFF"/>
                    </a:solidFill>
                  </a:tcPr>
                </a:tc>
              </a:tr>
              <a:tr h="960120">
                <a:tc>
                  <a:txBody>
                    <a:bodyPr wrap="square"/>
                    <a:lstStyle/>
                    <a:p>
                      <a:pPr algn="l"/>
                      <a:r>
                        <a:rPr sz="2700" b="1" i="0">
                          <a:solidFill>
                            <a:srgbClr val="000000"/>
                          </a:solidFill>
                          <a:latin typeface="AvenirNext-DemiBold"/>
                        </a:rPr>
                        <a:t>IET Radar, Sonar &amp; Navigation, 2020</a:t>
                      </a:r>
                    </a:p>
                  </a:txBody>
                  <a:tcPr anchor="ctr" marL="70000" marR="70000">
                    <a:solidFill>
                      <a:srgbClr val="F2F2F2"/>
                    </a:solidFill>
                  </a:tcPr>
                </a:tc>
                <a:tc>
                  <a:txBody>
                    <a:bodyPr wrap="square"/>
                    <a:lstStyle/>
                    <a:p>
                      <a:pPr algn="ctr"/>
                      <a:r>
                        <a:rPr sz="2700" b="0" i="0">
                          <a:solidFill>
                            <a:srgbClr val="000000"/>
                          </a:solidFill>
                          <a:latin typeface="Avenir Next Medium"/>
                        </a:rPr>
                        <a:t>Their own solver</a:t>
                      </a:r>
                    </a:p>
                  </a:txBody>
                  <a:tcPr anchor="ctr" marL="70000" marR="70000">
                    <a:solidFill>
                      <a:srgbClr val="F2F2F2"/>
                    </a:solidFill>
                  </a:tcPr>
                </a:tc>
                <a:tc>
                  <a:txBody>
                    <a:bodyPr wrap="square"/>
                    <a:lstStyle/>
                    <a:p>
                      <a:pPr algn="ctr"/>
                      <a:r>
                        <a:rPr sz="2700" b="0" i="0">
                          <a:solidFill>
                            <a:srgbClr val="000000"/>
                          </a:solidFill>
                          <a:latin typeface="Avenir Next Medium"/>
                        </a:rPr>
                        <a:t>A 77 GHz radar, NMSE under 10 and SSIM over 81 percent</a:t>
                      </a:r>
                    </a:p>
                  </a:txBody>
                  <a:tcPr anchor="ctr" marL="70000" marR="70000">
                    <a:solidFill>
                      <a:srgbClr val="F2F2F2"/>
                    </a:solidFill>
                  </a:tcPr>
                </a:tc>
              </a:tr>
              <a:tr h="960120">
                <a:tc>
                  <a:txBody>
                    <a:bodyPr wrap="square"/>
                    <a:lstStyle/>
                    <a:p>
                      <a:pPr algn="l"/>
                      <a:r>
                        <a:rPr sz="2700" b="1" i="0">
                          <a:solidFill>
                            <a:srgbClr val="000000"/>
                          </a:solidFill>
                          <a:latin typeface="AvenirNext-DemiBold"/>
                        </a:rPr>
                        <a:t>IEEE Journal of Selected Topics in Electromagnetics, Antennas and Propagation, 2025</a:t>
                      </a:r>
                    </a:p>
                  </a:txBody>
                  <a:tcPr anchor="ctr" marL="70000" marR="70000">
                    <a:solidFill>
                      <a:srgbClr val="FFFFFF"/>
                    </a:solidFill>
                  </a:tcPr>
                </a:tc>
                <a:tc>
                  <a:txBody>
                    <a:bodyPr wrap="square"/>
                    <a:lstStyle/>
                    <a:p>
                      <a:pPr algn="ctr"/>
                      <a:r>
                        <a:rPr sz="2700" b="0" i="0">
                          <a:solidFill>
                            <a:srgbClr val="000000"/>
                          </a:solidFill>
                          <a:latin typeface="Avenir Next Medium"/>
                        </a:rPr>
                        <a:t>Measured library</a:t>
                      </a:r>
                    </a:p>
                  </a:txBody>
                  <a:tcPr anchor="ctr" marL="70000" marR="70000">
                    <a:solidFill>
                      <a:srgbClr val="FFFFFF"/>
                    </a:solidFill>
                  </a:tcPr>
                </a:tc>
                <a:tc>
                  <a:txBody>
                    <a:bodyPr wrap="square"/>
                    <a:lstStyle/>
                    <a:p>
                      <a:pPr algn="ctr"/>
                      <a:r>
                        <a:rPr sz="2700" b="0" i="0">
                          <a:solidFill>
                            <a:srgbClr val="000000"/>
                          </a:solidFill>
                          <a:latin typeface="Avenir Next Medium"/>
                        </a:rPr>
                        <a:t>Their bistatic test bed, on its analytic body model</a:t>
                      </a:r>
                    </a:p>
                  </a:txBody>
                  <a:tcPr anchor="ctr" marL="70000" marR="70000">
                    <a:solidFill>
                      <a:srgbClr val="FFFFFF"/>
                    </a:solidFill>
                  </a:tcPr>
                </a:tc>
              </a:tr>
            </a:tbl>
          </a:graphicData>
        </a:graphic>
      </p:graphicFrame>
      <p:sp>
        <p:nvSpPr>
          <p:cNvPr id="5" name="TextBox 4"/>
          <p:cNvSpPr txBox="1"/>
          <p:nvPr/>
        </p:nvSpPr>
        <p:spPr>
          <a:xfrm>
            <a:off x="719328" y="11149736"/>
            <a:ext cx="22945344" cy="850392"/>
          </a:xfrm>
          <a:prstGeom prst="rect">
            <a:avLst/>
          </a:prstGeom>
          <a:noFill/>
        </p:spPr>
        <p:txBody>
          <a:bodyPr wrap="square" anchor="t" lIns="0" rIns="0" tIns="0" bIns="0">
            <a:spAutoFit/>
          </a:bodyPr>
          <a:lstStyle/>
          <a:p>
            <a:pPr algn="ctr"/>
            <a:r>
              <a:rPr sz="4000" b="1" i="0">
                <a:solidFill>
                  <a:srgbClr val="26448A"/>
                </a:solidFill>
                <a:latin typeface="AvenirNext-DemiBold"/>
              </a:rPr>
              <a:t>Of those 18, none computes a drone RCS and prints the dBsm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WHAT WE BUILT AND WHY WE BUILT IT BLIND</a:t>
            </a:r>
          </a:p>
        </p:txBody>
      </p:sp>
      <p:sp>
        <p:nvSpPr>
          <p:cNvPr id="3" name="TextBox 2"/>
          <p:cNvSpPr txBox="1"/>
          <p:nvPr/>
        </p:nvSpPr>
        <p:spPr>
          <a:xfrm>
            <a:off x="699821" y="1039673"/>
            <a:ext cx="22979482" cy="1075944"/>
          </a:xfrm>
          <a:prstGeom prst="rect">
            <a:avLst/>
          </a:prstGeom>
          <a:noFill/>
        </p:spPr>
        <p:txBody>
          <a:bodyPr wrap="square" anchor="t" lIns="0" rIns="0" tIns="0" bIns="0">
            <a:spAutoFit/>
          </a:bodyPr>
          <a:lstStyle/>
          <a:p>
            <a:pPr algn="l"/>
            <a:r>
              <a:rPr sz="5800" b="1" i="0">
                <a:solidFill>
                  <a:srgbClr val="000000"/>
                </a:solidFill>
                <a:latin typeface="AvenirNext-DemiBold"/>
              </a:rPr>
              <a:t>The mesh was finished before the answer was opened</a:t>
            </a:r>
          </a:p>
        </p:txBody>
      </p:sp>
      <p:pic>
        <p:nvPicPr>
          <p:cNvPr id="4" name="Picture 3" descr="p3_mesh_strip.png"/>
          <p:cNvPicPr>
            <a:picLocks noChangeAspect="1"/>
          </p:cNvPicPr>
          <p:nvPr/>
        </p:nvPicPr>
        <p:blipFill>
          <a:blip r:embed="rId2"/>
          <a:stretch>
            <a:fillRect/>
          </a:stretch>
        </p:blipFill>
        <p:spPr>
          <a:xfrm>
            <a:off x="1116546" y="2221992"/>
            <a:ext cx="22150906" cy="5565648"/>
          </a:xfrm>
          <a:prstGeom prst="rect">
            <a:avLst/>
          </a:prstGeom>
        </p:spPr>
      </p:pic>
      <p:sp>
        <p:nvSpPr>
          <p:cNvPr id="5" name="TextBox 4"/>
          <p:cNvSpPr txBox="1"/>
          <p:nvPr/>
        </p:nvSpPr>
        <p:spPr>
          <a:xfrm>
            <a:off x="1116546" y="7952232"/>
            <a:ext cx="22150906" cy="579120"/>
          </a:xfrm>
          <a:prstGeom prst="rect">
            <a:avLst/>
          </a:prstGeom>
          <a:noFill/>
        </p:spPr>
        <p:txBody>
          <a:bodyPr wrap="square" anchor="t" lIns="0" rIns="0" tIns="0" bIns="0">
            <a:spAutoFit/>
          </a:bodyPr>
          <a:lstStyle/>
          <a:p>
            <a:pPr algn="ctr"/>
            <a:r>
              <a:rPr sz="2900" b="1" i="0">
                <a:solidFill>
                  <a:srgbClr val="5E5E5E"/>
                </a:solidFill>
                <a:latin typeface="AvenirNext-DemiBold"/>
              </a:rPr>
              <a:t>As built. 28,160 triangles, 8 material groups, 19 parts, motor diagonal 350 mm, mass 1,280 g</a:t>
            </a:r>
          </a:p>
        </p:txBody>
      </p:sp>
      <p:sp>
        <p:nvSpPr>
          <p:cNvPr id="6" name="Rectangle 5"/>
          <p:cNvSpPr/>
          <p:nvPr/>
        </p:nvSpPr>
        <p:spPr>
          <a:xfrm>
            <a:off x="719328" y="8774948"/>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8586216"/>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Twenty four free choices, against two numbers we can check</a:t>
            </a:r>
          </a:p>
        </p:txBody>
      </p:sp>
      <p:sp>
        <p:nvSpPr>
          <p:cNvPr id="8" name="Rectangle 7"/>
          <p:cNvSpPr/>
          <p:nvPr/>
        </p:nvSpPr>
        <p:spPr>
          <a:xfrm>
            <a:off x="719328" y="10183856"/>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10012680"/>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With the answer visible a match is guaranteed, so it would carry no information</a:t>
            </a:r>
          </a:p>
        </p:txBody>
      </p:sp>
      <p:sp>
        <p:nvSpPr>
          <p:cNvPr id="10" name="Rectangle 9"/>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Rectangle 10"/>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Fix every choice first, then unseal, and a mismatch is a result as well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FIXED WHILE THE ANSWER WAS SEALED</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Twenty four free choices, counted and graded before the seal came off</a:t>
            </a:r>
          </a:p>
        </p:txBody>
      </p:sp>
      <p:sp>
        <p:nvSpPr>
          <p:cNvPr id="4" name="TextBox 3"/>
          <p:cNvSpPr txBox="1"/>
          <p:nvPr/>
        </p:nvSpPr>
        <p:spPr>
          <a:xfrm>
            <a:off x="719328" y="2716073"/>
            <a:ext cx="22945344" cy="658368"/>
          </a:xfrm>
          <a:prstGeom prst="rect">
            <a:avLst/>
          </a:prstGeom>
          <a:noFill/>
        </p:spPr>
        <p:txBody>
          <a:bodyPr wrap="square" anchor="t" lIns="0" rIns="0" tIns="0" bIns="0">
            <a:spAutoFit/>
          </a:bodyPr>
          <a:lstStyle/>
          <a:p>
            <a:pPr algn="l"/>
            <a:r>
              <a:rPr sz="3000" b="0" i="0">
                <a:solidFill>
                  <a:srgbClr val="5E5E5E"/>
                </a:solidFill>
                <a:latin typeface="Avenir Next Medium"/>
              </a:rPr>
              <a:t>Sealed until every choice was fixed, so they can be on screen now</a:t>
            </a:r>
          </a:p>
        </p:txBody>
      </p:sp>
      <p:graphicFrame>
        <p:nvGraphicFramePr>
          <p:cNvPr id="5" name="Table 4"/>
          <p:cNvGraphicFramePr>
            <a:graphicFrameLocks noGrp="1"/>
          </p:cNvGraphicFramePr>
          <p:nvPr/>
        </p:nvGraphicFramePr>
        <p:xfrm>
          <a:off x="719328" y="4686660"/>
          <a:ext cx="22945343" cy="4800600"/>
        </p:xfrm>
        <a:graphic>
          <a:graphicData uri="http://schemas.openxmlformats.org/drawingml/2006/table">
            <a:tbl>
              <a:tblPr firstRow="1" bandRow="1">
                <a:tableStyleId>{5C22544A-7EE6-4342-B048-85BDC9FD1C3A}</a:tableStyleId>
              </a:tblPr>
              <a:tblGrid>
                <a:gridCol w="6883603"/>
                <a:gridCol w="5047975"/>
                <a:gridCol w="11013765"/>
              </a:tblGrid>
              <a:tr h="960120">
                <a:tc>
                  <a:txBody>
                    <a:bodyPr wrap="square"/>
                    <a:lstStyle/>
                    <a:p>
                      <a:pPr algn="ctr"/>
                      <a:r>
                        <a:rPr sz="2900" b="1" i="0">
                          <a:solidFill>
                            <a:srgbClr val="FFFFFF"/>
                          </a:solidFill>
                          <a:latin typeface="AvenirNext-DemiBold"/>
                        </a:rPr>
                        <a:t>Where the choice lives</a:t>
                      </a:r>
                    </a:p>
                  </a:txBody>
                  <a:tcPr anchor="ctr" marL="70000" marR="70000">
                    <a:solidFill>
                      <a:srgbClr val="26448A"/>
                    </a:solidFill>
                  </a:tcPr>
                </a:tc>
                <a:tc>
                  <a:txBody>
                    <a:bodyPr wrap="square"/>
                    <a:lstStyle/>
                    <a:p>
                      <a:pPr algn="ctr"/>
                      <a:r>
                        <a:rPr sz="2900" b="1" i="0">
                          <a:solidFill>
                            <a:srgbClr val="FFFFFF"/>
                          </a:solidFill>
                          <a:latin typeface="AvenirNext-DemiBold"/>
                        </a:rPr>
                        <a:t>How many</a:t>
                      </a:r>
                    </a:p>
                  </a:txBody>
                  <a:tcPr anchor="ctr" marL="70000" marR="70000">
                    <a:solidFill>
                      <a:srgbClr val="26448A"/>
                    </a:solidFill>
                  </a:tcPr>
                </a:tc>
                <a:tc>
                  <a:txBody>
                    <a:bodyPr wrap="square"/>
                    <a:lstStyle/>
                    <a:p>
                      <a:pPr algn="ctr"/>
                      <a:r>
                        <a:rPr sz="2900" b="1" i="0">
                          <a:solidFill>
                            <a:srgbClr val="FFFFFF"/>
                          </a:solidFill>
                          <a:latin typeface="AvenirNext-DemiBold"/>
                        </a:rPr>
                        <a:t>The example that moves sigma most</a:t>
                      </a:r>
                    </a:p>
                  </a:txBody>
                  <a:tcPr anchor="ctr" marL="70000" marR="70000">
                    <a:solidFill>
                      <a:srgbClr val="26448A"/>
                    </a:solidFill>
                  </a:tcPr>
                </a:tc>
              </a:tr>
              <a:tr h="960120">
                <a:tc>
                  <a:txBody>
                    <a:bodyPr wrap="square"/>
                    <a:lstStyle/>
                    <a:p>
                      <a:pPr algn="l"/>
                      <a:r>
                        <a:rPr sz="2700" b="1" i="0">
                          <a:solidFill>
                            <a:srgbClr val="000000"/>
                          </a:solidFill>
                          <a:latin typeface="AvenirNext-DemiBold"/>
                        </a:rPr>
                        <a:t>Target identity</a:t>
                      </a:r>
                    </a:p>
                  </a:txBody>
                  <a:tcPr anchor="ctr" marL="70000" marR="70000">
                    <a:solidFill>
                      <a:srgbClr val="FFFFFF"/>
                    </a:solidFill>
                  </a:tcPr>
                </a:tc>
                <a:tc>
                  <a:txBody>
                    <a:bodyPr wrap="square"/>
                    <a:lstStyle/>
                    <a:p>
                      <a:pPr algn="ctr"/>
                      <a:r>
                        <a:rPr sz="2700" b="0" i="0">
                          <a:solidFill>
                            <a:srgbClr val="000000"/>
                          </a:solidFill>
                          <a:latin typeface="Avenir Next Medium"/>
                        </a:rPr>
                        <a:t>2</a:t>
                      </a:r>
                    </a:p>
                  </a:txBody>
                  <a:tcPr anchor="ctr" marL="70000" marR="70000">
                    <a:solidFill>
                      <a:srgbClr val="FFFFFF"/>
                    </a:solidFill>
                  </a:tcPr>
                </a:tc>
                <a:tc>
                  <a:txBody>
                    <a:bodyPr wrap="square"/>
                    <a:lstStyle/>
                    <a:p>
                      <a:pPr algn="ctr"/>
                      <a:r>
                        <a:rPr sz="2700" b="0" i="0">
                          <a:solidFill>
                            <a:srgbClr val="000000"/>
                          </a:solidFill>
                          <a:latin typeface="Avenir Next Medium"/>
                        </a:rPr>
                        <a:t>Propeller material, 11.1 dB on that group</a:t>
                      </a:r>
                    </a:p>
                  </a:txBody>
                  <a:tcPr anchor="ctr" marL="70000" marR="70000">
                    <a:solidFill>
                      <a:srgbClr val="FFFFFF"/>
                    </a:solidFill>
                  </a:tcPr>
                </a:tc>
              </a:tr>
              <a:tr h="960120">
                <a:tc>
                  <a:txBody>
                    <a:bodyPr wrap="square"/>
                    <a:lstStyle/>
                    <a:p>
                      <a:pPr algn="l"/>
                      <a:r>
                        <a:rPr sz="2700" b="1" i="0">
                          <a:solidFill>
                            <a:srgbClr val="000000"/>
                          </a:solidFill>
                          <a:latin typeface="AvenirNext-DemiBold"/>
                        </a:rPr>
                        <a:t>Fields with no published value</a:t>
                      </a:r>
                    </a:p>
                  </a:txBody>
                  <a:tcPr anchor="ctr" marL="70000" marR="70000">
                    <a:solidFill>
                      <a:srgbClr val="F2F2F2"/>
                    </a:solidFill>
                  </a:tcPr>
                </a:tc>
                <a:tc>
                  <a:txBody>
                    <a:bodyPr wrap="square"/>
                    <a:lstStyle/>
                    <a:p>
                      <a:pPr algn="ctr"/>
                      <a:r>
                        <a:rPr sz="2700" b="0" i="0">
                          <a:solidFill>
                            <a:srgbClr val="000000"/>
                          </a:solidFill>
                          <a:latin typeface="Avenir Next Medium"/>
                        </a:rPr>
                        <a:t>9</a:t>
                      </a:r>
                    </a:p>
                  </a:txBody>
                  <a:tcPr anchor="ctr" marL="70000" marR="70000">
                    <a:solidFill>
                      <a:srgbClr val="F2F2F2"/>
                    </a:solidFill>
                  </a:tcPr>
                </a:tc>
                <a:tc>
                  <a:txBody>
                    <a:bodyPr wrap="square"/>
                    <a:lstStyle/>
                    <a:p>
                      <a:pPr algn="ctr"/>
                      <a:r>
                        <a:rPr sz="2700" b="0" i="0">
                          <a:solidFill>
                            <a:srgbClr val="000000"/>
                          </a:solidFill>
                          <a:latin typeface="Avenir Next Medium"/>
                        </a:rPr>
                        <a:t>Motor bell size and rotor placement, defaulted</a:t>
                      </a:r>
                    </a:p>
                  </a:txBody>
                  <a:tcPr anchor="ctr" marL="70000" marR="70000">
                    <a:solidFill>
                      <a:srgbClr val="F2F2F2"/>
                    </a:solidFill>
                  </a:tcPr>
                </a:tc>
              </a:tr>
              <a:tr h="960120">
                <a:tc>
                  <a:txBody>
                    <a:bodyPr wrap="square"/>
                    <a:lstStyle/>
                    <a:p>
                      <a:pPr algn="l"/>
                      <a:r>
                        <a:rPr sz="2700" b="1" i="0">
                          <a:solidFill>
                            <a:srgbClr val="000000"/>
                          </a:solidFill>
                          <a:latin typeface="AvenirNext-DemiBold"/>
                        </a:rPr>
                        <a:t>Shape tables inherited whole</a:t>
                      </a:r>
                    </a:p>
                  </a:txBody>
                  <a:tcPr anchor="ctr" marL="70000" marR="70000">
                    <a:solidFill>
                      <a:srgbClr val="FFFFFF"/>
                    </a:solidFill>
                  </a:tcPr>
                </a:tc>
                <a:tc>
                  <a:txBody>
                    <a:bodyPr wrap="square"/>
                    <a:lstStyle/>
                    <a:p>
                      <a:pPr algn="ctr"/>
                      <a:r>
                        <a:rPr sz="2700" b="0" i="0">
                          <a:solidFill>
                            <a:srgbClr val="000000"/>
                          </a:solidFill>
                          <a:latin typeface="Avenir Next Medium"/>
                        </a:rPr>
                        <a:t>4</a:t>
                      </a:r>
                    </a:p>
                  </a:txBody>
                  <a:tcPr anchor="ctr" marL="70000" marR="70000">
                    <a:solidFill>
                      <a:srgbClr val="FFFFFF"/>
                    </a:solidFill>
                  </a:tcPr>
                </a:tc>
                <a:tc>
                  <a:txBody>
                    <a:bodyPr wrap="square"/>
                    <a:lstStyle/>
                    <a:p>
                      <a:pPr algn="ctr"/>
                      <a:r>
                        <a:rPr sz="2700" b="0" i="0">
                          <a:solidFill>
                            <a:srgbClr val="000000"/>
                          </a:solidFill>
                          <a:latin typeface="Avenir Next Medium"/>
                        </a:rPr>
                        <a:t>No Phantom 3 photograph exists in the repository</a:t>
                      </a:r>
                    </a:p>
                  </a:txBody>
                  <a:tcPr anchor="ctr" marL="70000" marR="70000">
                    <a:solidFill>
                      <a:srgbClr val="FFFFFF"/>
                    </a:solidFill>
                  </a:tcPr>
                </a:tc>
              </a:tr>
              <a:tr h="960120">
                <a:tc>
                  <a:txBody>
                    <a:bodyPr wrap="square"/>
                    <a:lstStyle/>
                    <a:p>
                      <a:pPr algn="l"/>
                      <a:r>
                        <a:rPr sz="2700" b="1" i="0">
                          <a:solidFill>
                            <a:srgbClr val="000000"/>
                          </a:solidFill>
                          <a:latin typeface="AvenirNext-DemiBold"/>
                        </a:rPr>
                        <a:t>Gimbal, internals, bounding box</a:t>
                      </a:r>
                    </a:p>
                  </a:txBody>
                  <a:tcPr anchor="ctr" marL="70000" marR="70000">
                    <a:solidFill>
                      <a:srgbClr val="F2F2F2"/>
                    </a:solidFill>
                  </a:tcPr>
                </a:tc>
                <a:tc>
                  <a:txBody>
                    <a:bodyPr wrap="square"/>
                    <a:lstStyle/>
                    <a:p>
                      <a:pPr algn="ctr"/>
                      <a:r>
                        <a:rPr sz="2700" b="0" i="0">
                          <a:solidFill>
                            <a:srgbClr val="000000"/>
                          </a:solidFill>
                          <a:latin typeface="Avenir Next Medium"/>
                        </a:rPr>
                        <a:t>9</a:t>
                      </a:r>
                    </a:p>
                  </a:txBody>
                  <a:tcPr anchor="ctr" marL="70000" marR="70000">
                    <a:solidFill>
                      <a:srgbClr val="F2F2F2"/>
                    </a:solidFill>
                  </a:tcPr>
                </a:tc>
                <a:tc>
                  <a:txBody>
                    <a:bodyPr wrap="square"/>
                    <a:lstStyle/>
                    <a:p>
                      <a:pPr algn="ctr"/>
                      <a:r>
                        <a:rPr sz="2700" b="0" i="0">
                          <a:solidFill>
                            <a:srgbClr val="000000"/>
                          </a:solidFill>
                          <a:latin typeface="Avenir Next Medium"/>
                        </a:rPr>
                        <a:t>A magnesium plate the Phantom 3 does not have</a:t>
                      </a:r>
                    </a:p>
                  </a:txBody>
                  <a:tcPr anchor="ctr" marL="70000" marR="70000">
                    <a:solidFill>
                      <a:srgbClr val="F2F2F2"/>
                    </a:solidFill>
                  </a:tcPr>
                </a:tc>
              </a:tr>
            </a:tbl>
          </a:graphicData>
        </a:graphic>
      </p:graphicFrame>
      <p:sp>
        <p:nvSpPr>
          <p:cNvPr id="6" name="TextBox 5"/>
          <p:cNvSpPr txBox="1"/>
          <p:nvPr/>
        </p:nvSpPr>
        <p:spPr>
          <a:xfrm>
            <a:off x="719328" y="11149736"/>
            <a:ext cx="22945344" cy="850392"/>
          </a:xfrm>
          <a:prstGeom prst="rect">
            <a:avLst/>
          </a:prstGeom>
          <a:noFill/>
        </p:spPr>
        <p:txBody>
          <a:bodyPr wrap="square" anchor="t" lIns="0" rIns="0" tIns="0" bIns="0">
            <a:spAutoFit/>
          </a:bodyPr>
          <a:lstStyle/>
          <a:p>
            <a:pPr algn="ctr"/>
            <a:r>
              <a:rPr sz="4000" b="1" i="0">
                <a:solidFill>
                  <a:srgbClr val="26448A"/>
                </a:solidFill>
                <a:latin typeface="AvenirNext-DemiBold"/>
              </a:rPr>
              <a:t>One grep leaked three quantities, none of them a sealed literal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CONTROLS</a:t>
            </a:r>
          </a:p>
        </p:txBody>
      </p:sp>
      <p:sp>
        <p:nvSpPr>
          <p:cNvPr id="3" name="TextBox 2"/>
          <p:cNvSpPr txBox="1"/>
          <p:nvPr/>
        </p:nvSpPr>
        <p:spPr>
          <a:xfrm>
            <a:off x="699821" y="1039673"/>
            <a:ext cx="22979482" cy="893064"/>
          </a:xfrm>
          <a:prstGeom prst="rect">
            <a:avLst/>
          </a:prstGeom>
          <a:noFill/>
        </p:spPr>
        <p:txBody>
          <a:bodyPr wrap="square" anchor="t" lIns="0" rIns="0" tIns="0" bIns="0">
            <a:spAutoFit/>
          </a:bodyPr>
          <a:lstStyle/>
          <a:p>
            <a:pPr algn="l"/>
            <a:r>
              <a:rPr sz="4600" b="1" i="0">
                <a:solidFill>
                  <a:srgbClr val="000000"/>
                </a:solidFill>
                <a:latin typeface="AvenirNext-DemiBold"/>
              </a:rPr>
              <a:t>A plain box competes with our mesh, and that is the point</a:t>
            </a:r>
          </a:p>
        </p:txBody>
      </p:sp>
      <p:sp>
        <p:nvSpPr>
          <p:cNvPr id="4" name="TextBox 3"/>
          <p:cNvSpPr txBox="1"/>
          <p:nvPr/>
        </p:nvSpPr>
        <p:spPr>
          <a:xfrm>
            <a:off x="760781" y="2015033"/>
            <a:ext cx="22599091" cy="1292352"/>
          </a:xfrm>
          <a:prstGeom prst="rect">
            <a:avLst/>
          </a:prstGeom>
          <a:noFill/>
        </p:spPr>
        <p:txBody>
          <a:bodyPr wrap="square" anchor="t" lIns="0" rIns="0" tIns="0" bIns="0">
            <a:spAutoFit/>
          </a:bodyPr>
          <a:lstStyle/>
          <a:p>
            <a:pPr algn="l"/>
            <a:r>
              <a:rPr sz="3700" b="1" i="0">
                <a:solidFill>
                  <a:srgbClr val="E22146"/>
                </a:solidFill>
                <a:latin typeface="AvenirNext-DemiBold"/>
              </a:rPr>
              <a:t>Same kernel</a:t>
            </a:r>
            <a:r>
              <a:rPr sz="3700" b="1" i="0">
                <a:solidFill>
                  <a:srgbClr val="000000"/>
                </a:solidFill>
                <a:latin typeface="AvenirNext-DemiBold"/>
              </a:rPr>
              <a:t>, same band, same azimuth grid, same averaging convention, same fit window</a:t>
            </a:r>
          </a:p>
        </p:txBody>
      </p:sp>
      <p:sp>
        <p:nvSpPr>
          <p:cNvPr id="5" name="TextBox 4"/>
          <p:cNvSpPr txBox="1"/>
          <p:nvPr/>
        </p:nvSpPr>
        <p:spPr>
          <a:xfrm>
            <a:off x="719328" y="3526841"/>
            <a:ext cx="22945344" cy="658368"/>
          </a:xfrm>
          <a:prstGeom prst="rect">
            <a:avLst/>
          </a:prstGeom>
          <a:noFill/>
        </p:spPr>
        <p:txBody>
          <a:bodyPr wrap="square" anchor="t" lIns="0" rIns="0" tIns="0" bIns="0">
            <a:spAutoFit/>
          </a:bodyPr>
          <a:lstStyle/>
          <a:p>
            <a:pPr algn="l"/>
            <a:r>
              <a:rPr sz="3000" b="0" i="0">
                <a:solidFill>
                  <a:srgbClr val="5E5E5E"/>
                </a:solidFill>
                <a:latin typeface="Avenir Next Medium"/>
              </a:rPr>
              <a:t>Our own computed prior - the average can be right to 2 dB while per azimuth error is 10 dB</a:t>
            </a:r>
          </a:p>
        </p:txBody>
      </p:sp>
      <p:graphicFrame>
        <p:nvGraphicFramePr>
          <p:cNvPr id="6" name="Table 5"/>
          <p:cNvGraphicFramePr>
            <a:graphicFrameLocks noGrp="1"/>
          </p:cNvGraphicFramePr>
          <p:nvPr/>
        </p:nvGraphicFramePr>
        <p:xfrm>
          <a:off x="719328" y="5560156"/>
          <a:ext cx="22945343" cy="3840480"/>
        </p:xfrm>
        <a:graphic>
          <a:graphicData uri="http://schemas.openxmlformats.org/drawingml/2006/table">
            <a:tbl>
              <a:tblPr firstRow="1" bandRow="1">
                <a:tableStyleId>{5C22544A-7EE6-4342-B048-85BDC9FD1C3A}</a:tableStyleId>
              </a:tblPr>
              <a:tblGrid>
                <a:gridCol w="6883603"/>
                <a:gridCol w="5047975"/>
                <a:gridCol w="11013765"/>
              </a:tblGrid>
              <a:tr h="960120">
                <a:tc>
                  <a:txBody>
                    <a:bodyPr wrap="square"/>
                    <a:lstStyle/>
                    <a:p>
                      <a:pPr algn="ctr"/>
                      <a:r>
                        <a:rPr sz="2900" b="1" i="0">
                          <a:solidFill>
                            <a:srgbClr val="FFFFFF"/>
                          </a:solidFill>
                          <a:latin typeface="AvenirNext-DemiBold"/>
                        </a:rPr>
                        <a:t>Arm</a:t>
                      </a:r>
                    </a:p>
                  </a:txBody>
                  <a:tcPr anchor="ctr" marL="70000" marR="70000">
                    <a:solidFill>
                      <a:srgbClr val="26448A"/>
                    </a:solidFill>
                  </a:tcPr>
                </a:tc>
                <a:tc>
                  <a:txBody>
                    <a:bodyPr wrap="square"/>
                    <a:lstStyle/>
                    <a:p>
                      <a:pPr algn="ctr"/>
                      <a:r>
                        <a:rPr sz="2900" b="1" i="0">
                          <a:solidFill>
                            <a:srgbClr val="FFFFFF"/>
                          </a:solidFill>
                          <a:latin typeface="AvenirNext-DemiBold"/>
                        </a:rPr>
                        <a:t>What it isolates</a:t>
                      </a:r>
                    </a:p>
                  </a:txBody>
                  <a:tcPr anchor="ctr" marL="70000" marR="70000">
                    <a:solidFill>
                      <a:srgbClr val="26448A"/>
                    </a:solidFill>
                  </a:tcPr>
                </a:tc>
                <a:tc>
                  <a:txBody>
                    <a:bodyPr wrap="square"/>
                    <a:lstStyle/>
                    <a:p>
                      <a:pPr algn="ctr"/>
                      <a:r>
                        <a:rPr sz="2900" b="1" i="0">
                          <a:solidFill>
                            <a:srgbClr val="FFFFFF"/>
                          </a:solidFill>
                          <a:latin typeface="AvenirNext-DemiBold"/>
                        </a:rPr>
                        <a:t>How it is built</a:t>
                      </a:r>
                    </a:p>
                  </a:txBody>
                  <a:tcPr anchor="ctr" marL="70000" marR="70000">
                    <a:solidFill>
                      <a:srgbClr val="26448A"/>
                    </a:solidFill>
                  </a:tcPr>
                </a:tc>
              </a:tr>
              <a:tr h="960120">
                <a:tc>
                  <a:txBody>
                    <a:bodyPr wrap="square"/>
                    <a:lstStyle/>
                    <a:p>
                      <a:pPr algn="l"/>
                      <a:r>
                        <a:rPr sz="2700" b="1" i="0">
                          <a:solidFill>
                            <a:srgbClr val="000000"/>
                          </a:solidFill>
                          <a:latin typeface="AvenirNext-DemiBold"/>
                        </a:rPr>
                        <a:t>Our mesh</a:t>
                      </a:r>
                    </a:p>
                  </a:txBody>
                  <a:tcPr anchor="ctr" marL="70000" marR="70000">
                    <a:solidFill>
                      <a:srgbClr val="FFFFFF"/>
                    </a:solidFill>
                  </a:tcPr>
                </a:tc>
                <a:tc>
                  <a:txBody>
                    <a:bodyPr wrap="square"/>
                    <a:lstStyle/>
                    <a:p>
                      <a:pPr algn="ctr"/>
                      <a:r>
                        <a:rPr sz="2700" b="0" i="0">
                          <a:solidFill>
                            <a:srgbClr val="000000"/>
                          </a:solidFill>
                          <a:latin typeface="Avenir Next Medium"/>
                        </a:rPr>
                        <a:t>the whole pipeline</a:t>
                      </a:r>
                    </a:p>
                  </a:txBody>
                  <a:tcPr anchor="ctr" marL="70000" marR="70000">
                    <a:solidFill>
                      <a:srgbClr val="FFFFFF"/>
                    </a:solidFill>
                  </a:tcPr>
                </a:tc>
                <a:tc>
                  <a:txBody>
                    <a:bodyPr wrap="square"/>
                    <a:lstStyle/>
                    <a:p>
                      <a:pPr algn="ctr"/>
                      <a:r>
                        <a:rPr sz="2700" b="0" i="0">
                          <a:solidFill>
                            <a:srgbClr val="000000"/>
                          </a:solidFill>
                          <a:latin typeface="Avenir Next Medium"/>
                        </a:rPr>
                        <a:t>Phantom 4 shape tables, Phantom 3 dimensions</a:t>
                      </a:r>
                    </a:p>
                  </a:txBody>
                  <a:tcPr anchor="ctr" marL="70000" marR="70000">
                    <a:solidFill>
                      <a:srgbClr val="FFFFFF"/>
                    </a:solidFill>
                  </a:tcPr>
                </a:tc>
              </a:tr>
              <a:tr h="960120">
                <a:tc>
                  <a:txBody>
                    <a:bodyPr wrap="square"/>
                    <a:lstStyle/>
                    <a:p>
                      <a:pPr algn="l"/>
                      <a:r>
                        <a:rPr sz="2700" b="1" i="0">
                          <a:solidFill>
                            <a:srgbClr val="000000"/>
                          </a:solidFill>
                          <a:latin typeface="AvenirNext-DemiBold"/>
                        </a:rPr>
                        <a:t>Conducting cube</a:t>
                      </a:r>
                    </a:p>
                  </a:txBody>
                  <a:tcPr anchor="ctr" marL="70000" marR="70000">
                    <a:solidFill>
                      <a:srgbClr val="F2F2F2"/>
                    </a:solidFill>
                  </a:tcPr>
                </a:tc>
                <a:tc>
                  <a:txBody>
                    <a:bodyPr wrap="square"/>
                    <a:lstStyle/>
                    <a:p>
                      <a:pPr algn="ctr"/>
                      <a:r>
                        <a:rPr sz="2700" b="0" i="0">
                          <a:solidFill>
                            <a:srgbClr val="000000"/>
                          </a:solidFill>
                          <a:latin typeface="Avenir Next Medium"/>
                        </a:rPr>
                        <a:t>size and conduction</a:t>
                      </a:r>
                    </a:p>
                  </a:txBody>
                  <a:tcPr anchor="ctr" marL="70000" marR="70000">
                    <a:solidFill>
                      <a:srgbClr val="F2F2F2"/>
                    </a:solidFill>
                  </a:tcPr>
                </a:tc>
                <a:tc>
                  <a:txBody>
                    <a:bodyPr wrap="square"/>
                    <a:lstStyle/>
                    <a:p>
                      <a:pPr algn="ctr"/>
                      <a:r>
                        <a:rPr sz="2700" b="0" i="0">
                          <a:solidFill>
                            <a:srgbClr val="000000"/>
                          </a:solidFill>
                          <a:latin typeface="Avenir Next Medium"/>
                        </a:rPr>
                        <a:t>Side equal to the cube root of our mesh volume</a:t>
                      </a:r>
                    </a:p>
                  </a:txBody>
                  <a:tcPr anchor="ctr" marL="70000" marR="70000">
                    <a:solidFill>
                      <a:srgbClr val="F2F2F2"/>
                    </a:solidFill>
                  </a:tcPr>
                </a:tc>
              </a:tr>
              <a:tr h="960120">
                <a:tc>
                  <a:txBody>
                    <a:bodyPr wrap="square"/>
                    <a:lstStyle/>
                    <a:p>
                      <a:pPr algn="l"/>
                      <a:r>
                        <a:rPr sz="2700" b="1" i="0">
                          <a:solidFill>
                            <a:srgbClr val="000000"/>
                          </a:solidFill>
                          <a:latin typeface="AvenirNext-DemiBold"/>
                        </a:rPr>
                        <a:t>Plain box</a:t>
                      </a:r>
                    </a:p>
                  </a:txBody>
                  <a:tcPr anchor="ctr" marL="70000" marR="70000">
                    <a:solidFill>
                      <a:srgbClr val="FFFFFF"/>
                    </a:solidFill>
                  </a:tcPr>
                </a:tc>
                <a:tc>
                  <a:txBody>
                    <a:bodyPr wrap="square"/>
                    <a:lstStyle/>
                    <a:p>
                      <a:pPr algn="ctr"/>
                      <a:r>
                        <a:rPr sz="2700" b="0" i="0">
                          <a:solidFill>
                            <a:srgbClr val="000000"/>
                          </a:solidFill>
                          <a:latin typeface="Avenir Next Medium"/>
                        </a:rPr>
                        <a:t>the outline alone</a:t>
                      </a:r>
                    </a:p>
                  </a:txBody>
                  <a:tcPr anchor="ctr" marL="70000" marR="70000">
                    <a:solidFill>
                      <a:srgbClr val="FFFFFF"/>
                    </a:solidFill>
                  </a:tcPr>
                </a:tc>
                <a:tc>
                  <a:txBody>
                    <a:bodyPr wrap="square"/>
                    <a:lstStyle/>
                    <a:p>
                      <a:pPr algn="ctr"/>
                      <a:r>
                        <a:rPr sz="2700" b="0" i="0">
                          <a:solidFill>
                            <a:srgbClr val="000000"/>
                          </a:solidFill>
                          <a:latin typeface="Avenir Next Medium"/>
                        </a:rPr>
                        <a:t>Our own bounding box, propellers included</a:t>
                      </a:r>
                    </a:p>
                  </a:txBody>
                  <a:tcPr anchor="ctr" marL="70000" marR="70000">
                    <a:solidFill>
                      <a:srgbClr val="FFFFFF"/>
                    </a:solidFill>
                  </a:tcPr>
                </a:tc>
              </a:tr>
            </a:tbl>
          </a:graphicData>
        </a:graphic>
      </p:graphicFrame>
      <p:sp>
        <p:nvSpPr>
          <p:cNvPr id="7" name="TextBox 6"/>
          <p:cNvSpPr txBox="1"/>
          <p:nvPr/>
        </p:nvSpPr>
        <p:spPr>
          <a:xfrm>
            <a:off x="719328" y="11149736"/>
            <a:ext cx="22945344" cy="850392"/>
          </a:xfrm>
          <a:prstGeom prst="rect">
            <a:avLst/>
          </a:prstGeom>
          <a:noFill/>
        </p:spPr>
        <p:txBody>
          <a:bodyPr wrap="square" anchor="t" lIns="0" rIns="0" tIns="0" bIns="0">
            <a:spAutoFit/>
          </a:bodyPr>
          <a:lstStyle/>
          <a:p>
            <a:pPr algn="ctr"/>
            <a:r>
              <a:rPr sz="4000" b="1" i="0">
                <a:solidFill>
                  <a:srgbClr val="26448A"/>
                </a:solidFill>
                <a:latin typeface="AvenirNext-DemiBold"/>
              </a:rPr>
              <a:t>If a box matches as well as our mesh, the mesh work bought nothing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DECISION RULE, PREREGISTERED</a:t>
            </a:r>
          </a:p>
        </p:txBody>
      </p:sp>
      <p:sp>
        <p:nvSpPr>
          <p:cNvPr id="3" name="TextBox 2"/>
          <p:cNvSpPr txBox="1"/>
          <p:nvPr/>
        </p:nvSpPr>
        <p:spPr>
          <a:xfrm>
            <a:off x="699821" y="1039673"/>
            <a:ext cx="22979482" cy="893064"/>
          </a:xfrm>
          <a:prstGeom prst="rect">
            <a:avLst/>
          </a:prstGeom>
          <a:noFill/>
        </p:spPr>
        <p:txBody>
          <a:bodyPr wrap="square" anchor="t" lIns="0" rIns="0" tIns="0" bIns="0">
            <a:spAutoFit/>
          </a:bodyPr>
          <a:lstStyle/>
          <a:p>
            <a:pPr algn="l"/>
            <a:r>
              <a:rPr sz="4600" b="1" i="0">
                <a:solidFill>
                  <a:srgbClr val="000000"/>
                </a:solidFill>
                <a:latin typeface="AvenirNext-DemiBold"/>
              </a:rPr>
              <a:t>The decision rule was fixed before the answer was revealed</a:t>
            </a:r>
          </a:p>
        </p:txBody>
      </p:sp>
      <p:sp>
        <p:nvSpPr>
          <p:cNvPr id="4" name="TextBox 3"/>
          <p:cNvSpPr txBox="1"/>
          <p:nvPr/>
        </p:nvSpPr>
        <p:spPr>
          <a:xfrm>
            <a:off x="760781" y="2015033"/>
            <a:ext cx="22599091" cy="728472"/>
          </a:xfrm>
          <a:prstGeom prst="rect">
            <a:avLst/>
          </a:prstGeom>
          <a:noFill/>
        </p:spPr>
        <p:txBody>
          <a:bodyPr wrap="square" anchor="t" lIns="0" rIns="0" tIns="0" bIns="0">
            <a:spAutoFit/>
          </a:bodyPr>
          <a:lstStyle/>
          <a:p>
            <a:pPr algn="l"/>
            <a:r>
              <a:rPr sz="3700" b="1" i="0">
                <a:solidFill>
                  <a:srgbClr val="E22146"/>
                </a:solidFill>
                <a:latin typeface="AvenirNext-DemiBold"/>
              </a:rPr>
              <a:t>2.51 dB</a:t>
            </a:r>
            <a:r>
              <a:rPr sz="3700" b="1" i="0">
                <a:solidFill>
                  <a:srgbClr val="000000"/>
                </a:solidFill>
                <a:latin typeface="AvenirNext-DemiBold"/>
              </a:rPr>
              <a:t> is the ambiguity the averaging convention alone can produce</a:t>
            </a:r>
          </a:p>
        </p:txBody>
      </p:sp>
      <p:sp>
        <p:nvSpPr>
          <p:cNvPr id="5" name="TextBox 4"/>
          <p:cNvSpPr txBox="1"/>
          <p:nvPr/>
        </p:nvSpPr>
        <p:spPr>
          <a:xfrm>
            <a:off x="719328" y="2962961"/>
            <a:ext cx="22945344" cy="658368"/>
          </a:xfrm>
          <a:prstGeom prst="rect">
            <a:avLst/>
          </a:prstGeom>
          <a:noFill/>
        </p:spPr>
        <p:txBody>
          <a:bodyPr wrap="square" anchor="t" lIns="0" rIns="0" tIns="0" bIns="0">
            <a:spAutoFit/>
          </a:bodyPr>
          <a:lstStyle/>
          <a:p>
            <a:pPr algn="l"/>
            <a:r>
              <a:rPr sz="3000" b="0" i="0">
                <a:solidFill>
                  <a:srgbClr val="5E5E5E"/>
                </a:solidFill>
                <a:latin typeface="Avenir Next Medium"/>
              </a:rPr>
              <a:t>It sits under the yardstick's own 3 dB spread, which is why the slope is the real test</a:t>
            </a:r>
          </a:p>
        </p:txBody>
      </p:sp>
      <p:graphicFrame>
        <p:nvGraphicFramePr>
          <p:cNvPr id="6" name="Table 5"/>
          <p:cNvGraphicFramePr>
            <a:graphicFrameLocks noGrp="1"/>
          </p:cNvGraphicFramePr>
          <p:nvPr/>
        </p:nvGraphicFramePr>
        <p:xfrm>
          <a:off x="719328" y="4426604"/>
          <a:ext cx="22945343" cy="5760720"/>
        </p:xfrm>
        <a:graphic>
          <a:graphicData uri="http://schemas.openxmlformats.org/drawingml/2006/table">
            <a:tbl>
              <a:tblPr firstRow="1" bandRow="1">
                <a:tableStyleId>{5C22544A-7EE6-4342-B048-85BDC9FD1C3A}</a:tableStyleId>
              </a:tblPr>
              <a:tblGrid>
                <a:gridCol w="9637044"/>
                <a:gridCol w="13308299"/>
              </a:tblGrid>
              <a:tr h="960120">
                <a:tc>
                  <a:txBody>
                    <a:bodyPr wrap="square"/>
                    <a:lstStyle/>
                    <a:p>
                      <a:pPr algn="ctr"/>
                      <a:r>
                        <a:rPr sz="2900" b="1" i="0">
                          <a:solidFill>
                            <a:srgbClr val="FFFFFF"/>
                          </a:solidFill>
                          <a:latin typeface="AvenirNext-DemiBold"/>
                        </a:rPr>
                        <a:t>Quantity or verdict</a:t>
                      </a:r>
                    </a:p>
                  </a:txBody>
                  <a:tcPr anchor="ctr" marL="70000" marR="70000">
                    <a:solidFill>
                      <a:srgbClr val="26448A"/>
                    </a:solidFill>
                  </a:tcPr>
                </a:tc>
                <a:tc>
                  <a:txBody>
                    <a:bodyPr wrap="square"/>
                    <a:lstStyle/>
                    <a:p>
                      <a:pPr algn="ctr"/>
                      <a:r>
                        <a:rPr sz="2900" b="1" i="0">
                          <a:solidFill>
                            <a:srgbClr val="FFFFFF"/>
                          </a:solidFill>
                          <a:latin typeface="AvenirNext-DemiBold"/>
                        </a:rPr>
                        <a:t>Rule fixed in advance</a:t>
                      </a:r>
                    </a:p>
                  </a:txBody>
                  <a:tcPr anchor="ctr" marL="70000" marR="70000">
                    <a:solidFill>
                      <a:srgbClr val="26448A"/>
                    </a:solidFill>
                  </a:tcPr>
                </a:tc>
              </a:tr>
              <a:tr h="960120">
                <a:tc>
                  <a:txBody>
                    <a:bodyPr wrap="square"/>
                    <a:lstStyle/>
                    <a:p>
                      <a:pPr algn="l"/>
                      <a:r>
                        <a:rPr sz="2700" b="1" i="0">
                          <a:solidFill>
                            <a:srgbClr val="000000"/>
                          </a:solidFill>
                          <a:latin typeface="AvenirNext-DemiBold"/>
                        </a:rPr>
                        <a:t>Level, in dB</a:t>
                      </a:r>
                    </a:p>
                  </a:txBody>
                  <a:tcPr anchor="ctr" marL="70000" marR="70000">
                    <a:solidFill>
                      <a:srgbClr val="FFFFFF"/>
                    </a:solidFill>
                  </a:tcPr>
                </a:tc>
                <a:tc>
                  <a:txBody>
                    <a:bodyPr wrap="square"/>
                    <a:lstStyle/>
                    <a:p>
                      <a:pPr algn="ctr"/>
                      <a:r>
                        <a:rPr sz="2700" b="0" i="0">
                          <a:solidFill>
                            <a:srgbClr val="000000"/>
                          </a:solidFill>
                          <a:latin typeface="Avenir Next Medium"/>
                        </a:rPr>
                        <a:t>Beat the best control by more than 2.51 dB</a:t>
                      </a:r>
                    </a:p>
                  </a:txBody>
                  <a:tcPr anchor="ctr" marL="70000" marR="70000">
                    <a:solidFill>
                      <a:srgbClr val="FFFFFF"/>
                    </a:solidFill>
                  </a:tcPr>
                </a:tc>
              </a:tr>
              <a:tr h="960120">
                <a:tc>
                  <a:txBody>
                    <a:bodyPr wrap="square"/>
                    <a:lstStyle/>
                    <a:p>
                      <a:pPr algn="l"/>
                      <a:r>
                        <a:rPr sz="2700" b="1" i="0">
                          <a:solidFill>
                            <a:srgbClr val="000000"/>
                          </a:solidFill>
                          <a:latin typeface="AvenirNext-DemiBold"/>
                        </a:rPr>
                        <a:t>Slope, in dB per GHz</a:t>
                      </a:r>
                    </a:p>
                  </a:txBody>
                  <a:tcPr anchor="ctr" marL="70000" marR="70000">
                    <a:solidFill>
                      <a:srgbClr val="F2F2F2"/>
                    </a:solidFill>
                  </a:tcPr>
                </a:tc>
                <a:tc>
                  <a:txBody>
                    <a:bodyPr wrap="square"/>
                    <a:lstStyle/>
                    <a:p>
                      <a:pPr algn="ctr"/>
                      <a:r>
                        <a:rPr sz="2700" b="0" i="0">
                          <a:solidFill>
                            <a:srgbClr val="000000"/>
                          </a:solidFill>
                          <a:latin typeface="Avenir Next Medium"/>
                        </a:rPr>
                        <a:t>Be at least twice as close to the measurement as the best control</a:t>
                      </a:r>
                    </a:p>
                  </a:txBody>
                  <a:tcPr anchor="ctr" marL="70000" marR="70000">
                    <a:solidFill>
                      <a:srgbClr val="F2F2F2"/>
                    </a:solidFill>
                  </a:tcPr>
                </a:tc>
              </a:tr>
              <a:tr h="960120">
                <a:tc>
                  <a:txBody>
                    <a:bodyPr wrap="square"/>
                    <a:lstStyle/>
                    <a:p>
                      <a:pPr algn="l"/>
                      <a:r>
                        <a:rPr sz="2700" b="1" i="0">
                          <a:solidFill>
                            <a:srgbClr val="000000"/>
                          </a:solidFill>
                          <a:latin typeface="AvenirNext-DemiBold"/>
                        </a:rPr>
                        <a:t>MEANINGFUL</a:t>
                      </a:r>
                    </a:p>
                  </a:txBody>
                  <a:tcPr anchor="ctr" marL="70000" marR="70000">
                    <a:solidFill>
                      <a:srgbClr val="FFFFFF"/>
                    </a:solidFill>
                  </a:tcPr>
                </a:tc>
                <a:tc>
                  <a:txBody>
                    <a:bodyPr wrap="square"/>
                    <a:lstStyle/>
                    <a:p>
                      <a:pPr algn="ctr"/>
                      <a:r>
                        <a:rPr sz="2700" b="0" i="0">
                          <a:solidFill>
                            <a:srgbClr val="000000"/>
                          </a:solidFill>
                          <a:latin typeface="Avenir Next Medium"/>
                        </a:rPr>
                        <a:t>One of the two clears its threshold</a:t>
                      </a:r>
                    </a:p>
                  </a:txBody>
                  <a:tcPr anchor="ctr" marL="70000" marR="70000">
                    <a:solidFill>
                      <a:srgbClr val="FFFFFF"/>
                    </a:solidFill>
                  </a:tcPr>
                </a:tc>
              </a:tr>
              <a:tr h="960120">
                <a:tc>
                  <a:txBody>
                    <a:bodyPr wrap="square"/>
                    <a:lstStyle/>
                    <a:p>
                      <a:pPr algn="l"/>
                      <a:r>
                        <a:rPr sz="2700" b="1" i="0">
                          <a:solidFill>
                            <a:srgbClr val="000000"/>
                          </a:solidFill>
                          <a:latin typeface="AvenirNext-DemiBold"/>
                        </a:rPr>
                        <a:t>WEAK</a:t>
                      </a:r>
                    </a:p>
                  </a:txBody>
                  <a:tcPr anchor="ctr" marL="70000" marR="70000">
                    <a:solidFill>
                      <a:srgbClr val="F2F2F2"/>
                    </a:solidFill>
                  </a:tcPr>
                </a:tc>
                <a:tc>
                  <a:txBody>
                    <a:bodyPr wrap="square"/>
                    <a:lstStyle/>
                    <a:p>
                      <a:pPr algn="ctr"/>
                      <a:r>
                        <a:rPr sz="2700" b="0" i="0">
                          <a:solidFill>
                            <a:srgbClr val="000000"/>
                          </a:solidFill>
                          <a:latin typeface="Avenir Next Medium"/>
                        </a:rPr>
                        <a:t>We win but under threshold, and the claim shrinks to a size statement</a:t>
                      </a:r>
                    </a:p>
                  </a:txBody>
                  <a:tcPr anchor="ctr" marL="70000" marR="70000">
                    <a:solidFill>
                      <a:srgbClr val="F2F2F2"/>
                    </a:solidFill>
                  </a:tcPr>
                </a:tc>
              </a:tr>
              <a:tr h="960120">
                <a:tc>
                  <a:txBody>
                    <a:bodyPr wrap="square"/>
                    <a:lstStyle/>
                    <a:p>
                      <a:pPr algn="l"/>
                      <a:r>
                        <a:rPr sz="2700" b="1" i="0">
                          <a:solidFill>
                            <a:srgbClr val="000000"/>
                          </a:solidFill>
                          <a:latin typeface="AvenirNext-DemiBold"/>
                        </a:rPr>
                        <a:t>INVALID</a:t>
                      </a:r>
                    </a:p>
                  </a:txBody>
                  <a:tcPr anchor="ctr" marL="70000" marR="70000">
                    <a:solidFill>
                      <a:srgbClr val="FFFFFF"/>
                    </a:solidFill>
                  </a:tcPr>
                </a:tc>
                <a:tc>
                  <a:txBody>
                    <a:bodyPr wrap="square"/>
                    <a:lstStyle/>
                    <a:p>
                      <a:pPr algn="ctr"/>
                      <a:r>
                        <a:rPr sz="2700" b="0" i="0">
                          <a:solidFill>
                            <a:srgbClr val="000000"/>
                          </a:solidFill>
                          <a:latin typeface="Avenir Next Medium"/>
                        </a:rPr>
                        <a:t>Any trace of a blinding breach, or an arm run under other conditions</a:t>
                      </a:r>
                    </a:p>
                  </a:txBody>
                  <a:tcPr anchor="ctr" marL="70000" marR="70000">
                    <a:solidFill>
                      <a:srgbClr val="FFFFFF"/>
                    </a:solidFill>
                  </a:tcPr>
                </a:tc>
              </a:tr>
            </a:tbl>
          </a:graphicData>
        </a:graphic>
      </p:graphicFrame>
      <p:sp>
        <p:nvSpPr>
          <p:cNvPr id="7" name="TextBox 6"/>
          <p:cNvSpPr txBox="1"/>
          <p:nvPr/>
        </p:nvSpPr>
        <p:spPr>
          <a:xfrm>
            <a:off x="719328" y="11149736"/>
            <a:ext cx="22945344" cy="850392"/>
          </a:xfrm>
          <a:prstGeom prst="rect">
            <a:avLst/>
          </a:prstGeom>
          <a:noFill/>
        </p:spPr>
        <p:txBody>
          <a:bodyPr wrap="square" anchor="t" lIns="0" rIns="0" tIns="0" bIns="0">
            <a:spAutoFit/>
          </a:bodyPr>
          <a:lstStyle/>
          <a:p>
            <a:pPr algn="ctr"/>
            <a:r>
              <a:rPr sz="4000" b="1" i="0">
                <a:solidFill>
                  <a:srgbClr val="26448A"/>
                </a:solidFill>
                <a:latin typeface="AvenirNext-DemiBold"/>
              </a:rPr>
              <a:t>Shooting and bouncing rays with physical optics, no edge correction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RESULT  ·  THE SEAL IS OFF</a:t>
            </a:r>
          </a:p>
        </p:txBody>
      </p:sp>
      <p:sp>
        <p:nvSpPr>
          <p:cNvPr id="3" name="TextBox 2"/>
          <p:cNvSpPr txBox="1"/>
          <p:nvPr/>
        </p:nvSpPr>
        <p:spPr>
          <a:xfrm>
            <a:off x="699821" y="1039673"/>
            <a:ext cx="22979482" cy="893064"/>
          </a:xfrm>
          <a:prstGeom prst="rect">
            <a:avLst/>
          </a:prstGeom>
          <a:noFill/>
        </p:spPr>
        <p:txBody>
          <a:bodyPr wrap="square" anchor="t" lIns="0" rIns="0" tIns="0" bIns="0">
            <a:spAutoFit/>
          </a:bodyPr>
          <a:lstStyle/>
          <a:p>
            <a:pPr algn="l"/>
            <a:r>
              <a:rPr sz="4600" b="1" i="0">
                <a:solidFill>
                  <a:srgbClr val="000000"/>
                </a:solidFill>
                <a:latin typeface="AvenirNext-DemiBold"/>
              </a:rPr>
              <a:t>The level is where we lose, and the slope is not distinguishable</a:t>
            </a:r>
          </a:p>
        </p:txBody>
      </p:sp>
      <p:pic>
        <p:nvPicPr>
          <p:cNvPr id="4" name="Picture 3" descr="p3_result.png"/>
          <p:cNvPicPr>
            <a:picLocks noChangeAspect="1"/>
          </p:cNvPicPr>
          <p:nvPr/>
        </p:nvPicPr>
        <p:blipFill>
          <a:blip r:embed="rId2"/>
          <a:stretch>
            <a:fillRect/>
          </a:stretch>
        </p:blipFill>
        <p:spPr>
          <a:xfrm>
            <a:off x="3744123" y="2221992"/>
            <a:ext cx="16895752" cy="5455920"/>
          </a:xfrm>
          <a:prstGeom prst="rect">
            <a:avLst/>
          </a:prstGeom>
        </p:spPr>
      </p:pic>
      <p:sp>
        <p:nvSpPr>
          <p:cNvPr id="5" name="TextBox 4"/>
          <p:cNvSpPr txBox="1"/>
          <p:nvPr/>
        </p:nvSpPr>
        <p:spPr>
          <a:xfrm>
            <a:off x="3744123" y="7842504"/>
            <a:ext cx="16895752" cy="579120"/>
          </a:xfrm>
          <a:prstGeom prst="rect">
            <a:avLst/>
          </a:prstGeom>
          <a:noFill/>
        </p:spPr>
        <p:txBody>
          <a:bodyPr wrap="square" anchor="t" lIns="0" rIns="0" tIns="0" bIns="0">
            <a:spAutoFit/>
          </a:bodyPr>
          <a:lstStyle/>
          <a:p>
            <a:pPr algn="ctr"/>
            <a:r>
              <a:rPr sz="2900" b="1" i="0">
                <a:solidFill>
                  <a:srgbClr val="5E5E5E"/>
                </a:solidFill>
                <a:latin typeface="AvenirNext-DemiBold"/>
              </a:rPr>
              <a:t>Elevation, averaging convention and estimator all matched</a:t>
            </a:r>
          </a:p>
        </p:txBody>
      </p:sp>
      <p:sp>
        <p:nvSpPr>
          <p:cNvPr id="6" name="Rectangle 5"/>
          <p:cNvSpPr/>
          <p:nvPr/>
        </p:nvSpPr>
        <p:spPr>
          <a:xfrm>
            <a:off x="719328" y="8665220"/>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8476488"/>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4.9 dB under band averaged, 8.0 dB under at 1.8 GHz</a:t>
            </a:r>
          </a:p>
        </p:txBody>
      </p:sp>
      <p:sp>
        <p:nvSpPr>
          <p:cNvPr id="8" name="Rectangle 7"/>
          <p:cNvSpPr/>
          <p:nvPr/>
        </p:nvSpPr>
        <p:spPr>
          <a:xfrm>
            <a:off x="719328" y="100916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99029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No verdict yet, the cube and the box have not run</a:t>
            </a:r>
          </a:p>
        </p:txBody>
      </p:sp>
      <p:sp>
        <p:nvSpPr>
          <p:cNvPr id="10" name="Rectangle 9"/>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Rectangle 10"/>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The number is blind, and the rule that grades it was fixed before it existed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NEXT  ·  WHAT IT LICENSES AND WHAT I NEED</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The ask - one outdoor slot, a 0.178 m sphere, and the two airframes we own</a:t>
            </a:r>
          </a:p>
        </p:txBody>
      </p:sp>
      <p:sp>
        <p:nvSpPr>
          <p:cNvPr id="4" name="TextBox 3"/>
          <p:cNvSpPr txBox="1"/>
          <p:nvPr/>
        </p:nvSpPr>
        <p:spPr>
          <a:xfrm>
            <a:off x="760781" y="271607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What today licenses - Phantom 4 shape tables on Phantom 3 dimensions </a:t>
            </a:r>
            <a:r>
              <a:rPr sz="3700" b="1" i="0">
                <a:solidFill>
                  <a:srgbClr val="E22146"/>
                </a:solidFill>
                <a:latin typeface="AvenirNext-DemiBold"/>
              </a:rPr>
              <a:t>track the measured slope and sit about 5 dB under the level</a:t>
            </a:r>
          </a:p>
        </p:txBody>
      </p:sp>
      <p:sp>
        <p:nvSpPr>
          <p:cNvPr id="5" name="Rectangle 4"/>
          <p:cNvSpPr/>
          <p:nvPr/>
        </p:nvSpPr>
        <p:spPr>
          <a:xfrm>
            <a:off x="719328" y="4394737"/>
            <a:ext cx="121920" cy="709140"/>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4227881"/>
            <a:ext cx="22213824" cy="1042853"/>
          </a:xfrm>
          <a:prstGeom prst="rect">
            <a:avLst/>
          </a:prstGeom>
          <a:noFill/>
        </p:spPr>
        <p:txBody>
          <a:bodyPr wrap="square" anchor="ctr" lIns="0" rIns="0" tIns="0" bIns="0">
            <a:spAutoFit/>
          </a:bodyPr>
          <a:lstStyle/>
          <a:p>
            <a:pPr algn="l"/>
            <a:r>
              <a:rPr sz="3300" b="0" i="0">
                <a:solidFill>
                  <a:srgbClr val="000000"/>
                </a:solidFill>
                <a:latin typeface="Avenir Next Medium"/>
              </a:rPr>
              <a:t>Not the per azimuth pattern, not polarization, not rotation, not bistatic geometry</a:t>
            </a:r>
          </a:p>
        </p:txBody>
      </p:sp>
      <p:sp>
        <p:nvSpPr>
          <p:cNvPr id="7" name="Rectangle 6"/>
          <p:cNvSpPr/>
          <p:nvPr/>
        </p:nvSpPr>
        <p:spPr>
          <a:xfrm>
            <a:off x="719328" y="5794206"/>
            <a:ext cx="121920" cy="709140"/>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1255776" y="5627350"/>
            <a:ext cx="22213824" cy="1042853"/>
          </a:xfrm>
          <a:prstGeom prst="rect">
            <a:avLst/>
          </a:prstGeom>
          <a:noFill/>
        </p:spPr>
        <p:txBody>
          <a:bodyPr wrap="square" anchor="ctr" lIns="0" rIns="0" tIns="0" bIns="0">
            <a:spAutoFit/>
          </a:bodyPr>
          <a:lstStyle/>
          <a:p>
            <a:pPr algn="l"/>
            <a:r>
              <a:rPr sz="3300" b="0" i="0">
                <a:solidFill>
                  <a:srgbClr val="000000"/>
                </a:solidFill>
                <a:latin typeface="Avenir Next Medium"/>
              </a:rPr>
              <a:t>Two internal metal boxes sit outside the boolean union, so some residual is not shape</a:t>
            </a:r>
          </a:p>
        </p:txBody>
      </p:sp>
      <p:sp>
        <p:nvSpPr>
          <p:cNvPr id="9" name="Rectangle 8"/>
          <p:cNvSpPr/>
          <p:nvPr/>
        </p:nvSpPr>
        <p:spPr>
          <a:xfrm>
            <a:off x="719328" y="7210789"/>
            <a:ext cx="121920" cy="78187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1255776" y="7026819"/>
            <a:ext cx="22213824" cy="1149812"/>
          </a:xfrm>
          <a:prstGeom prst="rect">
            <a:avLst/>
          </a:prstGeom>
          <a:noFill/>
        </p:spPr>
        <p:txBody>
          <a:bodyPr wrap="square" anchor="ctr" lIns="0" rIns="0" tIns="0" bIns="0">
            <a:spAutoFit/>
          </a:bodyPr>
          <a:lstStyle/>
          <a:p>
            <a:pPr algn="l"/>
            <a:r>
              <a:rPr sz="3600" b="1" i="0">
                <a:solidFill>
                  <a:srgbClr val="E22146"/>
                </a:solidFill>
                <a:latin typeface="AvenirNext-DemiBold"/>
              </a:rPr>
              <a:t>The sphere referenced by exact Mie, since pi r squared is 0.37 dB rms off in our band</a:t>
            </a:r>
          </a:p>
        </p:txBody>
      </p:sp>
      <p:sp>
        <p:nvSpPr>
          <p:cNvPr id="11" name="Rectangle 10"/>
          <p:cNvSpPr/>
          <p:nvPr/>
        </p:nvSpPr>
        <p:spPr>
          <a:xfrm>
            <a:off x="719328" y="8700103"/>
            <a:ext cx="121920" cy="709140"/>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8533247"/>
            <a:ext cx="22213824" cy="1042853"/>
          </a:xfrm>
          <a:prstGeom prst="rect">
            <a:avLst/>
          </a:prstGeom>
          <a:noFill/>
        </p:spPr>
        <p:txBody>
          <a:bodyPr wrap="square" anchor="ctr" lIns="0" rIns="0" tIns="0" bIns="0">
            <a:spAutoFit/>
          </a:bodyPr>
          <a:lstStyle/>
          <a:p>
            <a:pPr algn="l"/>
            <a:r>
              <a:rPr sz="3300" b="0" i="0">
                <a:solidFill>
                  <a:srgbClr val="000000"/>
                </a:solidFill>
                <a:latin typeface="Avenir Next Medium"/>
              </a:rPr>
              <a:t>Measured at the start and at the end, and more than 1 dB of drift discards the session</a:t>
            </a:r>
          </a:p>
        </p:txBody>
      </p:sp>
      <p:sp>
        <p:nvSpPr>
          <p:cNvPr id="13" name="Rectangle 12"/>
          <p:cNvSpPr/>
          <p:nvPr/>
        </p:nvSpPr>
        <p:spPr>
          <a:xfrm>
            <a:off x="719328" y="10116686"/>
            <a:ext cx="121920" cy="78187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255776" y="9932716"/>
            <a:ext cx="22213824" cy="1149812"/>
          </a:xfrm>
          <a:prstGeom prst="rect">
            <a:avLst/>
          </a:prstGeom>
          <a:noFill/>
        </p:spPr>
        <p:txBody>
          <a:bodyPr wrap="square" anchor="ctr" lIns="0" rIns="0" tIns="0" bIns="0">
            <a:spAutoFit/>
          </a:bodyPr>
          <a:lstStyle/>
          <a:p>
            <a:pPr algn="l"/>
            <a:r>
              <a:rPr sz="3600" b="1" i="0">
                <a:solidFill>
                  <a:srgbClr val="E22146"/>
                </a:solidFill>
                <a:latin typeface="AvenirNext-DemiBold"/>
              </a:rPr>
              <a:t>The ablation - same site, same waveform, same classifier, three target models</a:t>
            </a:r>
          </a:p>
        </p:txBody>
      </p:sp>
      <p:sp>
        <p:nvSpPr>
          <p:cNvPr id="15" name="Rectangle 1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6" name="Rectangle 1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7" name="TextBox 16"/>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An anchored absolute level is what turns the twin into training data, and it is not anchored yet</a:t>
            </a:r>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29428</TotalTime>
  <Words>3186</Words>
  <Application>Microsoft Macintosh PowerPoint</Application>
  <PresentationFormat>사용자 지정</PresentationFormat>
  <Paragraphs>306</Paragraphs>
  <Slides>16</Slides>
  <Notes>16</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16</vt:i4>
      </vt:variant>
    </vt:vector>
  </HeadingPairs>
  <TitlesOfParts>
    <vt:vector size="26"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395</cp:revision>
  <dcterms:modified xsi:type="dcterms:W3CDTF">2026-07-21T00:07:50Z</dcterms:modified>
</cp:coreProperties>
</file>