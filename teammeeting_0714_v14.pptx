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368" r:id="rId2"/>
    <p:sldId id="996" r:id="rId3"/>
    <p:sldId id="997" r:id="rId4"/>
    <p:sldId id="998" r:id="rId5"/>
    <p:sldId id="999" r:id="rId6"/>
    <p:sldId id="1000" r:id="rId7"/>
    <p:sldId id="1001" r:id="rId8"/>
    <p:sldId id="1002" r:id="rId9"/>
    <p:sldId id="1016" r:id="rId10"/>
    <p:sldId id="1017" r:id="rId11"/>
    <p:sldId id="1007" r:id="rId12"/>
    <p:sldId id="1008" r:id="rId13"/>
    <p:sldId id="1010" r:id="rId14"/>
    <p:sldId id="1011" r:id="rId15"/>
    <p:sldId id="1012" r:id="rId16"/>
    <p:sldId id="1013" r:id="rId17"/>
    <p:sldId id="1014" r:id="rId18"/>
    <p:sldId id="1015" r:id="rId19"/>
    <p:sldId id="1018"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455"/>
    <p:restoredTop sz="80825" autoAdjust="0"/>
  </p:normalViewPr>
  <p:slideViewPr>
    <p:cSldViewPr snapToGrid="0">
      <p:cViewPr varScale="1">
        <p:scale>
          <a:sx n="59" d="100"/>
          <a:sy n="59" d="100"/>
        </p:scale>
        <p:origin x="240" y="5120"/>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Last time I did two things.</a:t>
            </a:r>
          </a:p>
          <a:p>
            <a:endParaRPr dirty="0"/>
          </a:p>
          <a:p>
            <a:r>
              <a:rPr dirty="0"/>
              <a:t>First, drone selection — Mavic 4 Pro versus Matrice 4E. The trade-off was echo strength against having RTK as ground truth.</a:t>
            </a:r>
          </a:p>
          <a:p>
            <a:endParaRPr dirty="0"/>
          </a:p>
          <a:p>
            <a:r>
              <a:rPr dirty="0"/>
              <a:t>Second, a short review of LaSen, the </a:t>
            </a:r>
            <a:r>
              <a:rPr dirty="0" err="1"/>
              <a:t>SenSys</a:t>
            </a:r>
            <a:r>
              <a:rPr dirty="0"/>
              <a:t> paper that tracks a drone using a 5G signal.</a:t>
            </a:r>
          </a:p>
          <a:p>
            <a:endParaRPr dirty="0"/>
          </a:p>
          <a:p>
            <a:r>
              <a:rPr dirty="0"/>
              <a:t>Since then I was at ICML and had a few other things going on, so </a:t>
            </a:r>
            <a:r>
              <a:rPr lang="en-US" altLang="ko-KR" dirty="0"/>
              <a:t>I focused this update on the parts I could verify clearly.</a:t>
            </a:r>
          </a:p>
          <a:p>
            <a:endParaRPr dirty="0"/>
          </a:p>
          <a:p>
            <a:r>
              <a:rPr dirty="0"/>
              <a:t>Today I will show the Sionna progress — the chamber, the drone meshes, and the micro-Doppler — and then introduce one paper from ICML.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a:t>
            </a:r>
          </a:p>
          <a:p>
            <a:endParaRPr/>
          </a:p>
          <a:p>
            <a:r>
              <a:t>First, what I built in Sionna: the environment — the chamber and the drone meshes — and then the micro-Doppler of the spinning blades.</a:t>
            </a:r>
          </a:p>
          <a:p>
            <a:endParaRPr/>
          </a:p>
          <a:p>
            <a:r>
              <a:t>I also built the Wi-Fi, LTE and 5G waveforms to compare them as illuminators. But I want to verify that part properly, so I will bring it to the next meeting rather than show it half-checked.</a:t>
            </a:r>
          </a:p>
          <a:p>
            <a:endParaRPr/>
          </a:p>
          <a:p>
            <a:r>
              <a:t>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This is the path I took.</a:t>
            </a:r>
          </a:p>
          <a:p>
            <a:endParaRPr dirty="0"/>
          </a:p>
          <a:p>
            <a:r>
              <a:rPr dirty="0"/>
              <a:t>First the environment: the chamber, and </a:t>
            </a:r>
            <a:r>
              <a:rPr lang="en-US" altLang="ko-KR" dirty="0"/>
              <a:t>five DJI drone meshes built from published specifications</a:t>
            </a:r>
            <a:r>
              <a:rPr dirty="0"/>
              <a:t>. </a:t>
            </a:r>
            <a:endParaRPr lang="en-US" dirty="0"/>
          </a:p>
          <a:p>
            <a:endParaRPr lang="en-US" dirty="0"/>
          </a:p>
          <a:p>
            <a:r>
              <a:rPr dirty="0"/>
              <a:t>Every part carries its own radio material, so the model is ready for propagation, not just for rendering.</a:t>
            </a:r>
          </a:p>
          <a:p>
            <a:endParaRPr dirty="0"/>
          </a:p>
          <a:p>
            <a:r>
              <a:rPr dirty="0"/>
              <a:t>Then the micro-Doppler: I split the drone into a frame plus rotors that spin on their own. That gives the blade signature — and it is also the model we would need later if we want to fly these in PX4 or Gazebo.</a:t>
            </a:r>
          </a:p>
          <a:p>
            <a:endParaRPr dirty="0"/>
          </a:p>
          <a:p>
            <a:r>
              <a:rPr dirty="0"/>
              <a:t>Both stages sit on the same scene, so nothing is rebuilt twice.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For the chamber I copied the specs of the RF playground we were planning to use for the real experiment.</a:t>
            </a:r>
          </a:p>
          <a:p>
            <a:endParaRPr dirty="0"/>
          </a:p>
          <a:p>
            <a:r>
              <a:rPr dirty="0"/>
              <a:t>It is thirty by twenty by eleven meters.</a:t>
            </a:r>
            <a:endParaRPr lang="en-US" dirty="0"/>
          </a:p>
          <a:p>
            <a:endParaRPr lang="en-US" dirty="0"/>
          </a:p>
          <a:p>
            <a:r>
              <a:rPr lang="en-US" altLang="ko-KR" dirty="0"/>
              <a:t>The walls are covered with absorbers, so chamber reflections are strongly reduced. This gives us a cleaner controlled scene for simulation.</a:t>
            </a:r>
          </a:p>
          <a:p>
            <a:endParaRPr dirty="0"/>
          </a:p>
          <a:p>
            <a:r>
              <a:rPr dirty="0"/>
              <a:t>On the left is the Sionna render; on the right, the dimensioned plan and elevation.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For the drones I first collected the detailed specs — this is the official DJI page on the left — and then built the mesh from those numbers.</a:t>
            </a:r>
            <a:endParaRPr lang="en-US" dirty="0"/>
          </a:p>
          <a:p>
            <a:r>
              <a:rPr lang="en-US" altLang="ko-KR" dirty="0"/>
              <a:t>(ask </a:t>
            </a:r>
            <a:r>
              <a:rPr lang="en-US" altLang="ko-KR" dirty="0" err="1"/>
              <a:t>claude</a:t>
            </a:r>
            <a:r>
              <a:rPr lang="en-US" altLang="ko-KR" dirty="0"/>
              <a:t> for this)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five meshes.</a:t>
            </a:r>
          </a:p>
          <a:p>
            <a:endParaRPr/>
          </a:p>
          <a:p>
            <a:r>
              <a:t>Here they are drawn at the same size, so you can compare shapes — the four-rotor quads against the eight-rotor S1000+.</a:t>
            </a:r>
          </a:p>
          <a:p>
            <a:endParaRPr/>
          </a:p>
          <a:p>
            <a:r>
              <a:t>Their real sizes are very different, and that is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t>Now the real size comparison, all at the same scale.</a:t>
            </a:r>
          </a:p>
          <a:p>
            <a:endParaRPr/>
          </a:p>
          <a:p>
            <a:r>
              <a:t>The S1000+ is by far the largest, about a meter across. The Mini 5 Pro fits in your hand at 250 grams. The dashed circles are the propeller discs.</a:t>
            </a:r>
          </a:p>
          <a:p>
            <a:endParaRPr/>
          </a:p>
          <a:p>
            <a:r>
              <a:t>One caveat on the weight chart, marked with a star: the S1000+ number is the airframe weight only. With a payload its takeoff weight is six to eleven kilograms, so that bar understates it. The other four are takeoff weights.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t>This is the render catalog — the five meshes, each with its diagonal, weight and rotor count from the spec sheet.</a:t>
            </a:r>
          </a:p>
          <a:p>
            <a:endParaRPr/>
          </a:p>
          <a:p>
            <a:r>
              <a:t>The bottom-right panel is the one that matters: the same drones dropped into the chamber at true scale. In a thirty meter room they are tiny — that is really the whole difficulty of the problem in one picture.</a:t>
            </a:r>
          </a:p>
        </p:txBody>
      </p:sp>
    </p:spTree>
    <p:extLst>
      <p:ext uri="{BB962C8B-B14F-4D97-AF65-F5344CB8AC3E}">
        <p14:creationId xmlns:p14="http://schemas.microsoft.com/office/powerpoint/2010/main" val="1990912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Now the second stage.</a:t>
            </a:r>
          </a:p>
          <a:p>
            <a:endParaRPr dirty="0"/>
          </a:p>
          <a:p>
            <a:r>
              <a:rPr dirty="0"/>
              <a:t>The first meshes were a single rigid body, so I could not spin the blades. I split the model into a frame plus individual rotors, each with its own rotation.</a:t>
            </a:r>
            <a:endParaRPr lang="en-US" dirty="0"/>
          </a:p>
          <a:p>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altLang="ko-KR" dirty="0"/>
              <a:t>Each part is modeled separately: body, arms, motors, propellers, gimbal, and landing gear.</a:t>
            </a:r>
          </a:p>
          <a:p>
            <a:pPr marL="0" marR="0" lvl="0" indent="0" defTabSz="457200" eaLnBrk="1" fontAlgn="auto" latinLnBrk="0" hangingPunct="1">
              <a:lnSpc>
                <a:spcPct val="117999"/>
              </a:lnSpc>
              <a:spcBef>
                <a:spcPts val="0"/>
              </a:spcBef>
              <a:spcAft>
                <a:spcPts val="0"/>
              </a:spcAft>
              <a:buClrTx/>
              <a:buSzTx/>
              <a:buFontTx/>
              <a:buNone/>
              <a:tabLst/>
              <a:defRPr/>
            </a:pPr>
            <a:endParaRPr dirty="0"/>
          </a:p>
          <a:p>
            <a:r>
              <a:rPr dirty="0"/>
              <a:t>That is what micro-Doppler needs. It is also the structure a flight simulator like Gazebo expects — one link and one joint per rotor — so the same model serves both.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dirty="0"/>
              <a:t>This is an initial micro-Doppler result generated with Claude’s help. </a:t>
            </a:r>
          </a:p>
          <a:p>
            <a:endParaRPr lang="en-US" dirty="0"/>
          </a:p>
          <a:p>
            <a:r>
              <a:rPr lang="en-US" dirty="0"/>
              <a:t>I do not yet have enough background to interpret the pattern confidently, </a:t>
            </a:r>
          </a:p>
          <a:p>
            <a:endParaRPr lang="en-US" dirty="0"/>
          </a:p>
          <a:p>
            <a:r>
              <a:rPr lang="en-US" dirty="0"/>
              <a:t>so I am showing it as an exploratory result rather than a conclusion.</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where the work sits.</a:t>
            </a:r>
          </a:p>
          <a:p>
            <a:endParaRPr/>
          </a:p>
          <a:p>
            <a:r>
              <a:t>Done: the environment — the chamber and the five meshes — and the articulated drone with its blade signature.</a:t>
            </a:r>
          </a:p>
          <a:p>
            <a:endParaRPr/>
          </a:p>
          <a:p>
            <a:r>
              <a:t>Next is the illuminator study: Wi-Fi, LTE and 5G, and which reference signals a passive receiver can actually use. I have it running already, but I want to verify it properly before I present it.</a:t>
            </a:r>
          </a:p>
          <a:p>
            <a:endParaRPr/>
          </a:p>
          <a:p>
            <a:r>
              <a:t>After that, the real passive radar chain: a bistatic geometry with the transmitter and the receiver apart, clutter removal, and CFAR detection with tracking.</a:t>
            </a:r>
          </a:p>
          <a:p>
            <a:endParaRPr/>
          </a:p>
          <a:p>
            <a:r>
              <a:t>Further out: drone versus bird from the blade signature, and exporting the articulated model to PX4 or Gazebo.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here is wireless signal recognition.</a:t>
            </a:r>
          </a:p>
          <a:p>
            <a:endParaRPr/>
          </a:p>
          <a:p>
            <a:r>
              <a:t>An AI reads a passively received IQ signal and labels it — the modulation type, the wireless technology, or an anomaly. It matters for spectrum management and for 6G.</a:t>
            </a:r>
          </a:p>
          <a:p>
            <a:endParaRPr/>
          </a:p>
          <a:p>
            <a:r>
              <a:t>The catch is the last line of the left card: the signal arrives distorted. What you receive is the transmitted signal convolved with the channel, plus noise.</a:t>
            </a:r>
          </a:p>
          <a:p>
            <a:endParaRPr/>
          </a:p>
          <a:p>
            <a:r>
              <a:t>Diffusion models are strong denoisers, and their learned features transfer well to this task. So the plan on this slide is: clean the signal first, then recognise it.</a:t>
            </a:r>
          </a:p>
        </p:txBody>
      </p:sp>
    </p:spTree>
    <p:extLst>
      <p:ext uri="{BB962C8B-B14F-4D97-AF65-F5344CB8AC3E}">
        <p14:creationId xmlns:p14="http://schemas.microsoft.com/office/powerpoint/2010/main" val="3952428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rPr dirty="0"/>
              <a:t>But the authors point out a gap.</a:t>
            </a:r>
          </a:p>
          <a:p>
            <a:endParaRPr dirty="0"/>
          </a:p>
          <a:p>
            <a:r>
              <a:rPr dirty="0"/>
              <a:t>Standard diffusion only adds and removes Gaussian noise. </a:t>
            </a:r>
            <a:endParaRPr lang="en-US" dirty="0"/>
          </a:p>
          <a:p>
            <a:endParaRPr lang="en-US" dirty="0"/>
          </a:p>
          <a:p>
            <a:r>
              <a:rPr lang="en-US" altLang="ko-KR" dirty="0"/>
              <a:t>A real wireless channel introduces structured distortions such as fading, phase rotation, frequency offset, timing offset, and multipath — not just additive Gaussian noise.</a:t>
            </a:r>
          </a:p>
          <a:p>
            <a:endParaRPr dirty="0"/>
          </a:p>
          <a:p>
            <a:r>
              <a:rPr dirty="0"/>
              <a:t>Their idea is to put a physical channel model inside the forward process: the forward step applies a learned channel and then adds noise, and the reverse step learns to undo both.</a:t>
            </a:r>
          </a:p>
          <a:p>
            <a:endParaRPr dirty="0"/>
          </a:p>
          <a:p>
            <a:r>
              <a:rPr dirty="0"/>
              <a:t>They call that de-channeling — and that is the title of the paper.</a:t>
            </a:r>
          </a:p>
        </p:txBody>
      </p:sp>
    </p:spTree>
    <p:extLst>
      <p:ext uri="{BB962C8B-B14F-4D97-AF65-F5344CB8AC3E}">
        <p14:creationId xmlns:p14="http://schemas.microsoft.com/office/powerpoint/2010/main" val="994988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whole pipeline.</a:t>
            </a:r>
          </a:p>
          <a:p>
            <a:endParaRPr/>
          </a:p>
          <a:p>
            <a:r>
              <a:t>On the left is the forward process. Instead of adding only Gaussian noise, they first push the signal through a channel — but not a free-form neural channel. They keep a pool of real physical channels — AWGN, Rician, Rayleigh, Nakagami, multipath, carrier frequency offset and sampling rate offset — and the box in the figure only draws a few of them, which is what the dots mean. From that pool they pick a subset per dataset. A small network they call CPE-Net — channel parameter estimation — reads the signal and outputs softmax weights over that dataset's candidates. So the forward step is: mix the physical channels with those weights, apply them, then add Gaussian noise.</a:t>
            </a:r>
          </a:p>
          <a:p>
            <a:endParaRPr/>
          </a:p>
          <a:p>
            <a:r>
              <a:t>Why constrain it that way? Because they prove that if the channel is a free network, the loss has a local minimum where the channel simply becomes one. In other words, the model quietly switches the channel off and you are back to ordinary denoising. The physical candidates are what stop that.</a:t>
            </a:r>
          </a:p>
          <a:p>
            <a:endParaRPr/>
          </a:p>
          <a:p>
            <a:r>
              <a:t>On the right is the reverse process, which they call FusedFormer. A fusion module combines the time-domain and the spectral view of the signal, and a self-attention module sits on top. That is the part that learns to undo the channel and the noise.</a:t>
            </a:r>
          </a:p>
          <a:p>
            <a:endParaRPr/>
          </a:p>
          <a:p>
            <a:r>
              <a:t>I could not fully follow the attention details yet — that is part of the AI study I planned.</a:t>
            </a:r>
          </a:p>
        </p:txBody>
      </p:sp>
    </p:spTree>
    <p:extLst>
      <p:ext uri="{BB962C8B-B14F-4D97-AF65-F5344CB8AC3E}">
        <p14:creationId xmlns:p14="http://schemas.microsoft.com/office/powerpoint/2010/main" val="1644190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rPr dirty="0"/>
              <a:t>They report state of the art on all four datasets, with an average rank of one.</a:t>
            </a:r>
          </a:p>
          <a:p>
            <a:endParaRPr dirty="0"/>
          </a:p>
          <a:p>
            <a:r>
              <a:rPr dirty="0"/>
              <a:t>But look at the margins. On RML2016 they get 63.60 against </a:t>
            </a:r>
            <a:r>
              <a:rPr dirty="0" err="1"/>
              <a:t>IQFormer's</a:t>
            </a:r>
            <a:r>
              <a:rPr dirty="0"/>
              <a:t> 63.54 — six hundredths of a point. I honestly wonder whether that would survive a different random seed. The one clear win is </a:t>
            </a:r>
            <a:r>
              <a:rPr dirty="0" err="1"/>
              <a:t>TechRec</a:t>
            </a:r>
            <a:r>
              <a:rPr dirty="0"/>
              <a:t>: 91.0 against 88.8 for the next best.</a:t>
            </a:r>
          </a:p>
          <a:p>
            <a:endParaRPr dirty="0"/>
          </a:p>
          <a:p>
            <a:r>
              <a:rPr dirty="0"/>
              <a:t>So the fair question is: how much of this is the de-channeling idea, and how much is just the new backbone? Their own Figure 4 answers it. On RML2016, </a:t>
            </a:r>
            <a:r>
              <a:rPr dirty="0" err="1"/>
              <a:t>FusedFormer</a:t>
            </a:r>
            <a:r>
              <a:rPr dirty="0"/>
              <a:t> with no pretraining is 57.77 — below </a:t>
            </a:r>
            <a:r>
              <a:rPr dirty="0" err="1"/>
              <a:t>IQFormer</a:t>
            </a:r>
            <a:r>
              <a:rPr dirty="0"/>
              <a:t>, so the backbone alone is not what wins. Gaussian-only diffusion pretraining takes it to 62.86, and the physical channels add another 0.7 to reach 63.60.</a:t>
            </a:r>
          </a:p>
          <a:p>
            <a:endParaRPr dirty="0"/>
          </a:p>
          <a:p>
            <a:r>
              <a:rPr dirty="0"/>
              <a:t>But that split flips on the other datasets. On RML2022 the physical channels are worth 5.7 points. On </a:t>
            </a:r>
            <a:r>
              <a:rPr dirty="0" err="1"/>
              <a:t>TechRec</a:t>
            </a:r>
            <a:r>
              <a:rPr dirty="0"/>
              <a:t>, Gaussian-only pretraining is actually worse than no pretraining at all — 89.21 against 90.25 — and only the physical channels recover it to 91.02. So the idea is doing real work; it just does not show up in the RML2016 headline.</a:t>
            </a:r>
          </a:p>
          <a:p>
            <a:endParaRPr dirty="0"/>
          </a:p>
          <a:p>
            <a:r>
              <a:rPr dirty="0"/>
              <a:t>There is also a separate ablation on which channels: drop the carrier frequency offset from the candidate set and accuracy falls from 63.6 to 61.5.</a:t>
            </a:r>
          </a:p>
        </p:txBody>
      </p:sp>
    </p:spTree>
    <p:extLst>
      <p:ext uri="{BB962C8B-B14F-4D97-AF65-F5344CB8AC3E}">
        <p14:creationId xmlns:p14="http://schemas.microsoft.com/office/powerpoint/2010/main" val="3633082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the chamber, the drone meshes, and the articulated micro-Doppler model</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5" name="슬라이드 번호 개체 틀 4">
            <a:extLst>
              <a:ext uri="{FF2B5EF4-FFF2-40B4-BE49-F238E27FC236}">
                <a16:creationId xmlns:a16="http://schemas.microsoft.com/office/drawing/2014/main" id="{4B70D3BE-B1EC-619B-CFF3-550E44FDFC6F}"/>
              </a:ext>
            </a:extLst>
          </p:cNvPr>
          <p:cNvSpPr>
            <a:spLocks noGrp="1"/>
          </p:cNvSpPr>
          <p:nvPr>
            <p:ph type="sldNum" sz="quarter" idx="2"/>
          </p:nvPr>
        </p:nvSpPr>
        <p:spPr/>
        <p:txBody>
          <a:bodyPr/>
          <a:lstStyle/>
          <a:p>
            <a:fld id="{86CB4B4D-7CA3-9044-876B-883B54F8677D}" type="slidenum">
              <a:rPr lang="en-US" altLang="ko-KR" smtClean="0"/>
              <a:t>2</a:t>
            </a:fld>
            <a:r>
              <a:rPr lang="en-US" altLang="ko-KR"/>
              <a:t>/19</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Two stages — the environment (chamber + drone meshes)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4" name="슬라이드 번호 개체 틀 3">
            <a:extLst>
              <a:ext uri="{FF2B5EF4-FFF2-40B4-BE49-F238E27FC236}">
                <a16:creationId xmlns:a16="http://schemas.microsoft.com/office/drawing/2014/main" id="{AABD3E3D-5526-C31F-11C1-422A2203CE89}"/>
              </a:ext>
            </a:extLst>
          </p:cNvPr>
          <p:cNvSpPr>
            <a:spLocks noGrp="1"/>
          </p:cNvSpPr>
          <p:nvPr>
            <p:ph type="sldNum" sz="quarter" idx="2"/>
          </p:nvPr>
        </p:nvSpPr>
        <p:spPr/>
        <p:txBody>
          <a:bodyPr/>
          <a:lstStyle/>
          <a:p>
            <a:fld id="{86CB4B4D-7CA3-9044-876B-883B54F8677D}" type="slidenum">
              <a:rPr lang="en-US" altLang="ko-KR" smtClean="0"/>
              <a:t>3</a:t>
            </a:fld>
            <a:r>
              <a:rPr lang="en-US" altLang="ko-KR"/>
              <a:t>/19</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two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Micro-Doppler</a:t>
            </a:r>
          </a:p>
        </p:txBody>
      </p:sp>
      <p:sp>
        <p:nvSpPr>
          <p:cNvPr id="4" name="슬라이드 번호 개체 틀 3">
            <a:extLst>
              <a:ext uri="{FF2B5EF4-FFF2-40B4-BE49-F238E27FC236}">
                <a16:creationId xmlns:a16="http://schemas.microsoft.com/office/drawing/2014/main" id="{630D79E6-05E9-1A2D-DBDA-17C32498487A}"/>
              </a:ext>
            </a:extLst>
          </p:cNvPr>
          <p:cNvSpPr>
            <a:spLocks noGrp="1"/>
          </p:cNvSpPr>
          <p:nvPr>
            <p:ph type="sldNum" sz="quarter" idx="2"/>
          </p:nvPr>
        </p:nvSpPr>
        <p:spPr/>
        <p:txBody>
          <a:bodyPr/>
          <a:lstStyle/>
          <a:p>
            <a:fld id="{86CB4B4D-7CA3-9044-876B-883B54F8677D}" type="slidenum">
              <a:rPr lang="en-US" altLang="ko-KR" smtClean="0"/>
              <a:t>4</a:t>
            </a:fld>
            <a:r>
              <a:rPr lang="en-US" altLang="ko-KR"/>
              <a:t>/19</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Two Stages, Built on One Scene</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53"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Micro-Doppler</a:t>
            </a:r>
          </a:p>
        </p:txBody>
      </p:sp>
      <p:sp>
        <p:nvSpPr>
          <p:cNvPr id="54"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4" name="슬라이드 번호 개체 틀 3">
            <a:extLst>
              <a:ext uri="{FF2B5EF4-FFF2-40B4-BE49-F238E27FC236}">
                <a16:creationId xmlns:a16="http://schemas.microsoft.com/office/drawing/2014/main" id="{5D2DAAE2-342E-CC2C-EBD7-678385668618}"/>
              </a:ext>
            </a:extLst>
          </p:cNvPr>
          <p:cNvSpPr>
            <a:spLocks noGrp="1"/>
          </p:cNvSpPr>
          <p:nvPr>
            <p:ph type="sldNum" sz="quarter" idx="2"/>
          </p:nvPr>
        </p:nvSpPr>
        <p:spPr/>
        <p:txBody>
          <a:bodyPr/>
          <a:lstStyle/>
          <a:p>
            <a:fld id="{86CB4B4D-7CA3-9044-876B-883B54F8677D}" type="slidenum">
              <a:rPr lang="en-US" altLang="ko-KR" smtClean="0"/>
              <a:t>5</a:t>
            </a:fld>
            <a:r>
              <a:rPr lang="en-US" altLang="ko-KR"/>
              <a:t>/19</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30 × 20 × 11 m shielded room</a:t>
            </a:r>
          </a:p>
        </p:txBody>
      </p:sp>
      <p:pic>
        <p:nvPicPr>
          <p:cNvPr id="20" name="chamber_render"/>
          <p:cNvPicPr>
            <a:picLocks noChangeAspect="1"/>
          </p:cNvPicPr>
          <p:nvPr/>
        </p:nvPicPr>
        <p:blipFill>
          <a:blip r:embed="rId3"/>
          <a:stretch>
            <a:fillRect/>
          </a:stretch>
        </p:blipFill>
        <p:spPr>
          <a:xfrm>
            <a:off x="-836580" y="2827308"/>
            <a:ext cx="11858073" cy="8893554"/>
          </a:xfrm>
          <a:prstGeom prst="rect">
            <a:avLst/>
          </a:prstGeom>
        </p:spPr>
      </p:pic>
      <p:pic>
        <p:nvPicPr>
          <p:cNvPr id="21" name="chamber_plan"/>
          <p:cNvPicPr>
            <a:picLocks noChangeAspect="1"/>
          </p:cNvPicPr>
          <p:nvPr/>
        </p:nvPicPr>
        <p:blipFill>
          <a:blip r:embed="rId4"/>
          <a:srcRect l="2126" r="1726"/>
          <a:stretch>
            <a:fillRect/>
          </a:stretch>
        </p:blipFill>
        <p:spPr>
          <a:xfrm>
            <a:off x="9881663" y="3485977"/>
            <a:ext cx="14502337" cy="696152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4" name="슬라이드 번호 개체 틀 3">
            <a:extLst>
              <a:ext uri="{FF2B5EF4-FFF2-40B4-BE49-F238E27FC236}">
                <a16:creationId xmlns:a16="http://schemas.microsoft.com/office/drawing/2014/main" id="{78A8CC52-9DFB-904B-58DF-75CC9DBAA5AE}"/>
              </a:ext>
            </a:extLst>
          </p:cNvPr>
          <p:cNvSpPr>
            <a:spLocks noGrp="1"/>
          </p:cNvSpPr>
          <p:nvPr>
            <p:ph type="sldNum" sz="quarter" idx="2"/>
          </p:nvPr>
        </p:nvSpPr>
        <p:spPr/>
        <p:txBody>
          <a:bodyPr/>
          <a:lstStyle/>
          <a:p>
            <a:fld id="{86CB4B4D-7CA3-9044-876B-883B54F8677D}" type="slidenum">
              <a:rPr lang="en-US" altLang="ko-KR" smtClean="0"/>
              <a:t>6</a:t>
            </a:fld>
            <a:r>
              <a:rPr lang="en-US" altLang="ko-KR"/>
              <a:t>/19</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r>
              <a:rPr lang="en-US" altLang="ko-KR" sz="3300" b="1" i="1" dirty="0">
                <a:solidFill>
                  <a:srgbClr val="C00000"/>
                </a:solidFill>
              </a:rPr>
              <a:t>Published specs → spec-driven approximate meshes</a:t>
            </a:r>
            <a:endParaRPr lang="en-US" altLang="ko-KR" sz="3300" b="1" i="1" dirty="0">
              <a:solidFill>
                <a:srgbClr val="C00000"/>
              </a:solidFill>
              <a:latin typeface="Avenir Next Medium"/>
              <a:ea typeface="Avenir Next Medium"/>
              <a:cs typeface="Avenir Next Medium"/>
            </a:endParaRPr>
          </a:p>
        </p:txBody>
      </p:sp>
      <p:pic>
        <p:nvPicPr>
          <p:cNvPr id="20" name="build_card"/>
          <p:cNvPicPr>
            <a:picLocks noChangeAspect="1"/>
          </p:cNvPicPr>
          <p:nvPr/>
        </p:nvPicPr>
        <p:blipFill>
          <a:blip r:embed="rId3"/>
          <a:stretch>
            <a:fillRect/>
          </a:stretch>
        </p:blipFill>
        <p:spPr>
          <a:xfrm>
            <a:off x="11073706" y="3791952"/>
            <a:ext cx="13310294" cy="8395724"/>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589455"/>
            <a:ext cx="9986962" cy="9794013"/>
          </a:xfrm>
          <a:prstGeom prst="rect">
            <a:avLst/>
          </a:prstGeom>
        </p:spPr>
      </p:pic>
      <p:sp>
        <p:nvSpPr>
          <p:cNvPr id="5" name="슬라이드 번호 개체 틀 4">
            <a:extLst>
              <a:ext uri="{FF2B5EF4-FFF2-40B4-BE49-F238E27FC236}">
                <a16:creationId xmlns:a16="http://schemas.microsoft.com/office/drawing/2014/main" id="{E8AC9D0C-BE5B-BA6B-533C-A970237757E4}"/>
              </a:ext>
            </a:extLst>
          </p:cNvPr>
          <p:cNvSpPr>
            <a:spLocks noGrp="1"/>
          </p:cNvSpPr>
          <p:nvPr>
            <p:ph type="sldNum" sz="quarter" idx="2"/>
          </p:nvPr>
        </p:nvSpPr>
        <p:spPr/>
        <p:txBody>
          <a:bodyPr/>
          <a:lstStyle/>
          <a:p>
            <a:fld id="{86CB4B4D-7CA3-9044-876B-883B54F8677D}" type="slidenum">
              <a:rPr lang="en-US" altLang="ko-KR" smtClean="0"/>
              <a:t>7</a:t>
            </a:fld>
            <a:r>
              <a:rPr lang="en-US" altLang="ko-KR"/>
              <a:t>/19</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r>
              <a:rPr lang="en-US" altLang="ko-KR" sz="5200" b="1" i="0" dirty="0">
                <a:solidFill>
                  <a:srgbClr val="000000"/>
                </a:solidFill>
                <a:latin typeface="AvenirNext-DemiBold"/>
                <a:ea typeface="AvenirNext-DemiBold"/>
                <a:cs typeface="AvenirNext-DemiBold"/>
              </a:rPr>
              <a:t>DJI Drone Meshes — </a:t>
            </a:r>
            <a:r>
              <a:rPr lang="en-US" altLang="ko-KR" sz="5200" b="1" dirty="0">
                <a:latin typeface="AvenirNext-DemiBold"/>
                <a:ea typeface="AvenirNext-DemiBold"/>
                <a:cs typeface="AvenirNext-DemiBold"/>
              </a:rPr>
              <a:t>Five Drone Meshes</a:t>
            </a:r>
            <a:endParaRPr lang="en-US" altLang="ko-KR" sz="5200" b="1" i="0" dirty="0">
              <a:solidFill>
                <a:srgbClr val="000000"/>
              </a:solidFill>
              <a:latin typeface="AvenirNext-DemiBold"/>
              <a:ea typeface="AvenirNext-DemiBold"/>
              <a:cs typeface="AvenirNext-DemiBold"/>
            </a:endParaRPr>
          </a:p>
        </p:txBody>
      </p:sp>
      <p:pic>
        <p:nvPicPr>
          <p:cNvPr id="20" name="turntable"/>
          <p:cNvPicPr>
            <a:picLocks noChangeAspect="1"/>
          </p:cNvPicPr>
          <p:nvPr/>
        </p:nvPicPr>
        <p:blipFill>
          <a:blip r:embed="rId3"/>
          <a:srcRect l="14982" r="12035"/>
          <a:stretch>
            <a:fillRect/>
          </a:stretch>
        </p:blipFill>
        <p:spPr>
          <a:xfrm>
            <a:off x="2070740" y="3936994"/>
            <a:ext cx="21083582" cy="7040682"/>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4" name="슬라이드 번호 개체 틀 3">
            <a:extLst>
              <a:ext uri="{FF2B5EF4-FFF2-40B4-BE49-F238E27FC236}">
                <a16:creationId xmlns:a16="http://schemas.microsoft.com/office/drawing/2014/main" id="{8C05D7E6-86CC-FBE7-20D9-69FA72181879}"/>
              </a:ext>
            </a:extLst>
          </p:cNvPr>
          <p:cNvSpPr>
            <a:spLocks noGrp="1"/>
          </p:cNvSpPr>
          <p:nvPr>
            <p:ph type="sldNum" sz="quarter" idx="2"/>
          </p:nvPr>
        </p:nvSpPr>
        <p:spPr/>
        <p:txBody>
          <a:bodyPr/>
          <a:lstStyle/>
          <a:p>
            <a:fld id="{86CB4B4D-7CA3-9044-876B-883B54F8677D}" type="slidenum">
              <a:rPr lang="en-US" altLang="ko-KR" smtClean="0"/>
              <a:t>8</a:t>
            </a:fld>
            <a:r>
              <a:rPr lang="en-US" altLang="ko-KR"/>
              <a:t>/19</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Five Drones at True Scale</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2" y="1980001"/>
            <a:ext cx="16599197" cy="10073693"/>
          </a:xfrm>
          <a:prstGeom prst="rect">
            <a:avLst/>
          </a:prstGeom>
        </p:spPr>
      </p:pic>
      <p:sp>
        <p:nvSpPr>
          <p:cNvPr id="5" name="슬라이드 번호 개체 틀 4">
            <a:extLst>
              <a:ext uri="{FF2B5EF4-FFF2-40B4-BE49-F238E27FC236}">
                <a16:creationId xmlns:a16="http://schemas.microsoft.com/office/drawing/2014/main" id="{5BEE153D-0EB3-3D32-B5A5-FDE0EC37E2F1}"/>
              </a:ext>
            </a:extLst>
          </p:cNvPr>
          <p:cNvSpPr>
            <a:spLocks noGrp="1"/>
          </p:cNvSpPr>
          <p:nvPr>
            <p:ph type="sldNum" sz="quarter" idx="2"/>
          </p:nvPr>
        </p:nvSpPr>
        <p:spPr/>
        <p:txBody>
          <a:bodyPr/>
          <a:lstStyle/>
          <a:p>
            <a:fld id="{86CB4B4D-7CA3-9044-876B-883B54F8677D}" type="slidenum">
              <a:rPr lang="en-US" altLang="ko-KR" smtClean="0"/>
              <a:t>9</a:t>
            </a:fld>
            <a:r>
              <a:rPr lang="en-US" altLang="ko-KR"/>
              <a:t>/19</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Catalog — and the Scale Problem</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2"/>
          </a:xfrm>
          <a:prstGeom prst="rect">
            <a:avLst/>
          </a:prstGeom>
        </p:spPr>
      </p:pic>
      <p:sp>
        <p:nvSpPr>
          <p:cNvPr id="5" name="슬라이드 번호 개체 틀 4">
            <a:extLst>
              <a:ext uri="{FF2B5EF4-FFF2-40B4-BE49-F238E27FC236}">
                <a16:creationId xmlns:a16="http://schemas.microsoft.com/office/drawing/2014/main" id="{A4546D16-FA74-358D-5E4A-0174F953AD7C}"/>
              </a:ext>
            </a:extLst>
          </p:cNvPr>
          <p:cNvSpPr>
            <a:spLocks noGrp="1"/>
          </p:cNvSpPr>
          <p:nvPr>
            <p:ph type="sldNum" sz="quarter" idx="2"/>
          </p:nvPr>
        </p:nvSpPr>
        <p:spPr/>
        <p:txBody>
          <a:bodyPr/>
          <a:lstStyle/>
          <a:p>
            <a:fld id="{86CB4B4D-7CA3-9044-876B-883B54F8677D}" type="slidenum">
              <a:rPr lang="en-US" altLang="ko-KR" smtClean="0"/>
              <a:t>10</a:t>
            </a:fld>
            <a:r>
              <a:rPr lang="en-US" altLang="ko-KR"/>
              <a:t>/19</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4" name="슬라이드 번호 개체 틀 3">
            <a:extLst>
              <a:ext uri="{FF2B5EF4-FFF2-40B4-BE49-F238E27FC236}">
                <a16:creationId xmlns:a16="http://schemas.microsoft.com/office/drawing/2014/main" id="{6FECF8F2-3AB1-B447-66F6-18094C0DDF36}"/>
              </a:ext>
            </a:extLst>
          </p:cNvPr>
          <p:cNvSpPr>
            <a:spLocks noGrp="1"/>
          </p:cNvSpPr>
          <p:nvPr>
            <p:ph type="sldNum" sz="quarter" idx="2"/>
          </p:nvPr>
        </p:nvSpPr>
        <p:spPr/>
        <p:txBody>
          <a:bodyPr/>
          <a:lstStyle/>
          <a:p>
            <a:fld id="{86CB4B4D-7CA3-9044-876B-883B54F8677D}" type="slidenum">
              <a:rPr lang="en-US" altLang="ko-KR" smtClean="0"/>
              <a:t>11</a:t>
            </a:fld>
            <a:r>
              <a:rPr lang="en-US" altLang="ko-KR"/>
              <a:t>/19</a:t>
            </a:r>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r>
              <a:rPr lang="en-US" altLang="ko-KR" sz="3300" b="1" i="1" dirty="0">
                <a:solidFill>
                  <a:srgbClr val="C00000"/>
                </a:solidFill>
                <a:latin typeface="Avenir Next Medium"/>
                <a:ea typeface="Avenir Next Medium"/>
                <a:cs typeface="Avenir Next Medium"/>
              </a:rPr>
              <a:t>Even while hovering, the spinning blades ripple the echo — </a:t>
            </a:r>
            <a:r>
              <a:rPr lang="en-US" altLang="ko-KR" sz="3300" b="1" i="1" dirty="0">
                <a:solidFill>
                  <a:srgbClr val="C00000"/>
                </a:solidFill>
              </a:rPr>
              <a:t>a signature we can analyze</a:t>
            </a:r>
            <a:endParaRPr lang="en-US" altLang="ko-KR" sz="3300" b="1" i="1" dirty="0">
              <a:solidFill>
                <a:srgbClr val="C00000"/>
              </a:solidFill>
              <a:latin typeface="Avenir Next Medium"/>
              <a:ea typeface="Avenir Next Medium"/>
              <a:cs typeface="Avenir Next Medium"/>
            </a:endParaRPr>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5" y="3495018"/>
            <a:ext cx="19400962" cy="8373997"/>
          </a:xfrm>
          <a:prstGeom prst="rect">
            <a:avLst/>
          </a:prstGeom>
        </p:spPr>
      </p:pic>
      <p:sp>
        <p:nvSpPr>
          <p:cNvPr id="5" name="슬라이드 번호 개체 틀 4">
            <a:extLst>
              <a:ext uri="{FF2B5EF4-FFF2-40B4-BE49-F238E27FC236}">
                <a16:creationId xmlns:a16="http://schemas.microsoft.com/office/drawing/2014/main" id="{54CB1672-B82D-940D-ADA9-179B5A08545C}"/>
              </a:ext>
            </a:extLst>
          </p:cNvPr>
          <p:cNvSpPr>
            <a:spLocks noGrp="1"/>
          </p:cNvSpPr>
          <p:nvPr>
            <p:ph type="sldNum" sz="quarter" idx="2"/>
          </p:nvPr>
        </p:nvSpPr>
        <p:spPr/>
        <p:txBody>
          <a:bodyPr/>
          <a:lstStyle/>
          <a:p>
            <a:fld id="{86CB4B4D-7CA3-9044-876B-883B54F8677D}" type="slidenum">
              <a:rPr lang="en-US" altLang="ko-KR" smtClean="0"/>
              <a:t>12</a:t>
            </a:fld>
            <a:r>
              <a:rPr lang="en-US" altLang="ko-KR"/>
              <a:t>/19</a:t>
            </a:r>
            <a:endParaRPr lang="ko-KR"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Where This Sits — and What Comes Next</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Illuminators</a:t>
            </a:r>
          </a:p>
          <a:p>
            <a:pPr algn="ctr"/>
            <a:r>
              <a:rPr lang="en-US" altLang="ko-KR" sz="2400" b="1" i="0" dirty="0">
                <a:solidFill>
                  <a:srgbClr val="26448A"/>
                </a:solidFill>
                <a:latin typeface="Avenir Next Medium"/>
                <a:ea typeface="Avenir Next Medium"/>
                <a:cs typeface="Avenir Next Medium"/>
              </a:rPr>
              <a:t>Wi-Fi / LTE / 5G</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removal</a:t>
            </a:r>
          </a:p>
          <a:p>
            <a:pPr algn="ctr">
              <a:spcBef>
                <a:spcPts val="200"/>
              </a:spcBef>
            </a:pPr>
            <a:r>
              <a:rPr lang="en-US" altLang="ko-KR" sz="1700" b="0" i="1" dirty="0">
                <a:solidFill>
                  <a:srgbClr val="595959"/>
                </a:solidFill>
                <a:latin typeface="Avenir Next Medium"/>
                <a:ea typeface="Avenir Next Medium"/>
                <a:cs typeface="Avenir Next Medium"/>
              </a:rPr>
              <a:t>+ CFAR</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&amp; tracking</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4" name="슬라이드 번호 개체 틀 3">
            <a:extLst>
              <a:ext uri="{FF2B5EF4-FFF2-40B4-BE49-F238E27FC236}">
                <a16:creationId xmlns:a16="http://schemas.microsoft.com/office/drawing/2014/main" id="{8DB9D876-B718-288C-4CE9-808B6773B6C8}"/>
              </a:ext>
            </a:extLst>
          </p:cNvPr>
          <p:cNvSpPr>
            <a:spLocks noGrp="1"/>
          </p:cNvSpPr>
          <p:nvPr>
            <p:ph type="sldNum" sz="quarter" idx="2"/>
          </p:nvPr>
        </p:nvSpPr>
        <p:spPr/>
        <p:txBody>
          <a:bodyPr/>
          <a:lstStyle/>
          <a:p>
            <a:fld id="{86CB4B4D-7CA3-9044-876B-883B54F8677D}" type="slidenum">
              <a:rPr lang="en-US" altLang="ko-KR" smtClean="0"/>
              <a:t>13</a:t>
            </a:fld>
            <a:r>
              <a:rPr lang="en-US" altLang="ko-KR"/>
              <a:t>/19</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
        <p:nvSpPr>
          <p:cNvPr id="5" name="슬라이드 번호 개체 틀 4">
            <a:extLst>
              <a:ext uri="{FF2B5EF4-FFF2-40B4-BE49-F238E27FC236}">
                <a16:creationId xmlns:a16="http://schemas.microsoft.com/office/drawing/2014/main" id="{F5EC9494-BE7B-F62D-1BDF-4C902962220A}"/>
              </a:ext>
            </a:extLst>
          </p:cNvPr>
          <p:cNvSpPr>
            <a:spLocks noGrp="1"/>
          </p:cNvSpPr>
          <p:nvPr>
            <p:ph type="sldNum" sz="quarter" idx="2"/>
          </p:nvPr>
        </p:nvSpPr>
        <p:spPr/>
        <p:txBody>
          <a:bodyPr/>
          <a:lstStyle/>
          <a:p>
            <a:fld id="{86CB4B4D-7CA3-9044-876B-883B54F8677D}" type="slidenum">
              <a:rPr lang="en-US" altLang="ko-KR" smtClean="0"/>
              <a:t>14</a:t>
            </a:fld>
            <a:r>
              <a:rPr lang="en-US" altLang="ko-KR"/>
              <a:t>/19</a:t>
            </a:r>
            <a:endParaRPr lang="ko-K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Introduction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4" name="슬라이드 번호 개체 틀 3">
            <a:extLst>
              <a:ext uri="{FF2B5EF4-FFF2-40B4-BE49-F238E27FC236}">
                <a16:creationId xmlns:a16="http://schemas.microsoft.com/office/drawing/2014/main" id="{CCF1C137-0858-FF2E-98B0-9C4FF9626E21}"/>
              </a:ext>
            </a:extLst>
          </p:cNvPr>
          <p:cNvSpPr>
            <a:spLocks noGrp="1"/>
          </p:cNvSpPr>
          <p:nvPr>
            <p:ph type="sldNum" sz="quarter" idx="2"/>
          </p:nvPr>
        </p:nvSpPr>
        <p:spPr/>
        <p:txBody>
          <a:bodyPr/>
          <a:lstStyle/>
          <a:p>
            <a:fld id="{86CB4B4D-7CA3-9044-876B-883B54F8677D}" type="slidenum">
              <a:rPr lang="en-US" altLang="ko-KR" smtClean="0"/>
              <a:t>15</a:t>
            </a:fld>
            <a:r>
              <a:rPr lang="en-US" altLang="ko-KR"/>
              <a:t>/19</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Introduction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4" name="슬라이드 번호 개체 틀 3">
            <a:extLst>
              <a:ext uri="{FF2B5EF4-FFF2-40B4-BE49-F238E27FC236}">
                <a16:creationId xmlns:a16="http://schemas.microsoft.com/office/drawing/2014/main" id="{02E217DB-4A07-B13A-4A00-1559FE836B79}"/>
              </a:ext>
            </a:extLst>
          </p:cNvPr>
          <p:cNvSpPr>
            <a:spLocks noGrp="1"/>
          </p:cNvSpPr>
          <p:nvPr>
            <p:ph type="sldNum" sz="quarter" idx="2"/>
          </p:nvPr>
        </p:nvSpPr>
        <p:spPr/>
        <p:txBody>
          <a:bodyPr/>
          <a:lstStyle/>
          <a:p>
            <a:fld id="{86CB4B4D-7CA3-9044-876B-883B54F8677D}" type="slidenum">
              <a:rPr lang="en-US" altLang="ko-KR" smtClean="0"/>
              <a:t>16</a:t>
            </a:fld>
            <a:r>
              <a:rPr lang="en-US" altLang="ko-KR"/>
              <a:t>/19</a:t>
            </a:r>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Introduction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4" name="슬라이드 번호 개체 틀 3">
            <a:extLst>
              <a:ext uri="{FF2B5EF4-FFF2-40B4-BE49-F238E27FC236}">
                <a16:creationId xmlns:a16="http://schemas.microsoft.com/office/drawing/2014/main" id="{77566986-ACCD-7409-D979-2F626802998E}"/>
              </a:ext>
            </a:extLst>
          </p:cNvPr>
          <p:cNvSpPr>
            <a:spLocks noGrp="1"/>
          </p:cNvSpPr>
          <p:nvPr>
            <p:ph type="sldNum" sz="quarter" idx="2"/>
          </p:nvPr>
        </p:nvSpPr>
        <p:spPr/>
        <p:txBody>
          <a:bodyPr/>
          <a:lstStyle/>
          <a:p>
            <a:fld id="{86CB4B4D-7CA3-9044-876B-883B54F8677D}" type="slidenum">
              <a:rPr lang="en-US" altLang="ko-KR" smtClean="0"/>
              <a:t>17</a:t>
            </a:fld>
            <a:r>
              <a:rPr lang="en-US" altLang="ko-KR"/>
              <a:t>/19</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Introduction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r>
              <a:rPr lang="en-US" altLang="ko-KR" sz="5200" b="1" dirty="0">
                <a:latin typeface="AvenirNext-DemiBold"/>
                <a:ea typeface="AvenirNext-DemiBold"/>
                <a:cs typeface="AvenirNext-DemiBold"/>
              </a:rPr>
              <a:t>SOTA Results — Reading the Table Critically</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Their own Fig. 4 answers it (RML2016.10A): FusedFormer alone 57.77 → +Gaussian-only pretraining 62.86 → +physical channels 63.60</a:t>
            </a:r>
          </a:p>
        </p:txBody>
      </p:sp>
      <p:sp>
        <p:nvSpPr>
          <p:cNvPr id="4" name="슬라이드 번호 개체 틀 3">
            <a:extLst>
              <a:ext uri="{FF2B5EF4-FFF2-40B4-BE49-F238E27FC236}">
                <a16:creationId xmlns:a16="http://schemas.microsoft.com/office/drawing/2014/main" id="{5B8A705A-2FE3-1FAC-0A06-A34E620D6823}"/>
              </a:ext>
            </a:extLst>
          </p:cNvPr>
          <p:cNvSpPr>
            <a:spLocks noGrp="1"/>
          </p:cNvSpPr>
          <p:nvPr>
            <p:ph type="sldNum" sz="quarter" idx="2"/>
          </p:nvPr>
        </p:nvSpPr>
        <p:spPr/>
        <p:txBody>
          <a:bodyPr/>
          <a:lstStyle/>
          <a:p>
            <a:fld id="{86CB4B4D-7CA3-9044-876B-883B54F8677D}" type="slidenum">
              <a:rPr lang="en-US" altLang="ko-KR" smtClean="0"/>
              <a:t>18</a:t>
            </a:fld>
            <a:r>
              <a:rPr lang="en-US" altLang="ko-KR"/>
              <a:t>/19</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
        <p:nvSpPr>
          <p:cNvPr id="4" name="슬라이드 번호 개체 틀 3">
            <a:extLst>
              <a:ext uri="{FF2B5EF4-FFF2-40B4-BE49-F238E27FC236}">
                <a16:creationId xmlns:a16="http://schemas.microsoft.com/office/drawing/2014/main" id="{BC19F0B3-412D-4E53-A81D-C3A98994C1E4}"/>
              </a:ext>
            </a:extLst>
          </p:cNvPr>
          <p:cNvSpPr>
            <a:spLocks noGrp="1"/>
          </p:cNvSpPr>
          <p:nvPr>
            <p:ph type="sldNum" sz="quarter" idx="2"/>
          </p:nvPr>
        </p:nvSpPr>
        <p:spPr/>
        <p:txBody>
          <a:bodyPr/>
          <a:lstStyle/>
          <a:p>
            <a:fld id="{86CB4B4D-7CA3-9044-876B-883B54F8677D}" type="slidenum">
              <a:rPr lang="en-US" altLang="ko-KR" smtClean="0"/>
              <a:t>19</a:t>
            </a:fld>
            <a:r>
              <a:rPr lang="en-US" altLang="ko-KR"/>
              <a:t>/19</a:t>
            </a:r>
            <a:endParaRPr lang="ko-KR" altLang="en-US" dirty="0"/>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29240</TotalTime>
  <Words>2435</Words>
  <Application>Microsoft Macintosh PowerPoint</Application>
  <PresentationFormat>사용자 지정</PresentationFormat>
  <Paragraphs>260</Paragraphs>
  <Slides>19</Slides>
  <Notes>19</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19</vt:i4>
      </vt:variant>
    </vt:vector>
  </HeadingPairs>
  <TitlesOfParts>
    <vt:vector size="29"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378</cp:revision>
  <dcterms:modified xsi:type="dcterms:W3CDTF">2026-07-14T04:39:53Z</dcterms:modified>
</cp:coreProperties>
</file>