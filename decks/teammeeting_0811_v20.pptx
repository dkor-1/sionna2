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12"/>
  </p:handoutMasterIdLst>
  <p:sldIdLst>
    <p:sldId id="368" r:id="rId2"/>
    <p:sldId id="369" r:id="rId3"/>
    <p:sldId id="370" r:id="rId4"/>
    <p:sldId id="371" r:id="rId5"/>
    <p:sldId id="372" r:id="rId6"/>
    <p:sldId id="373" r:id="rId7"/>
    <p:sldId id="374" r:id="rId8"/>
    <p:sldId id="375" r:id="rId9"/>
    <p:sldId id="377" r:id="rId17"/>
    <p:sldId id="376"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27"/>
    <p:restoredTop sz="73655" autoAdjust="0"/>
  </p:normalViewPr>
  <p:slideViewPr>
    <p:cSldViewPr snapToGrid="0">
      <p:cViewPr varScale="1">
        <p:scale>
          <a:sx n="81" d="100"/>
          <a:sy n="81" d="100"/>
        </p:scale>
        <p:origin x="369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2026. 8. 11.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I show micro-Doppler maps of a hovering drone, computed two ways: with Sionna's Path Solver, and with our own SBR plus physical optics kernel.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target is a DJI Matrice 4E. Each rotor spins at a fixed speed near 3,800 RPM. That is a calculated value, not a measured one. I solved a thrust balance from the drone's weight and propeller size, using a thrust coefficient that NASA measured for this class of rotor. The four rotors differ slightly from each other, and that spread comes from Ji-hyuk's prior work. These are hand-set constant values, not taken from a real flight. Better rotor modelling is future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Sionna's Path Solver launches rays isotropically from the transmitter, that is, evenly in every direction. When a ray hits a surface it picks up that material's reflection coefficient, and the result comes from the few paths that actually come back.</a:t>
            </a:r>
          </a:p>
          <a:p/>
          <a:p>
            <a:r>
              <a:t>Our kernel does something different. We shoot a grid of parallel rays at the target, take the first point each ray hits, and sum the physical optics scattering integral over those points. For parts we treat as transmissive, the ray passes through, and we add the echo from the metal inside, scaled by how much gets through.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centre frequency is 3.5 GHz, a standard 5G band. For the waveform I used a simple continuous wave. This is an early experiment, and CW is the easiest thing to work with. What I want to see first is the micro-Doppler itself, so I did not need a more complicated waveform yet.</a:t>
            </a:r>
          </a:p>
          <a:p/>
          <a:p>
            <a:r>
              <a:t>For the STFT: window 70 samples, about 3.6 milliseconds; hop 2 samples; FFT size 560.</a:t>
            </a:r>
          </a:p>
          <a:p/>
          <a:p>
            <a:r>
              <a:t>The bottom figure is made in two steps. First I take the energy in the 430 to 1229 Hz band, which is above the body and belongs to the blade tips. Then I ask how that energy rises and falls over time, and take its spectrum.</a:t>
            </a:r>
          </a:p>
          <a:p/>
          <a:p>
            <a:r>
              <a:t>The peak sits at about 127 Hz. That is the blade flash rate: two blades passing per revolution, so twice the rotation rate. Its harmonics show up clearly too.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previous slide was 3 metres only. Here I ran the same thing at 3, 15 and 40 metres.</a:t>
            </a:r>
          </a:p>
          <a:p/>
          <a:p>
            <a:r>
              <a:t>Our kernel gives nearly the same map at every range. The Path Solver does not. At 40 metres its map changes, and I will come back to why.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band energy for each range. One thing stands out in the harmonics. With our PO approach, the peak height gradually decreases as we move to the higher harmonics. With the Path Solver, the second harmonic often comes out almost as high as the first one, and sometimes higher.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At 40 metres I ran the Path Solver again, changing only the random seed. Even with the same drone, the same pose and the same orientation, the seed changes the result. One seed puts the strongest line on the second harmonic instead of the first one.</a:t>
            </a:r>
          </a:p>
          <a:p/>
          <a:p>
            <a:r>
              <a:t>Our PO approach has no randomness. Same pose, same orientation, same answer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my future work, I want to make the simulation more realistic. I have three directions.</a:t>
            </a:r>
          </a:p>
          <a:p/>
          <a:p>
            <a:r>
              <a:t>First, the rotor speeds. Right now each rotor turns at a hard-coded value, and the spread between them comes from a flight simulator, not from a real drone. I want to use real flight log data instead, and also introduce temporal variation, the way a real drone adjusts its rotors while it stays in place.</a:t>
            </a:r>
          </a:p>
          <a:p/>
          <a:p>
            <a:r>
              <a:t>Second, noise. There is no receiver noise in this simulation. That is why nothing became harder when the drone moved further away. The echo does get weaker with distance, but each map is scaled to its own brightest point, so we cannot see that. And with no noise, nothing is ever buried. In the real world, noise is what decides how far we can detect, so I want to add it.</a:t>
            </a:r>
          </a:p>
          <a:p/>
          <a:p>
            <a:r>
              <a:t>Third, the geometry and the environment. Everything today uses one station that sends and receives at the same place, in empty space. Our real experiment is a passive bistatic setup, where the signal comes from someone else's base station, and it happens in a room with walls and a floor. I want to move to that geometry and add clutter modelling.</a:t>
            </a:r>
          </a:p>
          <a:p/>
          <a:p>
            <a:r>
              <a:t>All three will make the results worse, and that is the point. They bring the simulation closer to a real measurement.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last thing. I raised the ray count to the maximum the solver allows. It takes a long time to run, so I only got the result just before this meeting. The background is much cleaner.</a:t>
            </a:r>
          </a:p>
          <a:p/>
          <a:p>
            <a:r>
              <a:t>[if asked] The seed still decides which harmonic comes out strongest.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623728" y="12947676"/>
            <a:ext cx="1061188" cy="641201"/>
          </a:xfrm>
          <a:prstGeom prst="rect">
            <a:avLst/>
          </a:prstGeom>
        </p:spPr>
        <p:txBody>
          <a:bodyPr wrap="none"/>
          <a:lstStyle/>
          <a:p>
            <a:fld id="{86CB4B4D-7CA3-9044-876B-883B54F8677D}" type="slidenum">
              <a:rPr smtClean="0"/>
              <a:t>‹#›</a:t>
            </a:fld>
            <a:r>
              <a:rPr lang="en-US" dirty="0"/>
              <a:t>/9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5105400"/>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TODAY</a:t>
            </a:r>
          </a:p>
        </p:txBody>
      </p:sp>
      <p:sp>
        <p:nvSpPr>
          <p:cNvPr id="3" name="TextBox 2"/>
          <p:cNvSpPr txBox="1"/>
          <p:nvPr/>
        </p:nvSpPr>
        <p:spPr>
          <a:xfrm>
            <a:off x="1463040" y="6312408"/>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Micro-Doppler of a hovering drone</a:t>
            </a:r>
          </a:p>
        </p:txBody>
      </p:sp>
      <p:sp>
        <p:nvSpPr>
          <p:cNvPr id="4" name="TextBox 3"/>
          <p:cNvSpPr txBox="1"/>
          <p:nvPr/>
        </p:nvSpPr>
        <p:spPr>
          <a:xfrm>
            <a:off x="2194560" y="7778496"/>
            <a:ext cx="19994880" cy="832104"/>
          </a:xfrm>
          <a:prstGeom prst="rect">
            <a:avLst/>
          </a:prstGeom>
          <a:noFill/>
        </p:spPr>
        <p:txBody>
          <a:bodyPr wrap="square" lIns="0" tIns="0" rIns="0" bIns="0" anchor="t">
            <a:spAutoFit/>
          </a:bodyPr>
          <a:lstStyle/>
          <a:p>
            <a:pPr algn="ctr"/>
            <a:r>
              <a:rPr sz="4200" b="0" i="0">
                <a:solidFill>
                  <a:srgbClr val="5E5E5E"/>
                </a:solidFill>
                <a:latin typeface="Avenir Next Medium"/>
              </a:rPr>
              <a:t>Sionna PathSolver vs Our SBR + PO</a:t>
            </a:r>
          </a:p>
        </p:txBody>
      </p:sp>
      <p:sp>
        <p:nvSpPr>
          <p:cNvPr id="5" name="슬라이드 번호 개체 틀 4">
            <a:extLst>
              <a:ext uri="{FF2B5EF4-FFF2-40B4-BE49-F238E27FC236}">
                <a16:creationId xmlns:a16="http://schemas.microsoft.com/office/drawing/2014/main" id="{D2518D9F-593B-ABF1-AA83-C05B45C21E61}"/>
              </a:ext>
            </a:extLst>
          </p:cNvPr>
          <p:cNvSpPr>
            <a:spLocks noGrp="1"/>
          </p:cNvSpPr>
          <p:nvPr>
            <p:ph type="sldNum" sz="quarter" idx="2"/>
          </p:nvPr>
        </p:nvSpPr>
        <p:spPr/>
        <p:txBody>
          <a:bodyPr/>
          <a:lstStyle/>
          <a:p>
            <a:fld id="{86CB4B4D-7CA3-9044-876B-883B54F8677D}" type="slidenum">
              <a:rPr lang="en-US" altLang="ko-KR" smtClean="0"/>
              <a:t>2</a:t>
            </a:fld>
            <a:r>
              <a:rPr lang="en-US" altLang="ko-KR"/>
              <a:t>/10</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scenario</a:t>
            </a:r>
          </a:p>
        </p:txBody>
      </p:sp>
      <p:pic>
        <p:nvPicPr>
          <p:cNvPr id="4" name="Picture 3" descr="v18_render.png"/>
          <p:cNvPicPr>
            <a:picLocks noChangeAspect="1"/>
          </p:cNvPicPr>
          <p:nvPr/>
        </p:nvPicPr>
        <p:blipFill>
          <a:blip r:embed="rId3"/>
          <a:stretch>
            <a:fillRect/>
          </a:stretch>
        </p:blipFill>
        <p:spPr>
          <a:xfrm>
            <a:off x="719328" y="2520695"/>
            <a:ext cx="13655040" cy="9387840"/>
          </a:xfrm>
          <a:prstGeom prst="rect">
            <a:avLst/>
          </a:prstGeom>
        </p:spPr>
      </p:pic>
      <p:sp>
        <p:nvSpPr>
          <p:cNvPr id="5" name="TextBox 4"/>
          <p:cNvSpPr txBox="1"/>
          <p:nvPr/>
        </p:nvSpPr>
        <p:spPr>
          <a:xfrm>
            <a:off x="14910816" y="22219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The aircraft</a:t>
            </a:r>
          </a:p>
        </p:txBody>
      </p:sp>
      <p:sp>
        <p:nvSpPr>
          <p:cNvPr id="6" name="TextBox 5"/>
          <p:cNvSpPr txBox="1"/>
          <p:nvPr/>
        </p:nvSpPr>
        <p:spPr>
          <a:xfrm>
            <a:off x="14910816" y="34567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Model</a:t>
            </a:r>
          </a:p>
        </p:txBody>
      </p:sp>
      <p:sp>
        <p:nvSpPr>
          <p:cNvPr id="7" name="TextBox 6"/>
          <p:cNvSpPr txBox="1"/>
          <p:nvPr/>
        </p:nvSpPr>
        <p:spPr>
          <a:xfrm>
            <a:off x="18937590" y="34567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DJI Matrice 4E</a:t>
            </a:r>
          </a:p>
        </p:txBody>
      </p:sp>
      <p:sp>
        <p:nvSpPr>
          <p:cNvPr id="8" name="TextBox 7"/>
          <p:cNvSpPr txBox="1"/>
          <p:nvPr/>
        </p:nvSpPr>
        <p:spPr>
          <a:xfrm>
            <a:off x="14910816" y="45304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Propeller</a:t>
            </a:r>
          </a:p>
        </p:txBody>
      </p:sp>
      <p:sp>
        <p:nvSpPr>
          <p:cNvPr id="9" name="TextBox 8"/>
          <p:cNvSpPr txBox="1"/>
          <p:nvPr/>
        </p:nvSpPr>
        <p:spPr>
          <a:xfrm>
            <a:off x="18937590" y="45304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274 mm, 2 blades</a:t>
            </a:r>
          </a:p>
        </p:txBody>
      </p:sp>
      <p:sp>
        <p:nvSpPr>
          <p:cNvPr id="10" name="TextBox 9"/>
          <p:cNvSpPr txBox="1"/>
          <p:nvPr/>
        </p:nvSpPr>
        <p:spPr>
          <a:xfrm>
            <a:off x="14910816" y="56040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Rotor speeds</a:t>
            </a:r>
          </a:p>
        </p:txBody>
      </p:sp>
      <p:sp>
        <p:nvSpPr>
          <p:cNvPr id="11" name="TextBox 10"/>
          <p:cNvSpPr txBox="1"/>
          <p:nvPr/>
        </p:nvSpPr>
        <p:spPr>
          <a:xfrm>
            <a:off x="14910816" y="68388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1</a:t>
            </a:r>
          </a:p>
        </p:txBody>
      </p:sp>
      <p:sp>
        <p:nvSpPr>
          <p:cNvPr id="12" name="TextBox 11"/>
          <p:cNvSpPr txBox="1"/>
          <p:nvPr/>
        </p:nvSpPr>
        <p:spPr>
          <a:xfrm>
            <a:off x="18937590" y="68388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3808.4 rpm</a:t>
            </a:r>
          </a:p>
        </p:txBody>
      </p:sp>
      <p:sp>
        <p:nvSpPr>
          <p:cNvPr id="13" name="TextBox 12"/>
          <p:cNvSpPr txBox="1"/>
          <p:nvPr/>
        </p:nvSpPr>
        <p:spPr>
          <a:xfrm>
            <a:off x="14910816" y="79125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2</a:t>
            </a:r>
          </a:p>
        </p:txBody>
      </p:sp>
      <p:sp>
        <p:nvSpPr>
          <p:cNvPr id="14" name="TextBox 13"/>
          <p:cNvSpPr txBox="1"/>
          <p:nvPr/>
        </p:nvSpPr>
        <p:spPr>
          <a:xfrm>
            <a:off x="18937590" y="79125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3791.6 rpm</a:t>
            </a:r>
          </a:p>
        </p:txBody>
      </p:sp>
      <p:sp>
        <p:nvSpPr>
          <p:cNvPr id="15" name="TextBox 14"/>
          <p:cNvSpPr txBox="1"/>
          <p:nvPr/>
        </p:nvSpPr>
        <p:spPr>
          <a:xfrm>
            <a:off x="14910816" y="8986192"/>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3</a:t>
            </a:r>
          </a:p>
        </p:txBody>
      </p:sp>
      <p:sp>
        <p:nvSpPr>
          <p:cNvPr id="16" name="TextBox 15"/>
          <p:cNvSpPr txBox="1"/>
          <p:nvPr/>
        </p:nvSpPr>
        <p:spPr>
          <a:xfrm>
            <a:off x="18937590" y="8986192"/>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3795.4 rpm</a:t>
            </a:r>
          </a:p>
        </p:txBody>
      </p:sp>
      <p:sp>
        <p:nvSpPr>
          <p:cNvPr id="17" name="TextBox 16"/>
          <p:cNvSpPr txBox="1"/>
          <p:nvPr/>
        </p:nvSpPr>
        <p:spPr>
          <a:xfrm>
            <a:off x="14910816" y="10059875"/>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4</a:t>
            </a:r>
          </a:p>
        </p:txBody>
      </p:sp>
      <p:sp>
        <p:nvSpPr>
          <p:cNvPr id="18" name="TextBox 17"/>
          <p:cNvSpPr txBox="1"/>
          <p:nvPr/>
        </p:nvSpPr>
        <p:spPr>
          <a:xfrm>
            <a:off x="18937590" y="10059875"/>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3804.6 rpm</a:t>
            </a:r>
          </a:p>
        </p:txBody>
      </p:sp>
      <p:sp>
        <p:nvSpPr>
          <p:cNvPr id="19" name="TextBox 18"/>
          <p:cNvSpPr txBox="1"/>
          <p:nvPr/>
        </p:nvSpPr>
        <p:spPr>
          <a:xfrm>
            <a:off x="14910816" y="1113355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Spread</a:t>
            </a:r>
          </a:p>
        </p:txBody>
      </p:sp>
      <p:sp>
        <p:nvSpPr>
          <p:cNvPr id="20" name="TextBox 19"/>
          <p:cNvSpPr txBox="1"/>
          <p:nvPr/>
        </p:nvSpPr>
        <p:spPr>
          <a:xfrm>
            <a:off x="18937590" y="1113355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0.22 %, from Jihyuck prior work</a:t>
            </a:r>
          </a:p>
        </p:txBody>
      </p:sp>
      <p:sp>
        <p:nvSpPr>
          <p:cNvPr id="21" name="슬라이드 번호 개체 틀 20">
            <a:extLst>
              <a:ext uri="{FF2B5EF4-FFF2-40B4-BE49-F238E27FC236}">
                <a16:creationId xmlns:a16="http://schemas.microsoft.com/office/drawing/2014/main" id="{90A93C02-9246-1B6D-053A-362DE593B6A1}"/>
              </a:ext>
            </a:extLst>
          </p:cNvPr>
          <p:cNvSpPr>
            <a:spLocks noGrp="1"/>
          </p:cNvSpPr>
          <p:nvPr>
            <p:ph type="sldNum" sz="quarter" idx="2"/>
          </p:nvPr>
        </p:nvSpPr>
        <p:spPr/>
        <p:txBody>
          <a:bodyPr/>
          <a:lstStyle/>
          <a:p>
            <a:fld id="{86CB4B4D-7CA3-9044-876B-883B54F8677D}" type="slidenum">
              <a:rPr lang="en-US" altLang="ko-KR" smtClean="0"/>
              <a:t>3</a:t>
            </a:fld>
            <a:r>
              <a:rPr lang="en-US" altLang="ko-KR"/>
              <a:t>/10</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How each engine lights the target</a:t>
            </a:r>
          </a:p>
        </p:txBody>
      </p:sp>
      <p:pic>
        <p:nvPicPr>
          <p:cNvPr id="4" name="Picture 3" descr="v18_concept.png"/>
          <p:cNvPicPr>
            <a:picLocks noChangeAspect="1"/>
          </p:cNvPicPr>
          <p:nvPr/>
        </p:nvPicPr>
        <p:blipFill>
          <a:blip r:embed="rId3"/>
          <a:stretch>
            <a:fillRect/>
          </a:stretch>
        </p:blipFill>
        <p:spPr>
          <a:xfrm>
            <a:off x="978802" y="2221992"/>
            <a:ext cx="22426394" cy="9985248"/>
          </a:xfrm>
          <a:prstGeom prst="rect">
            <a:avLst/>
          </a:prstGeom>
        </p:spPr>
      </p:pic>
      <p:sp>
        <p:nvSpPr>
          <p:cNvPr id="5" name="슬라이드 번호 개체 틀 4">
            <a:extLst>
              <a:ext uri="{FF2B5EF4-FFF2-40B4-BE49-F238E27FC236}">
                <a16:creationId xmlns:a16="http://schemas.microsoft.com/office/drawing/2014/main" id="{1501C3EC-E761-581F-DCE7-10B098978565}"/>
              </a:ext>
            </a:extLst>
          </p:cNvPr>
          <p:cNvSpPr>
            <a:spLocks noGrp="1"/>
          </p:cNvSpPr>
          <p:nvPr>
            <p:ph type="sldNum" sz="quarter" idx="2"/>
          </p:nvPr>
        </p:nvSpPr>
        <p:spPr/>
        <p:txBody>
          <a:bodyPr/>
          <a:lstStyle/>
          <a:p>
            <a:fld id="{86CB4B4D-7CA3-9044-876B-883B54F8677D}" type="slidenum">
              <a:rPr lang="en-US" altLang="ko-KR" smtClean="0"/>
              <a:t>4</a:t>
            </a:fld>
            <a:r>
              <a:rPr lang="en-US" altLang="ko-KR"/>
              <a:t>/10</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D007FACB-A1CC-09CD-04BE-DB3675F9D812}"/>
              </a:ext>
            </a:extLst>
          </p:cNvPr>
          <p:cNvPicPr>
            <a:picLocks noChangeAspect="1"/>
          </p:cNvPicPr>
          <p:nvPr/>
        </p:nvPicPr>
        <p:blipFill>
          <a:blip r:embed="rId3"/>
          <a:srcRect l="5239" t="21261" r="45471" b="10771"/>
          <a:stretch>
            <a:fillRect/>
          </a:stretch>
        </p:blipFill>
        <p:spPr>
          <a:xfrm>
            <a:off x="11825361" y="125402"/>
            <a:ext cx="6479628" cy="3779123"/>
          </a:xfrm>
          <a:prstGeom prst="rect">
            <a:avLst/>
          </a:prstGeom>
        </p:spPr>
      </p:pic>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7498248" cy="825611"/>
          </a:xfrm>
          <a:prstGeom prst="rect">
            <a:avLst/>
          </a:prstGeom>
          <a:noFill/>
        </p:spPr>
        <p:txBody>
          <a:bodyPr wrap="square" lIns="0" tIns="0" rIns="0" bIns="0" anchor="t">
            <a:spAutoFit/>
          </a:bodyPr>
          <a:lstStyle/>
          <a:p>
            <a:pPr algn="l"/>
            <a:r>
              <a:rPr sz="5800" b="1" i="0" dirty="0">
                <a:solidFill>
                  <a:srgbClr val="000000"/>
                </a:solidFill>
                <a:latin typeface="AvenirNext-DemiBold"/>
              </a:rPr>
              <a:t>Three </a:t>
            </a:r>
            <a:r>
              <a:rPr sz="5800" b="1" i="0" dirty="0" err="1">
                <a:solidFill>
                  <a:srgbClr val="000000"/>
                </a:solidFill>
                <a:latin typeface="AvenirNext-DemiBold"/>
              </a:rPr>
              <a:t>metres</a:t>
            </a:r>
            <a:endParaRPr sz="5800" b="1" i="0" dirty="0">
              <a:solidFill>
                <a:srgbClr val="000000"/>
              </a:solidFill>
              <a:latin typeface="AvenirNext-DemiBold"/>
            </a:endParaRPr>
          </a:p>
        </p:txBody>
      </p:sp>
      <p:pic>
        <p:nvPicPr>
          <p:cNvPr id="4" name="Picture 3" descr="v18_r1.png"/>
          <p:cNvPicPr>
            <a:picLocks noChangeAspect="1"/>
          </p:cNvPicPr>
          <p:nvPr/>
        </p:nvPicPr>
        <p:blipFill>
          <a:blip r:embed="rId4"/>
          <a:srcRect b="12804"/>
          <a:stretch>
            <a:fillRect/>
          </a:stretch>
        </p:blipFill>
        <p:spPr>
          <a:xfrm>
            <a:off x="268068" y="3719095"/>
            <a:ext cx="16053279" cy="7351954"/>
          </a:xfrm>
          <a:prstGeom prst="rect">
            <a:avLst/>
          </a:prstGeom>
        </p:spPr>
      </p:pic>
      <p:sp>
        <p:nvSpPr>
          <p:cNvPr id="5" name="TextBox 4"/>
          <p:cNvSpPr txBox="1"/>
          <p:nvPr/>
        </p:nvSpPr>
        <p:spPr>
          <a:xfrm>
            <a:off x="18110947" y="3914844"/>
            <a:ext cx="3673693" cy="512448"/>
          </a:xfrm>
          <a:prstGeom prst="rect">
            <a:avLst/>
          </a:prstGeom>
          <a:noFill/>
        </p:spPr>
        <p:txBody>
          <a:bodyPr wrap="square" lIns="0" tIns="0" rIns="0" bIns="0" anchor="t">
            <a:spAutoFit/>
          </a:bodyPr>
          <a:lstStyle/>
          <a:p>
            <a:pPr algn="ctr"/>
            <a:r>
              <a:rPr sz="3600" b="1" i="0" dirty="0">
                <a:solidFill>
                  <a:srgbClr val="2E74B5"/>
                </a:solidFill>
                <a:latin typeface="AvenirNext-DemiBold"/>
              </a:rPr>
              <a:t>STFT</a:t>
            </a:r>
            <a:r>
              <a:rPr lang="en-US" sz="3600" b="1" dirty="0">
                <a:solidFill>
                  <a:srgbClr val="2E74B5"/>
                </a:solidFill>
                <a:latin typeface="AvenirNext-DemiBold"/>
              </a:rPr>
              <a:t> Parameters</a:t>
            </a:r>
            <a:endParaRPr sz="3600" b="1" i="0" dirty="0">
              <a:solidFill>
                <a:srgbClr val="2E74B5"/>
              </a:solidFill>
              <a:latin typeface="AvenirNext-DemiBold"/>
            </a:endParaRPr>
          </a:p>
        </p:txBody>
      </p:sp>
      <p:sp>
        <p:nvSpPr>
          <p:cNvPr id="6" name="TextBox 5"/>
          <p:cNvSpPr txBox="1"/>
          <p:nvPr/>
        </p:nvSpPr>
        <p:spPr>
          <a:xfrm>
            <a:off x="16861536" y="4988988"/>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Window</a:t>
            </a:r>
          </a:p>
        </p:txBody>
      </p:sp>
      <p:sp>
        <p:nvSpPr>
          <p:cNvPr id="7" name="TextBox 6"/>
          <p:cNvSpPr txBox="1"/>
          <p:nvPr/>
        </p:nvSpPr>
        <p:spPr>
          <a:xfrm>
            <a:off x="19990979" y="4988988"/>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Hann, 70 samples</a:t>
            </a:r>
          </a:p>
        </p:txBody>
      </p:sp>
      <p:sp>
        <p:nvSpPr>
          <p:cNvPr id="8" name="TextBox 7"/>
          <p:cNvSpPr txBox="1"/>
          <p:nvPr/>
        </p:nvSpPr>
        <p:spPr>
          <a:xfrm>
            <a:off x="16861536" y="7395072"/>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Hop size</a:t>
            </a:r>
          </a:p>
        </p:txBody>
      </p:sp>
      <p:sp>
        <p:nvSpPr>
          <p:cNvPr id="9" name="TextBox 8"/>
          <p:cNvSpPr txBox="1"/>
          <p:nvPr/>
        </p:nvSpPr>
        <p:spPr>
          <a:xfrm>
            <a:off x="19990979" y="7395072"/>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2 samples</a:t>
            </a:r>
          </a:p>
        </p:txBody>
      </p:sp>
      <p:sp>
        <p:nvSpPr>
          <p:cNvPr id="10" name="TextBox 9"/>
          <p:cNvSpPr txBox="1"/>
          <p:nvPr/>
        </p:nvSpPr>
        <p:spPr>
          <a:xfrm>
            <a:off x="16861536" y="9801156"/>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FFT size</a:t>
            </a:r>
          </a:p>
        </p:txBody>
      </p:sp>
      <p:sp>
        <p:nvSpPr>
          <p:cNvPr id="11" name="TextBox 10"/>
          <p:cNvSpPr txBox="1"/>
          <p:nvPr/>
        </p:nvSpPr>
        <p:spPr>
          <a:xfrm>
            <a:off x="19990979" y="9801156"/>
            <a:ext cx="3673693" cy="455509"/>
          </a:xfrm>
          <a:prstGeom prst="rect">
            <a:avLst/>
          </a:prstGeom>
          <a:noFill/>
        </p:spPr>
        <p:txBody>
          <a:bodyPr wrap="square" lIns="0" tIns="0" rIns="0" bIns="0" anchor="t">
            <a:spAutoFit/>
          </a:bodyPr>
          <a:lstStyle/>
          <a:p>
            <a:pPr algn="l"/>
            <a:r>
              <a:rPr sz="3200" b="1" i="0">
                <a:solidFill>
                  <a:srgbClr val="000000"/>
                </a:solidFill>
                <a:latin typeface="Avenir Next Medium"/>
              </a:rPr>
              <a:t>560 points</a:t>
            </a:r>
          </a:p>
        </p:txBody>
      </p:sp>
      <p:sp>
        <p:nvSpPr>
          <p:cNvPr id="12" name="TextBox 11">
            <a:extLst>
              <a:ext uri="{FF2B5EF4-FFF2-40B4-BE49-F238E27FC236}">
                <a16:creationId xmlns:a16="http://schemas.microsoft.com/office/drawing/2014/main" id="{322CC093-C333-5308-E48A-2E40D686813D}"/>
              </a:ext>
            </a:extLst>
          </p:cNvPr>
          <p:cNvSpPr txBox="1"/>
          <p:nvPr/>
        </p:nvSpPr>
        <p:spPr>
          <a:xfrm>
            <a:off x="19990978" y="5550684"/>
            <a:ext cx="3673693" cy="455509"/>
          </a:xfrm>
          <a:prstGeom prst="rect">
            <a:avLst/>
          </a:prstGeom>
          <a:noFill/>
        </p:spPr>
        <p:txBody>
          <a:bodyPr wrap="square" lIns="0" tIns="0" rIns="0" bIns="0" anchor="t">
            <a:spAutoFit/>
          </a:bodyPr>
          <a:lstStyle/>
          <a:p>
            <a:pPr algn="l"/>
            <a:r>
              <a:rPr lang="en-US" altLang="ko-KR" sz="3200" b="1" i="0" dirty="0">
                <a:solidFill>
                  <a:srgbClr val="000000"/>
                </a:solidFill>
                <a:latin typeface="Avenir Next Medium"/>
              </a:rPr>
              <a:t>3.553 </a:t>
            </a:r>
            <a:r>
              <a:rPr lang="en-US" altLang="ko-KR" sz="3200" b="1" i="0" dirty="0" err="1">
                <a:solidFill>
                  <a:srgbClr val="000000"/>
                </a:solidFill>
                <a:latin typeface="Avenir Next Medium"/>
              </a:rPr>
              <a:t>ms</a:t>
            </a:r>
            <a:endParaRPr sz="3200" b="1" i="0" dirty="0">
              <a:solidFill>
                <a:srgbClr val="000000"/>
              </a:solidFill>
              <a:latin typeface="Avenir Next Medium"/>
            </a:endParaRPr>
          </a:p>
        </p:txBody>
      </p:sp>
      <p:sp>
        <p:nvSpPr>
          <p:cNvPr id="13" name="TextBox 12">
            <a:extLst>
              <a:ext uri="{FF2B5EF4-FFF2-40B4-BE49-F238E27FC236}">
                <a16:creationId xmlns:a16="http://schemas.microsoft.com/office/drawing/2014/main" id="{CFF5A301-0634-55B9-8BE1-529D3C41CF19}"/>
              </a:ext>
            </a:extLst>
          </p:cNvPr>
          <p:cNvSpPr txBox="1"/>
          <p:nvPr/>
        </p:nvSpPr>
        <p:spPr>
          <a:xfrm>
            <a:off x="20005610" y="7956768"/>
            <a:ext cx="3673693" cy="455509"/>
          </a:xfrm>
          <a:prstGeom prst="rect">
            <a:avLst/>
          </a:prstGeom>
          <a:noFill/>
        </p:spPr>
        <p:txBody>
          <a:bodyPr wrap="square" lIns="0" tIns="0" rIns="0" bIns="0" anchor="t">
            <a:spAutoFit/>
          </a:bodyPr>
          <a:lstStyle/>
          <a:p>
            <a:pPr algn="l"/>
            <a:r>
              <a:rPr lang="en-US" sz="3200" b="1" i="0" dirty="0">
                <a:solidFill>
                  <a:srgbClr val="000000"/>
                </a:solidFill>
                <a:latin typeface="Avenir Next Medium"/>
              </a:rPr>
              <a:t>0.101 </a:t>
            </a:r>
            <a:r>
              <a:rPr lang="en-US" sz="3200" b="1" i="0" dirty="0" err="1">
                <a:solidFill>
                  <a:srgbClr val="000000"/>
                </a:solidFill>
                <a:latin typeface="Avenir Next Medium"/>
              </a:rPr>
              <a:t>ms</a:t>
            </a:r>
            <a:endParaRPr sz="3200" b="1" i="0" dirty="0">
              <a:solidFill>
                <a:srgbClr val="000000"/>
              </a:solidFill>
              <a:latin typeface="Avenir Next Medium"/>
            </a:endParaRPr>
          </a:p>
        </p:txBody>
      </p:sp>
      <p:sp>
        <p:nvSpPr>
          <p:cNvPr id="14" name="TextBox 13">
            <a:extLst>
              <a:ext uri="{FF2B5EF4-FFF2-40B4-BE49-F238E27FC236}">
                <a16:creationId xmlns:a16="http://schemas.microsoft.com/office/drawing/2014/main" id="{A6F6515D-E3A4-EA3B-D2DE-5CA060A37D43}"/>
              </a:ext>
            </a:extLst>
          </p:cNvPr>
          <p:cNvSpPr txBox="1"/>
          <p:nvPr/>
        </p:nvSpPr>
        <p:spPr>
          <a:xfrm>
            <a:off x="910767" y="2019457"/>
            <a:ext cx="15410580" cy="512448"/>
          </a:xfrm>
          <a:prstGeom prst="rect">
            <a:avLst/>
          </a:prstGeom>
          <a:noFill/>
        </p:spPr>
        <p:txBody>
          <a:bodyPr wrap="square" lIns="0" tIns="0" rIns="0" bIns="0" anchor="t">
            <a:spAutoFit/>
          </a:bodyPr>
          <a:lstStyle/>
          <a:p>
            <a:r>
              <a:rPr lang="en-US" altLang="ko-KR" sz="3600" b="1" i="0" dirty="0">
                <a:solidFill>
                  <a:srgbClr val="2E74B5"/>
                </a:solidFill>
                <a:latin typeface="AvenirNext-DemiBold"/>
              </a:rPr>
              <a:t>3.5 GHz CW S</a:t>
            </a:r>
            <a:r>
              <a:rPr lang="en-US" altLang="ko-KR" sz="3600" b="1" dirty="0">
                <a:solidFill>
                  <a:srgbClr val="2E74B5"/>
                </a:solidFill>
                <a:latin typeface="AvenirNext-DemiBold"/>
              </a:rPr>
              <a:t>c</a:t>
            </a:r>
            <a:r>
              <a:rPr lang="en-US" altLang="ko-KR" sz="3600" b="1" i="0" dirty="0">
                <a:solidFill>
                  <a:srgbClr val="2E74B5"/>
                </a:solidFill>
                <a:latin typeface="AvenirNext-DemiBold"/>
              </a:rPr>
              <a:t>enario</a:t>
            </a:r>
            <a:endParaRPr sz="3600" b="1" i="0" dirty="0">
              <a:solidFill>
                <a:srgbClr val="2E74B5"/>
              </a:solidFill>
              <a:latin typeface="AvenirNext-DemiBold"/>
            </a:endParaRPr>
          </a:p>
        </p:txBody>
      </p:sp>
      <p:pic>
        <p:nvPicPr>
          <p:cNvPr id="18" name="그림 17">
            <a:extLst>
              <a:ext uri="{FF2B5EF4-FFF2-40B4-BE49-F238E27FC236}">
                <a16:creationId xmlns:a16="http://schemas.microsoft.com/office/drawing/2014/main" id="{6D61C216-432E-3AB1-3382-F3652798DB5F}"/>
              </a:ext>
            </a:extLst>
          </p:cNvPr>
          <p:cNvPicPr>
            <a:picLocks noChangeAspect="1"/>
          </p:cNvPicPr>
          <p:nvPr/>
        </p:nvPicPr>
        <p:blipFill>
          <a:blip r:embed="rId5"/>
          <a:stretch>
            <a:fillRect/>
          </a:stretch>
        </p:blipFill>
        <p:spPr>
          <a:xfrm>
            <a:off x="1557153" y="11492384"/>
            <a:ext cx="7772400" cy="765855"/>
          </a:xfrm>
          <a:prstGeom prst="rect">
            <a:avLst/>
          </a:prstGeom>
        </p:spPr>
      </p:pic>
      <p:sp>
        <p:nvSpPr>
          <p:cNvPr id="20" name="슬라이드 번호 개체 틀 19">
            <a:extLst>
              <a:ext uri="{FF2B5EF4-FFF2-40B4-BE49-F238E27FC236}">
                <a16:creationId xmlns:a16="http://schemas.microsoft.com/office/drawing/2014/main" id="{F8326F6B-B6E0-46E3-C53E-52FF2AFDBF0C}"/>
              </a:ext>
            </a:extLst>
          </p:cNvPr>
          <p:cNvSpPr>
            <a:spLocks noGrp="1"/>
          </p:cNvSpPr>
          <p:nvPr>
            <p:ph type="sldNum" sz="quarter" idx="2"/>
          </p:nvPr>
        </p:nvSpPr>
        <p:spPr/>
        <p:txBody>
          <a:bodyPr/>
          <a:lstStyle/>
          <a:p>
            <a:fld id="{86CB4B4D-7CA3-9044-876B-883B54F8677D}" type="slidenum">
              <a:rPr lang="en-US" altLang="ko-KR" smtClean="0"/>
              <a:t>5</a:t>
            </a:fld>
            <a:r>
              <a:rPr lang="en-US" altLang="ko-KR"/>
              <a:t>/10</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RANGE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Three ranges</a:t>
            </a:r>
          </a:p>
        </p:txBody>
      </p:sp>
      <p:pic>
        <p:nvPicPr>
          <p:cNvPr id="4" name="Picture 3" descr="v18_maps.png"/>
          <p:cNvPicPr>
            <a:picLocks noChangeAspect="1"/>
          </p:cNvPicPr>
          <p:nvPr/>
        </p:nvPicPr>
        <p:blipFill>
          <a:blip r:embed="rId3"/>
          <a:stretch>
            <a:fillRect/>
          </a:stretch>
        </p:blipFill>
        <p:spPr>
          <a:xfrm>
            <a:off x="4317936" y="2221992"/>
            <a:ext cx="15748126" cy="9985248"/>
          </a:xfrm>
          <a:prstGeom prst="rect">
            <a:avLst/>
          </a:prstGeom>
        </p:spPr>
      </p:pic>
      <p:sp>
        <p:nvSpPr>
          <p:cNvPr id="5" name="슬라이드 번호 개체 틀 4">
            <a:extLst>
              <a:ext uri="{FF2B5EF4-FFF2-40B4-BE49-F238E27FC236}">
                <a16:creationId xmlns:a16="http://schemas.microsoft.com/office/drawing/2014/main" id="{E08C058F-A2B3-15B1-1561-11DA82EF429D}"/>
              </a:ext>
            </a:extLst>
          </p:cNvPr>
          <p:cNvSpPr>
            <a:spLocks noGrp="1"/>
          </p:cNvSpPr>
          <p:nvPr>
            <p:ph type="sldNum" sz="quarter" idx="2"/>
          </p:nvPr>
        </p:nvSpPr>
        <p:spPr/>
        <p:txBody>
          <a:bodyPr/>
          <a:lstStyle/>
          <a:p>
            <a:fld id="{86CB4B4D-7CA3-9044-876B-883B54F8677D}" type="slidenum">
              <a:rPr lang="en-US" altLang="ko-KR" smtClean="0"/>
              <a:t>6</a:t>
            </a:fld>
            <a:r>
              <a:rPr lang="en-US" altLang="ko-KR"/>
              <a:t>/10</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BAND ENERGY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Blade tip band energy</a:t>
            </a:r>
          </a:p>
        </p:txBody>
      </p:sp>
      <p:pic>
        <p:nvPicPr>
          <p:cNvPr id="4" name="Picture 3" descr="v18_band.png"/>
          <p:cNvPicPr>
            <a:picLocks noChangeAspect="1"/>
          </p:cNvPicPr>
          <p:nvPr/>
        </p:nvPicPr>
        <p:blipFill>
          <a:blip r:embed="rId3"/>
          <a:stretch>
            <a:fillRect/>
          </a:stretch>
        </p:blipFill>
        <p:spPr>
          <a:xfrm>
            <a:off x="719328" y="3494182"/>
            <a:ext cx="22945344" cy="6480746"/>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Both engines put the first line where kinematics says it should be.</a:t>
            </a:r>
          </a:p>
        </p:txBody>
      </p:sp>
      <p:sp>
        <p:nvSpPr>
          <p:cNvPr id="8" name="슬라이드 번호 개체 틀 7">
            <a:extLst>
              <a:ext uri="{FF2B5EF4-FFF2-40B4-BE49-F238E27FC236}">
                <a16:creationId xmlns:a16="http://schemas.microsoft.com/office/drawing/2014/main" id="{FF0F83AD-7162-74B5-C8FD-E1D42E868E6A}"/>
              </a:ext>
            </a:extLst>
          </p:cNvPr>
          <p:cNvSpPr>
            <a:spLocks noGrp="1"/>
          </p:cNvSpPr>
          <p:nvPr>
            <p:ph type="sldNum" sz="quarter" idx="2"/>
          </p:nvPr>
        </p:nvSpPr>
        <p:spPr/>
        <p:txBody>
          <a:bodyPr/>
          <a:lstStyle/>
          <a:p>
            <a:fld id="{86CB4B4D-7CA3-9044-876B-883B54F8677D}" type="slidenum">
              <a:rPr lang="en-US" altLang="ko-KR" smtClean="0"/>
              <a:t>7</a:t>
            </a:fld>
            <a:r>
              <a:rPr lang="en-US" altLang="ko-KR"/>
              <a:t>/10</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TWICE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Forty metres, repeated runs</a:t>
            </a:r>
          </a:p>
        </p:txBody>
      </p:sp>
      <p:pic>
        <p:nvPicPr>
          <p:cNvPr id="4" name="Picture 3" descr="v18_seed40.png"/>
          <p:cNvPicPr>
            <a:picLocks noChangeAspect="1"/>
          </p:cNvPicPr>
          <p:nvPr/>
        </p:nvPicPr>
        <p:blipFill>
          <a:blip r:embed="rId3"/>
          <a:stretch>
            <a:fillRect/>
          </a:stretch>
        </p:blipFill>
        <p:spPr>
          <a:xfrm>
            <a:off x="719328" y="3829139"/>
            <a:ext cx="22945344" cy="5810833"/>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Only the random start differs between these runs.</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/10</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Three pieces are missing, and each one takes the model </a:t>
            </a:r>
            <a:r>
              <a:rPr sz="3700" b="1" i="0">
                <a:solidFill>
                  <a:srgbClr val="E22146"/>
                </a:solidFill>
                <a:latin typeface="AvenirNext-DemiBold"/>
              </a:rPr>
              <a:t>closer to reality</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TextBox 5"/>
          <p:cNvSpPr txBox="1"/>
          <p:nvPr/>
        </p:nvSpPr>
        <p:spPr>
          <a:xfrm>
            <a:off x="1255776" y="3145841"/>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Let each rotor wander in speed the way a real one does while holding station</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8" name="TextBox 7"/>
          <p:cNvSpPr txBox="1"/>
          <p:nvPr/>
        </p:nvSpPr>
        <p:spPr>
          <a:xfrm>
            <a:off x="1255776" y="5910275"/>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Add receiver noise, so that distance finally costs something in the picture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TextBox 9"/>
          <p:cNvSpPr txBox="1"/>
          <p:nvPr/>
        </p:nvSpPr>
        <p:spPr>
          <a:xfrm>
            <a:off x="1255776" y="9644580"/>
            <a:ext cx="22213824" cy="468077"/>
          </a:xfrm>
          <a:prstGeom prst="rect">
            <a:avLst/>
          </a:prstGeom>
          <a:noFill/>
        </p:spPr>
        <p:txBody>
          <a:bodyPr wrap="square" lIns="0" tIns="0" rIns="0" bIns="0" anchor="ctr">
            <a:spAutoFit/>
          </a:bodyPr>
          <a:lstStyle/>
          <a:p>
            <a:pPr algn="l"/>
            <a:r>
              <a:rPr sz="3300" b="0" i="0" dirty="0">
                <a:solidFill>
                  <a:srgbClr val="000000"/>
                </a:solidFill>
                <a:latin typeface="Avenir Next Medium"/>
              </a:rPr>
              <a:t>Move to the </a:t>
            </a:r>
            <a:r>
              <a:rPr lang="en-US" sz="3300" dirty="0"/>
              <a:t>bistatic or</a:t>
            </a:r>
            <a:r>
              <a:rPr sz="3300" b="0" i="0" dirty="0">
                <a:solidFill>
                  <a:srgbClr val="000000"/>
                </a:solidFill>
                <a:latin typeface="Avenir Next Medium"/>
              </a:rPr>
              <a:t> put clutter into the </a:t>
            </a:r>
            <a:r>
              <a:rPr lang="en-US" sz="3300" b="0" i="0" dirty="0" err="1">
                <a:solidFill>
                  <a:srgbClr val="000000"/>
                </a:solidFill>
                <a:latin typeface="Avenir Next Medium"/>
              </a:rPr>
              <a:t>enviornment</a:t>
            </a:r>
            <a:endParaRPr sz="3300" b="0" i="0" dirty="0">
              <a:solidFill>
                <a:srgbClr val="000000"/>
              </a:solidFill>
              <a:latin typeface="Avenir Next Medium"/>
            </a:endParaRP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3" name="TextBox 12"/>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Each step brings the simulation closer to a real measurement.</a:t>
            </a:r>
          </a:p>
        </p:txBody>
      </p:sp>
      <p:sp>
        <p:nvSpPr>
          <p:cNvPr id="14" name="슬라이드 번호 개체 틀 13">
            <a:extLst>
              <a:ext uri="{FF2B5EF4-FFF2-40B4-BE49-F238E27FC236}">
                <a16:creationId xmlns:a16="http://schemas.microsoft.com/office/drawing/2014/main" id="{4B06A388-2ED7-12CF-C561-09463663913A}"/>
              </a:ext>
            </a:extLst>
          </p:cNvPr>
          <p:cNvSpPr>
            <a:spLocks noGrp="1"/>
          </p:cNvSpPr>
          <p:nvPr>
            <p:ph type="sldNum" sz="quarter" idx="2"/>
          </p:nvPr>
        </p:nvSpPr>
        <p:spPr/>
        <p:txBody>
          <a:bodyPr/>
          <a:lstStyle/>
          <a:p>
            <a:fld id="{86CB4B4D-7CA3-9044-876B-883B54F8677D}" type="slidenum">
              <a:rPr lang="en-US" altLang="ko-KR" smtClean="0"/>
              <a:t>9</a:t>
            </a:fld>
            <a:r>
              <a:rPr lang="en-US" altLang="ko-KR"/>
              <a:t>/10</a:t>
            </a:r>
            <a:endParaRPr lang="ko-KR" alt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RAY BUDGET</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More rays, cleaner background</a:t>
            </a:r>
          </a:p>
        </p:txBody>
      </p:sp>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Pushing the ray budget to its maximum cleaned up the background.</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/10</a:t>
            </a:r>
            <a:endParaRPr lang="ko-KR" altLang="en-US" dirty="0"/>
          </a:p>
        </p:txBody>
      </p:sp>
      <p:pic>
        <p:nvPicPr>
          <p:cNvPr id="9" name="Picture 8" descr="raybudget_40m_deck.png"/>
          <p:cNvPicPr>
            <a:picLocks noChangeAspect="1"/>
          </p:cNvPicPr>
          <p:nvPr/>
        </p:nvPicPr>
        <p:blipFill>
          <a:blip r:embed="rId2"/>
          <a:stretch>
            <a:fillRect/>
          </a:stretch>
        </p:blipFill>
        <p:spPr>
          <a:xfrm>
            <a:off x="719328" y="3881930"/>
            <a:ext cx="22945344" cy="5705251"/>
          </a:xfrm>
          <a:prstGeom prst="rect">
            <a:avLst/>
          </a:prstGeom>
        </p:spPr>
      </p:pic>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29510</TotalTime>
  <Words>1146</Words>
  <Application>Microsoft Macintosh PowerPoint</Application>
  <PresentationFormat>사용자 지정</PresentationFormat>
  <Paragraphs>103</Paragraphs>
  <Slides>9</Slides>
  <Notes>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9</vt:i4>
      </vt:variant>
    </vt:vector>
  </HeadingPairs>
  <TitlesOfParts>
    <vt:vector size="1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399</cp:revision>
  <dcterms:modified xsi:type="dcterms:W3CDTF">2026-08-11T00:25:36Z</dcterms:modified>
</cp:coreProperties>
</file>