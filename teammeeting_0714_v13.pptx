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23"/>
  </p:notesMasterIdLst>
  <p:handoutMasterIdLst>
    <p:handoutMasterId r:id="rId24"/>
  </p:handoutMasterIdLst>
  <p:sldIdLst>
    <p:sldId id="368" r:id="rId2"/>
    <p:sldId id="996" r:id="rId3"/>
    <p:sldId id="997" r:id="rId4"/>
    <p:sldId id="998" r:id="rId5"/>
    <p:sldId id="999" r:id="rId6"/>
    <p:sldId id="1000" r:id="rId7"/>
    <p:sldId id="1001" r:id="rId8"/>
    <p:sldId id="1002" r:id="rId9"/>
    <p:sldId id="1016" r:id="rId10"/>
    <p:sldId id="1017" r:id="rId11"/>
    <p:sldId id="1007" r:id="rId14"/>
    <p:sldId id="1008" r:id="rId15"/>
    <p:sldId id="1010" r:id="rId16"/>
    <p:sldId id="1011" r:id="rId17"/>
    <p:sldId id="1012" r:id="rId18"/>
    <p:sldId id="1013" r:id="rId19"/>
    <p:sldId id="1014" r:id="rId20"/>
    <p:sldId id="1015" r:id="rId21"/>
    <p:sldId id="1018" r:id="rId22"/>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1pPr>
    <a:lvl2pPr marL="0" marR="0" indent="4572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2pPr>
    <a:lvl3pPr marL="0" marR="0" indent="9144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3pPr>
    <a:lvl4pPr marL="0" marR="0" indent="13716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4pPr>
    <a:lvl5pPr marL="0" marR="0" indent="18288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5pPr>
    <a:lvl6pPr marL="0" marR="0" indent="22860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6pPr>
    <a:lvl7pPr marL="0" marR="0" indent="27432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7pPr>
    <a:lvl8pPr marL="0" marR="0" indent="32004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8pPr>
    <a:lvl9pPr marL="0" marR="0" indent="36576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D3DA"/>
    <a:srgbClr val="FFFFFF"/>
    <a:srgbClr val="F2F2F2"/>
    <a:srgbClr val="00B0F0"/>
    <a:srgbClr val="4285F5"/>
    <a:srgbClr val="F7FAF7"/>
    <a:srgbClr val="434DD6"/>
    <a:srgbClr val="629AF7"/>
    <a:srgbClr val="8E8A8A"/>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hueOff val="-217956"/>
              <a:satOff val="14368"/>
              <a:lumOff val="17764"/>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CEEEE"/>
          </a:solidFill>
        </a:fill>
      </a:tcStyle>
    </a:band2H>
    <a:firstCol>
      <a:tcTxStyle b="on" i="off">
        <a:font>
          <a:latin typeface="AvenirNext-DemiBold"/>
          <a:ea typeface="AvenirNext-DemiBold"/>
          <a:cs typeface="AvenirNext-DemiBold"/>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chemeClr val="accent3">
              <a:hueOff val="571091"/>
              <a:satOff val="15926"/>
              <a:lumOff val="22314"/>
            </a:schemeClr>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45B43B"/>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45B43B"/>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9036"/>
              <a:lumOff val="17111"/>
            </a:schemeClr>
          </a:solidFill>
        </a:fill>
      </a:tcStyle>
    </a:band2H>
    <a:firstCol>
      <a:tcTxStyle b="on" i="off">
        <a:font>
          <a:latin typeface="AvenirNext-DemiBold"/>
          <a:ea typeface="AvenirNext-DemiBold"/>
          <a:cs typeface="AvenirNext-D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BD17"/>
          </a:solidFill>
        </a:fill>
      </a:tcStyle>
    </a:firstCol>
    <a:lastRow>
      <a:tcTxStyle b="on" i="off">
        <a:font>
          <a:latin typeface="AvenirNext-DemiBold"/>
          <a:ea typeface="AvenirNext-DemiBold"/>
          <a:cs typeface="AvenirNext-D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FBD17"/>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n" i="off">
        <a:font>
          <a:latin typeface="AvenirNext-DemiBold"/>
          <a:ea typeface="AvenirNext-DemiBold"/>
          <a:cs typeface="AvenirNext-D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8A25"/>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12700" cap="flat">
              <a:solidFill>
                <a:srgbClr val="5E5E5E"/>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noFill/>
        </a:fill>
      </a:tcStyle>
    </a:wholeTbl>
    <a:band2H>
      <a:tcTxStyle/>
      <a:tcStyle>
        <a:tcBdr/>
        <a:fill>
          <a:solidFill>
            <a:srgbClr val="ECEEEF"/>
          </a:solidFill>
        </a:fill>
      </a:tcStyle>
    </a:band2H>
    <a:firstCol>
      <a:tcTxStyle b="on" i="off">
        <a:font>
          <a:latin typeface="AvenirNext-DemiBold"/>
          <a:ea typeface="AvenirNext-DemiBold"/>
          <a:cs typeface="AvenirNext-DemiBold"/>
        </a:font>
        <a:srgbClr val="FFFFFF"/>
      </a:tcTxStyle>
      <a:tcStyle>
        <a:tcBdr>
          <a:left>
            <a:ln w="12700" cap="flat">
              <a:solidFill>
                <a:srgbClr val="A6AAA9"/>
              </a:solidFill>
              <a:prstDash val="solid"/>
              <a:miter lim="400000"/>
            </a:ln>
          </a:left>
          <a:right>
            <a:ln w="12700" cap="flat">
              <a:solidFill>
                <a:srgbClr val="5E5E5E"/>
              </a:solidFill>
              <a:prstDash val="solid"/>
              <a:miter lim="400000"/>
            </a:ln>
          </a:right>
          <a:top>
            <a:ln w="12700" cap="flat">
              <a:solidFill>
                <a:srgbClr val="5E5E5E"/>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32C5B9"/>
          </a:solidFill>
        </a:fill>
      </a:tcStyle>
    </a:firstCol>
    <a:lastRow>
      <a:tcTxStyle b="on" i="off">
        <a:font>
          <a:latin typeface="AvenirNext-DemiBold"/>
          <a:ea typeface="AvenirNext-DemiBold"/>
          <a:cs typeface="AvenirNext-DemiBold"/>
        </a:font>
        <a:srgbClr val="000000"/>
      </a:tcTxStyle>
      <a:tcStyle>
        <a:tcBdr>
          <a:left>
            <a:ln w="12700" cap="flat">
              <a:solidFill>
                <a:srgbClr val="A6AAA9"/>
              </a:solidFill>
              <a:prstDash val="solid"/>
              <a:miter lim="400000"/>
            </a:ln>
          </a:left>
          <a:right>
            <a:ln w="12700" cap="flat">
              <a:solidFill>
                <a:srgbClr val="A6AAA9"/>
              </a:solidFill>
              <a:prstDash val="solid"/>
              <a:miter lim="400000"/>
            </a:ln>
          </a:right>
          <a:top>
            <a:ln w="38100" cap="flat">
              <a:solidFill>
                <a:schemeClr val="accent2">
                  <a:hueOff val="240640"/>
                  <a:satOff val="2542"/>
                  <a:lumOff val="-13198"/>
                </a:schemeClr>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FFFFFF"/>
          </a:solidFill>
        </a:fill>
      </a:tcStyle>
    </a:lastRow>
    <a:firstRow>
      <a:tcTxStyle b="on" i="off">
        <a:font>
          <a:latin typeface="AvenirNext-DemiBold"/>
          <a:ea typeface="AvenirNext-DemiBold"/>
          <a:cs typeface="AvenirNext-DemiBold"/>
        </a:font>
        <a:srgbClr val="FFFFFF"/>
      </a:tcTxStyle>
      <a:tcStyle>
        <a:tcBdr>
          <a:left>
            <a:ln w="12700" cap="flat">
              <a:solidFill>
                <a:srgbClr val="5E5E5E"/>
              </a:solidFill>
              <a:prstDash val="solid"/>
              <a:miter lim="400000"/>
            </a:ln>
          </a:left>
          <a:right>
            <a:ln w="12700" cap="flat">
              <a:solidFill>
                <a:srgbClr val="5E5E5E"/>
              </a:solidFill>
              <a:prstDash val="solid"/>
              <a:miter lim="400000"/>
            </a:ln>
          </a:right>
          <a:top>
            <a:ln w="12700" cap="flat">
              <a:solidFill>
                <a:srgbClr val="A6AAA9"/>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chemeClr val="accent2">
              <a:hueOff val="240640"/>
              <a:satOff val="2542"/>
              <a:lumOff val="-13198"/>
            </a:schemeClr>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F"/>
          </a:solidFill>
        </a:fill>
      </a:tcStyle>
    </a:band2H>
    <a:firstCol>
      <a:tcTxStyle b="on" i="off">
        <a:font>
          <a:latin typeface="AvenirNext-DemiBold"/>
          <a:ea typeface="AvenirNext-DemiBold"/>
          <a:cs typeface="AvenirNext-DemiBold"/>
        </a:font>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116"/>
    <p:restoredTop sz="80803" autoAdjust="0"/>
  </p:normalViewPr>
  <p:slideViewPr>
    <p:cSldViewPr snapToGrid="0">
      <p:cViewPr varScale="1">
        <p:scale>
          <a:sx n="89" d="100"/>
          <a:sy n="89" d="100"/>
        </p:scale>
        <p:origin x="2936" y="184"/>
      </p:cViewPr>
      <p:guideLst/>
    </p:cSldViewPr>
  </p:slideViewPr>
  <p:outlineViewPr>
    <p:cViewPr>
      <p:scale>
        <a:sx n="33" d="100"/>
        <a:sy n="33" d="100"/>
      </p:scale>
      <p:origin x="0" y="0"/>
    </p:cViewPr>
  </p:outlineViewPr>
  <p:notesTextViewPr>
    <p:cViewPr>
      <p:scale>
        <a:sx n="3" d="2"/>
        <a:sy n="3" d="2"/>
      </p:scale>
      <p:origin x="0" y="0"/>
    </p:cViewPr>
  </p:notesTextViewPr>
  <p:notesViewPr>
    <p:cSldViewPr snapToGrid="0">
      <p:cViewPr varScale="1">
        <p:scale>
          <a:sx n="167" d="100"/>
          <a:sy n="167" d="100"/>
        </p:scale>
        <p:origin x="5432" y="17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notesMaster" Target="notesMasters/notesMaster1.xml"/><Relationship Id="rId24" Type="http://schemas.openxmlformats.org/officeDocument/2006/relationships/handoutMaster" Target="handoutMasters/handout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a:extLst>
              <a:ext uri="{FF2B5EF4-FFF2-40B4-BE49-F238E27FC236}">
                <a16:creationId xmlns:a16="http://schemas.microsoft.com/office/drawing/2014/main" id="{17AECBC2-CF38-51D1-D583-52A90E084F2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ko-KR" altLang="en-US"/>
          </a:p>
        </p:txBody>
      </p:sp>
      <p:sp>
        <p:nvSpPr>
          <p:cNvPr id="3" name="날짜 개체 틀 2">
            <a:extLst>
              <a:ext uri="{FF2B5EF4-FFF2-40B4-BE49-F238E27FC236}">
                <a16:creationId xmlns:a16="http://schemas.microsoft.com/office/drawing/2014/main" id="{696E9E40-1BF4-3EA0-BCD4-FC0B197060E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7582646-EBD2-134A-994F-649BE9EE867E}" type="datetimeFigureOut">
              <a:rPr kumimoji="1" lang="ko-KR" altLang="en-US" smtClean="0"/>
              <a:t>2026. 7. 14.</a:t>
            </a:fld>
            <a:endParaRPr kumimoji="1" lang="ko-KR" altLang="en-US"/>
          </a:p>
        </p:txBody>
      </p:sp>
      <p:sp>
        <p:nvSpPr>
          <p:cNvPr id="4" name="바닥글 개체 틀 3">
            <a:extLst>
              <a:ext uri="{FF2B5EF4-FFF2-40B4-BE49-F238E27FC236}">
                <a16:creationId xmlns:a16="http://schemas.microsoft.com/office/drawing/2014/main" id="{D7A6D90B-CC0E-8D2B-BBF2-786B86EFBEF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ko-KR" altLang="en-US"/>
          </a:p>
        </p:txBody>
      </p:sp>
      <p:sp>
        <p:nvSpPr>
          <p:cNvPr id="5" name="슬라이드 번호 개체 틀 4">
            <a:extLst>
              <a:ext uri="{FF2B5EF4-FFF2-40B4-BE49-F238E27FC236}">
                <a16:creationId xmlns:a16="http://schemas.microsoft.com/office/drawing/2014/main" id="{2D4B1DE0-EB51-D131-A2B1-58E6EC45C0A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2210B5E-AAB0-4E42-A7D8-1F877DA2206C}" type="slidenum">
              <a:rPr kumimoji="1" lang="ko-KR" altLang="en-US" smtClean="0"/>
              <a:t>‹#›</a:t>
            </a:fld>
            <a:endParaRPr kumimoji="1" lang="ko-KR" altLang="en-US"/>
          </a:p>
        </p:txBody>
      </p:sp>
    </p:spTree>
    <p:extLst>
      <p:ext uri="{BB962C8B-B14F-4D97-AF65-F5344CB8AC3E}">
        <p14:creationId xmlns:p14="http://schemas.microsoft.com/office/powerpoint/2010/main" val="2157819639"/>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1" name="Shape 171"/>
          <p:cNvSpPr>
            <a:spLocks noGrp="1" noRot="1" noChangeAspect="1"/>
          </p:cNvSpPr>
          <p:nvPr>
            <p:ph type="sldImg"/>
          </p:nvPr>
        </p:nvSpPr>
        <p:spPr>
          <a:xfrm>
            <a:off x="1143000" y="685800"/>
            <a:ext cx="4572000" cy="3429000"/>
          </a:xfrm>
          <a:prstGeom prst="rect">
            <a:avLst/>
          </a:prstGeom>
        </p:spPr>
        <p:txBody>
          <a:bodyPr/>
          <a:lstStyle/>
          <a:p>
            <a:endParaRPr/>
          </a:p>
        </p:txBody>
      </p:sp>
      <p:sp>
        <p:nvSpPr>
          <p:cNvPr id="172" name="Shape 172"/>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hf sldNum="0" hdr="0" ftr="0" dt="0"/>
  <p:notesStyle>
    <a:lvl1pPr defTabSz="457200" latinLnBrk="0">
      <a:lnSpc>
        <a:spcPct val="117999"/>
      </a:lnSpc>
      <a:defRPr sz="1500">
        <a:latin typeface="Helvetica Neue"/>
        <a:ea typeface="Helvetica Neue"/>
        <a:cs typeface="Helvetica Neue"/>
        <a:sym typeface="Helvetica Neue"/>
      </a:defRPr>
    </a:lvl1pPr>
    <a:lvl2pPr indent="228600" defTabSz="457200" latinLnBrk="0">
      <a:lnSpc>
        <a:spcPct val="117999"/>
      </a:lnSpc>
      <a:defRPr sz="1500">
        <a:latin typeface="Helvetica Neue"/>
        <a:ea typeface="Helvetica Neue"/>
        <a:cs typeface="Helvetica Neue"/>
        <a:sym typeface="Helvetica Neue"/>
      </a:defRPr>
    </a:lvl2pPr>
    <a:lvl3pPr indent="457200" defTabSz="457200" latinLnBrk="0">
      <a:lnSpc>
        <a:spcPct val="117999"/>
      </a:lnSpc>
      <a:defRPr sz="1500">
        <a:latin typeface="Helvetica Neue"/>
        <a:ea typeface="Helvetica Neue"/>
        <a:cs typeface="Helvetica Neue"/>
        <a:sym typeface="Helvetica Neue"/>
      </a:defRPr>
    </a:lvl3pPr>
    <a:lvl4pPr indent="685800" defTabSz="457200" latinLnBrk="0">
      <a:lnSpc>
        <a:spcPct val="117999"/>
      </a:lnSpc>
      <a:defRPr sz="1500">
        <a:latin typeface="Helvetica Neue"/>
        <a:ea typeface="Helvetica Neue"/>
        <a:cs typeface="Helvetica Neue"/>
        <a:sym typeface="Helvetica Neue"/>
      </a:defRPr>
    </a:lvl4pPr>
    <a:lvl5pPr indent="914400" defTabSz="457200" latinLnBrk="0">
      <a:lnSpc>
        <a:spcPct val="117999"/>
      </a:lnSpc>
      <a:defRPr sz="1500">
        <a:latin typeface="Helvetica Neue"/>
        <a:ea typeface="Helvetica Neue"/>
        <a:cs typeface="Helvetica Neue"/>
        <a:sym typeface="Helvetica Neue"/>
      </a:defRPr>
    </a:lvl5pPr>
    <a:lvl6pPr indent="1143000" defTabSz="457200" latinLnBrk="0">
      <a:lnSpc>
        <a:spcPct val="117999"/>
      </a:lnSpc>
      <a:defRPr sz="1500">
        <a:latin typeface="Helvetica Neue"/>
        <a:ea typeface="Helvetica Neue"/>
        <a:cs typeface="Helvetica Neue"/>
        <a:sym typeface="Helvetica Neue"/>
      </a:defRPr>
    </a:lvl6pPr>
    <a:lvl7pPr indent="1371600" defTabSz="457200" latinLnBrk="0">
      <a:lnSpc>
        <a:spcPct val="117999"/>
      </a:lnSpc>
      <a:defRPr sz="1500">
        <a:latin typeface="Helvetica Neue"/>
        <a:ea typeface="Helvetica Neue"/>
        <a:cs typeface="Helvetica Neue"/>
        <a:sym typeface="Helvetica Neue"/>
      </a:defRPr>
    </a:lvl7pPr>
    <a:lvl8pPr indent="1600200" defTabSz="457200" latinLnBrk="0">
      <a:lnSpc>
        <a:spcPct val="117999"/>
      </a:lnSpc>
      <a:defRPr sz="1500">
        <a:latin typeface="Helvetica Neue"/>
        <a:ea typeface="Helvetica Neue"/>
        <a:cs typeface="Helvetica Neue"/>
        <a:sym typeface="Helvetica Neue"/>
      </a:defRPr>
    </a:lvl8pPr>
    <a:lvl9pPr indent="1828800" defTabSz="457200" latinLnBrk="0">
      <a:lnSpc>
        <a:spcPct val="117999"/>
      </a:lnSpc>
      <a:defRPr sz="1500">
        <a:latin typeface="Helvetica Neue"/>
        <a:ea typeface="Helvetica Neue"/>
        <a:cs typeface="Helvetica Neue"/>
        <a:sym typeface="Helvetica Neue"/>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Let me start today's team meeting.</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Last time I did two things.</a:t>
            </a:r>
          </a:p>
          <a:p/>
          <a:p>
            <a:r>
              <a:t>First, drone selection — Mavic 4 Pro versus Matrice 4E. The trade-off was echo strength against having RTK as ground truth.</a:t>
            </a:r>
          </a:p>
          <a:p/>
          <a:p>
            <a:r>
              <a:t>Second, a short review of LaSen, the SenSys paper that tracks a drone using a 5G signal.</a:t>
            </a:r>
          </a:p>
          <a:p/>
          <a:p>
            <a:r>
              <a:t>Since then I was at ICML and had a few other things going on, so this meeting is a slightly rushed one.</a:t>
            </a:r>
          </a:p>
          <a:p/>
          <a:p>
            <a:r>
              <a:t>Today I will show the Sionna progress — the chamber, the drone meshes, and the micro-Doppler — and then introduce one paper from ICML.</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Today has two parts.</a:t>
            </a:r>
          </a:p>
          <a:p/>
          <a:p>
            <a:r>
              <a:t>First, what I built in Sionna: the environment — the chamber and the drone meshes — and then the micro-Doppler of the spinning blades.</a:t>
            </a:r>
          </a:p>
          <a:p/>
          <a:p>
            <a:r>
              <a:t>I also built the Wi-Fi, LTE and 5G waveforms to compare them as illuminators. But I want to verify that part properly, so I will bring it to the next meeting rather than show it half-checked.</a:t>
            </a:r>
          </a:p>
          <a:p/>
          <a:p>
            <a:r>
              <a:t>Second, a short introduction to a paper from ICML that I found interesting.</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Let me start with the Sionna simulation.</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This is the path I took.</a:t>
            </a:r>
          </a:p>
          <a:p/>
          <a:p>
            <a:r>
              <a:t>First the environment: the chamber, and five DJI drone meshes built from their real published specs. Every part carries its own radio material, so the model is ready for propagation, not just for rendering.</a:t>
            </a:r>
          </a:p>
          <a:p/>
          <a:p>
            <a:r>
              <a:t>Then the micro-Doppler: I split the drone into a frame plus rotors that spin on their own. That gives the blade signature — and it is also the model we would need later if we want to fly these in PX4 or Gazebo.</a:t>
            </a:r>
          </a:p>
          <a:p/>
          <a:p>
            <a:r>
              <a:t>Both stages sit on the same scene, so nothing is rebuilt twice.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For the chamber I copied the specs of the RF playground we were planning to use for the real experiment.</a:t>
            </a:r>
          </a:p>
          <a:p/>
          <a:p>
            <a:r>
              <a:t>It is thirty by twenty by eleven meters. The walls are absorber, so the room's own echoes die away and we see only the drone.</a:t>
            </a:r>
          </a:p>
          <a:p/>
          <a:p>
            <a:r>
              <a:t>On the left is the Sionna render; on the right, the dimensioned plan and elevation.</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For the drones I first collected the detailed specs — this is the official DJI page on the left — and then built the mesh from those numbers.</a:t>
            </a:r>
          </a:p>
          <a:p/>
          <a:p>
            <a:r>
              <a:t>Every part is modeled separately: body, arms, motors, propellers, gimbal, landing gear.</a:t>
            </a:r>
          </a:p>
          <a:p/>
          <a:p>
            <a:r>
              <a:t>If asked — one honest limit: the rotor count, the propeller diameter and the weight come straight from the spec sheet. The diagonal is official for the Matrice 4E, the Phantom 4 and the S1000+, but DJI does not publish it for the Mini 5 Pro or the Mavic 4 Pro, so those two are estimated within about twenty millimetres — that is the red note on the card. And the body is a proportional approximation, so the model's z-span is not the manufacturer's unfolded height. What drives the radar cross-section — the diagonal, the propeller disc and the rotor count — is right.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These are the five meshes.</a:t>
            </a:r>
          </a:p>
          <a:p/>
          <a:p>
            <a:r>
              <a:t>Here they are drawn at the same size, so you can compare shapes — the four-rotor quads against the eight-rotor S1000+.</a:t>
            </a:r>
          </a:p>
          <a:p/>
          <a:p>
            <a:r>
              <a:t>Their real sizes are very different, and that is the next slide.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45773D-7CFE-E0E3-4675-89660C1EA6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1E615E-EF83-3CF2-9E22-54613E1B0C6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B05A5205-B895-11D1-4158-239E09FD3CB1}"/>
              </a:ext>
            </a:extLst>
          </p:cNvPr>
          <p:cNvSpPr>
            <a:spLocks noGrp="1"/>
          </p:cNvSpPr>
          <p:nvPr>
            <p:ph type="body" sz="quarter" idx="1"/>
          </p:nvPr>
        </p:nvSpPr>
        <p:spPr/>
        <p:txBody>
          <a:bodyPr/>
          <a:lstStyle/>
          <a:p>
            <a:r>
              <a:t>Now the real size comparison, all at the same scale.</a:t>
            </a:r>
          </a:p>
          <a:p/>
          <a:p>
            <a:r>
              <a:t>The S1000+ is by far the largest, about a meter across. The Mini 5 Pro fits in your hand at 250 grams. The dashed circles are the propeller discs.</a:t>
            </a:r>
          </a:p>
          <a:p/>
          <a:p>
            <a:r>
              <a:t>One caveat on the weight chart, marked with a star: the S1000+ number is the airframe weight only. With a payload its takeoff weight is six to eleven kilograms, so that bar understates it. The other four are takeoff weights.</a:t>
            </a:r>
          </a:p>
        </p:txBody>
      </p:sp>
    </p:spTree>
    <p:extLst>
      <p:ext uri="{BB962C8B-B14F-4D97-AF65-F5344CB8AC3E}">
        <p14:creationId xmlns:p14="http://schemas.microsoft.com/office/powerpoint/2010/main" val="36513938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19BBC6-1E54-FF61-5B7D-55930DC4E1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99E34A-51FC-93F3-D506-675D2033D9E2}"/>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D25F917E-165D-377A-90B3-CE150EAE43AD}"/>
              </a:ext>
            </a:extLst>
          </p:cNvPr>
          <p:cNvSpPr>
            <a:spLocks noGrp="1"/>
          </p:cNvSpPr>
          <p:nvPr>
            <p:ph type="body" sz="quarter" idx="1"/>
          </p:nvPr>
        </p:nvSpPr>
        <p:spPr/>
        <p:txBody>
          <a:bodyPr/>
          <a:lstStyle/>
          <a:p>
            <a:r>
              <a:t>This is the render catalog — the five meshes, each with its diagonal, weight and rotor count from the spec sheet.</a:t>
            </a:r>
          </a:p>
          <a:p/>
          <a:p>
            <a:r>
              <a:t>The bottom-right panel is the one that matters: the same drones dropped into the chamber at true scale. In a thirty meter room they are tiny — that is really the whole difficulty of the problem in one picture.</a:t>
            </a:r>
          </a:p>
        </p:txBody>
      </p:sp>
    </p:spTree>
    <p:extLst>
      <p:ext uri="{BB962C8B-B14F-4D97-AF65-F5344CB8AC3E}">
        <p14:creationId xmlns:p14="http://schemas.microsoft.com/office/powerpoint/2010/main" val="19909120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Now the second stage.</a:t>
            </a:r>
          </a:p>
          <a:p/>
          <a:p>
            <a:r>
              <a:t>The first meshes were a single rigid body, so I could not spin the blades. I split the model into a frame plus individual rotors, each with its own rotation.</a:t>
            </a:r>
          </a:p>
          <a:p/>
          <a:p>
            <a:r>
              <a:t>In this animation the body wobbles — roll, pitch and yaw — while the propellers keep spinning. The two degrees of freedom are independent: when only the blades turn, the frame does not move at all.</a:t>
            </a:r>
          </a:p>
          <a:p/>
          <a:p>
            <a:r>
              <a:t>That is what micro-Doppler needs. It is also the structure a flight simulator like Gazebo expects — one link and one joint per rotor — so the same model serves both.</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And here is the micro-Doppler.</a:t>
            </a:r>
          </a:p>
          <a:p/>
          <a:p>
            <a:r>
              <a:t>I let the blades spin and asked for the spectrogram — and this is what came out. The vertical stripes are the blade flashes, and the spread around the centre is the Doppler from the blade tips.</a:t>
            </a:r>
          </a:p>
          <a:p/>
          <a:p>
            <a:r>
              <a:t>I am still building up the background to read this properly, so I am showing it as a first result rather than a conclusion.</a:t>
            </a:r>
          </a:p>
          <a:p/>
          <a:p>
            <a:r>
              <a:t>If asked — for the Mavic the flashes come at about 183 hertz, and the tip Doppler is roughly plus-minus 1.7 kilohertz at 3.5 gigahertz.</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This is where the work sits.</a:t>
            </a:r>
          </a:p>
          <a:p/>
          <a:p>
            <a:r>
              <a:t>Done: the environment — the chamber and the five meshes — and the articulated drone with its blade signature.</a:t>
            </a:r>
          </a:p>
          <a:p/>
          <a:p>
            <a:r>
              <a:t>Next is the illuminator study: Wi-Fi, LTE and 5G, and which reference signals a passive receiver can actually use. I have it running already, but I want to verify it properly before I present it.</a:t>
            </a:r>
          </a:p>
          <a:p/>
          <a:p>
            <a:r>
              <a:t>After that, the real passive radar chain: a bistatic geometry with the transmitter and the receiver apart, clutter removal, and CFAR detection with tracking.</a:t>
            </a:r>
          </a:p>
          <a:p/>
          <a:p>
            <a:r>
              <a:t>Further out: drone versus bird from the blade signature, and exporting the articulated model to PX4 or Gazebo.</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381000" y="685800"/>
            <a:ext cx="6096000" cy="3429000"/>
          </a:xfrm>
        </p:spPr>
      </p:sp>
      <p:sp>
        <p:nvSpPr>
          <p:cNvPr id="3" name="슬라이드 노트 개체 틀 2"/>
          <p:cNvSpPr>
            <a:spLocks noGrp="1"/>
          </p:cNvSpPr>
          <p:nvPr>
            <p:ph type="body" idx="1"/>
          </p:nvPr>
        </p:nvSpPr>
        <p:spPr/>
        <p:txBody>
          <a:bodyPr/>
          <a:lstStyle/>
          <a:p>
            <a:r>
              <a:t>Now let me briefly introduce the paper from ICML that I found interesting, and then wrap up.</a:t>
            </a:r>
          </a:p>
        </p:txBody>
      </p:sp>
    </p:spTree>
    <p:extLst>
      <p:ext uri="{BB962C8B-B14F-4D97-AF65-F5344CB8AC3E}">
        <p14:creationId xmlns:p14="http://schemas.microsoft.com/office/powerpoint/2010/main" val="304323243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381000" y="685800"/>
            <a:ext cx="6096000" cy="3429000"/>
          </a:xfrm>
        </p:spPr>
      </p:sp>
      <p:sp>
        <p:nvSpPr>
          <p:cNvPr id="3" name="슬라이드 노트 개체 틀 2"/>
          <p:cNvSpPr>
            <a:spLocks noGrp="1"/>
          </p:cNvSpPr>
          <p:nvPr>
            <p:ph type="body" idx="1"/>
          </p:nvPr>
        </p:nvSpPr>
        <p:spPr/>
        <p:txBody>
          <a:bodyPr/>
          <a:lstStyle/>
          <a:p>
            <a:r>
              <a:t>The task here is wireless signal recognition.</a:t>
            </a:r>
          </a:p>
          <a:p/>
          <a:p>
            <a:r>
              <a:t>An AI reads a passively received IQ signal and labels it — the modulation type, the wireless technology, or an anomaly. It matters for spectrum management and for 6G.</a:t>
            </a:r>
          </a:p>
          <a:p/>
          <a:p>
            <a:r>
              <a:t>The catch is the last line of the left card: the signal arrives distorted. What you receive is the transmitted signal convolved with the channel, plus noise.</a:t>
            </a:r>
          </a:p>
          <a:p/>
          <a:p>
            <a:r>
              <a:t>Diffusion models are strong denoisers, and their learned features transfer well to this task. So the plan on this slide is: clean the signal first, then recognise it.</a:t>
            </a:r>
          </a:p>
        </p:txBody>
      </p:sp>
    </p:spTree>
    <p:extLst>
      <p:ext uri="{BB962C8B-B14F-4D97-AF65-F5344CB8AC3E}">
        <p14:creationId xmlns:p14="http://schemas.microsoft.com/office/powerpoint/2010/main" val="39524284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381000" y="685800"/>
            <a:ext cx="6096000" cy="3429000"/>
          </a:xfrm>
        </p:spPr>
      </p:sp>
      <p:sp>
        <p:nvSpPr>
          <p:cNvPr id="3" name="슬라이드 노트 개체 틀 2"/>
          <p:cNvSpPr>
            <a:spLocks noGrp="1"/>
          </p:cNvSpPr>
          <p:nvPr>
            <p:ph type="body" idx="1"/>
          </p:nvPr>
        </p:nvSpPr>
        <p:spPr/>
        <p:txBody>
          <a:bodyPr/>
          <a:lstStyle/>
          <a:p>
            <a:r>
              <a:t>But the authors point out a gap.</a:t>
            </a:r>
          </a:p>
          <a:p/>
          <a:p>
            <a:r>
              <a:t>Standard diffusion only adds and removes Gaussian noise. A real channel is not Gaussian — it multiplies the signal, it does not just add to it. So the reverse process never learns to undo the channel, and the features stay distorted.</a:t>
            </a:r>
          </a:p>
          <a:p/>
          <a:p>
            <a:r>
              <a:t>Their idea is to put a physical channel model inside the forward process: the forward step applies a learned channel and then adds noise, and the reverse step learns to undo both.</a:t>
            </a:r>
          </a:p>
          <a:p/>
          <a:p>
            <a:r>
              <a:t>They call that de-channeling — and that is the title of the paper.</a:t>
            </a:r>
          </a:p>
        </p:txBody>
      </p:sp>
    </p:spTree>
    <p:extLst>
      <p:ext uri="{BB962C8B-B14F-4D97-AF65-F5344CB8AC3E}">
        <p14:creationId xmlns:p14="http://schemas.microsoft.com/office/powerpoint/2010/main" val="99498848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381000" y="685800"/>
            <a:ext cx="6096000" cy="3429000"/>
          </a:xfrm>
        </p:spPr>
      </p:sp>
      <p:sp>
        <p:nvSpPr>
          <p:cNvPr id="3" name="슬라이드 노트 개체 틀 2"/>
          <p:cNvSpPr>
            <a:spLocks noGrp="1"/>
          </p:cNvSpPr>
          <p:nvPr>
            <p:ph type="body" idx="1"/>
          </p:nvPr>
        </p:nvSpPr>
        <p:spPr/>
        <p:txBody>
          <a:bodyPr/>
          <a:lstStyle/>
          <a:p>
            <a:r>
              <a:t>This is the whole pipeline.</a:t>
            </a:r>
          </a:p>
          <a:p/>
          <a:p>
            <a:r>
              <a:t>On the left is the forward process. Instead of adding only Gaussian noise, they first push the signal through a channel — but not a free-form neural channel. They keep a pool of real physical channels — AWGN, Rician, Rayleigh, Nakagami, multipath, carrier frequency offset and sampling rate offset — and the box in the figure only draws a few of them, which is what the dots mean. From that pool they pick a subset per dataset. A small network they call CPE-Net — channel parameter estimation — reads the signal and outputs softmax weights over that dataset's candidates. So the forward step is: mix the physical channels with those weights, apply them, then add Gaussian noise.</a:t>
            </a:r>
          </a:p>
          <a:p/>
          <a:p>
            <a:r>
              <a:t>Why constrain it that way? Because they prove that if the channel is a free network, the loss has a local minimum where the channel simply becomes one. In other words, the model quietly switches the channel off and you are back to ordinary denoising. The physical candidates are what stop that.</a:t>
            </a:r>
          </a:p>
          <a:p/>
          <a:p>
            <a:r>
              <a:t>On the right is the reverse process, which they call FusedFormer. A fusion module combines the time-domain and the spectral view of the signal, and a self-attention module sits on top. That is the part that learns to undo the channel and the noise.</a:t>
            </a:r>
          </a:p>
          <a:p/>
          <a:p>
            <a:r>
              <a:t>I could not fully follow the attention details yet — that is part of the AI study I planned.</a:t>
            </a:r>
          </a:p>
        </p:txBody>
      </p:sp>
    </p:spTree>
    <p:extLst>
      <p:ext uri="{BB962C8B-B14F-4D97-AF65-F5344CB8AC3E}">
        <p14:creationId xmlns:p14="http://schemas.microsoft.com/office/powerpoint/2010/main" val="164419016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381000" y="685800"/>
            <a:ext cx="6096000" cy="3429000"/>
          </a:xfrm>
        </p:spPr>
      </p:sp>
      <p:sp>
        <p:nvSpPr>
          <p:cNvPr id="3" name="슬라이드 노트 개체 틀 2"/>
          <p:cNvSpPr>
            <a:spLocks noGrp="1"/>
          </p:cNvSpPr>
          <p:nvPr>
            <p:ph type="body" idx="1"/>
          </p:nvPr>
        </p:nvSpPr>
        <p:spPr/>
        <p:txBody>
          <a:bodyPr/>
          <a:lstStyle/>
          <a:p>
            <a:r>
              <a:t>They report state of the art on all four datasets, with an average rank of one.</a:t>
            </a:r>
          </a:p>
          <a:p/>
          <a:p>
            <a:r>
              <a:t>But look at the margins. On RML2016 they get 63.60 against IQFormer's 63.54 — six hundredths of a point. I honestly wonder whether that would survive a different random seed. The one clear win is TechRec: 91.0 against 88.8 for the next best.</a:t>
            </a:r>
          </a:p>
          <a:p/>
          <a:p>
            <a:r>
              <a:t>So the fair question is: how much of this is the de-channeling idea, and how much is just the new backbone? Their own Figure 4 answers it. On RML2016, FusedFormer with no pretraining is 57.77 — below IQFormer, so the backbone alone is not what wins. Gaussian-only diffusion pretraining takes it to 62.86, and the physical channels add another 0.7 to reach 63.60.</a:t>
            </a:r>
          </a:p>
          <a:p/>
          <a:p>
            <a:r>
              <a:t>But that split flips on the other datasets. On RML2022 the physical channels are worth 5.7 points. On TechRec, Gaussian-only pretraining is actually worse than no pretraining at all — 89.21 against 90.25 — and only the physical channels recover it to 91.02. So the idea is doing real work; it just does not show up in the RML2016 headline.</a:t>
            </a:r>
          </a:p>
          <a:p/>
          <a:p>
            <a:r>
              <a:t>There is also a separate ablation on which channels: drop the carrier frequency offset from the candidate set and accuracy falls from 63.6 to 61.5.</a:t>
            </a:r>
          </a:p>
          <a:p/>
          <a:p>
            <a:r>
              <a:t>One thing I take from this for our own work: learning buys you a few percentage points, but physics — bandwidth and integration time — buys you tens of decibels.</a:t>
            </a:r>
          </a:p>
        </p:txBody>
      </p:sp>
    </p:spTree>
    <p:extLst>
      <p:ext uri="{BB962C8B-B14F-4D97-AF65-F5344CB8AC3E}">
        <p14:creationId xmlns:p14="http://schemas.microsoft.com/office/powerpoint/2010/main" val="363308263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73CC8C-5659-5EED-9405-F2284EE6BAFC}"/>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729BCAC2-D6CC-31DC-56B7-78EE93837974}"/>
              </a:ext>
            </a:extLst>
          </p:cNvPr>
          <p:cNvSpPr>
            <a:spLocks noGrp="1" noRot="1" noChangeAspect="1"/>
          </p:cNvSpPr>
          <p:nvPr>
            <p:ph type="sldImg"/>
          </p:nvPr>
        </p:nvSpPr>
        <p:spPr>
          <a:xfrm>
            <a:off x="381000" y="685800"/>
            <a:ext cx="6096000" cy="3429000"/>
          </a:xfrm>
        </p:spPr>
      </p:sp>
      <p:sp>
        <p:nvSpPr>
          <p:cNvPr id="3" name="슬라이드 노트 개체 틀 2">
            <a:extLst>
              <a:ext uri="{FF2B5EF4-FFF2-40B4-BE49-F238E27FC236}">
                <a16:creationId xmlns:a16="http://schemas.microsoft.com/office/drawing/2014/main" id="{E544DC22-367D-F13F-9DC2-F9A4AFF037C9}"/>
              </a:ext>
            </a:extLst>
          </p:cNvPr>
          <p:cNvSpPr>
            <a:spLocks noGrp="1"/>
          </p:cNvSpPr>
          <p:nvPr>
            <p:ph type="body" idx="1"/>
          </p:nvPr>
        </p:nvSpPr>
        <p:spPr/>
        <p:txBody>
          <a:bodyPr/>
          <a:lstStyle/>
          <a:p>
            <a:r>
              <a:t>That is everything from me. Thank you.</a:t>
            </a:r>
          </a:p>
        </p:txBody>
      </p:sp>
    </p:spTree>
    <p:extLst>
      <p:ext uri="{BB962C8B-B14F-4D97-AF65-F5344CB8AC3E}">
        <p14:creationId xmlns:p14="http://schemas.microsoft.com/office/powerpoint/2010/main" val="2819627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제목">
    <p:spTree>
      <p:nvGrpSpPr>
        <p:cNvPr id="1" name=""/>
        <p:cNvGrpSpPr/>
        <p:nvPr/>
      </p:nvGrpSpPr>
      <p:grpSpPr>
        <a:xfrm>
          <a:off x="0" y="0"/>
          <a:ext cx="0" cy="0"/>
          <a:chOff x="0" y="0"/>
          <a:chExt cx="0" cy="0"/>
        </a:xfrm>
      </p:grpSpPr>
      <p:sp>
        <p:nvSpPr>
          <p:cNvPr id="11" name="저자 및 날짜"/>
          <p:cNvSpPr txBox="1">
            <a:spLocks noGrp="1"/>
          </p:cNvSpPr>
          <p:nvPr>
            <p:ph type="body" sz="quarter" idx="21" hasCustomPrompt="1"/>
          </p:nvPr>
        </p:nvSpPr>
        <p:spPr>
          <a:xfrm>
            <a:off x="1219200" y="11986162"/>
            <a:ext cx="21945599" cy="605791"/>
          </a:xfrm>
          <a:prstGeom prst="rect">
            <a:avLst/>
          </a:prstGeom>
        </p:spPr>
        <p:txBody>
          <a:bodyPr/>
          <a:lstStyle>
            <a:lvl1pPr marL="0" indent="0" algn="ctr" defTabSz="808990">
              <a:lnSpc>
                <a:spcPct val="100000"/>
              </a:lnSpc>
              <a:spcBef>
                <a:spcPts val="0"/>
              </a:spcBef>
              <a:buSzTx/>
              <a:buNone/>
              <a:defRPr sz="2940" spc="-29"/>
            </a:lvl1pPr>
          </a:lstStyle>
          <a:p>
            <a:r>
              <a:t>저자 및 날짜</a:t>
            </a:r>
          </a:p>
        </p:txBody>
      </p:sp>
      <p:sp>
        <p:nvSpPr>
          <p:cNvPr id="12" name="프레젠테이션 제목"/>
          <p:cNvSpPr txBox="1">
            <a:spLocks noGrp="1"/>
          </p:cNvSpPr>
          <p:nvPr>
            <p:ph type="title" hasCustomPrompt="1"/>
          </p:nvPr>
        </p:nvSpPr>
        <p:spPr>
          <a:xfrm>
            <a:off x="1219200" y="3543300"/>
            <a:ext cx="21945600" cy="4267200"/>
          </a:xfrm>
          <a:prstGeom prst="rect">
            <a:avLst/>
          </a:prstGeom>
        </p:spPr>
        <p:txBody>
          <a:bodyPr anchor="b"/>
          <a:lstStyle>
            <a:lvl1pPr>
              <a:defRPr sz="9000" b="1" spc="-90">
                <a:latin typeface="AvenirNext-DemiBold"/>
                <a:ea typeface="AvenirNext-DemiBold"/>
                <a:cs typeface="AvenirNext-DemiBold"/>
                <a:sym typeface="AvenirNext-DemiBold"/>
              </a:defRPr>
            </a:lvl1pPr>
          </a:lstStyle>
          <a:p>
            <a:r>
              <a:t>프레젠테이션 제목</a:t>
            </a:r>
          </a:p>
        </p:txBody>
      </p:sp>
      <p:sp>
        <p:nvSpPr>
          <p:cNvPr id="13" name="Body Level One…"/>
          <p:cNvSpPr txBox="1">
            <a:spLocks noGrp="1"/>
          </p:cNvSpPr>
          <p:nvPr>
            <p:ph type="body" sz="quarter" idx="1" hasCustomPrompt="1"/>
          </p:nvPr>
        </p:nvSpPr>
        <p:spPr>
          <a:xfrm>
            <a:off x="1219200" y="7567579"/>
            <a:ext cx="21945600" cy="2250593"/>
          </a:xfrm>
          <a:prstGeom prst="rect">
            <a:avLst/>
          </a:prstGeom>
        </p:spPr>
        <p:txBody>
          <a:bodyPr/>
          <a:lstStyle>
            <a:lvl1pPr marL="0" indent="0" algn="ctr" defTabSz="825500">
              <a:lnSpc>
                <a:spcPct val="100000"/>
              </a:lnSpc>
              <a:spcBef>
                <a:spcPts val="0"/>
              </a:spcBef>
              <a:buSzTx/>
              <a:buNone/>
              <a:defRPr sz="6000" b="1" spc="-59">
                <a:latin typeface="AvenirNext-DemiBold"/>
                <a:ea typeface="AvenirNext-DemiBold"/>
                <a:cs typeface="AvenirNext-DemiBold"/>
                <a:sym typeface="AvenirNext-DemiBold"/>
              </a:defRPr>
            </a:lvl1pPr>
            <a:lvl2pPr marL="0" indent="457200" algn="ctr" defTabSz="825500">
              <a:lnSpc>
                <a:spcPct val="100000"/>
              </a:lnSpc>
              <a:spcBef>
                <a:spcPts val="0"/>
              </a:spcBef>
              <a:buSzTx/>
              <a:buNone/>
              <a:defRPr sz="6000" b="1" spc="-59">
                <a:latin typeface="AvenirNext-DemiBold"/>
                <a:ea typeface="AvenirNext-DemiBold"/>
                <a:cs typeface="AvenirNext-DemiBold"/>
                <a:sym typeface="AvenirNext-DemiBold"/>
              </a:defRPr>
            </a:lvl2pPr>
            <a:lvl3pPr marL="0" indent="914400" algn="ctr" defTabSz="825500">
              <a:lnSpc>
                <a:spcPct val="100000"/>
              </a:lnSpc>
              <a:spcBef>
                <a:spcPts val="0"/>
              </a:spcBef>
              <a:buSzTx/>
              <a:buNone/>
              <a:defRPr sz="6000" b="1" spc="-59">
                <a:latin typeface="AvenirNext-DemiBold"/>
                <a:ea typeface="AvenirNext-DemiBold"/>
                <a:cs typeface="AvenirNext-DemiBold"/>
                <a:sym typeface="AvenirNext-DemiBold"/>
              </a:defRPr>
            </a:lvl3pPr>
            <a:lvl4pPr marL="0" indent="1371600" algn="ctr" defTabSz="825500">
              <a:lnSpc>
                <a:spcPct val="100000"/>
              </a:lnSpc>
              <a:spcBef>
                <a:spcPts val="0"/>
              </a:spcBef>
              <a:buSzTx/>
              <a:buNone/>
              <a:defRPr sz="6000" b="1" spc="-59">
                <a:latin typeface="AvenirNext-DemiBold"/>
                <a:ea typeface="AvenirNext-DemiBold"/>
                <a:cs typeface="AvenirNext-DemiBold"/>
                <a:sym typeface="AvenirNext-DemiBold"/>
              </a:defRPr>
            </a:lvl4pPr>
            <a:lvl5pPr marL="0" indent="1828800" algn="ctr" defTabSz="825500">
              <a:lnSpc>
                <a:spcPct val="100000"/>
              </a:lnSpc>
              <a:spcBef>
                <a:spcPts val="0"/>
              </a:spcBef>
              <a:buSzTx/>
              <a:buNone/>
              <a:defRPr sz="6000" b="1" spc="-59">
                <a:latin typeface="AvenirNext-DemiBold"/>
                <a:ea typeface="AvenirNext-DemiBold"/>
                <a:cs typeface="AvenirNext-DemiBold"/>
                <a:sym typeface="AvenirNext-DemiBold"/>
              </a:defRPr>
            </a:lvl5pPr>
          </a:lstStyle>
          <a:p>
            <a:r>
              <a:t>프레젠테이션 부제</a:t>
            </a:r>
          </a:p>
          <a:p>
            <a:pPr lvl="1"/>
            <a:endParaRPr/>
          </a:p>
          <a:p>
            <a:pPr lvl="2"/>
            <a:endParaRPr/>
          </a:p>
          <a:p>
            <a:pPr lvl="3"/>
            <a:endParaRPr/>
          </a:p>
          <a:p>
            <a:pPr lvl="4"/>
            <a:endParaRPr/>
          </a:p>
        </p:txBody>
      </p:sp>
      <p:sp>
        <p:nvSpPr>
          <p:cNvPr id="14"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제목 및 구분점">
    <p:spTree>
      <p:nvGrpSpPr>
        <p:cNvPr id="1" name=""/>
        <p:cNvGrpSpPr/>
        <p:nvPr/>
      </p:nvGrpSpPr>
      <p:grpSpPr>
        <a:xfrm>
          <a:off x="0" y="0"/>
          <a:ext cx="0" cy="0"/>
          <a:chOff x="0" y="0"/>
          <a:chExt cx="0" cy="0"/>
        </a:xfrm>
      </p:grpSpPr>
      <p:sp>
        <p:nvSpPr>
          <p:cNvPr id="42" name="슬라이드 제목"/>
          <p:cNvSpPr txBox="1">
            <a:spLocks noGrp="1"/>
          </p:cNvSpPr>
          <p:nvPr>
            <p:ph type="title" hasCustomPrompt="1"/>
          </p:nvPr>
        </p:nvSpPr>
        <p:spPr>
          <a:prstGeom prst="rect">
            <a:avLst/>
          </a:prstGeom>
        </p:spPr>
        <p:txBody>
          <a:bodyPr/>
          <a:lstStyle/>
          <a:p>
            <a:r>
              <a:t>슬라이드 제목</a:t>
            </a:r>
          </a:p>
        </p:txBody>
      </p:sp>
      <p:sp>
        <p:nvSpPr>
          <p:cNvPr id="43" name="Body Level One…"/>
          <p:cNvSpPr txBox="1">
            <a:spLocks noGrp="1"/>
          </p:cNvSpPr>
          <p:nvPr>
            <p:ph type="body" idx="1" hasCustomPrompt="1"/>
          </p:nvPr>
        </p:nvSpPr>
        <p:spPr>
          <a:prstGeom prst="rect">
            <a:avLst/>
          </a:prstGeom>
        </p:spPr>
        <p:txBody>
          <a:bodyPr/>
          <a:lstStyle/>
          <a:p>
            <a:r>
              <a:t>슬라이드 구분점 텍스트</a:t>
            </a:r>
          </a:p>
          <a:p>
            <a:pPr lvl="1"/>
            <a:endParaRPr/>
          </a:p>
          <a:p>
            <a:pPr lvl="2"/>
            <a:endParaRPr/>
          </a:p>
          <a:p>
            <a:pPr lvl="3"/>
            <a:endParaRPr/>
          </a:p>
          <a:p>
            <a:pPr lvl="4"/>
            <a:endParaRPr/>
          </a:p>
        </p:txBody>
      </p:sp>
      <p:sp>
        <p:nvSpPr>
          <p:cNvPr id="44" name="슬라이드 부제"/>
          <p:cNvSpPr txBox="1">
            <a:spLocks noGrp="1"/>
          </p:cNvSpPr>
          <p:nvPr>
            <p:ph type="body" sz="quarter" idx="21" hasCustomPrompt="1"/>
          </p:nvPr>
        </p:nvSpPr>
        <p:spPr>
          <a:xfrm>
            <a:off x="1219200" y="2384648"/>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4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제목, 구분점 및 사진">
    <p:spTree>
      <p:nvGrpSpPr>
        <p:cNvPr id="1" name=""/>
        <p:cNvGrpSpPr/>
        <p:nvPr/>
      </p:nvGrpSpPr>
      <p:grpSpPr>
        <a:xfrm>
          <a:off x="0" y="0"/>
          <a:ext cx="0" cy="0"/>
          <a:chOff x="0" y="0"/>
          <a:chExt cx="0" cy="0"/>
        </a:xfrm>
      </p:grpSpPr>
      <p:sp>
        <p:nvSpPr>
          <p:cNvPr id="60" name="슬라이드 제목"/>
          <p:cNvSpPr txBox="1">
            <a:spLocks noGrp="1"/>
          </p:cNvSpPr>
          <p:nvPr>
            <p:ph type="title" hasCustomPrompt="1"/>
          </p:nvPr>
        </p:nvSpPr>
        <p:spPr>
          <a:xfrm>
            <a:off x="1219200" y="774700"/>
            <a:ext cx="9753600" cy="1600200"/>
          </a:xfrm>
          <a:prstGeom prst="rect">
            <a:avLst/>
          </a:prstGeom>
        </p:spPr>
        <p:txBody>
          <a:bodyPr/>
          <a:lstStyle/>
          <a:p>
            <a:r>
              <a:t>슬라이드 제목</a:t>
            </a:r>
          </a:p>
        </p:txBody>
      </p:sp>
      <p:sp>
        <p:nvSpPr>
          <p:cNvPr id="61" name="해 질 무렵의 하늘을 배경으로 둔 바다"/>
          <p:cNvSpPr>
            <a:spLocks noGrp="1"/>
          </p:cNvSpPr>
          <p:nvPr>
            <p:ph type="pic" idx="21"/>
          </p:nvPr>
        </p:nvSpPr>
        <p:spPr>
          <a:xfrm>
            <a:off x="12192644" y="718588"/>
            <a:ext cx="10972801" cy="12329624"/>
          </a:xfrm>
          <a:prstGeom prst="rect">
            <a:avLst/>
          </a:prstGeom>
        </p:spPr>
        <p:txBody>
          <a:bodyPr lIns="91439" tIns="45719" rIns="91439" bIns="45719">
            <a:noAutofit/>
          </a:bodyPr>
          <a:lstStyle/>
          <a:p>
            <a:endParaRPr/>
          </a:p>
        </p:txBody>
      </p:sp>
      <p:sp>
        <p:nvSpPr>
          <p:cNvPr id="62" name="슬라이드 부제"/>
          <p:cNvSpPr txBox="1">
            <a:spLocks noGrp="1"/>
          </p:cNvSpPr>
          <p:nvPr>
            <p:ph type="body" sz="quarter" idx="22" hasCustomPrompt="1"/>
          </p:nvPr>
        </p:nvSpPr>
        <p:spPr>
          <a:xfrm>
            <a:off x="1219200" y="2387600"/>
            <a:ext cx="9757569" cy="832612"/>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63" name="Body Level One…"/>
          <p:cNvSpPr txBox="1">
            <a:spLocks noGrp="1"/>
          </p:cNvSpPr>
          <p:nvPr>
            <p:ph type="body" sz="half" idx="1" hasCustomPrompt="1"/>
          </p:nvPr>
        </p:nvSpPr>
        <p:spPr>
          <a:xfrm>
            <a:off x="1219200" y="4023221"/>
            <a:ext cx="9757569" cy="8384679"/>
          </a:xfrm>
          <a:prstGeom prst="rect">
            <a:avLst/>
          </a:prstGeom>
        </p:spPr>
        <p:txBody>
          <a:bodyPr/>
          <a:lstStyle/>
          <a:p>
            <a:r>
              <a:t>슬라이드 구분점 텍스트</a:t>
            </a:r>
          </a:p>
          <a:p>
            <a:pPr lvl="1"/>
            <a:endParaRPr/>
          </a:p>
          <a:p>
            <a:pPr lvl="2"/>
            <a:endParaRPr/>
          </a:p>
          <a:p>
            <a:pPr lvl="3"/>
            <a:endParaRPr/>
          </a:p>
          <a:p>
            <a:pPr lvl="4"/>
            <a:endParaRPr/>
          </a:p>
        </p:txBody>
      </p:sp>
      <p:sp>
        <p:nvSpPr>
          <p:cNvPr id="64" name="Slide Number"/>
          <p:cNvSpPr txBox="1">
            <a:spLocks noGrp="1"/>
          </p:cNvSpPr>
          <p:nvPr>
            <p:ph type="sldNum" sz="quarter" idx="2"/>
          </p:nvPr>
        </p:nvSpPr>
        <p:spPr>
          <a:xfrm>
            <a:off x="11883390"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제목, 구분점 및 작은 라이브 비디오">
    <p:spTree>
      <p:nvGrpSpPr>
        <p:cNvPr id="1" name=""/>
        <p:cNvGrpSpPr/>
        <p:nvPr/>
      </p:nvGrpSpPr>
      <p:grpSpPr>
        <a:xfrm>
          <a:off x="0" y="0"/>
          <a:ext cx="0" cy="0"/>
          <a:chOff x="0" y="0"/>
          <a:chExt cx="0" cy="0"/>
        </a:xfrm>
      </p:grpSpPr>
      <p:sp>
        <p:nvSpPr>
          <p:cNvPr id="71" name="슬라이드 제목"/>
          <p:cNvSpPr txBox="1">
            <a:spLocks noGrp="1"/>
          </p:cNvSpPr>
          <p:nvPr>
            <p:ph type="title" hasCustomPrompt="1"/>
          </p:nvPr>
        </p:nvSpPr>
        <p:spPr>
          <a:xfrm>
            <a:off x="1219200" y="774700"/>
            <a:ext cx="9753600" cy="1600200"/>
          </a:xfrm>
          <a:prstGeom prst="rect">
            <a:avLst/>
          </a:prstGeom>
        </p:spPr>
        <p:txBody>
          <a:bodyPr/>
          <a:lstStyle/>
          <a:p>
            <a:r>
              <a:t>슬라이드 제목</a:t>
            </a:r>
          </a:p>
        </p:txBody>
      </p:sp>
      <p:sp>
        <p:nvSpPr>
          <p:cNvPr id="72" name="슬라이드 부제"/>
          <p:cNvSpPr txBox="1">
            <a:spLocks noGrp="1"/>
          </p:cNvSpPr>
          <p:nvPr>
            <p:ph type="body" sz="quarter" idx="21" hasCustomPrompt="1"/>
          </p:nvPr>
        </p:nvSpPr>
        <p:spPr>
          <a:xfrm>
            <a:off x="1219200" y="2387600"/>
            <a:ext cx="9757569" cy="832612"/>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73" name="Body Level One…"/>
          <p:cNvSpPr txBox="1">
            <a:spLocks noGrp="1"/>
          </p:cNvSpPr>
          <p:nvPr>
            <p:ph type="body" sz="half" idx="1" hasCustomPrompt="1"/>
          </p:nvPr>
        </p:nvSpPr>
        <p:spPr>
          <a:xfrm>
            <a:off x="1219200" y="4023221"/>
            <a:ext cx="9757569" cy="8384679"/>
          </a:xfrm>
          <a:prstGeom prst="rect">
            <a:avLst/>
          </a:prstGeom>
        </p:spPr>
        <p:txBody>
          <a:bodyPr/>
          <a:lstStyle/>
          <a:p>
            <a:r>
              <a:t>슬라이드 구분점 텍스트</a:t>
            </a:r>
          </a:p>
          <a:p>
            <a:pPr lvl="1"/>
            <a:endParaRPr/>
          </a:p>
          <a:p>
            <a:pPr lvl="2"/>
            <a:endParaRPr/>
          </a:p>
          <a:p>
            <a:pPr lvl="3"/>
            <a:endParaRPr/>
          </a:p>
          <a:p>
            <a:pPr lvl="4"/>
            <a:endParaRPr/>
          </a:p>
        </p:txBody>
      </p:sp>
      <p:sp>
        <p:nvSpPr>
          <p:cNvPr id="74" name="Slide Number"/>
          <p:cNvSpPr txBox="1">
            <a:spLocks noGrp="1"/>
          </p:cNvSpPr>
          <p:nvPr>
            <p:ph type="sldNum" sz="quarter" idx="2"/>
          </p:nvPr>
        </p:nvSpPr>
        <p:spPr>
          <a:xfrm>
            <a:off x="11883390"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제목, 구분점 및 큰 라이브 비디오">
    <p:spTree>
      <p:nvGrpSpPr>
        <p:cNvPr id="1" name=""/>
        <p:cNvGrpSpPr/>
        <p:nvPr/>
      </p:nvGrpSpPr>
      <p:grpSpPr>
        <a:xfrm>
          <a:off x="0" y="0"/>
          <a:ext cx="0" cy="0"/>
          <a:chOff x="0" y="0"/>
          <a:chExt cx="0" cy="0"/>
        </a:xfrm>
      </p:grpSpPr>
      <p:sp>
        <p:nvSpPr>
          <p:cNvPr id="81" name="슬라이드 제목"/>
          <p:cNvSpPr txBox="1">
            <a:spLocks noGrp="1"/>
          </p:cNvSpPr>
          <p:nvPr>
            <p:ph type="title" hasCustomPrompt="1"/>
          </p:nvPr>
        </p:nvSpPr>
        <p:spPr>
          <a:xfrm>
            <a:off x="1219200" y="774700"/>
            <a:ext cx="9753600" cy="1600200"/>
          </a:xfrm>
          <a:prstGeom prst="rect">
            <a:avLst/>
          </a:prstGeom>
        </p:spPr>
        <p:txBody>
          <a:bodyPr/>
          <a:lstStyle/>
          <a:p>
            <a:r>
              <a:t>슬라이드 제목</a:t>
            </a:r>
          </a:p>
        </p:txBody>
      </p:sp>
      <p:sp>
        <p:nvSpPr>
          <p:cNvPr id="82" name="슬라이드 부제"/>
          <p:cNvSpPr txBox="1">
            <a:spLocks noGrp="1"/>
          </p:cNvSpPr>
          <p:nvPr>
            <p:ph type="body" sz="quarter" idx="21" hasCustomPrompt="1"/>
          </p:nvPr>
        </p:nvSpPr>
        <p:spPr>
          <a:xfrm>
            <a:off x="1219200" y="2387600"/>
            <a:ext cx="9757569" cy="832612"/>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83" name="Body Level One…"/>
          <p:cNvSpPr txBox="1">
            <a:spLocks noGrp="1"/>
          </p:cNvSpPr>
          <p:nvPr>
            <p:ph type="body" sz="half" idx="1" hasCustomPrompt="1"/>
          </p:nvPr>
        </p:nvSpPr>
        <p:spPr>
          <a:xfrm>
            <a:off x="1219200" y="4023221"/>
            <a:ext cx="9757569" cy="8384679"/>
          </a:xfrm>
          <a:prstGeom prst="rect">
            <a:avLst/>
          </a:prstGeom>
        </p:spPr>
        <p:txBody>
          <a:bodyPr/>
          <a:lstStyle/>
          <a:p>
            <a:r>
              <a:t>슬라이드 구분점 텍스트</a:t>
            </a:r>
          </a:p>
          <a:p>
            <a:pPr lvl="1"/>
            <a:endParaRPr/>
          </a:p>
          <a:p>
            <a:pPr lvl="2"/>
            <a:endParaRPr/>
          </a:p>
          <a:p>
            <a:pPr lvl="3"/>
            <a:endParaRPr/>
          </a:p>
          <a:p>
            <a:pPr lvl="4"/>
            <a:endParaRPr/>
          </a:p>
        </p:txBody>
      </p:sp>
      <p:sp>
        <p:nvSpPr>
          <p:cNvPr id="84" name="Slide Number"/>
          <p:cNvSpPr txBox="1">
            <a:spLocks noGrp="1"/>
          </p:cNvSpPr>
          <p:nvPr>
            <p:ph type="sldNum" sz="quarter" idx="2"/>
          </p:nvPr>
        </p:nvSpPr>
        <p:spPr>
          <a:xfrm>
            <a:off x="11883390"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섹션">
    <p:spTree>
      <p:nvGrpSpPr>
        <p:cNvPr id="1" name=""/>
        <p:cNvGrpSpPr/>
        <p:nvPr/>
      </p:nvGrpSpPr>
      <p:grpSpPr>
        <a:xfrm>
          <a:off x="0" y="0"/>
          <a:ext cx="0" cy="0"/>
          <a:chOff x="0" y="0"/>
          <a:chExt cx="0" cy="0"/>
        </a:xfrm>
      </p:grpSpPr>
      <p:sp>
        <p:nvSpPr>
          <p:cNvPr id="91" name="섹션 제목"/>
          <p:cNvSpPr txBox="1">
            <a:spLocks noGrp="1"/>
          </p:cNvSpPr>
          <p:nvPr>
            <p:ph type="title" hasCustomPrompt="1"/>
          </p:nvPr>
        </p:nvSpPr>
        <p:spPr>
          <a:xfrm>
            <a:off x="1219200" y="3242270"/>
            <a:ext cx="21945600" cy="6604001"/>
          </a:xfrm>
          <a:prstGeom prst="rect">
            <a:avLst/>
          </a:prstGeom>
        </p:spPr>
        <p:txBody>
          <a:bodyPr anchor="ctr"/>
          <a:lstStyle>
            <a:lvl1pPr algn="ctr">
              <a:defRPr sz="12800" spc="0">
                <a:latin typeface="Canela Bold"/>
                <a:ea typeface="Canela Bold"/>
                <a:cs typeface="Canela Bold"/>
                <a:sym typeface="Canela Bold"/>
              </a:defRPr>
            </a:lvl1pPr>
          </a:lstStyle>
          <a:p>
            <a:r>
              <a:t>섹션 제목</a:t>
            </a:r>
          </a:p>
        </p:txBody>
      </p:sp>
      <p:sp>
        <p:nvSpPr>
          <p:cNvPr id="92"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제목 전용">
    <p:spTree>
      <p:nvGrpSpPr>
        <p:cNvPr id="1" name=""/>
        <p:cNvGrpSpPr/>
        <p:nvPr/>
      </p:nvGrpSpPr>
      <p:grpSpPr>
        <a:xfrm>
          <a:off x="0" y="0"/>
          <a:ext cx="0" cy="0"/>
          <a:chOff x="0" y="0"/>
          <a:chExt cx="0" cy="0"/>
        </a:xfrm>
      </p:grpSpPr>
      <p:sp>
        <p:nvSpPr>
          <p:cNvPr id="99" name="슬라이드 제목"/>
          <p:cNvSpPr txBox="1">
            <a:spLocks noGrp="1"/>
          </p:cNvSpPr>
          <p:nvPr>
            <p:ph type="title" hasCustomPrompt="1"/>
          </p:nvPr>
        </p:nvSpPr>
        <p:spPr>
          <a:prstGeom prst="rect">
            <a:avLst/>
          </a:prstGeom>
        </p:spPr>
        <p:txBody>
          <a:bodyPr/>
          <a:lstStyle/>
          <a:p>
            <a:r>
              <a:t>슬라이드 제목</a:t>
            </a:r>
          </a:p>
        </p:txBody>
      </p:sp>
      <p:sp>
        <p:nvSpPr>
          <p:cNvPr id="100" name="슬라이드 부제"/>
          <p:cNvSpPr txBox="1">
            <a:spLocks noGrp="1"/>
          </p:cNvSpPr>
          <p:nvPr>
            <p:ph type="body" sz="quarter" idx="21" hasCustomPrompt="1"/>
          </p:nvPr>
        </p:nvSpPr>
        <p:spPr>
          <a:xfrm>
            <a:off x="1219200" y="2384648"/>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101"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의제">
    <p:spTree>
      <p:nvGrpSpPr>
        <p:cNvPr id="1" name=""/>
        <p:cNvGrpSpPr/>
        <p:nvPr/>
      </p:nvGrpSpPr>
      <p:grpSpPr>
        <a:xfrm>
          <a:off x="0" y="0"/>
          <a:ext cx="0" cy="0"/>
          <a:chOff x="0" y="0"/>
          <a:chExt cx="0" cy="0"/>
        </a:xfrm>
      </p:grpSpPr>
      <p:sp>
        <p:nvSpPr>
          <p:cNvPr id="108" name="의제 제목"/>
          <p:cNvSpPr txBox="1">
            <a:spLocks noGrp="1"/>
          </p:cNvSpPr>
          <p:nvPr>
            <p:ph type="title" hasCustomPrompt="1"/>
          </p:nvPr>
        </p:nvSpPr>
        <p:spPr>
          <a:prstGeom prst="rect">
            <a:avLst/>
          </a:prstGeom>
        </p:spPr>
        <p:txBody>
          <a:bodyPr/>
          <a:lstStyle/>
          <a:p>
            <a:r>
              <a:t>의제 제목</a:t>
            </a:r>
          </a:p>
        </p:txBody>
      </p:sp>
      <p:sp>
        <p:nvSpPr>
          <p:cNvPr id="109" name="Body Level One…"/>
          <p:cNvSpPr txBox="1">
            <a:spLocks noGrp="1"/>
          </p:cNvSpPr>
          <p:nvPr>
            <p:ph type="body" idx="1" hasCustomPrompt="1"/>
          </p:nvPr>
        </p:nvSpPr>
        <p:spPr>
          <a:xfrm>
            <a:off x="1219200" y="4013200"/>
            <a:ext cx="21945600" cy="8385548"/>
          </a:xfrm>
          <a:prstGeom prst="rect">
            <a:avLst/>
          </a:prstGeom>
        </p:spPr>
        <p:txBody>
          <a:bodyPr/>
          <a:lstStyle>
            <a:lvl1pPr marL="0" indent="0" defTabSz="825500">
              <a:lnSpc>
                <a:spcPct val="100000"/>
              </a:lnSpc>
              <a:buSzTx/>
              <a:buNone/>
              <a:defRPr sz="6800" spc="-136">
                <a:latin typeface="Canela Deck Regular"/>
                <a:ea typeface="Canela Deck Regular"/>
                <a:cs typeface="Canela Deck Regular"/>
                <a:sym typeface="Canela Deck Regular"/>
              </a:defRPr>
            </a:lvl1pPr>
            <a:lvl2pPr marL="0" indent="457200" defTabSz="825500">
              <a:lnSpc>
                <a:spcPct val="100000"/>
              </a:lnSpc>
              <a:buSzTx/>
              <a:buNone/>
              <a:defRPr sz="6800" spc="-136">
                <a:latin typeface="Canela Deck Regular"/>
                <a:ea typeface="Canela Deck Regular"/>
                <a:cs typeface="Canela Deck Regular"/>
                <a:sym typeface="Canela Deck Regular"/>
              </a:defRPr>
            </a:lvl2pPr>
            <a:lvl3pPr marL="0" indent="914400" defTabSz="825500">
              <a:lnSpc>
                <a:spcPct val="100000"/>
              </a:lnSpc>
              <a:buSzTx/>
              <a:buNone/>
              <a:defRPr sz="6800" spc="-136">
                <a:latin typeface="Canela Deck Regular"/>
                <a:ea typeface="Canela Deck Regular"/>
                <a:cs typeface="Canela Deck Regular"/>
                <a:sym typeface="Canela Deck Regular"/>
              </a:defRPr>
            </a:lvl3pPr>
            <a:lvl4pPr marL="0" indent="1371600" defTabSz="825500">
              <a:lnSpc>
                <a:spcPct val="100000"/>
              </a:lnSpc>
              <a:buSzTx/>
              <a:buNone/>
              <a:defRPr sz="6800" spc="-136">
                <a:latin typeface="Canela Deck Regular"/>
                <a:ea typeface="Canela Deck Regular"/>
                <a:cs typeface="Canela Deck Regular"/>
                <a:sym typeface="Canela Deck Regular"/>
              </a:defRPr>
            </a:lvl4pPr>
            <a:lvl5pPr marL="0" indent="1828800" defTabSz="825500">
              <a:lnSpc>
                <a:spcPct val="100000"/>
              </a:lnSpc>
              <a:buSzTx/>
              <a:buNone/>
              <a:defRPr sz="6800" spc="-136">
                <a:latin typeface="Canela Deck Regular"/>
                <a:ea typeface="Canela Deck Regular"/>
                <a:cs typeface="Canela Deck Regular"/>
                <a:sym typeface="Canela Deck Regular"/>
              </a:defRPr>
            </a:lvl5pPr>
          </a:lstStyle>
          <a:p>
            <a:r>
              <a:t>의제 주제</a:t>
            </a:r>
          </a:p>
          <a:p>
            <a:pPr lvl="1"/>
            <a:endParaRPr/>
          </a:p>
          <a:p>
            <a:pPr lvl="2"/>
            <a:endParaRPr/>
          </a:p>
          <a:p>
            <a:pPr lvl="3"/>
            <a:endParaRPr/>
          </a:p>
          <a:p>
            <a:pPr lvl="4"/>
            <a:endParaRPr/>
          </a:p>
        </p:txBody>
      </p:sp>
      <p:sp>
        <p:nvSpPr>
          <p:cNvPr id="110" name="의제 부제"/>
          <p:cNvSpPr txBox="1">
            <a:spLocks noGrp="1"/>
          </p:cNvSpPr>
          <p:nvPr>
            <p:ph type="body" sz="quarter" idx="21" hasCustomPrompt="1"/>
          </p:nvPr>
        </p:nvSpPr>
        <p:spPr>
          <a:xfrm>
            <a:off x="1219200" y="2387115"/>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의제 부제</a:t>
            </a:r>
          </a:p>
        </p:txBody>
      </p:sp>
      <p:sp>
        <p:nvSpPr>
          <p:cNvPr id="111"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내역서">
    <p:spTree>
      <p:nvGrpSpPr>
        <p:cNvPr id="1" name=""/>
        <p:cNvGrpSpPr/>
        <p:nvPr/>
      </p:nvGrpSpPr>
      <p:grpSpPr>
        <a:xfrm>
          <a:off x="0" y="0"/>
          <a:ext cx="0" cy="0"/>
          <a:chOff x="0" y="0"/>
          <a:chExt cx="0" cy="0"/>
        </a:xfrm>
      </p:grpSpPr>
      <p:sp>
        <p:nvSpPr>
          <p:cNvPr id="118" name="Body Level One…"/>
          <p:cNvSpPr txBox="1">
            <a:spLocks noGrp="1"/>
          </p:cNvSpPr>
          <p:nvPr>
            <p:ph type="body" idx="1" hasCustomPrompt="1"/>
          </p:nvPr>
        </p:nvSpPr>
        <p:spPr>
          <a:xfrm>
            <a:off x="1219200" y="3251200"/>
            <a:ext cx="21945600" cy="6604000"/>
          </a:xfrm>
          <a:prstGeom prst="rect">
            <a:avLst/>
          </a:prstGeom>
        </p:spPr>
        <p:txBody>
          <a:bodyPr anchor="ctr"/>
          <a:lstStyle>
            <a:lvl1pPr marL="0" indent="0" algn="ctr" defTabSz="2438400">
              <a:lnSpc>
                <a:spcPct val="80000"/>
              </a:lnSpc>
              <a:spcBef>
                <a:spcPts val="0"/>
              </a:spcBef>
              <a:buSzTx/>
              <a:buNone/>
              <a:defRPr sz="12800">
                <a:latin typeface="Canela Regular"/>
                <a:ea typeface="Canela Regular"/>
                <a:cs typeface="Canela Regular"/>
                <a:sym typeface="Canela Regular"/>
              </a:defRPr>
            </a:lvl1pPr>
            <a:lvl2pPr marL="0" indent="457200" algn="ctr" defTabSz="2438400">
              <a:lnSpc>
                <a:spcPct val="80000"/>
              </a:lnSpc>
              <a:spcBef>
                <a:spcPts val="0"/>
              </a:spcBef>
              <a:buSzTx/>
              <a:buNone/>
              <a:defRPr sz="12800">
                <a:latin typeface="Canela Regular"/>
                <a:ea typeface="Canela Regular"/>
                <a:cs typeface="Canela Regular"/>
                <a:sym typeface="Canela Regular"/>
              </a:defRPr>
            </a:lvl2pPr>
            <a:lvl3pPr marL="0" indent="914400" algn="ctr" defTabSz="2438400">
              <a:lnSpc>
                <a:spcPct val="80000"/>
              </a:lnSpc>
              <a:spcBef>
                <a:spcPts val="0"/>
              </a:spcBef>
              <a:buSzTx/>
              <a:buNone/>
              <a:defRPr sz="12800">
                <a:latin typeface="Canela Regular"/>
                <a:ea typeface="Canela Regular"/>
                <a:cs typeface="Canela Regular"/>
                <a:sym typeface="Canela Regular"/>
              </a:defRPr>
            </a:lvl3pPr>
            <a:lvl4pPr marL="0" indent="1371600" algn="ctr" defTabSz="2438400">
              <a:lnSpc>
                <a:spcPct val="80000"/>
              </a:lnSpc>
              <a:spcBef>
                <a:spcPts val="0"/>
              </a:spcBef>
              <a:buSzTx/>
              <a:buNone/>
              <a:defRPr sz="12800">
                <a:latin typeface="Canela Regular"/>
                <a:ea typeface="Canela Regular"/>
                <a:cs typeface="Canela Regular"/>
                <a:sym typeface="Canela Regular"/>
              </a:defRPr>
            </a:lvl4pPr>
            <a:lvl5pPr marL="0" indent="1828800" algn="ctr" defTabSz="2438400">
              <a:lnSpc>
                <a:spcPct val="80000"/>
              </a:lnSpc>
              <a:spcBef>
                <a:spcPts val="0"/>
              </a:spcBef>
              <a:buSzTx/>
              <a:buNone/>
              <a:defRPr sz="12800">
                <a:latin typeface="Canela Regular"/>
                <a:ea typeface="Canela Regular"/>
                <a:cs typeface="Canela Regular"/>
                <a:sym typeface="Canela Regular"/>
              </a:defRPr>
            </a:lvl5pPr>
          </a:lstStyle>
          <a:p>
            <a:r>
              <a:t>내역서</a:t>
            </a:r>
          </a:p>
          <a:p>
            <a:pPr lvl="1"/>
            <a:endParaRPr/>
          </a:p>
          <a:p>
            <a:pPr lvl="2"/>
            <a:endParaRPr/>
          </a:p>
          <a:p>
            <a:pPr lvl="3"/>
            <a:endParaRPr/>
          </a:p>
          <a:p>
            <a:pPr lvl="4"/>
            <a:endParaRPr/>
          </a:p>
        </p:txBody>
      </p:sp>
      <p:sp>
        <p:nvSpPr>
          <p:cNvPr id="11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중요한 사실">
    <p:spTree>
      <p:nvGrpSpPr>
        <p:cNvPr id="1" name=""/>
        <p:cNvGrpSpPr/>
        <p:nvPr/>
      </p:nvGrpSpPr>
      <p:grpSpPr>
        <a:xfrm>
          <a:off x="0" y="0"/>
          <a:ext cx="0" cy="0"/>
          <a:chOff x="0" y="0"/>
          <a:chExt cx="0" cy="0"/>
        </a:xfrm>
      </p:grpSpPr>
      <p:sp>
        <p:nvSpPr>
          <p:cNvPr id="126" name="사실 정보"/>
          <p:cNvSpPr txBox="1">
            <a:spLocks noGrp="1"/>
          </p:cNvSpPr>
          <p:nvPr>
            <p:ph type="body" sz="quarter" idx="21" hasCustomPrompt="1"/>
          </p:nvPr>
        </p:nvSpPr>
        <p:spPr>
          <a:xfrm>
            <a:off x="1219200" y="8462239"/>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사실 정보</a:t>
            </a:r>
          </a:p>
        </p:txBody>
      </p:sp>
      <p:sp>
        <p:nvSpPr>
          <p:cNvPr id="127" name="Body Level One…"/>
          <p:cNvSpPr txBox="1">
            <a:spLocks noGrp="1"/>
          </p:cNvSpPr>
          <p:nvPr>
            <p:ph type="body" sz="half" idx="1" hasCustomPrompt="1"/>
          </p:nvPr>
        </p:nvSpPr>
        <p:spPr>
          <a:xfrm>
            <a:off x="1219200" y="4214484"/>
            <a:ext cx="21945600" cy="4269708"/>
          </a:xfrm>
          <a:prstGeom prst="rect">
            <a:avLst/>
          </a:prstGeom>
        </p:spPr>
        <p:txBody>
          <a:bodyPr anchor="b"/>
          <a:lstStyle>
            <a:lvl1pPr marL="0" indent="0" algn="ctr" defTabSz="2438400">
              <a:lnSpc>
                <a:spcPct val="80000"/>
              </a:lnSpc>
              <a:spcBef>
                <a:spcPts val="0"/>
              </a:spcBef>
              <a:buSzTx/>
              <a:buNone/>
              <a:defRPr sz="22400">
                <a:latin typeface="Canela Bold"/>
                <a:ea typeface="Canela Bold"/>
                <a:cs typeface="Canela Bold"/>
                <a:sym typeface="Canela Bold"/>
              </a:defRPr>
            </a:lvl1pPr>
            <a:lvl2pPr marL="0" indent="457200" algn="ctr" defTabSz="2438400">
              <a:lnSpc>
                <a:spcPct val="80000"/>
              </a:lnSpc>
              <a:spcBef>
                <a:spcPts val="0"/>
              </a:spcBef>
              <a:buSzTx/>
              <a:buNone/>
              <a:defRPr sz="22400">
                <a:latin typeface="Canela Bold"/>
                <a:ea typeface="Canela Bold"/>
                <a:cs typeface="Canela Bold"/>
                <a:sym typeface="Canela Bold"/>
              </a:defRPr>
            </a:lvl2pPr>
            <a:lvl3pPr marL="0" indent="914400" algn="ctr" defTabSz="2438400">
              <a:lnSpc>
                <a:spcPct val="80000"/>
              </a:lnSpc>
              <a:spcBef>
                <a:spcPts val="0"/>
              </a:spcBef>
              <a:buSzTx/>
              <a:buNone/>
              <a:defRPr sz="22400">
                <a:latin typeface="Canela Bold"/>
                <a:ea typeface="Canela Bold"/>
                <a:cs typeface="Canela Bold"/>
                <a:sym typeface="Canela Bold"/>
              </a:defRPr>
            </a:lvl3pPr>
            <a:lvl4pPr marL="0" indent="1371600" algn="ctr" defTabSz="2438400">
              <a:lnSpc>
                <a:spcPct val="80000"/>
              </a:lnSpc>
              <a:spcBef>
                <a:spcPts val="0"/>
              </a:spcBef>
              <a:buSzTx/>
              <a:buNone/>
              <a:defRPr sz="22400">
                <a:latin typeface="Canela Bold"/>
                <a:ea typeface="Canela Bold"/>
                <a:cs typeface="Canela Bold"/>
                <a:sym typeface="Canela Bold"/>
              </a:defRPr>
            </a:lvl4pPr>
            <a:lvl5pPr marL="0" indent="1828800" algn="ctr" defTabSz="2438400">
              <a:lnSpc>
                <a:spcPct val="80000"/>
              </a:lnSpc>
              <a:spcBef>
                <a:spcPts val="0"/>
              </a:spcBef>
              <a:buSzTx/>
              <a:buNone/>
              <a:defRPr sz="22400">
                <a:latin typeface="Canela Bold"/>
                <a:ea typeface="Canela Bold"/>
                <a:cs typeface="Canela Bold"/>
                <a:sym typeface="Canela Bold"/>
              </a:defRPr>
            </a:lvl5pPr>
          </a:lstStyle>
          <a:p>
            <a:r>
              <a:t>100%</a:t>
            </a:r>
          </a:p>
          <a:p>
            <a:pPr lvl="1"/>
            <a:endParaRPr/>
          </a:p>
          <a:p>
            <a:pPr lvl="2"/>
            <a:endParaRPr/>
          </a:p>
          <a:p>
            <a:pPr lvl="3"/>
            <a:endParaRPr/>
          </a:p>
          <a:p>
            <a:pPr lvl="4"/>
            <a:endParaRPr/>
          </a:p>
        </p:txBody>
      </p:sp>
      <p:sp>
        <p:nvSpPr>
          <p:cNvPr id="12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인용">
    <p:spTree>
      <p:nvGrpSpPr>
        <p:cNvPr id="1" name=""/>
        <p:cNvGrpSpPr/>
        <p:nvPr/>
      </p:nvGrpSpPr>
      <p:grpSpPr>
        <a:xfrm>
          <a:off x="0" y="0"/>
          <a:ext cx="0" cy="0"/>
          <a:chOff x="0" y="0"/>
          <a:chExt cx="0" cy="0"/>
        </a:xfrm>
      </p:grpSpPr>
      <p:sp>
        <p:nvSpPr>
          <p:cNvPr id="135" name="속성"/>
          <p:cNvSpPr txBox="1">
            <a:spLocks noGrp="1"/>
          </p:cNvSpPr>
          <p:nvPr>
            <p:ph type="body" sz="quarter" idx="21" hasCustomPrompt="1"/>
          </p:nvPr>
        </p:nvSpPr>
        <p:spPr>
          <a:xfrm>
            <a:off x="1219200" y="11100053"/>
            <a:ext cx="21945602" cy="832613"/>
          </a:xfrm>
          <a:prstGeom prst="rect">
            <a:avLst/>
          </a:prstGeom>
        </p:spPr>
        <p:txBody>
          <a:bodyPr anchor="ctr"/>
          <a:lstStyle>
            <a:lvl1pPr marL="0" indent="0" algn="ctr" defTabSz="825500">
              <a:lnSpc>
                <a:spcPct val="100000"/>
              </a:lnSpc>
              <a:spcBef>
                <a:spcPts val="0"/>
              </a:spcBef>
              <a:buSzTx/>
              <a:buNone/>
              <a:defRPr b="1" spc="-44">
                <a:latin typeface="AvenirNext-DemiBold"/>
                <a:ea typeface="AvenirNext-DemiBold"/>
                <a:cs typeface="AvenirNext-DemiBold"/>
                <a:sym typeface="AvenirNext-DemiBold"/>
              </a:defRPr>
            </a:lvl1pPr>
          </a:lstStyle>
          <a:p>
            <a:r>
              <a:t>속성</a:t>
            </a:r>
          </a:p>
        </p:txBody>
      </p:sp>
      <p:sp>
        <p:nvSpPr>
          <p:cNvPr id="136" name="Body Level One…"/>
          <p:cNvSpPr txBox="1">
            <a:spLocks noGrp="1"/>
          </p:cNvSpPr>
          <p:nvPr>
            <p:ph type="body" sz="half" idx="1" hasCustomPrompt="1"/>
          </p:nvPr>
        </p:nvSpPr>
        <p:spPr>
          <a:xfrm>
            <a:off x="1219200" y="4178300"/>
            <a:ext cx="21945600" cy="4416425"/>
          </a:xfrm>
          <a:prstGeom prst="rect">
            <a:avLst/>
          </a:prstGeom>
        </p:spPr>
        <p:txBody>
          <a:bodyPr anchor="ctr"/>
          <a:lstStyle>
            <a:lvl1pPr marL="0" indent="0" algn="ctr" defTabSz="2438400">
              <a:lnSpc>
                <a:spcPct val="80000"/>
              </a:lnSpc>
              <a:spcBef>
                <a:spcPts val="0"/>
              </a:spcBef>
              <a:buSzTx/>
              <a:buNone/>
              <a:defRPr sz="8400">
                <a:latin typeface="Canela Bold"/>
                <a:ea typeface="Canela Bold"/>
                <a:cs typeface="Canela Bold"/>
                <a:sym typeface="Canela Bold"/>
              </a:defRPr>
            </a:lvl1pPr>
            <a:lvl2pPr marL="0" indent="457200" algn="ctr" defTabSz="2438400">
              <a:lnSpc>
                <a:spcPct val="80000"/>
              </a:lnSpc>
              <a:spcBef>
                <a:spcPts val="0"/>
              </a:spcBef>
              <a:buSzTx/>
              <a:buNone/>
              <a:defRPr sz="8400">
                <a:latin typeface="Canela Bold"/>
                <a:ea typeface="Canela Bold"/>
                <a:cs typeface="Canela Bold"/>
                <a:sym typeface="Canela Bold"/>
              </a:defRPr>
            </a:lvl2pPr>
            <a:lvl3pPr marL="0" indent="914400" algn="ctr" defTabSz="2438400">
              <a:lnSpc>
                <a:spcPct val="80000"/>
              </a:lnSpc>
              <a:spcBef>
                <a:spcPts val="0"/>
              </a:spcBef>
              <a:buSzTx/>
              <a:buNone/>
              <a:defRPr sz="8400">
                <a:latin typeface="Canela Bold"/>
                <a:ea typeface="Canela Bold"/>
                <a:cs typeface="Canela Bold"/>
                <a:sym typeface="Canela Bold"/>
              </a:defRPr>
            </a:lvl3pPr>
            <a:lvl4pPr marL="0" indent="1371600" algn="ctr" defTabSz="2438400">
              <a:lnSpc>
                <a:spcPct val="80000"/>
              </a:lnSpc>
              <a:spcBef>
                <a:spcPts val="0"/>
              </a:spcBef>
              <a:buSzTx/>
              <a:buNone/>
              <a:defRPr sz="8400">
                <a:latin typeface="Canela Bold"/>
                <a:ea typeface="Canela Bold"/>
                <a:cs typeface="Canela Bold"/>
                <a:sym typeface="Canela Bold"/>
              </a:defRPr>
            </a:lvl4pPr>
            <a:lvl5pPr marL="0" indent="1828800" algn="ctr" defTabSz="2438400">
              <a:lnSpc>
                <a:spcPct val="80000"/>
              </a:lnSpc>
              <a:spcBef>
                <a:spcPts val="0"/>
              </a:spcBef>
              <a:buSzTx/>
              <a:buNone/>
              <a:defRPr sz="8400">
                <a:latin typeface="Canela Bold"/>
                <a:ea typeface="Canela Bold"/>
                <a:cs typeface="Canela Bold"/>
                <a:sym typeface="Canela Bold"/>
              </a:defRPr>
            </a:lvl5pPr>
          </a:lstStyle>
          <a:p>
            <a:r>
              <a:t>“멋진 인용구”</a:t>
            </a:r>
          </a:p>
          <a:p>
            <a:pPr lvl="1"/>
            <a:endParaRPr/>
          </a:p>
          <a:p>
            <a:pPr lvl="2"/>
            <a:endParaRPr/>
          </a:p>
          <a:p>
            <a:pPr lvl="3"/>
            <a:endParaRPr/>
          </a:p>
          <a:p>
            <a:pPr lvl="4"/>
            <a:endParaRPr/>
          </a:p>
        </p:txBody>
      </p:sp>
      <p:sp>
        <p:nvSpPr>
          <p:cNvPr id="137"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사진 - 3장">
    <p:spTree>
      <p:nvGrpSpPr>
        <p:cNvPr id="1" name=""/>
        <p:cNvGrpSpPr/>
        <p:nvPr/>
      </p:nvGrpSpPr>
      <p:grpSpPr>
        <a:xfrm>
          <a:off x="0" y="0"/>
          <a:ext cx="0" cy="0"/>
          <a:chOff x="0" y="0"/>
          <a:chExt cx="0" cy="0"/>
        </a:xfrm>
      </p:grpSpPr>
      <p:sp>
        <p:nvSpPr>
          <p:cNvPr id="144" name="해 질 무렵의 하늘을 배경으로 둔 바다 2"/>
          <p:cNvSpPr>
            <a:spLocks noGrp="1"/>
          </p:cNvSpPr>
          <p:nvPr>
            <p:ph type="pic" sz="quarter" idx="21"/>
          </p:nvPr>
        </p:nvSpPr>
        <p:spPr>
          <a:xfrm>
            <a:off x="15744825" y="5581752"/>
            <a:ext cx="7365408" cy="8280401"/>
          </a:xfrm>
          <a:prstGeom prst="rect">
            <a:avLst/>
          </a:prstGeom>
        </p:spPr>
        <p:txBody>
          <a:bodyPr lIns="91439" tIns="45719" rIns="91439" bIns="45719">
            <a:noAutofit/>
          </a:bodyPr>
          <a:lstStyle/>
          <a:p>
            <a:endParaRPr/>
          </a:p>
        </p:txBody>
      </p:sp>
      <p:sp>
        <p:nvSpPr>
          <p:cNvPr id="145" name="해 질 무렵의 하늘을 배경으로 둔 바다 1"/>
          <p:cNvSpPr>
            <a:spLocks noGrp="1"/>
          </p:cNvSpPr>
          <p:nvPr>
            <p:ph type="pic" sz="quarter" idx="22"/>
          </p:nvPr>
        </p:nvSpPr>
        <p:spPr>
          <a:xfrm>
            <a:off x="15363825" y="1270000"/>
            <a:ext cx="8115300" cy="5409006"/>
          </a:xfrm>
          <a:prstGeom prst="rect">
            <a:avLst/>
          </a:prstGeom>
        </p:spPr>
        <p:txBody>
          <a:bodyPr lIns="91439" tIns="45719" rIns="91439" bIns="45719">
            <a:noAutofit/>
          </a:bodyPr>
          <a:lstStyle/>
          <a:p>
            <a:endParaRPr/>
          </a:p>
        </p:txBody>
      </p:sp>
      <p:sp>
        <p:nvSpPr>
          <p:cNvPr id="146" name="해 질 무렵의 해변과 바다"/>
          <p:cNvSpPr>
            <a:spLocks noGrp="1"/>
          </p:cNvSpPr>
          <p:nvPr>
            <p:ph type="pic" idx="23"/>
          </p:nvPr>
        </p:nvSpPr>
        <p:spPr>
          <a:xfrm>
            <a:off x="-63500" y="1270000"/>
            <a:ext cx="16764000" cy="11176000"/>
          </a:xfrm>
          <a:prstGeom prst="rect">
            <a:avLst/>
          </a:prstGeom>
        </p:spPr>
        <p:txBody>
          <a:bodyPr lIns="91439" tIns="45719" rIns="91439" bIns="45719">
            <a:noAutofit/>
          </a:bodyPr>
          <a:lstStyle/>
          <a:p>
            <a:endParaRPr/>
          </a:p>
        </p:txBody>
      </p:sp>
      <p:sp>
        <p:nvSpPr>
          <p:cNvPr id="147"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사진">
    <p:spTree>
      <p:nvGrpSpPr>
        <p:cNvPr id="1" name=""/>
        <p:cNvGrpSpPr/>
        <p:nvPr/>
      </p:nvGrpSpPr>
      <p:grpSpPr>
        <a:xfrm>
          <a:off x="0" y="0"/>
          <a:ext cx="0" cy="0"/>
          <a:chOff x="0" y="0"/>
          <a:chExt cx="0" cy="0"/>
        </a:xfrm>
      </p:grpSpPr>
      <p:sp>
        <p:nvSpPr>
          <p:cNvPr id="154" name="해 질 무렵의 해변과 바다"/>
          <p:cNvSpPr>
            <a:spLocks noGrp="1"/>
          </p:cNvSpPr>
          <p:nvPr>
            <p:ph type="pic" idx="21"/>
          </p:nvPr>
        </p:nvSpPr>
        <p:spPr>
          <a:xfrm>
            <a:off x="1270000" y="-423334"/>
            <a:ext cx="21844000" cy="14562668"/>
          </a:xfrm>
          <a:prstGeom prst="rect">
            <a:avLst/>
          </a:prstGeom>
        </p:spPr>
        <p:txBody>
          <a:bodyPr lIns="91439" tIns="45719" rIns="91439" bIns="45719">
            <a:noAutofit/>
          </a:bodyPr>
          <a:lstStyle/>
          <a:p>
            <a:endParaRPr/>
          </a:p>
        </p:txBody>
      </p:sp>
      <p:sp>
        <p:nvSpPr>
          <p:cNvPr id="155"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빈 페이지">
    <p:spTree>
      <p:nvGrpSpPr>
        <p:cNvPr id="1" name=""/>
        <p:cNvGrpSpPr/>
        <p:nvPr/>
      </p:nvGrpSpPr>
      <p:grpSpPr>
        <a:xfrm>
          <a:off x="0" y="0"/>
          <a:ext cx="0" cy="0"/>
          <a:chOff x="0" y="0"/>
          <a:chExt cx="0" cy="0"/>
        </a:xfrm>
      </p:grpSpPr>
      <p:sp>
        <p:nvSpPr>
          <p:cNvPr id="162" name="Rectangle"/>
          <p:cNvSpPr/>
          <p:nvPr/>
        </p:nvSpPr>
        <p:spPr>
          <a:xfrm>
            <a:off x="-5438" y="564834"/>
            <a:ext cx="385436" cy="1702397"/>
          </a:xfrm>
          <a:prstGeom prst="rect">
            <a:avLst/>
          </a:prstGeom>
          <a:gradFill>
            <a:gsLst>
              <a:gs pos="0">
                <a:srgbClr val="5191C8"/>
              </a:gs>
              <a:gs pos="928">
                <a:srgbClr val="6CC1EE"/>
              </a:gs>
              <a:gs pos="100000">
                <a:srgbClr val="26448A"/>
              </a:gs>
            </a:gsLst>
            <a:lin ang="5665584"/>
          </a:gradFill>
          <a:ln w="12700">
            <a:miter lim="400000"/>
          </a:ln>
        </p:spPr>
        <p:txBody>
          <a:bodyPr lIns="50800" tIns="50800" rIns="50800" bIns="50800" anchor="ctr"/>
          <a:lstStyle/>
          <a:p>
            <a:pPr algn="ctr" defTabSz="1130300">
              <a:lnSpc>
                <a:spcPct val="100000"/>
              </a:lnSpc>
              <a:spcBef>
                <a:spcPts val="0"/>
              </a:spcBef>
              <a:defRPr sz="3200">
                <a:solidFill>
                  <a:srgbClr val="63B2E2"/>
                </a:solidFill>
                <a:latin typeface="+mn-lt"/>
                <a:ea typeface="+mn-ea"/>
                <a:cs typeface="+mn-cs"/>
                <a:sym typeface="Avenir Next Regular"/>
              </a:defRPr>
            </a:pPr>
            <a:endParaRPr/>
          </a:p>
        </p:txBody>
      </p:sp>
      <p:sp>
        <p:nvSpPr>
          <p:cNvPr id="163" name="Line"/>
          <p:cNvSpPr/>
          <p:nvPr/>
        </p:nvSpPr>
        <p:spPr>
          <a:xfrm>
            <a:off x="672574" y="12767429"/>
            <a:ext cx="23038852" cy="1"/>
          </a:xfrm>
          <a:prstGeom prst="line">
            <a:avLst/>
          </a:prstGeom>
          <a:ln w="25400">
            <a:solidFill>
              <a:srgbClr val="000000">
                <a:alpha val="65278"/>
              </a:srgbClr>
            </a:solidFill>
            <a:miter lim="400000"/>
          </a:ln>
          <a:effectLst>
            <a:outerShdw blurRad="50800" dist="63500" dir="2700000" rotWithShape="0">
              <a:srgbClr val="000000">
                <a:alpha val="24218"/>
              </a:srgbClr>
            </a:outerShdw>
          </a:effectLst>
        </p:spPr>
        <p:txBody>
          <a:bodyPr lIns="50800" tIns="50800" rIns="50800" bIns="50800" anchor="ctr"/>
          <a:lstStyle/>
          <a:p>
            <a:endParaRPr/>
          </a:p>
        </p:txBody>
      </p:sp>
      <p:pic>
        <p:nvPicPr>
          <p:cNvPr id="164" name="ui_kor_eng.svg" descr="ui_kor_eng.svg"/>
          <p:cNvPicPr>
            <a:picLocks noChangeAspect="1"/>
          </p:cNvPicPr>
          <p:nvPr/>
        </p:nvPicPr>
        <p:blipFill>
          <a:blip r:embed="rId2"/>
          <a:srcRect l="20326" t="44369" r="49479" b="48396"/>
          <a:stretch>
            <a:fillRect/>
          </a:stretch>
        </p:blipFill>
        <p:spPr>
          <a:xfrm>
            <a:off x="540495" y="12877676"/>
            <a:ext cx="2097531" cy="685263"/>
          </a:xfrm>
          <a:prstGeom prst="rect">
            <a:avLst/>
          </a:prstGeom>
          <a:ln w="12700">
            <a:miter lim="400000"/>
          </a:ln>
        </p:spPr>
      </p:pic>
      <p:sp>
        <p:nvSpPr>
          <p:cNvPr id="165"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
        <p:nvSpPr>
          <p:cNvPr id="2" name="Body Level One…">
            <a:extLst>
              <a:ext uri="{FF2B5EF4-FFF2-40B4-BE49-F238E27FC236}">
                <a16:creationId xmlns:a16="http://schemas.microsoft.com/office/drawing/2014/main" id="{A8802055-71B5-DD4C-5F5C-42B4155A4E7D}"/>
              </a:ext>
            </a:extLst>
          </p:cNvPr>
          <p:cNvSpPr txBox="1">
            <a:spLocks noGrp="1"/>
          </p:cNvSpPr>
          <p:nvPr>
            <p:ph idx="1" hasCustomPrompt="1"/>
          </p:nvPr>
        </p:nvSpPr>
        <p:spPr>
          <a:xfrm>
            <a:off x="1219200" y="4013200"/>
            <a:ext cx="21948577" cy="84836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lvl1pPr marL="571500" indent="-571500">
              <a:buFont typeface="Wingdings" panose="05000000000000000000" pitchFamily="2" charset="2"/>
              <a:buChar char="§"/>
              <a:defRPr/>
            </a:lvl1pPr>
            <a:lvl2pPr marL="1440000" indent="-546100">
              <a:spcBef>
                <a:spcPts val="2400"/>
              </a:spcBef>
              <a:buFont typeface="Arial" panose="020B0604020202020204" pitchFamily="34" charset="0"/>
              <a:buChar char="•"/>
              <a:defRPr sz="4000"/>
            </a:lvl2pPr>
            <a:lvl3pPr marL="2160000" indent="-546100">
              <a:buSzPct val="130000"/>
              <a:buFont typeface="Wingdings" panose="05000000000000000000" pitchFamily="2" charset="2"/>
              <a:buChar char="Ø"/>
              <a:defRPr sz="3600"/>
            </a:lvl3pPr>
          </a:lstStyle>
          <a:p>
            <a:r>
              <a:rPr dirty="0" err="1"/>
              <a:t>슬라이드</a:t>
            </a:r>
            <a:r>
              <a:rPr dirty="0"/>
              <a:t> </a:t>
            </a:r>
            <a:r>
              <a:rPr dirty="0" err="1"/>
              <a:t>구분점</a:t>
            </a:r>
            <a:r>
              <a:rPr dirty="0"/>
              <a:t> </a:t>
            </a:r>
            <a:r>
              <a:rPr dirty="0" err="1"/>
              <a:t>텍스트</a:t>
            </a:r>
            <a:endParaRPr lang="en-US" dirty="0"/>
          </a:p>
          <a:p>
            <a:pPr lvl="1"/>
            <a:r>
              <a:rPr lang="en-US" dirty="0"/>
              <a:t>TEXT</a:t>
            </a:r>
          </a:p>
          <a:p>
            <a:pPr lvl="2"/>
            <a:r>
              <a:rPr lang="en-US" dirty="0"/>
              <a:t>TEXT</a:t>
            </a:r>
          </a:p>
          <a:p>
            <a:pPr lvl="1"/>
            <a:endParaRPr lang="en-US" dirty="0"/>
          </a:p>
          <a:p>
            <a:pPr lvl="2"/>
            <a:endParaRPr dirty="0"/>
          </a:p>
          <a:p>
            <a:pPr lvl="1"/>
            <a:endParaRPr dirty="0"/>
          </a:p>
          <a:p>
            <a:pPr lvl="2"/>
            <a:endParaRPr dirty="0"/>
          </a:p>
          <a:p>
            <a:pPr lvl="3"/>
            <a:endParaRPr dirty="0"/>
          </a:p>
          <a:p>
            <a:pPr lvl="4"/>
            <a:endParaRPr dirty="0"/>
          </a:p>
        </p:txBody>
      </p:sp>
    </p:spTree>
    <p:extLst>
      <p:ext uri="{BB962C8B-B14F-4D97-AF65-F5344CB8AC3E}">
        <p14:creationId xmlns:p14="http://schemas.microsoft.com/office/powerpoint/2010/main" val="1877571541"/>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빈 페이지">
    <p:spTree>
      <p:nvGrpSpPr>
        <p:cNvPr id="1" name=""/>
        <p:cNvGrpSpPr/>
        <p:nvPr/>
      </p:nvGrpSpPr>
      <p:grpSpPr>
        <a:xfrm>
          <a:off x="0" y="0"/>
          <a:ext cx="0" cy="0"/>
          <a:chOff x="0" y="0"/>
          <a:chExt cx="0" cy="0"/>
        </a:xfrm>
      </p:grpSpPr>
      <p:sp>
        <p:nvSpPr>
          <p:cNvPr id="162" name="Rectangle"/>
          <p:cNvSpPr/>
          <p:nvPr/>
        </p:nvSpPr>
        <p:spPr>
          <a:xfrm>
            <a:off x="-5438" y="564834"/>
            <a:ext cx="385436" cy="1702397"/>
          </a:xfrm>
          <a:prstGeom prst="rect">
            <a:avLst/>
          </a:prstGeom>
          <a:gradFill>
            <a:gsLst>
              <a:gs pos="0">
                <a:srgbClr val="5191C8"/>
              </a:gs>
              <a:gs pos="928">
                <a:srgbClr val="6CC1EE"/>
              </a:gs>
              <a:gs pos="100000">
                <a:srgbClr val="26448A"/>
              </a:gs>
            </a:gsLst>
            <a:lin ang="5665584"/>
          </a:gradFill>
          <a:ln w="12700">
            <a:miter lim="400000"/>
          </a:ln>
        </p:spPr>
        <p:txBody>
          <a:bodyPr lIns="50800" tIns="50800" rIns="50800" bIns="50800" anchor="ctr"/>
          <a:lstStyle/>
          <a:p>
            <a:pPr algn="ctr" defTabSz="1130300">
              <a:lnSpc>
                <a:spcPct val="100000"/>
              </a:lnSpc>
              <a:spcBef>
                <a:spcPts val="0"/>
              </a:spcBef>
              <a:defRPr sz="3200">
                <a:solidFill>
                  <a:srgbClr val="63B2E2"/>
                </a:solidFill>
                <a:latin typeface="+mn-lt"/>
                <a:ea typeface="+mn-ea"/>
                <a:cs typeface="+mn-cs"/>
                <a:sym typeface="Avenir Next Regular"/>
              </a:defRPr>
            </a:pPr>
            <a:endParaRPr/>
          </a:p>
        </p:txBody>
      </p:sp>
      <p:sp>
        <p:nvSpPr>
          <p:cNvPr id="163" name="Line"/>
          <p:cNvSpPr/>
          <p:nvPr/>
        </p:nvSpPr>
        <p:spPr>
          <a:xfrm>
            <a:off x="672574" y="12767429"/>
            <a:ext cx="23038852" cy="1"/>
          </a:xfrm>
          <a:prstGeom prst="line">
            <a:avLst/>
          </a:prstGeom>
          <a:ln w="25400">
            <a:solidFill>
              <a:srgbClr val="000000">
                <a:alpha val="65278"/>
              </a:srgbClr>
            </a:solidFill>
            <a:miter lim="400000"/>
          </a:ln>
          <a:effectLst>
            <a:outerShdw blurRad="50800" dist="63500" dir="2700000" rotWithShape="0">
              <a:srgbClr val="000000">
                <a:alpha val="24218"/>
              </a:srgbClr>
            </a:outerShdw>
          </a:effectLst>
        </p:spPr>
        <p:txBody>
          <a:bodyPr lIns="50800" tIns="50800" rIns="50800" bIns="50800" anchor="ctr"/>
          <a:lstStyle/>
          <a:p>
            <a:endParaRPr/>
          </a:p>
        </p:txBody>
      </p:sp>
      <p:pic>
        <p:nvPicPr>
          <p:cNvPr id="164" name="ui_kor_eng.svg" descr="ui_kor_eng.svg"/>
          <p:cNvPicPr>
            <a:picLocks noChangeAspect="1"/>
          </p:cNvPicPr>
          <p:nvPr/>
        </p:nvPicPr>
        <p:blipFill>
          <a:blip r:embed="rId2"/>
          <a:srcRect l="20326" t="44369" r="49479" b="48396"/>
          <a:stretch>
            <a:fillRect/>
          </a:stretch>
        </p:blipFill>
        <p:spPr>
          <a:xfrm>
            <a:off x="540495" y="12877676"/>
            <a:ext cx="2097531" cy="685263"/>
          </a:xfrm>
          <a:prstGeom prst="rect">
            <a:avLst/>
          </a:prstGeom>
          <a:ln w="12700">
            <a:miter lim="400000"/>
          </a:ln>
        </p:spPr>
      </p:pic>
      <p:sp>
        <p:nvSpPr>
          <p:cNvPr id="165" name="Slide Number"/>
          <p:cNvSpPr txBox="1">
            <a:spLocks noGrp="1"/>
          </p:cNvSpPr>
          <p:nvPr>
            <p:ph type="sldNum" sz="quarter" idx="2"/>
          </p:nvPr>
        </p:nvSpPr>
        <p:spPr>
          <a:xfrm>
            <a:off x="22493885" y="12947676"/>
            <a:ext cx="1320874" cy="641201"/>
          </a:xfrm>
          <a:prstGeom prst="rect">
            <a:avLst/>
          </a:prstGeom>
        </p:spPr>
        <p:txBody>
          <a:bodyPr wrap="none"/>
          <a:lstStyle/>
          <a:p>
            <a:fld id="{86CB4B4D-7CA3-9044-876B-883B54F8677D}" type="slidenum">
              <a:rPr smtClean="0"/>
              <a:t>‹#›</a:t>
            </a:fld>
            <a:r>
              <a:rPr lang="en-US" dirty="0"/>
              <a:t>/2</a:t>
            </a:r>
            <a:r>
              <a:rPr lang="en-US" altLang="ko-KR" dirty="0"/>
              <a:t>3</a:t>
            </a:r>
          </a:p>
        </p:txBody>
      </p:sp>
    </p:spTree>
    <p:extLst>
      <p:ext uri="{BB962C8B-B14F-4D97-AF65-F5344CB8AC3E}">
        <p14:creationId xmlns:p14="http://schemas.microsoft.com/office/powerpoint/2010/main" val="314698487"/>
      </p:ext>
    </p:extLst>
  </p:cSld>
  <p:clrMapOvr>
    <a:masterClrMapping/>
  </p:clrMapOvr>
  <p:transition spd="med"/>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슬라이드 제목"/>
          <p:cNvSpPr txBox="1">
            <a:spLocks noGrp="1"/>
          </p:cNvSpPr>
          <p:nvPr>
            <p:ph type="title" hasCustomPrompt="1"/>
          </p:nvPr>
        </p:nvSpPr>
        <p:spPr>
          <a:xfrm>
            <a:off x="1219200" y="774700"/>
            <a:ext cx="21945600" cy="17272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t>슬라이드 제목</a:t>
            </a:r>
          </a:p>
        </p:txBody>
      </p:sp>
      <p:sp>
        <p:nvSpPr>
          <p:cNvPr id="3" name="Body Level One…"/>
          <p:cNvSpPr txBox="1">
            <a:spLocks noGrp="1"/>
          </p:cNvSpPr>
          <p:nvPr>
            <p:ph type="body" idx="1" hasCustomPrompt="1"/>
          </p:nvPr>
        </p:nvSpPr>
        <p:spPr>
          <a:xfrm>
            <a:off x="1219200" y="4013200"/>
            <a:ext cx="21948577" cy="84836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rPr dirty="0" err="1"/>
              <a:t>슬라이드</a:t>
            </a:r>
            <a:r>
              <a:rPr dirty="0"/>
              <a:t> </a:t>
            </a:r>
            <a:r>
              <a:rPr dirty="0" err="1"/>
              <a:t>구분점</a:t>
            </a:r>
            <a:r>
              <a:rPr dirty="0"/>
              <a:t> </a:t>
            </a:r>
            <a:r>
              <a:rPr dirty="0" err="1"/>
              <a:t>텍스트</a:t>
            </a:r>
            <a:endParaRPr dirty="0"/>
          </a:p>
          <a:p>
            <a:pPr lvl="1"/>
            <a:endParaRPr dirty="0"/>
          </a:p>
          <a:p>
            <a:pPr lvl="2"/>
            <a:endParaRPr dirty="0"/>
          </a:p>
          <a:p>
            <a:pPr lvl="3"/>
            <a:endParaRPr dirty="0"/>
          </a:p>
          <a:p>
            <a:pPr lvl="4"/>
            <a:endParaRPr dirty="0"/>
          </a:p>
        </p:txBody>
      </p:sp>
      <p:sp>
        <p:nvSpPr>
          <p:cNvPr id="4" name="Slide Number"/>
          <p:cNvSpPr txBox="1">
            <a:spLocks noGrp="1"/>
          </p:cNvSpPr>
          <p:nvPr>
            <p:ph type="sldNum" sz="quarter" idx="2"/>
          </p:nvPr>
        </p:nvSpPr>
        <p:spPr>
          <a:xfrm>
            <a:off x="11877040" y="12418060"/>
            <a:ext cx="629921" cy="711201"/>
          </a:xfrm>
          <a:prstGeom prst="rect">
            <a:avLst/>
          </a:prstGeom>
          <a:ln w="12700">
            <a:miter lim="400000"/>
          </a:ln>
        </p:spPr>
        <p:txBody>
          <a:bodyPr wrap="none" lIns="50800" tIns="50800" rIns="50800" bIns="50800" anchor="b">
            <a:spAutoFit/>
          </a:bodyPr>
          <a:lstStyle>
            <a:lvl1pPr algn="ctr" defTabSz="584200">
              <a:lnSpc>
                <a:spcPct val="100000"/>
              </a:lnSpc>
              <a:spcBef>
                <a:spcPts val="0"/>
              </a:spcBef>
              <a:defRPr sz="3500">
                <a:solidFill>
                  <a:srgbClr val="5E5E5E"/>
                </a:solidFill>
                <a:latin typeface="+mn-lt"/>
                <a:ea typeface="+mn-ea"/>
                <a:cs typeface="+mn-cs"/>
                <a:sym typeface="Avenir Next Regular"/>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2"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 id="2147483666" r:id="rId14"/>
    <p:sldLayoutId id="2147483667" r:id="rId15"/>
  </p:sldLayoutIdLst>
  <p:transition spd="med"/>
  <p:hf hdr="0" ftr="0" dt="0"/>
  <p:txStyles>
    <p:titleStyle>
      <a:lvl1pPr marL="0" marR="0" indent="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1pPr>
      <a:lvl2pPr marL="0" marR="0" indent="4572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2pPr>
      <a:lvl3pPr marL="0" marR="0" indent="9144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3pPr>
      <a:lvl4pPr marL="0" marR="0" indent="13716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4pPr>
      <a:lvl5pPr marL="0" marR="0" indent="18288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5pPr>
      <a:lvl6pPr marL="0" marR="0" indent="22860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6pPr>
      <a:lvl7pPr marL="0" marR="0" indent="27432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7pPr>
      <a:lvl8pPr marL="0" marR="0" indent="32004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8pPr>
      <a:lvl9pPr marL="0" marR="0" indent="36576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9pPr>
    </p:titleStyle>
    <p:bodyStyle>
      <a:lvl1pPr marL="5461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1pPr>
      <a:lvl2pPr marL="10922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2pPr>
      <a:lvl3pPr marL="16383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3pPr>
      <a:lvl4pPr marL="21844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4pPr>
      <a:lvl5pPr marL="27305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5pPr>
      <a:lvl6pPr marL="32766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6pPr>
      <a:lvl7pPr marL="38227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7pPr>
      <a:lvl8pPr marL="43688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8pPr>
      <a:lvl9pPr marL="49149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9pPr>
    </p:bodyStyle>
    <p:otherStyle>
      <a:lvl1pPr marL="0" marR="0" indent="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1pPr>
      <a:lvl2pPr marL="0" marR="0" indent="4572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2pPr>
      <a:lvl3pPr marL="0" marR="0" indent="9144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3pPr>
      <a:lvl4pPr marL="0" marR="0" indent="13716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4pPr>
      <a:lvl5pPr marL="0" marR="0" indent="18288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5pPr>
      <a:lvl6pPr marL="0" marR="0" indent="22860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6pPr>
      <a:lvl7pPr marL="0" marR="0" indent="27432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7pPr>
      <a:lvl8pPr marL="0" marR="0" indent="32004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8pPr>
      <a:lvl9pPr marL="0" marR="0" indent="36576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xml"/><Relationship Id="rId3" Type="http://schemas.openxmlformats.org/officeDocument/2006/relationships/image" Target="../media/image7.gi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3.xml"/><Relationship Id="rId3" Type="http://schemas.openxmlformats.org/officeDocument/2006/relationships/image" Target="../media/image12.gi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 Id="rId3" Type="http://schemas.openxmlformats.org/officeDocument/2006/relationships/image" Target="../media/image13.gi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9.xml"/><Relationship Id="rId3" Type="http://schemas.openxmlformats.org/officeDocument/2006/relationships/image" Target="../media/image1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0.xml"/><Relationship Id="rId3" Type="http://schemas.openxmlformats.org/officeDocument/2006/relationships/image" Target="../media/image1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F22755-6404-6BD5-C1E7-7E97B8626164}"/>
            </a:ext>
          </a:extLst>
        </p:cNvPr>
        <p:cNvGrpSpPr/>
        <p:nvPr/>
      </p:nvGrpSpPr>
      <p:grpSpPr>
        <a:xfrm>
          <a:off x="0" y="0"/>
          <a:ext cx="0" cy="0"/>
          <a:chOff x="0" y="0"/>
          <a:chExt cx="0" cy="0"/>
        </a:xfrm>
      </p:grpSpPr>
      <p:sp>
        <p:nvSpPr>
          <p:cNvPr id="174" name="Intelligent Radio Sensing Lab. (IRS Lab)…">
            <a:extLst>
              <a:ext uri="{FF2B5EF4-FFF2-40B4-BE49-F238E27FC236}">
                <a16:creationId xmlns:a16="http://schemas.microsoft.com/office/drawing/2014/main" id="{2A0768BC-77C5-2C8F-FD38-7C79DD42D6D4}"/>
              </a:ext>
            </a:extLst>
          </p:cNvPr>
          <p:cNvSpPr txBox="1">
            <a:spLocks noGrp="1"/>
          </p:cNvSpPr>
          <p:nvPr>
            <p:ph type="body" idx="21"/>
          </p:nvPr>
        </p:nvSpPr>
        <p:spPr>
          <a:xfrm>
            <a:off x="1219200" y="8535303"/>
            <a:ext cx="21945600" cy="2550610"/>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normAutofit/>
          </a:bodyPr>
          <a:lstStyle/>
          <a:p>
            <a:pPr defTabSz="775969">
              <a:defRPr sz="4700" spc="-47"/>
            </a:pPr>
            <a:r>
              <a:rPr dirty="0">
                <a:latin typeface="Arial" panose="020B0604020202020204" pitchFamily="34" charset="0"/>
                <a:cs typeface="Arial" panose="020B0604020202020204" pitchFamily="34" charset="0"/>
              </a:rPr>
              <a:t>Intelligent Radio Sensing Lab. (IRS Lab)</a:t>
            </a:r>
            <a:endParaRPr lang="en-US" dirty="0">
              <a:latin typeface="Arial" panose="020B0604020202020204" pitchFamily="34" charset="0"/>
              <a:cs typeface="Arial" panose="020B0604020202020204" pitchFamily="34" charset="0"/>
            </a:endParaRPr>
          </a:p>
          <a:p>
            <a:pPr defTabSz="775969">
              <a:defRPr sz="4700" spc="-47"/>
            </a:pPr>
            <a:r>
              <a:rPr lang="en-US" dirty="0">
                <a:latin typeface="Arial" panose="020B0604020202020204" pitchFamily="34" charset="0"/>
                <a:cs typeface="Arial" panose="020B0604020202020204" pitchFamily="34" charset="0"/>
              </a:rPr>
              <a:t>Department of Electrical Engineering and Computer Science</a:t>
            </a:r>
          </a:p>
          <a:p>
            <a:pPr defTabSz="775969">
              <a:defRPr sz="4700" spc="-47"/>
            </a:pPr>
            <a:r>
              <a:rPr lang="en-US" dirty="0">
                <a:latin typeface="Arial" panose="020B0604020202020204" pitchFamily="34" charset="0"/>
                <a:cs typeface="Arial" panose="020B0604020202020204" pitchFamily="34" charset="0"/>
              </a:rPr>
              <a:t>DGIST</a:t>
            </a:r>
            <a:endParaRPr lang="ko-KR" altLang="en-US" dirty="0">
              <a:latin typeface="Arial" panose="020B0604020202020204" pitchFamily="34" charset="0"/>
              <a:cs typeface="Arial" panose="020B0604020202020204" pitchFamily="34" charset="0"/>
            </a:endParaRPr>
          </a:p>
        </p:txBody>
      </p:sp>
      <p:sp>
        <p:nvSpPr>
          <p:cNvPr id="175" name="Title">
            <a:extLst>
              <a:ext uri="{FF2B5EF4-FFF2-40B4-BE49-F238E27FC236}">
                <a16:creationId xmlns:a16="http://schemas.microsoft.com/office/drawing/2014/main" id="{FEF69C24-0A71-478B-4622-AF755BE20C66}"/>
              </a:ext>
            </a:extLst>
          </p:cNvPr>
          <p:cNvSpPr txBox="1">
            <a:spLocks noGrp="1"/>
          </p:cNvSpPr>
          <p:nvPr>
            <p:ph type="ctrTitle"/>
          </p:nvPr>
        </p:nvSpPr>
        <p:spPr>
          <a:xfrm>
            <a:off x="1219200" y="3358256"/>
            <a:ext cx="21945600" cy="2412647"/>
          </a:xfrm>
          <a:prstGeom prst="rect">
            <a:avLst/>
          </a:prstGeom>
        </p:spPr>
        <p:txBody>
          <a:bodyPr>
            <a:normAutofit/>
          </a:bodyPr>
          <a:lstStyle>
            <a:lvl1pPr algn="ctr">
              <a:defRPr sz="11500" spc="-115">
                <a:latin typeface="+mn-lt"/>
                <a:ea typeface="+mn-ea"/>
                <a:cs typeface="+mn-cs"/>
                <a:sym typeface="Avenir Next Regular"/>
              </a:defRPr>
            </a:lvl1pPr>
          </a:lstStyle>
          <a:p>
            <a:r>
              <a:rPr lang="en-US" altLang="ko-KR" sz="8800" dirty="0"/>
              <a:t>Team Meeting</a:t>
            </a:r>
            <a:endParaRPr lang="ko-KR" altLang="en-US" sz="8800" dirty="0">
              <a:latin typeface="Arial" panose="020B0604020202020204" pitchFamily="34" charset="0"/>
              <a:cs typeface="Arial" panose="020B0604020202020204" pitchFamily="34" charset="0"/>
            </a:endParaRPr>
          </a:p>
        </p:txBody>
      </p:sp>
      <p:sp>
        <p:nvSpPr>
          <p:cNvPr id="176" name="Name">
            <a:extLst>
              <a:ext uri="{FF2B5EF4-FFF2-40B4-BE49-F238E27FC236}">
                <a16:creationId xmlns:a16="http://schemas.microsoft.com/office/drawing/2014/main" id="{0BF5DE56-8C9C-68F7-1AAA-48628C929F2B}"/>
              </a:ext>
            </a:extLst>
          </p:cNvPr>
          <p:cNvSpPr txBox="1">
            <a:spLocks noGrp="1"/>
          </p:cNvSpPr>
          <p:nvPr>
            <p:ph type="subTitle" sz="quarter" idx="1"/>
          </p:nvPr>
        </p:nvSpPr>
        <p:spPr>
          <a:xfrm>
            <a:off x="1196898" y="6342708"/>
            <a:ext cx="21945600" cy="2475652"/>
          </a:xfrm>
          <a:prstGeom prst="rect">
            <a:avLst/>
          </a:prstGeom>
        </p:spPr>
        <p:txBody>
          <a:bodyPr>
            <a:normAutofit/>
          </a:bodyPr>
          <a:lstStyle>
            <a:lvl1pPr>
              <a:defRPr sz="6800" spc="-68"/>
            </a:lvl1pPr>
          </a:lstStyle>
          <a:p>
            <a:r>
              <a:rPr lang="en-US" sz="4400" dirty="0" err="1">
                <a:latin typeface="Arial" panose="020B0604020202020204" pitchFamily="34" charset="0"/>
                <a:cs typeface="Arial" panose="020B0604020202020204" pitchFamily="34" charset="0"/>
              </a:rPr>
              <a:t>Yunjung</a:t>
            </a:r>
            <a:r>
              <a:rPr lang="en-US" sz="4400" dirty="0">
                <a:latin typeface="Arial" panose="020B0604020202020204" pitchFamily="34" charset="0"/>
                <a:cs typeface="Arial" panose="020B0604020202020204" pitchFamily="34" charset="0"/>
              </a:rPr>
              <a:t> Jeong</a:t>
            </a:r>
          </a:p>
        </p:txBody>
      </p:sp>
      <p:pic>
        <p:nvPicPr>
          <p:cNvPr id="178" name="ui_kor_eng.svg" descr="ui_kor_eng.svg">
            <a:extLst>
              <a:ext uri="{FF2B5EF4-FFF2-40B4-BE49-F238E27FC236}">
                <a16:creationId xmlns:a16="http://schemas.microsoft.com/office/drawing/2014/main" id="{D19F379D-ACF2-BC9C-AC4C-88D448E95317}"/>
              </a:ext>
            </a:extLst>
          </p:cNvPr>
          <p:cNvPicPr>
            <a:picLocks noChangeAspect="1"/>
          </p:cNvPicPr>
          <p:nvPr/>
        </p:nvPicPr>
        <p:blipFill>
          <a:blip r:embed="rId3"/>
          <a:srcRect l="20301" t="62673" r="49648" b="28626"/>
          <a:stretch>
            <a:fillRect/>
          </a:stretch>
        </p:blipFill>
        <p:spPr>
          <a:xfrm>
            <a:off x="290004" y="123643"/>
            <a:ext cx="3109180" cy="1227469"/>
          </a:xfrm>
          <a:prstGeom prst="rect">
            <a:avLst/>
          </a:prstGeom>
          <a:ln w="12700">
            <a:miter lim="400000"/>
          </a:ln>
        </p:spPr>
      </p:pic>
      <p:sp>
        <p:nvSpPr>
          <p:cNvPr id="4" name="Name">
            <a:extLst>
              <a:ext uri="{FF2B5EF4-FFF2-40B4-BE49-F238E27FC236}">
                <a16:creationId xmlns:a16="http://schemas.microsoft.com/office/drawing/2014/main" id="{DCA5BEBF-35EA-CB12-2A3F-CA4921AF5198}"/>
              </a:ext>
            </a:extLst>
          </p:cNvPr>
          <p:cNvSpPr txBox="1">
            <a:spLocks/>
          </p:cNvSpPr>
          <p:nvPr/>
        </p:nvSpPr>
        <p:spPr>
          <a:xfrm>
            <a:off x="1219200" y="7410006"/>
            <a:ext cx="21945600" cy="225059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lvl1pPr marL="0" marR="0" indent="0" algn="ctr" defTabSz="825500" rtl="0" latinLnBrk="0">
              <a:lnSpc>
                <a:spcPct val="100000"/>
              </a:lnSpc>
              <a:spcBef>
                <a:spcPts val="0"/>
              </a:spcBef>
              <a:spcAft>
                <a:spcPts val="0"/>
              </a:spcAft>
              <a:buClrTx/>
              <a:buSzTx/>
              <a:buFontTx/>
              <a:buNone/>
              <a:tabLst/>
              <a:defRPr sz="6800" b="1" i="0" u="none" strike="noStrike" cap="none" spc="-68" baseline="0">
                <a:solidFill>
                  <a:srgbClr val="000000"/>
                </a:solidFill>
                <a:uFillTx/>
                <a:latin typeface="AvenirNext-DemiBold"/>
                <a:ea typeface="AvenirNext-DemiBold"/>
                <a:cs typeface="AvenirNext-DemiBold"/>
                <a:sym typeface="AvenirNext-DemiBold"/>
              </a:defRPr>
            </a:lvl1pPr>
            <a:lvl2pPr marL="0" marR="0" indent="457200" algn="ctr" defTabSz="825500" rtl="0" latinLnBrk="0">
              <a:lnSpc>
                <a:spcPct val="100000"/>
              </a:lnSpc>
              <a:spcBef>
                <a:spcPts val="0"/>
              </a:spcBef>
              <a:spcAft>
                <a:spcPts val="0"/>
              </a:spcAft>
              <a:buClrTx/>
              <a:buSzTx/>
              <a:buFontTx/>
              <a:buNone/>
              <a:tabLst/>
              <a:defRPr sz="6000" b="1" i="0" u="none" strike="noStrike" cap="none" spc="-59" baseline="0">
                <a:solidFill>
                  <a:srgbClr val="000000"/>
                </a:solidFill>
                <a:uFillTx/>
                <a:latin typeface="AvenirNext-DemiBold"/>
                <a:ea typeface="AvenirNext-DemiBold"/>
                <a:cs typeface="AvenirNext-DemiBold"/>
                <a:sym typeface="AvenirNext-DemiBold"/>
              </a:defRPr>
            </a:lvl2pPr>
            <a:lvl3pPr marL="0" marR="0" indent="914400" algn="ctr" defTabSz="825500" rtl="0" latinLnBrk="0">
              <a:lnSpc>
                <a:spcPct val="100000"/>
              </a:lnSpc>
              <a:spcBef>
                <a:spcPts val="0"/>
              </a:spcBef>
              <a:spcAft>
                <a:spcPts val="0"/>
              </a:spcAft>
              <a:buClrTx/>
              <a:buSzTx/>
              <a:buFontTx/>
              <a:buNone/>
              <a:tabLst/>
              <a:defRPr sz="6000" b="1" i="0" u="none" strike="noStrike" cap="none" spc="-59" baseline="0">
                <a:solidFill>
                  <a:srgbClr val="000000"/>
                </a:solidFill>
                <a:uFillTx/>
                <a:latin typeface="AvenirNext-DemiBold"/>
                <a:ea typeface="AvenirNext-DemiBold"/>
                <a:cs typeface="AvenirNext-DemiBold"/>
                <a:sym typeface="AvenirNext-DemiBold"/>
              </a:defRPr>
            </a:lvl3pPr>
            <a:lvl4pPr marL="0" marR="0" indent="1371600" algn="ctr" defTabSz="825500" rtl="0" latinLnBrk="0">
              <a:lnSpc>
                <a:spcPct val="100000"/>
              </a:lnSpc>
              <a:spcBef>
                <a:spcPts val="0"/>
              </a:spcBef>
              <a:spcAft>
                <a:spcPts val="0"/>
              </a:spcAft>
              <a:buClrTx/>
              <a:buSzTx/>
              <a:buFontTx/>
              <a:buNone/>
              <a:tabLst/>
              <a:defRPr sz="6000" b="1" i="0" u="none" strike="noStrike" cap="none" spc="-59" baseline="0">
                <a:solidFill>
                  <a:srgbClr val="000000"/>
                </a:solidFill>
                <a:uFillTx/>
                <a:latin typeface="AvenirNext-DemiBold"/>
                <a:ea typeface="AvenirNext-DemiBold"/>
                <a:cs typeface="AvenirNext-DemiBold"/>
                <a:sym typeface="AvenirNext-DemiBold"/>
              </a:defRPr>
            </a:lvl4pPr>
            <a:lvl5pPr marL="0" marR="0" indent="1828800" algn="ctr" defTabSz="825500" rtl="0" latinLnBrk="0">
              <a:lnSpc>
                <a:spcPct val="100000"/>
              </a:lnSpc>
              <a:spcBef>
                <a:spcPts val="0"/>
              </a:spcBef>
              <a:spcAft>
                <a:spcPts val="0"/>
              </a:spcAft>
              <a:buClrTx/>
              <a:buSzTx/>
              <a:buFontTx/>
              <a:buNone/>
              <a:tabLst/>
              <a:defRPr sz="6000" b="1" i="0" u="none" strike="noStrike" cap="none" spc="-59" baseline="0">
                <a:solidFill>
                  <a:srgbClr val="000000"/>
                </a:solidFill>
                <a:uFillTx/>
                <a:latin typeface="AvenirNext-DemiBold"/>
                <a:ea typeface="AvenirNext-DemiBold"/>
                <a:cs typeface="AvenirNext-DemiBold"/>
                <a:sym typeface="AvenirNext-DemiBold"/>
              </a:defRPr>
            </a:lvl5pPr>
            <a:lvl6pPr marL="32766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6pPr>
            <a:lvl7pPr marL="38227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7pPr>
            <a:lvl8pPr marL="43688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8pPr>
            <a:lvl9pPr marL="49149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9pPr>
          </a:lstStyle>
          <a:p>
            <a:pPr hangingPunct="1"/>
            <a:r>
              <a:rPr lang="en-US" sz="4000" dirty="0">
                <a:latin typeface="Arial" panose="020B0604020202020204" pitchFamily="34" charset="0"/>
                <a:cs typeface="Arial" panose="020B0604020202020204" pitchFamily="34" charset="0"/>
              </a:rPr>
              <a:t>2026. 07. 14</a:t>
            </a:r>
          </a:p>
        </p:txBody>
      </p:sp>
    </p:spTree>
    <p:extLst>
      <p:ext uri="{BB962C8B-B14F-4D97-AF65-F5344CB8AC3E}">
        <p14:creationId xmlns:p14="http://schemas.microsoft.com/office/powerpoint/2010/main" val="2562497968"/>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dirty="0">
                <a:latin typeface="AvenirNext-DemiBold"/>
                <a:ea typeface="AvenirNext-DemiBold"/>
                <a:cs typeface="AvenirNext-DemiBold"/>
              </a:rPr>
              <a:t>Last Meeting</a:t>
            </a:r>
            <a:endParaRPr lang="en-US" altLang="ko-KR" sz="5200" b="1" i="0" dirty="0">
              <a:solidFill>
                <a:srgbClr val="000000"/>
              </a:solidFill>
              <a:latin typeface="AvenirNext-DemiBold"/>
              <a:ea typeface="AvenirNext-DemiBold"/>
              <a:cs typeface="AvenirNext-DemiBold"/>
            </a:endParaRPr>
          </a:p>
        </p:txBody>
      </p:sp>
      <p:sp>
        <p:nvSpPr>
          <p:cNvPr id="14" name="Bullets"/>
          <p:cNvSpPr txBox="1">
            <a:spLocks/>
          </p:cNvSpPr>
          <p:nvPr/>
        </p:nvSpPr>
        <p:spPr>
          <a:xfrm>
            <a:off x="720000" y="2820000"/>
            <a:ext cx="22944000" cy="8400000"/>
          </a:xfrm>
          <a:prstGeom prst="rect">
            <a:avLst/>
          </a:prstGeom>
        </p:spPr>
        <p:txBody>
          <a:bodyPr lIns="50800" tIns="30000" rIns="50800" bIns="30000" anchor="t">
            <a:noAutofit/>
          </a:bodyPr>
          <a:lstStyle/>
          <a:p>
            <a:pPr marL="600000" indent="-600000" algn="l">
              <a:spcBef>
                <a:spcPts val="1900"/>
              </a:spcBef>
              <a:buFont typeface="Arial"/>
              <a:buChar char="•"/>
            </a:pPr>
            <a:r>
              <a:rPr lang="en-US" altLang="ko-KR" sz="4000" b="1" i="0" dirty="0">
                <a:solidFill>
                  <a:srgbClr val="26448A"/>
                </a:solidFill>
                <a:latin typeface="Avenir Next Medium"/>
                <a:ea typeface="Avenir Next Medium"/>
                <a:cs typeface="Avenir Next Medium"/>
              </a:rPr>
              <a:t>What I </a:t>
            </a:r>
            <a:r>
              <a:rPr lang="en-US" altLang="ko-KR" sz="4000" b="1" dirty="0">
                <a:solidFill>
                  <a:srgbClr val="26448A"/>
                </a:solidFill>
              </a:rPr>
              <a:t>did</a:t>
            </a:r>
            <a:endParaRPr lang="en-US" altLang="ko-KR" sz="4000" b="1" i="0" dirty="0">
              <a:solidFill>
                <a:srgbClr val="26448A"/>
              </a:solidFill>
              <a:latin typeface="Avenir Next Medium"/>
              <a:ea typeface="Avenir Next Medium"/>
              <a:cs typeface="Avenir Next Medium"/>
            </a:endParaRPr>
          </a:p>
          <a:p>
            <a:pPr marL="1260000" indent="-660000" algn="l">
              <a:spcBef>
                <a:spcPts val="900"/>
              </a:spcBef>
              <a:buFont typeface="Wingdings"/>
              <a:buChar char="Ø"/>
            </a:pPr>
            <a:r>
              <a:rPr lang="en-US" altLang="ko-KR" sz="3400" b="0" i="0" dirty="0">
                <a:solidFill>
                  <a:srgbClr val="000000"/>
                </a:solidFill>
                <a:latin typeface="Avenir Next Medium"/>
                <a:ea typeface="Avenir Next Medium"/>
                <a:cs typeface="Avenir Next Medium"/>
              </a:rPr>
              <a:t>Drone selection — Mavic 4 Pro vs Matrice 4E (echo vs RTK ground truth)</a:t>
            </a:r>
          </a:p>
          <a:p>
            <a:pPr marL="1260000" indent="-660000" algn="l">
              <a:spcBef>
                <a:spcPts val="900"/>
              </a:spcBef>
              <a:buFont typeface="Wingdings"/>
              <a:buChar char="Ø"/>
            </a:pPr>
            <a:r>
              <a:rPr lang="en-US" altLang="ko-KR" sz="3400" dirty="0"/>
              <a:t>Reviewed LaSen (SenSys '26) — the one 5G tracking paper, with RTK ground truth</a:t>
            </a:r>
            <a:endParaRPr lang="en-US" altLang="ko-KR" sz="3400" b="0" i="0" dirty="0">
              <a:solidFill>
                <a:srgbClr val="000000"/>
              </a:solidFill>
              <a:latin typeface="Avenir Next Medium"/>
              <a:ea typeface="Avenir Next Medium"/>
              <a:cs typeface="Avenir Next Medium"/>
            </a:endParaRPr>
          </a:p>
          <a:p>
            <a:pPr marL="600000" indent="-600000" algn="l">
              <a:spcBef>
                <a:spcPts val="1900"/>
              </a:spcBef>
              <a:buFont typeface="Arial"/>
              <a:buChar char="•"/>
            </a:pPr>
            <a:endParaRPr lang="en-US" altLang="ko-KR" sz="4000" b="1" i="0" dirty="0">
              <a:solidFill>
                <a:srgbClr val="26448A"/>
              </a:solidFill>
              <a:latin typeface="Avenir Next Medium"/>
              <a:ea typeface="Avenir Next Medium"/>
              <a:cs typeface="Avenir Next Medium"/>
            </a:endParaRPr>
          </a:p>
          <a:p>
            <a:pPr marL="600000" indent="-600000" algn="l">
              <a:spcBef>
                <a:spcPts val="1900"/>
              </a:spcBef>
              <a:buFont typeface="Arial"/>
              <a:buChar char="•"/>
            </a:pPr>
            <a:r>
              <a:rPr lang="en-US" altLang="ko-KR" sz="4000" b="1" i="0" dirty="0">
                <a:solidFill>
                  <a:srgbClr val="26448A"/>
                </a:solidFill>
                <a:latin typeface="Avenir Next Medium"/>
                <a:ea typeface="Avenir Next Medium"/>
                <a:cs typeface="Avenir Next Medium"/>
              </a:rPr>
              <a:t>What I planned</a:t>
            </a:r>
          </a:p>
          <a:p>
            <a:pPr marL="1260000" indent="-660000" algn="l">
              <a:spcBef>
                <a:spcPts val="900"/>
              </a:spcBef>
              <a:buFont typeface="Wingdings"/>
              <a:buChar char="Ø"/>
            </a:pPr>
            <a:r>
              <a:rPr lang="en-US" altLang="ko-KR" sz="3400" b="0" i="0" dirty="0">
                <a:solidFill>
                  <a:srgbClr val="000000"/>
                </a:solidFill>
                <a:latin typeface="Avenir Next Medium"/>
                <a:ea typeface="Avenir Next Medium"/>
                <a:cs typeface="Avenir Next Medium"/>
              </a:rPr>
              <a:t>Three parallel tracks — PHY anatomy, AI self-study, and the Sionna simulation</a:t>
            </a:r>
          </a:p>
          <a:p>
            <a:pPr marL="1260000" indent="-660000" algn="l">
              <a:spcBef>
                <a:spcPts val="900"/>
              </a:spcBef>
              <a:buFont typeface="Wingdings"/>
              <a:buChar char="Ø"/>
            </a:pPr>
            <a:r>
              <a:rPr lang="en-US" altLang="ko-KR" sz="3400" b="0" i="0" dirty="0">
                <a:solidFill>
                  <a:srgbClr val="000000"/>
                </a:solidFill>
                <a:latin typeface="Avenir Next Medium"/>
                <a:ea typeface="Avenir Next Medium"/>
                <a:cs typeface="Avenir Next Medium"/>
              </a:rPr>
              <a:t>Sionna: a controlled RD-map detection benchmark</a:t>
            </a:r>
          </a:p>
          <a:p>
            <a:pPr marL="1260000" indent="-660000" algn="l">
              <a:spcBef>
                <a:spcPts val="900"/>
              </a:spcBef>
              <a:buFont typeface="Wingdings"/>
              <a:buChar char="Ø"/>
            </a:pPr>
            <a:endParaRPr lang="en-US" altLang="ko-KR" sz="4000" b="1" i="0" dirty="0">
              <a:solidFill>
                <a:srgbClr val="26448A"/>
              </a:solidFill>
              <a:latin typeface="Avenir Next Medium"/>
              <a:ea typeface="Avenir Next Medium"/>
              <a:cs typeface="Avenir Next Medium"/>
            </a:endParaRPr>
          </a:p>
          <a:p>
            <a:pPr marL="600000" indent="-600000" algn="l">
              <a:spcBef>
                <a:spcPts val="1900"/>
              </a:spcBef>
              <a:buFont typeface="Arial"/>
              <a:buChar char="•"/>
            </a:pPr>
            <a:r>
              <a:rPr lang="en-US" altLang="ko-KR" sz="4000" b="1" i="0" dirty="0">
                <a:solidFill>
                  <a:srgbClr val="26448A"/>
                </a:solidFill>
                <a:latin typeface="Avenir Next Medium"/>
                <a:ea typeface="Avenir Next Medium"/>
                <a:cs typeface="Avenir Next Medium"/>
              </a:rPr>
              <a:t>Today</a:t>
            </a:r>
          </a:p>
          <a:p>
            <a:pPr marL="1260000" indent="-660000" algn="l">
              <a:spcBef>
                <a:spcPts val="900"/>
              </a:spcBef>
              <a:buFont typeface="Wingdings"/>
              <a:buChar char="Ø"/>
            </a:pPr>
            <a:r>
              <a:rPr lang="en-US" altLang="ko-KR" sz="3400" b="0" i="0" dirty="0">
                <a:solidFill>
                  <a:srgbClr val="000000"/>
                </a:solidFill>
                <a:latin typeface="Avenir Next Medium"/>
                <a:ea typeface="Avenir Next Medium"/>
                <a:cs typeface="Avenir Next Medium"/>
              </a:rPr>
              <a:t>Progress on Sionna — the chamber, the drone meshes, and the articulated micro-Doppler model</a:t>
            </a:r>
          </a:p>
          <a:p>
            <a:pPr marL="1260000" indent="-660000" algn="l">
              <a:spcBef>
                <a:spcPts val="900"/>
              </a:spcBef>
              <a:buFont typeface="Wingdings"/>
              <a:buChar char="Ø"/>
            </a:pPr>
            <a:r>
              <a:rPr lang="en-US" altLang="ko-KR" sz="3400" dirty="0"/>
              <a:t>Paper Introduction  </a:t>
            </a:r>
            <a:r>
              <a:rPr lang="en-US" altLang="ko-KR" sz="3400" b="0" i="0" dirty="0">
                <a:solidFill>
                  <a:srgbClr val="000000"/>
                </a:solidFill>
                <a:latin typeface="Avenir Next Medium"/>
                <a:ea typeface="Avenir Next Medium"/>
                <a:cs typeface="Avenir Next Medium"/>
              </a:rPr>
              <a:t>— From Denoising to De-Channeling (ICML 2026 Spotlight)</a:t>
            </a:r>
          </a:p>
        </p:txBody>
      </p:sp>
      <p:sp>
        <p:nvSpPr>
          <p:cNvPr id="3" name="Tag">
            <a:extLst>
              <a:ext uri="{FF2B5EF4-FFF2-40B4-BE49-F238E27FC236}">
                <a16:creationId xmlns:a16="http://schemas.microsoft.com/office/drawing/2014/main" id="{1FB3B99C-7F01-F4A5-EB67-C11BE3507E1A}"/>
              </a:ext>
            </a:extLst>
          </p:cNvPr>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Recap</a:t>
            </a:r>
          </a:p>
        </p:txBody>
      </p:sp>
      <p:sp>
        <p:nvSpPr>
          <p:cNvPr id="4" name="슬라이드 번호 개체 틀 3">
            <a:extLst>
              <a:ext uri="{FF2B5EF4-FFF2-40B4-BE49-F238E27FC236}">
                <a16:creationId xmlns:a16="http://schemas.microsoft.com/office/drawing/2014/main" id="{6F31C79B-AA14-B5C0-E1E5-438903C06C75}"/>
              </a:ext>
            </a:extLst>
          </p:cNvPr>
          <p:cNvSpPr>
            <a:spLocks noGrp="1"/>
          </p:cNvSpPr>
          <p:nvPr>
            <p:ph type="sldNum" sz="quarter" idx="2"/>
          </p:nvPr>
        </p:nvSpPr>
        <p:spPr/>
        <p:txBody>
          <a:bodyPr/>
          <a:lstStyle/>
          <a:p>
            <a:fld id="{86CB4B4D-7CA3-9044-876B-883B54F8677D}" type="slidenum">
              <a:rPr lang="en-US" altLang="ko-KR" smtClean="0"/>
              <a:t>2</a:t>
            </a:fld>
            <a:r>
              <a:rPr lang="en-US" altLang="ko-KR"/>
              <a:t>2/19</a:t>
            </a:r>
            <a:endParaRPr lang="ko-KR"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Today</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dirty="0">
                <a:latin typeface="AvenirNext-DemiBold"/>
                <a:ea typeface="AvenirNext-DemiBold"/>
                <a:cs typeface="AvenirNext-DemiBold"/>
              </a:rPr>
              <a:t>Contents</a:t>
            </a:r>
            <a:endParaRPr lang="en-US" altLang="ko-KR" sz="5200" b="1" i="0" dirty="0">
              <a:solidFill>
                <a:srgbClr val="000000"/>
              </a:solidFill>
              <a:latin typeface="AvenirNext-DemiBold"/>
              <a:ea typeface="AvenirNext-DemiBold"/>
              <a:cs typeface="AvenirNext-DemiBold"/>
            </a:endParaRPr>
          </a:p>
        </p:txBody>
      </p:sp>
      <p:sp>
        <p:nvSpPr>
          <p:cNvPr id="14" name="Bullets"/>
          <p:cNvSpPr txBox="1">
            <a:spLocks/>
          </p:cNvSpPr>
          <p:nvPr/>
        </p:nvSpPr>
        <p:spPr>
          <a:xfrm>
            <a:off x="720000" y="2850000"/>
            <a:ext cx="22944000" cy="8600000"/>
          </a:xfrm>
          <a:prstGeom prst="rect">
            <a:avLst/>
          </a:prstGeom>
        </p:spPr>
        <p:txBody>
          <a:bodyPr lIns="50800" tIns="30000" rIns="50800" bIns="30000" anchor="t">
            <a:noAutofit/>
          </a:bodyPr>
          <a:lstStyle/>
          <a:p>
            <a:pPr marL="600000" indent="-600000" algn="l">
              <a:spcBef>
                <a:spcPts val="1900"/>
              </a:spcBef>
              <a:buFont typeface="Arial"/>
              <a:buChar char="•"/>
            </a:pPr>
            <a:r>
              <a:rPr lang="en-US" altLang="ko-KR" sz="4800" b="1" i="0" dirty="0">
                <a:solidFill>
                  <a:srgbClr val="26448A"/>
                </a:solidFill>
                <a:latin typeface="Avenir Next Medium"/>
                <a:ea typeface="Avenir Next Medium"/>
                <a:cs typeface="Avenir Next Medium"/>
              </a:rPr>
              <a:t>1 · Sionna Progress</a:t>
            </a:r>
          </a:p>
          <a:p>
            <a:pPr marL="1260000" indent="-660000" algn="l">
              <a:spcBef>
                <a:spcPts val="900"/>
              </a:spcBef>
              <a:buFont typeface="Wingdings"/>
              <a:buChar char="Ø"/>
            </a:pPr>
            <a:r>
              <a:rPr lang="en-US" altLang="ko-KR" sz="4000" b="0" i="0" dirty="0">
                <a:solidFill>
                  <a:srgbClr val="000000"/>
                </a:solidFill>
                <a:latin typeface="Avenir Next Medium"/>
                <a:ea typeface="Avenir Next Medium"/>
                <a:cs typeface="Avenir Next Medium"/>
              </a:rPr>
              <a:t>Two stages — the environment (chamber + drone meshes) and micro-Doppler</a:t>
            </a:r>
          </a:p>
          <a:p>
            <a:pPr marL="600000" indent="-600000" algn="l">
              <a:spcBef>
                <a:spcPts val="1000"/>
              </a:spcBef>
              <a:buFont typeface="Arial"/>
              <a:buChar char="•"/>
            </a:pPr>
            <a:endParaRPr lang="en-US" altLang="ko-KR" sz="2400" b="1" i="0" dirty="0">
              <a:solidFill>
                <a:srgbClr val="26448A"/>
              </a:solidFill>
              <a:latin typeface="Avenir Next Medium"/>
              <a:ea typeface="Avenir Next Medium"/>
              <a:cs typeface="Avenir Next Medium"/>
            </a:endParaRPr>
          </a:p>
          <a:p>
            <a:pPr marL="600000" indent="-600000" algn="l">
              <a:spcBef>
                <a:spcPts val="1900"/>
              </a:spcBef>
              <a:buFont typeface="Arial"/>
              <a:buChar char="•"/>
            </a:pPr>
            <a:endParaRPr lang="en-US" altLang="ko-KR" sz="4800" b="1" i="0" dirty="0">
              <a:solidFill>
                <a:srgbClr val="26448A"/>
              </a:solidFill>
              <a:latin typeface="Avenir Next Medium"/>
              <a:ea typeface="Avenir Next Medium"/>
              <a:cs typeface="Avenir Next Medium"/>
            </a:endParaRPr>
          </a:p>
          <a:p>
            <a:pPr marL="600000" indent="-600000" algn="l">
              <a:spcBef>
                <a:spcPts val="1900"/>
              </a:spcBef>
              <a:buFont typeface="Arial"/>
              <a:buChar char="•"/>
            </a:pPr>
            <a:r>
              <a:rPr lang="en-US" altLang="ko-KR" sz="4800" b="1" i="0" dirty="0">
                <a:solidFill>
                  <a:srgbClr val="26448A"/>
                </a:solidFill>
                <a:latin typeface="Avenir Next Medium"/>
                <a:ea typeface="Avenir Next Medium"/>
                <a:cs typeface="Avenir Next Medium"/>
              </a:rPr>
              <a:t>2 · Paper </a:t>
            </a:r>
            <a:r>
              <a:rPr lang="en-US" altLang="ko-KR" sz="4800" b="1" dirty="0">
                <a:solidFill>
                  <a:srgbClr val="26448A"/>
                </a:solidFill>
              </a:rPr>
              <a:t>Introduction</a:t>
            </a:r>
            <a:endParaRPr lang="en-US" altLang="ko-KR" sz="4800" b="1" i="0" dirty="0">
              <a:solidFill>
                <a:srgbClr val="26448A"/>
              </a:solidFill>
              <a:latin typeface="Avenir Next Medium"/>
              <a:ea typeface="Avenir Next Medium"/>
              <a:cs typeface="Avenir Next Medium"/>
            </a:endParaRPr>
          </a:p>
          <a:p>
            <a:pPr marL="1260000" indent="-660000" algn="l">
              <a:spcBef>
                <a:spcPts val="900"/>
              </a:spcBef>
              <a:buFont typeface="Wingdings"/>
              <a:buChar char="Ø"/>
            </a:pPr>
            <a:r>
              <a:rPr lang="en-US" altLang="ko-KR" sz="4000" b="0" i="0" dirty="0">
                <a:solidFill>
                  <a:srgbClr val="000000"/>
                </a:solidFill>
                <a:latin typeface="Avenir Next Medium"/>
                <a:ea typeface="Avenir Next Medium"/>
                <a:cs typeface="Avenir Next Medium"/>
              </a:rPr>
              <a:t>From Denoising to De-Channeling (ICML 2026) — physics-informed diffusion for WSR</a:t>
            </a:r>
          </a:p>
          <a:p>
            <a:pPr algn="l">
              <a:spcBef>
                <a:spcPts val="1000"/>
              </a:spcBef>
            </a:pPr>
            <a:endParaRPr lang="en-US" altLang="ko-KR" sz="2400" b="1" i="0" dirty="0">
              <a:solidFill>
                <a:srgbClr val="26448A"/>
              </a:solidFill>
              <a:latin typeface="Avenir Next Medium"/>
              <a:ea typeface="Avenir Next Medium"/>
              <a:cs typeface="Avenir Next Medium"/>
            </a:endParaRPr>
          </a:p>
        </p:txBody>
      </p:sp>
      <p:sp>
        <p:nvSpPr>
          <p:cNvPr id="3" name="슬라이드 번호 개체 틀 2">
            <a:extLst>
              <a:ext uri="{FF2B5EF4-FFF2-40B4-BE49-F238E27FC236}">
                <a16:creationId xmlns:a16="http://schemas.microsoft.com/office/drawing/2014/main" id="{453567E7-E142-0BFE-09F3-D69F04CEBBB4}"/>
              </a:ext>
            </a:extLst>
          </p:cNvPr>
          <p:cNvSpPr>
            <a:spLocks noGrp="1"/>
          </p:cNvSpPr>
          <p:nvPr>
            <p:ph type="sldNum" sz="quarter" idx="2"/>
          </p:nvPr>
        </p:nvSpPr>
        <p:spPr/>
        <p:txBody>
          <a:bodyPr/>
          <a:lstStyle/>
          <a:p>
            <a:fld id="{86CB4B4D-7CA3-9044-876B-883B54F8677D}" type="slidenum">
              <a:rPr lang="en-US" altLang="ko-KR" smtClean="0"/>
              <a:t>3</a:t>
            </a:fld>
            <a:r>
              <a:rPr lang="en-US" altLang="ko-KR"/>
              <a:t>3/19</a:t>
            </a:r>
            <a:endParaRPr lang="ko-KR"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DivKicker"/>
          <p:cNvSpPr txBox="1">
            <a:spLocks/>
          </p:cNvSpPr>
          <p:nvPr/>
        </p:nvSpPr>
        <p:spPr>
          <a:xfrm>
            <a:off x="0" y="4050000"/>
            <a:ext cx="24384000" cy="760000"/>
          </a:xfrm>
          <a:prstGeom prst="rect">
            <a:avLst/>
          </a:prstGeom>
        </p:spPr>
        <p:txBody>
          <a:bodyPr lIns="50800" tIns="30000" rIns="50800" bIns="30000" anchor="ctr">
            <a:noAutofit/>
          </a:bodyPr>
          <a:lstStyle/>
          <a:p>
            <a:pPr algn="ctr"/>
            <a:r>
              <a:rPr lang="en-US" altLang="ko-KR" sz="3600" b="1" i="0" dirty="0">
                <a:solidFill>
                  <a:srgbClr val="2E74B5"/>
                </a:solidFill>
                <a:latin typeface="Avenir Next Medium"/>
                <a:ea typeface="Avenir Next Medium"/>
                <a:cs typeface="Avenir Next Medium"/>
              </a:rPr>
              <a:t>PROGRESS REPORT</a:t>
            </a:r>
          </a:p>
        </p:txBody>
      </p:sp>
      <p:sp>
        <p:nvSpPr>
          <p:cNvPr id="12" name="DivTitle"/>
          <p:cNvSpPr txBox="1">
            <a:spLocks/>
          </p:cNvSpPr>
          <p:nvPr/>
        </p:nvSpPr>
        <p:spPr>
          <a:xfrm>
            <a:off x="0" y="4850000"/>
            <a:ext cx="24384000" cy="1550000"/>
          </a:xfrm>
          <a:prstGeom prst="rect">
            <a:avLst/>
          </a:prstGeom>
        </p:spPr>
        <p:txBody>
          <a:bodyPr lIns="50800" tIns="30000" rIns="50800" bIns="30000" anchor="ctr">
            <a:noAutofit/>
          </a:bodyPr>
          <a:lstStyle/>
          <a:p>
            <a:pPr algn="ctr"/>
            <a:r>
              <a:rPr lang="en-US" altLang="ko-KR" sz="7200" b="1" i="0" dirty="0">
                <a:solidFill>
                  <a:srgbClr val="000000"/>
                </a:solidFill>
                <a:latin typeface="AvenirNext-DemiBold"/>
                <a:ea typeface="AvenirNext-DemiBold"/>
                <a:cs typeface="AvenirNext-DemiBold"/>
              </a:rPr>
              <a:t>Sionna Simulation</a:t>
            </a:r>
          </a:p>
        </p:txBody>
      </p:sp>
      <p:sp>
        <p:nvSpPr>
          <p:cNvPr id="13" name="DivSub"/>
          <p:cNvSpPr txBox="1">
            <a:spLocks/>
          </p:cNvSpPr>
          <p:nvPr/>
        </p:nvSpPr>
        <p:spPr>
          <a:xfrm>
            <a:off x="0" y="6520000"/>
            <a:ext cx="24384000" cy="820000"/>
          </a:xfrm>
          <a:prstGeom prst="rect">
            <a:avLst/>
          </a:prstGeom>
        </p:spPr>
        <p:txBody>
          <a:bodyPr lIns="50800" tIns="30000" rIns="50800" bIns="30000" anchor="ctr">
            <a:noAutofit/>
          </a:bodyPr>
          <a:lstStyle/>
          <a:p>
            <a:pPr algn="ctr"/>
            <a:r>
              <a:rPr lang="en-US" altLang="ko-KR" sz="4000" b="0" i="1" dirty="0">
                <a:solidFill>
                  <a:srgbClr val="595959"/>
                </a:solidFill>
                <a:latin typeface="Avenir Next Medium"/>
                <a:ea typeface="Avenir Next Medium"/>
                <a:cs typeface="Avenir Next Medium"/>
              </a:rPr>
              <a:t>From an empty chamber to a drone's radar signature — in two stages</a:t>
            </a:r>
          </a:p>
        </p:txBody>
      </p:sp>
      <p:sp>
        <p:nvSpPr>
          <p:cNvPr id="14" name="DivRoad"/>
          <p:cNvSpPr txBox="1">
            <a:spLocks/>
          </p:cNvSpPr>
          <p:nvPr/>
        </p:nvSpPr>
        <p:spPr>
          <a:xfrm>
            <a:off x="0" y="7780000"/>
            <a:ext cx="24384000" cy="820000"/>
          </a:xfrm>
          <a:prstGeom prst="rect">
            <a:avLst/>
          </a:prstGeom>
        </p:spPr>
        <p:txBody>
          <a:bodyPr lIns="50800" tIns="30000" rIns="50800" bIns="30000" anchor="ctr">
            <a:noAutofit/>
          </a:bodyPr>
          <a:lstStyle/>
          <a:p>
            <a:pPr algn="ctr"/>
            <a:r>
              <a:rPr lang="en-US" altLang="ko-KR" sz="3600" b="1" i="0" dirty="0">
                <a:solidFill>
                  <a:srgbClr val="26448A"/>
                </a:solidFill>
                <a:latin typeface="Avenir Next Medium"/>
                <a:ea typeface="Avenir Next Medium"/>
                <a:cs typeface="Avenir Next Medium"/>
              </a:rPr>
              <a:t>①  Environment          →          ②  Micro-Doppler</a:t>
            </a:r>
          </a:p>
        </p:txBody>
      </p:sp>
      <p:sp>
        <p:nvSpPr>
          <p:cNvPr id="3" name="슬라이드 번호 개체 틀 2">
            <a:extLst>
              <a:ext uri="{FF2B5EF4-FFF2-40B4-BE49-F238E27FC236}">
                <a16:creationId xmlns:a16="http://schemas.microsoft.com/office/drawing/2014/main" id="{38FF3B5A-98E6-0FC7-3827-D88D91057EFB}"/>
              </a:ext>
            </a:extLst>
          </p:cNvPr>
          <p:cNvSpPr>
            <a:spLocks noGrp="1"/>
          </p:cNvSpPr>
          <p:nvPr>
            <p:ph type="sldNum" sz="quarter" idx="2"/>
          </p:nvPr>
        </p:nvSpPr>
        <p:spPr/>
        <p:txBody>
          <a:bodyPr/>
          <a:lstStyle/>
          <a:p>
            <a:fld id="{86CB4B4D-7CA3-9044-876B-883B54F8677D}" type="slidenum">
              <a:rPr lang="en-US" altLang="ko-KR" smtClean="0"/>
              <a:t>4</a:t>
            </a:fld>
            <a:r>
              <a:rPr lang="en-US" altLang="ko-KR"/>
              <a:t>4/19</a:t>
            </a:r>
            <a:endParaRPr lang="ko-KR"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Sionna Progress · Overview</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dirty="0">
                <a:latin typeface="AvenirNext-DemiBold"/>
                <a:ea typeface="AvenirNext-DemiBold"/>
                <a:cs typeface="AvenirNext-DemiBold"/>
              </a:rPr>
              <a:t>Two Stages, Built on One Scene</a:t>
            </a:r>
            <a:endParaRPr lang="en-US" altLang="ko-KR" sz="5200" b="1" i="0" dirty="0">
              <a:solidFill>
                <a:srgbClr val="000000"/>
              </a:solidFill>
              <a:latin typeface="AvenirNext-DemiBold"/>
              <a:ea typeface="AvenirNext-DemiBold"/>
              <a:cs typeface="AvenirNext-DemiBold"/>
            </a:endParaRPr>
          </a:p>
        </p:txBody>
      </p:sp>
      <p:sp>
        <p:nvSpPr>
          <p:cNvPr id="41" name="L"/>
          <p:cNvSpPr txBox="1"/>
          <p:nvPr/>
        </p:nvSpPr>
        <p:spPr>
          <a:xfrm>
            <a:off x="720000" y="3150000"/>
            <a:ext cx="4900000" cy="1700000"/>
          </a:xfrm>
          <a:prstGeom prst="rect">
            <a:avLst/>
          </a:prstGeom>
        </p:spPr>
        <p:txBody>
          <a:bodyPr lIns="0" tIns="20000" rIns="40000" bIns="20000" anchor="ctr">
            <a:noAutofit/>
          </a:bodyPr>
          <a:lstStyle/>
          <a:p>
            <a:pPr algn="l"/>
            <a:r>
              <a:rPr lang="en-US" altLang="ko-KR" sz="2500" b="1" i="0" dirty="0">
                <a:solidFill>
                  <a:srgbClr val="26448A"/>
                </a:solidFill>
                <a:latin typeface="Avenir Next Medium"/>
                <a:ea typeface="Avenir Next Medium"/>
                <a:cs typeface="Avenir Next Medium"/>
              </a:rPr>
              <a:t>① Environment</a:t>
            </a:r>
          </a:p>
        </p:txBody>
      </p:sp>
      <p:sp>
        <p:nvSpPr>
          <p:cNvPr id="42" name="B"/>
          <p:cNvSpPr txBox="1"/>
          <p:nvPr/>
        </p:nvSpPr>
        <p:spPr>
          <a:xfrm>
            <a:off x="5900000" y="315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Shielded chamber</a:t>
            </a:r>
          </a:p>
        </p:txBody>
      </p:sp>
      <p:sp>
        <p:nvSpPr>
          <p:cNvPr id="43" name="A"/>
          <p:cNvSpPr txBox="1"/>
          <p:nvPr/>
        </p:nvSpPr>
        <p:spPr>
          <a:xfrm>
            <a:off x="11300000" y="3150000"/>
            <a:ext cx="782000" cy="1700000"/>
          </a:xfrm>
          <a:prstGeom prst="rect">
            <a:avLst/>
          </a:prstGeom>
        </p:spPr>
        <p:txBody>
          <a:bodyPr lIns="0" tIns="0" rIns="0" bIns="0" anchor="ctr">
            <a:noAutofit/>
          </a:bodyPr>
          <a:lstStyle/>
          <a:p>
            <a:pPr algn="ctr"/>
            <a:r>
              <a:rPr lang="en-US" altLang="ko-KR" sz="3600" b="1" i="0" dirty="0">
                <a:solidFill>
                  <a:srgbClr val="2E74B5"/>
                </a:solidFill>
                <a:latin typeface="Avenir Next Medium"/>
                <a:ea typeface="Avenir Next Medium"/>
                <a:cs typeface="Avenir Next Medium"/>
              </a:rPr>
              <a:t>→</a:t>
            </a:r>
          </a:p>
        </p:txBody>
      </p:sp>
      <p:sp>
        <p:nvSpPr>
          <p:cNvPr id="44" name="B"/>
          <p:cNvSpPr txBox="1"/>
          <p:nvPr/>
        </p:nvSpPr>
        <p:spPr>
          <a:xfrm>
            <a:off x="12082000" y="315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5 DJI meshes</a:t>
            </a:r>
          </a:p>
        </p:txBody>
      </p:sp>
      <p:sp>
        <p:nvSpPr>
          <p:cNvPr id="45" name="A"/>
          <p:cNvSpPr txBox="1"/>
          <p:nvPr/>
        </p:nvSpPr>
        <p:spPr>
          <a:xfrm>
            <a:off x="17482000" y="3150000"/>
            <a:ext cx="782000" cy="1700000"/>
          </a:xfrm>
          <a:prstGeom prst="rect">
            <a:avLst/>
          </a:prstGeom>
        </p:spPr>
        <p:txBody>
          <a:bodyPr lIns="0" tIns="0" rIns="0" bIns="0" anchor="ctr">
            <a:noAutofit/>
          </a:bodyPr>
          <a:lstStyle/>
          <a:p>
            <a:pPr algn="ctr"/>
            <a:r>
              <a:rPr lang="en-US" altLang="ko-KR" sz="3600" b="1" i="0" dirty="0">
                <a:solidFill>
                  <a:srgbClr val="2E74B5"/>
                </a:solidFill>
                <a:latin typeface="Avenir Next Medium"/>
                <a:ea typeface="Avenir Next Medium"/>
                <a:cs typeface="Avenir Next Medium"/>
              </a:rPr>
              <a:t>→</a:t>
            </a:r>
          </a:p>
        </p:txBody>
      </p:sp>
      <p:sp>
        <p:nvSpPr>
          <p:cNvPr id="46" name="B"/>
          <p:cNvSpPr txBox="1"/>
          <p:nvPr/>
        </p:nvSpPr>
        <p:spPr>
          <a:xfrm>
            <a:off x="18264000" y="315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RF materials</a:t>
            </a:r>
          </a:p>
        </p:txBody>
      </p:sp>
      <p:sp>
        <p:nvSpPr>
          <p:cNvPr id="53" name="L"/>
          <p:cNvSpPr txBox="1"/>
          <p:nvPr/>
        </p:nvSpPr>
        <p:spPr>
          <a:xfrm>
            <a:off x="720000" y="5500000"/>
            <a:ext cx="4900000" cy="1700000"/>
          </a:xfrm>
          <a:prstGeom prst="rect">
            <a:avLst/>
          </a:prstGeom>
        </p:spPr>
        <p:txBody>
          <a:bodyPr lIns="0" tIns="20000" rIns="40000" bIns="20000" anchor="ctr">
            <a:noAutofit/>
          </a:bodyPr>
          <a:lstStyle/>
          <a:p>
            <a:pPr algn="l"/>
            <a:r>
              <a:rPr lang="en-US" altLang="ko-KR" sz="2500" b="1" i="0" dirty="0">
                <a:solidFill>
                  <a:srgbClr val="26448A"/>
                </a:solidFill>
                <a:latin typeface="Avenir Next Medium"/>
                <a:ea typeface="Avenir Next Medium"/>
                <a:cs typeface="Avenir Next Medium"/>
              </a:rPr>
              <a:t>② Micro-Doppler</a:t>
            </a:r>
          </a:p>
        </p:txBody>
      </p:sp>
      <p:sp>
        <p:nvSpPr>
          <p:cNvPr id="54" name="B"/>
          <p:cNvSpPr txBox="1"/>
          <p:nvPr/>
        </p:nvSpPr>
        <p:spPr>
          <a:xfrm>
            <a:off x="5900000" y="550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Articulated drone</a:t>
            </a:r>
          </a:p>
        </p:txBody>
      </p:sp>
      <p:sp>
        <p:nvSpPr>
          <p:cNvPr id="55" name="A"/>
          <p:cNvSpPr txBox="1"/>
          <p:nvPr/>
        </p:nvSpPr>
        <p:spPr>
          <a:xfrm>
            <a:off x="11300000" y="5500000"/>
            <a:ext cx="782000" cy="1700000"/>
          </a:xfrm>
          <a:prstGeom prst="rect">
            <a:avLst/>
          </a:prstGeom>
        </p:spPr>
        <p:txBody>
          <a:bodyPr lIns="0" tIns="0" rIns="0" bIns="0" anchor="ctr">
            <a:noAutofit/>
          </a:bodyPr>
          <a:lstStyle/>
          <a:p>
            <a:pPr algn="ctr"/>
            <a:r>
              <a:rPr lang="en-US" altLang="ko-KR" sz="3600" b="1" i="0" dirty="0">
                <a:solidFill>
                  <a:srgbClr val="2E74B5"/>
                </a:solidFill>
                <a:latin typeface="Avenir Next Medium"/>
                <a:ea typeface="Avenir Next Medium"/>
                <a:cs typeface="Avenir Next Medium"/>
              </a:rPr>
              <a:t>→</a:t>
            </a:r>
          </a:p>
        </p:txBody>
      </p:sp>
      <p:sp>
        <p:nvSpPr>
          <p:cNvPr id="56" name="B"/>
          <p:cNvSpPr txBox="1"/>
          <p:nvPr/>
        </p:nvSpPr>
        <p:spPr>
          <a:xfrm>
            <a:off x="12082000" y="550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Blade flash</a:t>
            </a:r>
          </a:p>
          <a:p>
            <a:pPr algn="ctr">
              <a:spcBef>
                <a:spcPts val="200"/>
              </a:spcBef>
            </a:pPr>
            <a:r>
              <a:rPr lang="en-US" altLang="ko-KR" sz="1700" b="0" i="1" dirty="0">
                <a:solidFill>
                  <a:srgbClr val="595959"/>
                </a:solidFill>
                <a:latin typeface="Avenir Next Medium"/>
                <a:ea typeface="Avenir Next Medium"/>
                <a:cs typeface="Avenir Next Medium"/>
              </a:rPr>
              <a:t>+ tip Doppler</a:t>
            </a:r>
          </a:p>
        </p:txBody>
      </p:sp>
      <p:sp>
        <p:nvSpPr>
          <p:cNvPr id="57" name="A"/>
          <p:cNvSpPr txBox="1"/>
          <p:nvPr/>
        </p:nvSpPr>
        <p:spPr>
          <a:xfrm>
            <a:off x="17482000" y="5500000"/>
            <a:ext cx="782000" cy="1700000"/>
          </a:xfrm>
          <a:prstGeom prst="rect">
            <a:avLst/>
          </a:prstGeom>
        </p:spPr>
        <p:txBody>
          <a:bodyPr lIns="0" tIns="0" rIns="0" bIns="0" anchor="ctr">
            <a:noAutofit/>
          </a:bodyPr>
          <a:lstStyle/>
          <a:p>
            <a:pPr algn="ctr"/>
            <a:r>
              <a:rPr lang="en-US" altLang="ko-KR" sz="3600" b="1" i="0" dirty="0">
                <a:solidFill>
                  <a:srgbClr val="2E74B5"/>
                </a:solidFill>
                <a:latin typeface="Avenir Next Medium"/>
                <a:ea typeface="Avenir Next Medium"/>
                <a:cs typeface="Avenir Next Medium"/>
              </a:rPr>
              <a:t>→</a:t>
            </a:r>
          </a:p>
        </p:txBody>
      </p:sp>
      <p:sp>
        <p:nvSpPr>
          <p:cNvPr id="58" name="B"/>
          <p:cNvSpPr txBox="1"/>
          <p:nvPr/>
        </p:nvSpPr>
        <p:spPr>
          <a:xfrm>
            <a:off x="18264000" y="550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PX4 / Gazebo basis</a:t>
            </a:r>
          </a:p>
        </p:txBody>
      </p:sp>
      <p:sp>
        <p:nvSpPr>
          <p:cNvPr id="3" name="슬라이드 번호 개체 틀 2">
            <a:extLst>
              <a:ext uri="{FF2B5EF4-FFF2-40B4-BE49-F238E27FC236}">
                <a16:creationId xmlns:a16="http://schemas.microsoft.com/office/drawing/2014/main" id="{B4D319FC-14F6-DB38-5437-13D5AAD32ED3}"/>
              </a:ext>
            </a:extLst>
          </p:cNvPr>
          <p:cNvSpPr>
            <a:spLocks noGrp="1"/>
          </p:cNvSpPr>
          <p:nvPr>
            <p:ph type="sldNum" sz="quarter" idx="2"/>
          </p:nvPr>
        </p:nvSpPr>
        <p:spPr/>
        <p:txBody>
          <a:bodyPr/>
          <a:lstStyle/>
          <a:p>
            <a:fld id="{86CB4B4D-7CA3-9044-876B-883B54F8677D}" type="slidenum">
              <a:rPr lang="en-US" altLang="ko-KR" smtClean="0"/>
              <a:t>5</a:t>
            </a:fld>
            <a:r>
              <a:rPr lang="en-US" altLang="ko-KR"/>
              <a:t>5/19</a:t>
            </a:r>
            <a:endParaRPr lang="ko-KR"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Stage 1 · Environment</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i="0" dirty="0">
                <a:solidFill>
                  <a:srgbClr val="000000"/>
                </a:solidFill>
                <a:latin typeface="AvenirNext-DemiBold"/>
                <a:ea typeface="AvenirNext-DemiBold"/>
                <a:cs typeface="AvenirNext-DemiBold"/>
              </a:rPr>
              <a:t>The RF Playground — a Shielded Chamber</a:t>
            </a:r>
          </a:p>
        </p:txBody>
      </p:sp>
      <p:sp>
        <p:nvSpPr>
          <p:cNvPr id="13" name="Subtitle"/>
          <p:cNvSpPr txBox="1">
            <a:spLocks/>
          </p:cNvSpPr>
          <p:nvPr/>
        </p:nvSpPr>
        <p:spPr>
          <a:xfrm>
            <a:off x="760000" y="2040000"/>
            <a:ext cx="22600000" cy="700000"/>
          </a:xfrm>
          <a:prstGeom prst="rect">
            <a:avLst/>
          </a:prstGeom>
        </p:spPr>
        <p:txBody>
          <a:bodyPr lIns="50800" tIns="30000" rIns="50800" bIns="30000" anchor="ctr">
            <a:noAutofit/>
          </a:bodyPr>
          <a:lstStyle/>
          <a:p>
            <a:pPr algn="l"/>
            <a:r>
              <a:rPr lang="en-US" altLang="ko-KR" sz="3300" b="1" i="1" dirty="0">
                <a:solidFill>
                  <a:srgbClr val="C00000"/>
                </a:solidFill>
                <a:latin typeface="Avenir Next Medium"/>
                <a:ea typeface="Avenir Next Medium"/>
                <a:cs typeface="Avenir Next Medium"/>
              </a:rPr>
              <a:t>30 × 20 × 11 m shielded room</a:t>
            </a:r>
          </a:p>
        </p:txBody>
      </p:sp>
      <p:pic>
        <p:nvPicPr>
          <p:cNvPr id="20" name="chamber_render"/>
          <p:cNvPicPr>
            <a:picLocks noChangeAspect="1"/>
          </p:cNvPicPr>
          <p:nvPr/>
        </p:nvPicPr>
        <p:blipFill>
          <a:blip r:embed="rId3"/>
          <a:stretch>
            <a:fillRect/>
          </a:stretch>
        </p:blipFill>
        <p:spPr>
          <a:xfrm>
            <a:off x="-485775" y="2753814"/>
            <a:ext cx="10748513" cy="8061384"/>
          </a:xfrm>
          <a:prstGeom prst="rect">
            <a:avLst/>
          </a:prstGeom>
        </p:spPr>
      </p:pic>
      <p:pic>
        <p:nvPicPr>
          <p:cNvPr id="21" name="chamber_plan"/>
          <p:cNvPicPr>
            <a:picLocks noChangeAspect="1"/>
          </p:cNvPicPr>
          <p:nvPr/>
        </p:nvPicPr>
        <p:blipFill>
          <a:blip r:embed="rId4"/>
          <a:stretch>
            <a:fillRect/>
          </a:stretch>
        </p:blipFill>
        <p:spPr>
          <a:xfrm>
            <a:off x="10262738" y="3511153"/>
            <a:ext cx="14184536" cy="6546709"/>
          </a:xfrm>
          <a:prstGeom prst="rect">
            <a:avLst/>
          </a:prstGeom>
        </p:spPr>
      </p:pic>
      <p:sp>
        <p:nvSpPr>
          <p:cNvPr id="14" name="Cap"/>
          <p:cNvSpPr txBox="1">
            <a:spLocks/>
          </p:cNvSpPr>
          <p:nvPr/>
        </p:nvSpPr>
        <p:spPr>
          <a:xfrm>
            <a:off x="760000" y="10697676"/>
            <a:ext cx="22944000" cy="560000"/>
          </a:xfrm>
          <a:prstGeom prst="rect">
            <a:avLst/>
          </a:prstGeom>
        </p:spPr>
        <p:txBody>
          <a:bodyPr lIns="50800" tIns="30000" rIns="50800" bIns="30000" anchor="ctr">
            <a:noAutofit/>
          </a:bodyPr>
          <a:lstStyle/>
          <a:p>
            <a:pPr algn="ctr"/>
            <a:r>
              <a:rPr lang="en-US" altLang="ko-KR" sz="2000" b="0" i="1" dirty="0">
                <a:solidFill>
                  <a:srgbClr val="595959"/>
                </a:solidFill>
                <a:latin typeface="Avenir Next Medium"/>
                <a:ea typeface="Avenir Next Medium"/>
                <a:cs typeface="Avenir Next Medium"/>
              </a:rPr>
              <a:t>Sionna render of the chamber (left) · dimensioned plan &amp; elevation (right) — modelled on a real facility</a:t>
            </a:r>
          </a:p>
        </p:txBody>
      </p:sp>
      <p:sp>
        <p:nvSpPr>
          <p:cNvPr id="3" name="슬라이드 번호 개체 틀 2">
            <a:extLst>
              <a:ext uri="{FF2B5EF4-FFF2-40B4-BE49-F238E27FC236}">
                <a16:creationId xmlns:a16="http://schemas.microsoft.com/office/drawing/2014/main" id="{0F15EBE6-09B6-5771-515C-2528A12FBAD8}"/>
              </a:ext>
            </a:extLst>
          </p:cNvPr>
          <p:cNvSpPr>
            <a:spLocks noGrp="1"/>
          </p:cNvSpPr>
          <p:nvPr>
            <p:ph type="sldNum" sz="quarter" idx="2"/>
          </p:nvPr>
        </p:nvSpPr>
        <p:spPr/>
        <p:txBody>
          <a:bodyPr/>
          <a:lstStyle/>
          <a:p>
            <a:fld id="{86CB4B4D-7CA3-9044-876B-883B54F8677D}" type="slidenum">
              <a:rPr lang="en-US" altLang="ko-KR" smtClean="0"/>
              <a:t>6</a:t>
            </a:fld>
            <a:r>
              <a:rPr lang="en-US" altLang="ko-KR"/>
              <a:t>6/19</a:t>
            </a:r>
            <a:endParaRPr lang="ko-KR"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Stage 1 · Spec-Driven Meshes</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i="0" dirty="0">
                <a:solidFill>
                  <a:srgbClr val="000000"/>
                </a:solidFill>
                <a:latin typeface="AvenirNext-DemiBold"/>
                <a:ea typeface="AvenirNext-DemiBold"/>
                <a:cs typeface="AvenirNext-DemiBold"/>
              </a:rPr>
              <a:t>From a Spec Sheet to a 3D Mesh</a:t>
            </a:r>
          </a:p>
        </p:txBody>
      </p:sp>
      <p:sp>
        <p:nvSpPr>
          <p:cNvPr id="13" name="Subtitle"/>
          <p:cNvSpPr txBox="1">
            <a:spLocks/>
          </p:cNvSpPr>
          <p:nvPr/>
        </p:nvSpPr>
        <p:spPr>
          <a:xfrm>
            <a:off x="760000" y="2040000"/>
            <a:ext cx="22600000" cy="700000"/>
          </a:xfrm>
          <a:prstGeom prst="rect">
            <a:avLst/>
          </a:prstGeom>
        </p:spPr>
        <p:txBody>
          <a:bodyPr lIns="50800" tIns="30000" rIns="50800" bIns="30000" anchor="ctr">
            <a:noAutofit/>
          </a:bodyPr>
          <a:lstStyle/>
          <a:p>
            <a:pPr algn="l"/>
            <a:r>
              <a:rPr lang="en-US" altLang="ko-KR" sz="3300" b="1" i="1" dirty="0">
                <a:solidFill>
                  <a:srgbClr val="C00000"/>
                </a:solidFill>
                <a:latin typeface="Avenir Next Medium"/>
                <a:ea typeface="Avenir Next Medium"/>
                <a:cs typeface="Avenir Next Medium"/>
              </a:rPr>
              <a:t>Real published specs → a spec-driven 3D model</a:t>
            </a:r>
          </a:p>
        </p:txBody>
      </p:sp>
      <p:pic>
        <p:nvPicPr>
          <p:cNvPr id="20" name="build_card"/>
          <p:cNvPicPr>
            <a:picLocks noChangeAspect="1"/>
          </p:cNvPicPr>
          <p:nvPr/>
        </p:nvPicPr>
        <p:blipFill>
          <a:blip r:embed="rId3"/>
          <a:stretch>
            <a:fillRect/>
          </a:stretch>
        </p:blipFill>
        <p:spPr>
          <a:xfrm>
            <a:off x="11566925" y="3621952"/>
            <a:ext cx="12355962" cy="7793761"/>
          </a:xfrm>
          <a:prstGeom prst="rect">
            <a:avLst/>
          </a:prstGeom>
        </p:spPr>
      </p:pic>
      <p:pic>
        <p:nvPicPr>
          <p:cNvPr id="3" name="그림 2">
            <a:extLst>
              <a:ext uri="{FF2B5EF4-FFF2-40B4-BE49-F238E27FC236}">
                <a16:creationId xmlns:a16="http://schemas.microsoft.com/office/drawing/2014/main" id="{B1E7B2DA-7EE1-034C-51F6-ECD7206C1B33}"/>
              </a:ext>
            </a:extLst>
          </p:cNvPr>
          <p:cNvPicPr>
            <a:picLocks noChangeAspect="1"/>
          </p:cNvPicPr>
          <p:nvPr/>
        </p:nvPicPr>
        <p:blipFill>
          <a:blip r:embed="rId4"/>
          <a:stretch>
            <a:fillRect/>
          </a:stretch>
        </p:blipFill>
        <p:spPr>
          <a:xfrm>
            <a:off x="1024000" y="2740000"/>
            <a:ext cx="9986962" cy="9794013"/>
          </a:xfrm>
          <a:prstGeom prst="rect">
            <a:avLst/>
          </a:prstGeom>
        </p:spPr>
      </p:pic>
      <p:sp>
        <p:nvSpPr>
          <p:cNvPr id="4" name="슬라이드 번호 개체 틀 3">
            <a:extLst>
              <a:ext uri="{FF2B5EF4-FFF2-40B4-BE49-F238E27FC236}">
                <a16:creationId xmlns:a16="http://schemas.microsoft.com/office/drawing/2014/main" id="{89C8FDE4-4A56-1279-9E11-D50D8F0632F8}"/>
              </a:ext>
            </a:extLst>
          </p:cNvPr>
          <p:cNvSpPr>
            <a:spLocks noGrp="1"/>
          </p:cNvSpPr>
          <p:nvPr>
            <p:ph type="sldNum" sz="quarter" idx="2"/>
          </p:nvPr>
        </p:nvSpPr>
        <p:spPr/>
        <p:txBody>
          <a:bodyPr/>
          <a:lstStyle/>
          <a:p>
            <a:fld id="{86CB4B4D-7CA3-9044-876B-883B54F8677D}" type="slidenum">
              <a:rPr lang="en-US" altLang="ko-KR" smtClean="0"/>
              <a:t>7</a:t>
            </a:fld>
            <a:r>
              <a:rPr lang="en-US" altLang="ko-KR"/>
              <a:t>7/19</a:t>
            </a:r>
            <a:endParaRPr lang="ko-KR"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Stage 1 · Drone Meshes</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i="0" dirty="0">
                <a:solidFill>
                  <a:srgbClr val="000000"/>
                </a:solidFill>
                <a:latin typeface="AvenirNext-DemiBold"/>
                <a:ea typeface="AvenirNext-DemiBold"/>
                <a:cs typeface="AvenirNext-DemiBold"/>
              </a:rPr>
              <a:t>DJI Drone Meshes — Five Real Models</a:t>
            </a:r>
          </a:p>
        </p:txBody>
      </p:sp>
      <p:pic>
        <p:nvPicPr>
          <p:cNvPr id="20" name="turntable"/>
          <p:cNvPicPr>
            <a:picLocks noChangeAspect="1"/>
          </p:cNvPicPr>
          <p:nvPr/>
        </p:nvPicPr>
        <p:blipFill>
          <a:blip r:embed="rId3"/>
          <a:srcRect/>
          <a:stretch>
            <a:fillRect/>
          </a:stretch>
        </p:blipFill>
        <p:spPr>
          <a:xfrm>
            <a:off x="2079504" y="4332606"/>
            <a:ext cx="20304991" cy="4602464"/>
          </a:xfrm>
          <a:prstGeom prst="rect">
            <a:avLst/>
          </a:prstGeom>
        </p:spPr>
      </p:pic>
      <p:sp>
        <p:nvSpPr>
          <p:cNvPr id="14" name="Cap"/>
          <p:cNvSpPr txBox="1">
            <a:spLocks/>
          </p:cNvSpPr>
          <p:nvPr/>
        </p:nvSpPr>
        <p:spPr>
          <a:xfrm>
            <a:off x="760000" y="10697676"/>
            <a:ext cx="22944000" cy="560000"/>
          </a:xfrm>
          <a:prstGeom prst="rect">
            <a:avLst/>
          </a:prstGeom>
        </p:spPr>
        <p:txBody>
          <a:bodyPr lIns="50800" tIns="30000" rIns="50800" bIns="30000" anchor="ctr">
            <a:noAutofit/>
          </a:bodyPr>
          <a:lstStyle/>
          <a:p>
            <a:pPr algn="ctr"/>
            <a:r>
              <a:rPr lang="en-US" altLang="ko-KR" sz="2000" b="0" i="1" dirty="0">
                <a:solidFill>
                  <a:srgbClr val="595959"/>
                </a:solidFill>
                <a:latin typeface="Avenir Next Medium"/>
                <a:ea typeface="Avenir Next Medium"/>
                <a:cs typeface="Avenir Next Medium"/>
              </a:rPr>
              <a:t>Meshes rotating (shape comparison) — 4-rotor quads vs the 8-rotor S1000+; each part is its own RF material</a:t>
            </a:r>
          </a:p>
        </p:txBody>
      </p:sp>
      <p:sp>
        <p:nvSpPr>
          <p:cNvPr id="3" name="슬라이드 번호 개체 틀 2">
            <a:extLst>
              <a:ext uri="{FF2B5EF4-FFF2-40B4-BE49-F238E27FC236}">
                <a16:creationId xmlns:a16="http://schemas.microsoft.com/office/drawing/2014/main" id="{F427BCB5-B590-C175-2AEA-3ACFCAD50783}"/>
              </a:ext>
            </a:extLst>
          </p:cNvPr>
          <p:cNvSpPr>
            <a:spLocks noGrp="1"/>
          </p:cNvSpPr>
          <p:nvPr>
            <p:ph type="sldNum" sz="quarter" idx="2"/>
          </p:nvPr>
        </p:nvSpPr>
        <p:spPr/>
        <p:txBody>
          <a:bodyPr/>
          <a:lstStyle/>
          <a:p>
            <a:fld id="{86CB4B4D-7CA3-9044-876B-883B54F8677D}" type="slidenum">
              <a:rPr lang="en-US" altLang="ko-KR" smtClean="0"/>
              <a:t>8</a:t>
            </a:fld>
            <a:r>
              <a:rPr lang="en-US" altLang="ko-KR"/>
              <a:t>8/19</a:t>
            </a:r>
            <a:endParaRPr lang="ko-KR" alt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EC4A21-6FFB-0E0C-C794-084CEB8A01C9}"/>
            </a:ext>
          </a:extLst>
        </p:cNvPr>
        <p:cNvGrpSpPr/>
        <p:nvPr/>
      </p:nvGrpSpPr>
      <p:grpSpPr>
        <a:xfrm>
          <a:off x="0" y="0"/>
          <a:ext cx="0" cy="0"/>
          <a:chOff x="0" y="0"/>
          <a:chExt cx="0" cy="0"/>
        </a:xfrm>
      </p:grpSpPr>
      <p:sp>
        <p:nvSpPr>
          <p:cNvPr id="11" name="Tag">
            <a:extLst>
              <a:ext uri="{FF2B5EF4-FFF2-40B4-BE49-F238E27FC236}">
                <a16:creationId xmlns:a16="http://schemas.microsoft.com/office/drawing/2014/main" id="{A81D60AF-3409-42AC-33DB-83171C4C956B}"/>
              </a:ext>
            </a:extLst>
          </p:cNvPr>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Stage 1 · Drone Meshes</a:t>
            </a:r>
          </a:p>
        </p:txBody>
      </p:sp>
      <p:sp>
        <p:nvSpPr>
          <p:cNvPr id="12" name="Title">
            <a:extLst>
              <a:ext uri="{FF2B5EF4-FFF2-40B4-BE49-F238E27FC236}">
                <a16:creationId xmlns:a16="http://schemas.microsoft.com/office/drawing/2014/main" id="{17162CFD-6A59-4360-EE81-72E194C1D721}"/>
              </a:ext>
            </a:extLst>
          </p:cNvPr>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i="0" dirty="0">
                <a:solidFill>
                  <a:srgbClr val="000000"/>
                </a:solidFill>
                <a:latin typeface="AvenirNext-DemiBold"/>
                <a:ea typeface="AvenirNext-DemiBold"/>
                <a:cs typeface="AvenirNext-DemiBold"/>
              </a:rPr>
              <a:t>Five Drones at True Scale</a:t>
            </a:r>
          </a:p>
        </p:txBody>
      </p:sp>
      <p:pic>
        <p:nvPicPr>
          <p:cNvPr id="3" name="그림 2">
            <a:extLst>
              <a:ext uri="{FF2B5EF4-FFF2-40B4-BE49-F238E27FC236}">
                <a16:creationId xmlns:a16="http://schemas.microsoft.com/office/drawing/2014/main" id="{31A76158-953A-2AA4-E2D0-1B8E0E64BF09}"/>
              </a:ext>
            </a:extLst>
          </p:cNvPr>
          <p:cNvPicPr>
            <a:picLocks noChangeAspect="1"/>
          </p:cNvPicPr>
          <p:nvPr/>
        </p:nvPicPr>
        <p:blipFill>
          <a:blip r:embed="rId3"/>
          <a:stretch>
            <a:fillRect/>
          </a:stretch>
        </p:blipFill>
        <p:spPr>
          <a:xfrm>
            <a:off x="3890402" y="1980001"/>
            <a:ext cx="16599197" cy="10073693"/>
          </a:xfrm>
          <a:prstGeom prst="rect">
            <a:avLst/>
          </a:prstGeom>
        </p:spPr>
      </p:pic>
      <p:sp>
        <p:nvSpPr>
          <p:cNvPr id="4" name="슬라이드 번호 개체 틀 3">
            <a:extLst>
              <a:ext uri="{FF2B5EF4-FFF2-40B4-BE49-F238E27FC236}">
                <a16:creationId xmlns:a16="http://schemas.microsoft.com/office/drawing/2014/main" id="{C45839B7-DD88-3BBD-97A3-E51BFE7E4BF6}"/>
              </a:ext>
            </a:extLst>
          </p:cNvPr>
          <p:cNvSpPr>
            <a:spLocks noGrp="1"/>
          </p:cNvSpPr>
          <p:nvPr>
            <p:ph type="sldNum" sz="quarter" idx="2"/>
          </p:nvPr>
        </p:nvSpPr>
        <p:spPr/>
        <p:txBody>
          <a:bodyPr/>
          <a:lstStyle/>
          <a:p>
            <a:fld id="{86CB4B4D-7CA3-9044-876B-883B54F8677D}" type="slidenum">
              <a:rPr lang="en-US" altLang="ko-KR" smtClean="0"/>
              <a:t>9</a:t>
            </a:fld>
            <a:r>
              <a:rPr lang="en-US" altLang="ko-KR"/>
              <a:t>9/19</a:t>
            </a:r>
            <a:endParaRPr lang="ko-KR" altLang="en-US" dirty="0"/>
          </a:p>
        </p:txBody>
      </p:sp>
      <p:sp>
        <p:nvSpPr>
          <p:cNvPr id="14" name="Cap"/>
          <p:cNvSpPr txBox="1">
            <a:spLocks/>
          </p:cNvSpPr>
          <p:nvPr/>
        </p:nvSpPr>
        <p:spPr>
          <a:xfrm>
            <a:off x="760000" y="10697676"/>
            <a:ext cx="22944000" cy="560000"/>
          </a:xfrm>
          <a:prstGeom prst="rect">
            <a:avLst/>
          </a:prstGeom>
        </p:spPr>
        <p:txBody>
          <a:bodyPr lIns="50800" tIns="30000" rIns="50800" bIns="30000" anchor="ctr">
            <a:noAutofit/>
          </a:bodyPr>
          <a:lstStyle/>
          <a:p>
            <a:pPr algn="ctr"/>
            <a:r>
              <a:rPr lang="en-US" altLang="ko-KR" sz="2000" b="0" i="1" dirty="0">
                <a:solidFill>
                  <a:srgbClr val="595959"/>
                </a:solidFill>
                <a:latin typeface="Avenir Next Medium"/>
                <a:ea typeface="Avenir Next Medium"/>
                <a:cs typeface="Avenir Next Medium"/>
              </a:rPr>
              <a:t>Same scale, top view (dashed = propeller disc) · diagonal and weight from published specs — the S1000+ is in a different class</a:t>
            </a:r>
          </a:p>
        </p:txBody>
      </p:sp>
    </p:spTree>
    <p:extLst>
      <p:ext uri="{BB962C8B-B14F-4D97-AF65-F5344CB8AC3E}">
        <p14:creationId xmlns:p14="http://schemas.microsoft.com/office/powerpoint/2010/main" val="30863198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A92DD3-0297-1320-BE63-3A308AE34431}"/>
            </a:ext>
          </a:extLst>
        </p:cNvPr>
        <p:cNvGrpSpPr/>
        <p:nvPr/>
      </p:nvGrpSpPr>
      <p:grpSpPr>
        <a:xfrm>
          <a:off x="0" y="0"/>
          <a:ext cx="0" cy="0"/>
          <a:chOff x="0" y="0"/>
          <a:chExt cx="0" cy="0"/>
        </a:xfrm>
      </p:grpSpPr>
      <p:sp>
        <p:nvSpPr>
          <p:cNvPr id="11" name="Tag">
            <a:extLst>
              <a:ext uri="{FF2B5EF4-FFF2-40B4-BE49-F238E27FC236}">
                <a16:creationId xmlns:a16="http://schemas.microsoft.com/office/drawing/2014/main" id="{DBBE20D7-65C6-E9F5-BD3C-3E79489D0860}"/>
              </a:ext>
            </a:extLst>
          </p:cNvPr>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Stage 1 · Drone Meshes</a:t>
            </a:r>
          </a:p>
        </p:txBody>
      </p:sp>
      <p:sp>
        <p:nvSpPr>
          <p:cNvPr id="12" name="Title">
            <a:extLst>
              <a:ext uri="{FF2B5EF4-FFF2-40B4-BE49-F238E27FC236}">
                <a16:creationId xmlns:a16="http://schemas.microsoft.com/office/drawing/2014/main" id="{A34C369D-8F9D-B5CD-5CD8-FB8EC2C9DA19}"/>
              </a:ext>
            </a:extLst>
          </p:cNvPr>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i="0" dirty="0">
                <a:solidFill>
                  <a:srgbClr val="000000"/>
                </a:solidFill>
                <a:latin typeface="AvenirNext-DemiBold"/>
                <a:ea typeface="AvenirNext-DemiBold"/>
                <a:cs typeface="AvenirNext-DemiBold"/>
              </a:rPr>
              <a:t>The Catalog — and the Scale Problem</a:t>
            </a:r>
          </a:p>
        </p:txBody>
      </p:sp>
      <p:pic>
        <p:nvPicPr>
          <p:cNvPr id="4" name="그림 3">
            <a:extLst>
              <a:ext uri="{FF2B5EF4-FFF2-40B4-BE49-F238E27FC236}">
                <a16:creationId xmlns:a16="http://schemas.microsoft.com/office/drawing/2014/main" id="{70B24D19-B346-7DAD-4E41-01CD62121F2C}"/>
              </a:ext>
            </a:extLst>
          </p:cNvPr>
          <p:cNvPicPr>
            <a:picLocks noChangeAspect="1"/>
          </p:cNvPicPr>
          <p:nvPr/>
        </p:nvPicPr>
        <p:blipFill>
          <a:blip r:embed="rId3"/>
          <a:stretch>
            <a:fillRect/>
          </a:stretch>
        </p:blipFill>
        <p:spPr>
          <a:xfrm>
            <a:off x="3254964" y="2404521"/>
            <a:ext cx="17664523" cy="9892132"/>
          </a:xfrm>
          <a:prstGeom prst="rect">
            <a:avLst/>
          </a:prstGeom>
        </p:spPr>
      </p:pic>
      <p:sp>
        <p:nvSpPr>
          <p:cNvPr id="3" name="슬라이드 번호 개체 틀 2">
            <a:extLst>
              <a:ext uri="{FF2B5EF4-FFF2-40B4-BE49-F238E27FC236}">
                <a16:creationId xmlns:a16="http://schemas.microsoft.com/office/drawing/2014/main" id="{DA32AFEF-DF1C-F780-362D-B3B0255CE957}"/>
              </a:ext>
            </a:extLst>
          </p:cNvPr>
          <p:cNvSpPr>
            <a:spLocks noGrp="1"/>
          </p:cNvSpPr>
          <p:nvPr>
            <p:ph type="sldNum" sz="quarter" idx="2"/>
          </p:nvPr>
        </p:nvSpPr>
        <p:spPr/>
        <p:txBody>
          <a:bodyPr/>
          <a:lstStyle/>
          <a:p>
            <a:fld id="{86CB4B4D-7CA3-9044-876B-883B54F8677D}" type="slidenum">
              <a:rPr lang="en-US" altLang="ko-KR" smtClean="0"/>
              <a:t>10</a:t>
            </a:fld>
            <a:r>
              <a:rPr lang="en-US" altLang="ko-KR"/>
              <a:t>10/19</a:t>
            </a:r>
            <a:endParaRPr lang="ko-KR" altLang="en-US" dirty="0"/>
          </a:p>
        </p:txBody>
      </p:sp>
      <p:sp>
        <p:nvSpPr>
          <p:cNvPr id="14" name="Cap"/>
          <p:cNvSpPr txBox="1">
            <a:spLocks/>
          </p:cNvSpPr>
          <p:nvPr/>
        </p:nvSpPr>
        <p:spPr>
          <a:xfrm>
            <a:off x="760000" y="10697676"/>
            <a:ext cx="22944000" cy="560000"/>
          </a:xfrm>
          <a:prstGeom prst="rect">
            <a:avLst/>
          </a:prstGeom>
        </p:spPr>
        <p:txBody>
          <a:bodyPr lIns="50800" tIns="30000" rIns="50800" bIns="30000" anchor="ctr">
            <a:noAutofit/>
          </a:bodyPr>
          <a:lstStyle/>
          <a:p>
            <a:pPr algn="ctr"/>
            <a:r>
              <a:rPr lang="en-US" altLang="ko-KR" sz="2000" b="0" i="1" dirty="0">
                <a:solidFill>
                  <a:srgbClr val="595959"/>
                </a:solidFill>
                <a:latin typeface="Avenir Next Medium"/>
                <a:ea typeface="Avenir Next Medium"/>
                <a:cs typeface="Avenir Next Medium"/>
              </a:rPr>
              <a:t>Sionna RT render catalog · the last panel puts the same drones inside the 30 × 20 × 11 m chamber, at true scale</a:t>
            </a:r>
          </a:p>
        </p:txBody>
      </p:sp>
    </p:spTree>
    <p:extLst>
      <p:ext uri="{BB962C8B-B14F-4D97-AF65-F5344CB8AC3E}">
        <p14:creationId xmlns:p14="http://schemas.microsoft.com/office/powerpoint/2010/main" val="37023224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Stage 2 · Articulation</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i="0" dirty="0">
                <a:solidFill>
                  <a:srgbClr val="000000"/>
                </a:solidFill>
                <a:latin typeface="AvenirNext-DemiBold"/>
                <a:ea typeface="AvenirNext-DemiBold"/>
                <a:cs typeface="AvenirNext-DemiBold"/>
              </a:rPr>
              <a:t>An Articulated Drone — Body ⟂ Props</a:t>
            </a:r>
          </a:p>
        </p:txBody>
      </p:sp>
      <p:sp>
        <p:nvSpPr>
          <p:cNvPr id="13" name="Subtitle"/>
          <p:cNvSpPr txBox="1">
            <a:spLocks/>
          </p:cNvSpPr>
          <p:nvPr/>
        </p:nvSpPr>
        <p:spPr>
          <a:xfrm>
            <a:off x="760000" y="2040000"/>
            <a:ext cx="22600000" cy="700000"/>
          </a:xfrm>
          <a:prstGeom prst="rect">
            <a:avLst/>
          </a:prstGeom>
        </p:spPr>
        <p:txBody>
          <a:bodyPr lIns="50800" tIns="30000" rIns="50800" bIns="30000" anchor="ctr">
            <a:noAutofit/>
          </a:bodyPr>
          <a:lstStyle/>
          <a:p>
            <a:pPr algn="l"/>
            <a:r>
              <a:rPr lang="en-US" altLang="ko-KR" sz="3300" b="1" i="1" dirty="0">
                <a:solidFill>
                  <a:srgbClr val="C00000"/>
                </a:solidFill>
                <a:latin typeface="Avenir Next Medium"/>
                <a:ea typeface="Avenir Next Medium"/>
                <a:cs typeface="Avenir Next Medium"/>
              </a:rPr>
              <a:t>Body tilt and rotor spin move on their own — here, both at once</a:t>
            </a:r>
          </a:p>
        </p:txBody>
      </p:sp>
      <p:pic>
        <p:nvPicPr>
          <p:cNvPr id="20" name="articulation_gif"/>
          <p:cNvPicPr>
            <a:picLocks noChangeAspect="1"/>
          </p:cNvPicPr>
          <p:nvPr/>
        </p:nvPicPr>
        <p:blipFill>
          <a:blip r:embed="rId3"/>
          <a:stretch>
            <a:fillRect/>
          </a:stretch>
        </p:blipFill>
        <p:spPr>
          <a:xfrm>
            <a:off x="7797137" y="2964274"/>
            <a:ext cx="8869725" cy="8869725"/>
          </a:xfrm>
          <a:prstGeom prst="rect">
            <a:avLst/>
          </a:prstGeom>
        </p:spPr>
      </p:pic>
      <p:sp>
        <p:nvSpPr>
          <p:cNvPr id="14" name="Cap"/>
          <p:cNvSpPr txBox="1">
            <a:spLocks/>
          </p:cNvSpPr>
          <p:nvPr/>
        </p:nvSpPr>
        <p:spPr>
          <a:xfrm>
            <a:off x="760000" y="10697676"/>
            <a:ext cx="22944000" cy="560000"/>
          </a:xfrm>
          <a:prstGeom prst="rect">
            <a:avLst/>
          </a:prstGeom>
        </p:spPr>
        <p:txBody>
          <a:bodyPr lIns="50800" tIns="30000" rIns="50800" bIns="30000" anchor="ctr">
            <a:noAutofit/>
          </a:bodyPr>
          <a:lstStyle/>
          <a:p>
            <a:pPr algn="ctr"/>
            <a:r>
              <a:rPr lang="en-US" altLang="ko-KR" sz="2000" b="0" i="1" dirty="0">
                <a:solidFill>
                  <a:srgbClr val="595959"/>
                </a:solidFill>
                <a:latin typeface="Avenir Next Medium"/>
                <a:ea typeface="Avenir Next Medium"/>
                <a:cs typeface="Avenir Next Medium"/>
              </a:rPr>
              <a:t>Mavic 4 Pro: the body wobbles (roll/pitch/yaw) while the props keep spinning — two independent degrees of freedom</a:t>
            </a:r>
          </a:p>
        </p:txBody>
      </p:sp>
      <p:sp>
        <p:nvSpPr>
          <p:cNvPr id="3" name="슬라이드 번호 개체 틀 2">
            <a:extLst>
              <a:ext uri="{FF2B5EF4-FFF2-40B4-BE49-F238E27FC236}">
                <a16:creationId xmlns:a16="http://schemas.microsoft.com/office/drawing/2014/main" id="{655C329E-8B86-F877-AC64-312D58303332}"/>
              </a:ext>
            </a:extLst>
          </p:cNvPr>
          <p:cNvSpPr>
            <a:spLocks noGrp="1"/>
          </p:cNvSpPr>
          <p:nvPr>
            <p:ph type="sldNum" sz="quarter" idx="2"/>
          </p:nvPr>
        </p:nvSpPr>
        <p:spPr/>
        <p:txBody>
          <a:bodyPr/>
          <a:lstStyle/>
          <a:p>
            <a:fld id="{86CB4B4D-7CA3-9044-876B-883B54F8677D}" type="slidenum">
              <a:rPr lang="en-US" altLang="ko-KR" smtClean="0"/>
              <a:t>13</a:t>
            </a:fld>
            <a:r>
              <a:rPr lang="en-US" altLang="ko-KR"/>
              <a:t>11/19</a:t>
            </a:r>
            <a:endParaRPr lang="ko-KR" alt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Stage 2 · Micro-Doppler</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i="0" dirty="0">
                <a:solidFill>
                  <a:srgbClr val="000000"/>
                </a:solidFill>
                <a:latin typeface="AvenirNext-DemiBold"/>
                <a:ea typeface="AvenirNext-DemiBold"/>
                <a:cs typeface="AvenirNext-DemiBold"/>
              </a:rPr>
              <a:t>The Spinning-Blade Signature</a:t>
            </a:r>
          </a:p>
        </p:txBody>
      </p:sp>
      <p:sp>
        <p:nvSpPr>
          <p:cNvPr id="13" name="Subtitle"/>
          <p:cNvSpPr txBox="1">
            <a:spLocks/>
          </p:cNvSpPr>
          <p:nvPr/>
        </p:nvSpPr>
        <p:spPr>
          <a:xfrm>
            <a:off x="760000" y="2040000"/>
            <a:ext cx="22600000" cy="700000"/>
          </a:xfrm>
          <a:prstGeom prst="rect">
            <a:avLst/>
          </a:prstGeom>
        </p:spPr>
        <p:txBody>
          <a:bodyPr lIns="50800" tIns="30000" rIns="50800" bIns="30000" anchor="ctr">
            <a:noAutofit/>
          </a:bodyPr>
          <a:lstStyle/>
          <a:p>
            <a:pPr algn="l"/>
            <a:r>
              <a:rPr lang="en-US" altLang="ko-KR" sz="3300" b="1" i="1" dirty="0">
                <a:solidFill>
                  <a:srgbClr val="C00000"/>
                </a:solidFill>
                <a:latin typeface="Avenir Next Medium"/>
                <a:ea typeface="Avenir Next Medium"/>
                <a:cs typeface="Avenir Next Medium"/>
              </a:rPr>
              <a:t>Even while hovering, the spinning blades ripple the echo — a fingerprint we can read</a:t>
            </a:r>
          </a:p>
        </p:txBody>
      </p:sp>
      <p:sp>
        <p:nvSpPr>
          <p:cNvPr id="3" name="슬라이드 번호 개체 틀 2">
            <a:extLst>
              <a:ext uri="{FF2B5EF4-FFF2-40B4-BE49-F238E27FC236}">
                <a16:creationId xmlns:a16="http://schemas.microsoft.com/office/drawing/2014/main" id="{2A7DAF3A-D8F2-CF9F-CC71-65E86C69CF7B}"/>
              </a:ext>
            </a:extLst>
          </p:cNvPr>
          <p:cNvSpPr>
            <a:spLocks noGrp="1"/>
          </p:cNvSpPr>
          <p:nvPr>
            <p:ph type="sldNum" sz="quarter" idx="2"/>
          </p:nvPr>
        </p:nvSpPr>
        <p:spPr/>
        <p:txBody>
          <a:bodyPr/>
          <a:lstStyle/>
          <a:p>
            <a:fld id="{86CB4B4D-7CA3-9044-876B-883B54F8677D}" type="slidenum">
              <a:rPr lang="en-US" altLang="ko-KR" smtClean="0"/>
              <a:t>14</a:t>
            </a:fld>
            <a:r>
              <a:rPr lang="en-US" altLang="ko-KR"/>
              <a:t>12/19</a:t>
            </a:r>
            <a:endParaRPr lang="ko-KR" altLang="en-US" dirty="0"/>
          </a:p>
        </p:txBody>
      </p:sp>
      <p:pic>
        <p:nvPicPr>
          <p:cNvPr id="2" name="그림 1">
            <a:extLst>
              <a:ext uri="{FF2B5EF4-FFF2-40B4-BE49-F238E27FC236}">
                <a16:creationId xmlns:a16="http://schemas.microsoft.com/office/drawing/2014/main" id="{AEB9B4B3-7A83-1380-E3AF-A0447FD22280}"/>
              </a:ext>
            </a:extLst>
          </p:cNvPr>
          <p:cNvPicPr>
            <a:picLocks noChangeAspect="1"/>
          </p:cNvPicPr>
          <p:nvPr/>
        </p:nvPicPr>
        <p:blipFill>
          <a:blip r:embed="rId3"/>
          <a:stretch>
            <a:fillRect/>
          </a:stretch>
        </p:blipFill>
        <p:spPr>
          <a:xfrm>
            <a:off x="1873125" y="3495018"/>
            <a:ext cx="19400962" cy="8373997"/>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Sionna Progress · Where This Sits</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dirty="0">
                <a:latin typeface="AvenirNext-DemiBold"/>
                <a:ea typeface="AvenirNext-DemiBold"/>
                <a:cs typeface="AvenirNext-DemiBold"/>
              </a:rPr>
              <a:t>Where This Sits — and What Comes Next</a:t>
            </a:r>
            <a:endParaRPr lang="en-US" altLang="ko-KR" sz="5200" b="1" i="0" dirty="0">
              <a:solidFill>
                <a:srgbClr val="000000"/>
              </a:solidFill>
              <a:latin typeface="AvenirNext-DemiBold"/>
              <a:ea typeface="AvenirNext-DemiBold"/>
              <a:cs typeface="AvenirNext-DemiBold"/>
            </a:endParaRPr>
          </a:p>
        </p:txBody>
      </p:sp>
      <p:sp>
        <p:nvSpPr>
          <p:cNvPr id="41" name="L"/>
          <p:cNvSpPr txBox="1"/>
          <p:nvPr/>
        </p:nvSpPr>
        <p:spPr>
          <a:xfrm>
            <a:off x="720000" y="3150000"/>
            <a:ext cx="4900000" cy="1700000"/>
          </a:xfrm>
          <a:prstGeom prst="rect">
            <a:avLst/>
          </a:prstGeom>
        </p:spPr>
        <p:txBody>
          <a:bodyPr lIns="0" tIns="20000" rIns="40000" bIns="20000" anchor="ctr">
            <a:noAutofit/>
          </a:bodyPr>
          <a:lstStyle/>
          <a:p>
            <a:pPr algn="l"/>
            <a:r>
              <a:rPr lang="en-US" altLang="ko-KR" sz="2500" b="1" i="0" dirty="0">
                <a:solidFill>
                  <a:srgbClr val="26448A"/>
                </a:solidFill>
                <a:latin typeface="Avenir Next Medium"/>
                <a:ea typeface="Avenir Next Medium"/>
                <a:cs typeface="Avenir Next Medium"/>
              </a:rPr>
              <a:t>Done ✓</a:t>
            </a:r>
          </a:p>
        </p:txBody>
      </p:sp>
      <p:sp>
        <p:nvSpPr>
          <p:cNvPr id="42" name="B"/>
          <p:cNvSpPr txBox="1"/>
          <p:nvPr/>
        </p:nvSpPr>
        <p:spPr>
          <a:xfrm>
            <a:off x="5900000" y="315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Environment</a:t>
            </a:r>
          </a:p>
        </p:txBody>
      </p:sp>
      <p:sp>
        <p:nvSpPr>
          <p:cNvPr id="43" name="A"/>
          <p:cNvSpPr txBox="1"/>
          <p:nvPr/>
        </p:nvSpPr>
        <p:spPr>
          <a:xfrm>
            <a:off x="11300000" y="3150000"/>
            <a:ext cx="782000" cy="1700000"/>
          </a:xfrm>
          <a:prstGeom prst="rect">
            <a:avLst/>
          </a:prstGeom>
        </p:spPr>
        <p:txBody>
          <a:bodyPr lIns="0" tIns="0" rIns="0" bIns="0" anchor="ctr">
            <a:noAutofit/>
          </a:bodyPr>
          <a:lstStyle/>
          <a:p>
            <a:pPr algn="ctr"/>
            <a:r>
              <a:rPr lang="en-US" altLang="ko-KR" sz="3600" b="1" i="0" dirty="0">
                <a:solidFill>
                  <a:srgbClr val="2E74B5"/>
                </a:solidFill>
                <a:latin typeface="Avenir Next Medium"/>
                <a:ea typeface="Avenir Next Medium"/>
                <a:cs typeface="Avenir Next Medium"/>
              </a:rPr>
              <a:t>→</a:t>
            </a:r>
          </a:p>
        </p:txBody>
      </p:sp>
      <p:sp>
        <p:nvSpPr>
          <p:cNvPr id="44" name="B"/>
          <p:cNvSpPr txBox="1"/>
          <p:nvPr/>
        </p:nvSpPr>
        <p:spPr>
          <a:xfrm>
            <a:off x="12082000" y="315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Articulated drone</a:t>
            </a:r>
          </a:p>
        </p:txBody>
      </p:sp>
      <p:sp>
        <p:nvSpPr>
          <p:cNvPr id="45" name="A"/>
          <p:cNvSpPr txBox="1"/>
          <p:nvPr/>
        </p:nvSpPr>
        <p:spPr>
          <a:xfrm>
            <a:off x="17482000" y="3150000"/>
            <a:ext cx="782000" cy="1700000"/>
          </a:xfrm>
          <a:prstGeom prst="rect">
            <a:avLst/>
          </a:prstGeom>
        </p:spPr>
        <p:txBody>
          <a:bodyPr lIns="0" tIns="0" rIns="0" bIns="0" anchor="ctr">
            <a:noAutofit/>
          </a:bodyPr>
          <a:lstStyle/>
          <a:p>
            <a:pPr algn="ctr"/>
            <a:r>
              <a:rPr lang="en-US" altLang="ko-KR" sz="3600" b="1" i="0" dirty="0">
                <a:solidFill>
                  <a:srgbClr val="2E74B5"/>
                </a:solidFill>
                <a:latin typeface="Avenir Next Medium"/>
                <a:ea typeface="Avenir Next Medium"/>
                <a:cs typeface="Avenir Next Medium"/>
              </a:rPr>
              <a:t>→</a:t>
            </a:r>
          </a:p>
        </p:txBody>
      </p:sp>
      <p:sp>
        <p:nvSpPr>
          <p:cNvPr id="46" name="B"/>
          <p:cNvSpPr txBox="1"/>
          <p:nvPr/>
        </p:nvSpPr>
        <p:spPr>
          <a:xfrm>
            <a:off x="18264000" y="315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Micro-Doppler</a:t>
            </a:r>
          </a:p>
        </p:txBody>
      </p:sp>
      <p:sp>
        <p:nvSpPr>
          <p:cNvPr id="47" name="L"/>
          <p:cNvSpPr txBox="1"/>
          <p:nvPr/>
        </p:nvSpPr>
        <p:spPr>
          <a:xfrm>
            <a:off x="720000" y="5500000"/>
            <a:ext cx="4900000" cy="1700000"/>
          </a:xfrm>
          <a:prstGeom prst="rect">
            <a:avLst/>
          </a:prstGeom>
        </p:spPr>
        <p:txBody>
          <a:bodyPr lIns="0" tIns="20000" rIns="40000" bIns="20000" anchor="ctr">
            <a:noAutofit/>
          </a:bodyPr>
          <a:lstStyle/>
          <a:p>
            <a:pPr algn="l"/>
            <a:r>
              <a:rPr lang="en-US" altLang="ko-KR" sz="2500" b="1" i="0" dirty="0">
                <a:solidFill>
                  <a:srgbClr val="26448A"/>
                </a:solidFill>
                <a:latin typeface="Avenir Next Medium"/>
                <a:ea typeface="Avenir Next Medium"/>
                <a:cs typeface="Avenir Next Medium"/>
              </a:rPr>
              <a:t>Next</a:t>
            </a:r>
          </a:p>
        </p:txBody>
      </p:sp>
      <p:sp>
        <p:nvSpPr>
          <p:cNvPr id="48" name="B"/>
          <p:cNvSpPr txBox="1"/>
          <p:nvPr/>
        </p:nvSpPr>
        <p:spPr>
          <a:xfrm>
            <a:off x="5900000" y="550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Illuminators</a:t>
            </a:r>
          </a:p>
          <a:p>
            <a:pPr algn="ctr"/>
            <a:r>
              <a:rPr lang="en-US" altLang="ko-KR" sz="2400" b="1" i="0" dirty="0">
                <a:solidFill>
                  <a:srgbClr val="26448A"/>
                </a:solidFill>
                <a:latin typeface="Avenir Next Medium"/>
                <a:ea typeface="Avenir Next Medium"/>
                <a:cs typeface="Avenir Next Medium"/>
              </a:rPr>
              <a:t>Wi-Fi / LTE / 5G</a:t>
            </a:r>
          </a:p>
        </p:txBody>
      </p:sp>
      <p:sp>
        <p:nvSpPr>
          <p:cNvPr id="49" name="A"/>
          <p:cNvSpPr txBox="1"/>
          <p:nvPr/>
        </p:nvSpPr>
        <p:spPr>
          <a:xfrm>
            <a:off x="11300000" y="5500000"/>
            <a:ext cx="782000" cy="1700000"/>
          </a:xfrm>
          <a:prstGeom prst="rect">
            <a:avLst/>
          </a:prstGeom>
        </p:spPr>
        <p:txBody>
          <a:bodyPr lIns="0" tIns="0" rIns="0" bIns="0" anchor="ctr">
            <a:noAutofit/>
          </a:bodyPr>
          <a:lstStyle/>
          <a:p>
            <a:pPr algn="ctr"/>
            <a:r>
              <a:rPr lang="en-US" altLang="ko-KR" sz="3600" b="1" i="0" dirty="0">
                <a:solidFill>
                  <a:srgbClr val="2E74B5"/>
                </a:solidFill>
                <a:latin typeface="Avenir Next Medium"/>
                <a:ea typeface="Avenir Next Medium"/>
                <a:cs typeface="Avenir Next Medium"/>
              </a:rPr>
              <a:t>→</a:t>
            </a:r>
          </a:p>
        </p:txBody>
      </p:sp>
      <p:sp>
        <p:nvSpPr>
          <p:cNvPr id="50" name="B"/>
          <p:cNvSpPr txBox="1"/>
          <p:nvPr/>
        </p:nvSpPr>
        <p:spPr>
          <a:xfrm>
            <a:off x="12082000" y="550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Bistatic (Tx ≠ Rx)</a:t>
            </a:r>
          </a:p>
        </p:txBody>
      </p:sp>
      <p:sp>
        <p:nvSpPr>
          <p:cNvPr id="51" name="A"/>
          <p:cNvSpPr txBox="1"/>
          <p:nvPr/>
        </p:nvSpPr>
        <p:spPr>
          <a:xfrm>
            <a:off x="17482000" y="5500000"/>
            <a:ext cx="782000" cy="1700000"/>
          </a:xfrm>
          <a:prstGeom prst="rect">
            <a:avLst/>
          </a:prstGeom>
        </p:spPr>
        <p:txBody>
          <a:bodyPr lIns="0" tIns="0" rIns="0" bIns="0" anchor="ctr">
            <a:noAutofit/>
          </a:bodyPr>
          <a:lstStyle/>
          <a:p>
            <a:pPr algn="ctr"/>
            <a:r>
              <a:rPr lang="en-US" altLang="ko-KR" sz="3600" b="1" i="0" dirty="0">
                <a:solidFill>
                  <a:srgbClr val="2E74B5"/>
                </a:solidFill>
                <a:latin typeface="Avenir Next Medium"/>
                <a:ea typeface="Avenir Next Medium"/>
                <a:cs typeface="Avenir Next Medium"/>
              </a:rPr>
              <a:t>→</a:t>
            </a:r>
          </a:p>
        </p:txBody>
      </p:sp>
      <p:sp>
        <p:nvSpPr>
          <p:cNvPr id="52" name="B"/>
          <p:cNvSpPr txBox="1"/>
          <p:nvPr/>
        </p:nvSpPr>
        <p:spPr>
          <a:xfrm>
            <a:off x="18264000" y="550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Clutter removal</a:t>
            </a:r>
          </a:p>
          <a:p>
            <a:pPr algn="ctr">
              <a:spcBef>
                <a:spcPts val="200"/>
              </a:spcBef>
            </a:pPr>
            <a:r>
              <a:rPr lang="en-US" altLang="ko-KR" sz="1700" b="0" i="1" dirty="0">
                <a:solidFill>
                  <a:srgbClr val="595959"/>
                </a:solidFill>
                <a:latin typeface="Avenir Next Medium"/>
                <a:ea typeface="Avenir Next Medium"/>
                <a:cs typeface="Avenir Next Medium"/>
              </a:rPr>
              <a:t>+ CFAR</a:t>
            </a:r>
          </a:p>
        </p:txBody>
      </p:sp>
      <p:sp>
        <p:nvSpPr>
          <p:cNvPr id="53" name="L"/>
          <p:cNvSpPr txBox="1"/>
          <p:nvPr/>
        </p:nvSpPr>
        <p:spPr>
          <a:xfrm>
            <a:off x="720000" y="7850000"/>
            <a:ext cx="4900000" cy="1700000"/>
          </a:xfrm>
          <a:prstGeom prst="rect">
            <a:avLst/>
          </a:prstGeom>
        </p:spPr>
        <p:txBody>
          <a:bodyPr lIns="0" tIns="20000" rIns="40000" bIns="20000" anchor="ctr">
            <a:noAutofit/>
          </a:bodyPr>
          <a:lstStyle/>
          <a:p>
            <a:pPr algn="l"/>
            <a:r>
              <a:rPr lang="en-US" altLang="ko-KR" sz="2500" b="1" i="0" dirty="0">
                <a:solidFill>
                  <a:srgbClr val="26448A"/>
                </a:solidFill>
                <a:latin typeface="Avenir Next Medium"/>
                <a:ea typeface="Avenir Next Medium"/>
                <a:cs typeface="Avenir Next Medium"/>
              </a:rPr>
              <a:t>Then</a:t>
            </a:r>
          </a:p>
        </p:txBody>
      </p:sp>
      <p:sp>
        <p:nvSpPr>
          <p:cNvPr id="54" name="B"/>
          <p:cNvSpPr txBox="1"/>
          <p:nvPr/>
        </p:nvSpPr>
        <p:spPr>
          <a:xfrm>
            <a:off x="5900000" y="785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Detection &amp; tracking</a:t>
            </a:r>
          </a:p>
        </p:txBody>
      </p:sp>
      <p:sp>
        <p:nvSpPr>
          <p:cNvPr id="55" name="A"/>
          <p:cNvSpPr txBox="1"/>
          <p:nvPr/>
        </p:nvSpPr>
        <p:spPr>
          <a:xfrm>
            <a:off x="11300000" y="7850000"/>
            <a:ext cx="782000" cy="1700000"/>
          </a:xfrm>
          <a:prstGeom prst="rect">
            <a:avLst/>
          </a:prstGeom>
        </p:spPr>
        <p:txBody>
          <a:bodyPr lIns="0" tIns="0" rIns="0" bIns="0" anchor="ctr">
            <a:noAutofit/>
          </a:bodyPr>
          <a:lstStyle/>
          <a:p>
            <a:pPr algn="ctr"/>
            <a:r>
              <a:rPr lang="en-US" altLang="ko-KR" sz="3600" b="1" i="0" dirty="0">
                <a:solidFill>
                  <a:srgbClr val="2E74B5"/>
                </a:solidFill>
                <a:latin typeface="Avenir Next Medium"/>
                <a:ea typeface="Avenir Next Medium"/>
                <a:cs typeface="Avenir Next Medium"/>
              </a:rPr>
              <a:t>→</a:t>
            </a:r>
          </a:p>
        </p:txBody>
      </p:sp>
      <p:sp>
        <p:nvSpPr>
          <p:cNvPr id="56" name="B"/>
          <p:cNvSpPr txBox="1"/>
          <p:nvPr/>
        </p:nvSpPr>
        <p:spPr>
          <a:xfrm>
            <a:off x="12082000" y="785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Drone vs bird ID</a:t>
            </a:r>
          </a:p>
          <a:p>
            <a:pPr algn="ctr">
              <a:spcBef>
                <a:spcPts val="200"/>
              </a:spcBef>
            </a:pPr>
            <a:r>
              <a:rPr lang="en-US" altLang="ko-KR" sz="1700" b="0" i="1" dirty="0">
                <a:solidFill>
                  <a:srgbClr val="595959"/>
                </a:solidFill>
                <a:latin typeface="Avenir Next Medium"/>
                <a:ea typeface="Avenir Next Medium"/>
                <a:cs typeface="Avenir Next Medium"/>
              </a:rPr>
              <a:t>blade signature</a:t>
            </a:r>
          </a:p>
        </p:txBody>
      </p:sp>
      <p:sp>
        <p:nvSpPr>
          <p:cNvPr id="57" name="A"/>
          <p:cNvSpPr txBox="1"/>
          <p:nvPr/>
        </p:nvSpPr>
        <p:spPr>
          <a:xfrm>
            <a:off x="17482000" y="7850000"/>
            <a:ext cx="782000" cy="1700000"/>
          </a:xfrm>
          <a:prstGeom prst="rect">
            <a:avLst/>
          </a:prstGeom>
        </p:spPr>
        <p:txBody>
          <a:bodyPr lIns="0" tIns="0" rIns="0" bIns="0" anchor="ctr">
            <a:noAutofit/>
          </a:bodyPr>
          <a:lstStyle/>
          <a:p>
            <a:pPr algn="ctr"/>
            <a:r>
              <a:rPr lang="en-US" altLang="ko-KR" sz="3600" b="1" i="0" dirty="0">
                <a:solidFill>
                  <a:srgbClr val="2E74B5"/>
                </a:solidFill>
                <a:latin typeface="Avenir Next Medium"/>
                <a:ea typeface="Avenir Next Medium"/>
                <a:cs typeface="Avenir Next Medium"/>
              </a:rPr>
              <a:t>→</a:t>
            </a:r>
          </a:p>
        </p:txBody>
      </p:sp>
      <p:sp>
        <p:nvSpPr>
          <p:cNvPr id="58" name="B"/>
          <p:cNvSpPr txBox="1"/>
          <p:nvPr/>
        </p:nvSpPr>
        <p:spPr>
          <a:xfrm>
            <a:off x="18264000" y="785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Export to PX4 / Gazebo</a:t>
            </a:r>
          </a:p>
        </p:txBody>
      </p:sp>
      <p:sp>
        <p:nvSpPr>
          <p:cNvPr id="3" name="슬라이드 번호 개체 틀 2">
            <a:extLst>
              <a:ext uri="{FF2B5EF4-FFF2-40B4-BE49-F238E27FC236}">
                <a16:creationId xmlns:a16="http://schemas.microsoft.com/office/drawing/2014/main" id="{C23651DD-A64B-E665-C30F-0A12BF879CC3}"/>
              </a:ext>
            </a:extLst>
          </p:cNvPr>
          <p:cNvSpPr>
            <a:spLocks noGrp="1"/>
          </p:cNvSpPr>
          <p:nvPr>
            <p:ph type="sldNum" sz="quarter" idx="2"/>
          </p:nvPr>
        </p:nvSpPr>
        <p:spPr/>
        <p:txBody>
          <a:bodyPr/>
          <a:lstStyle/>
          <a:p>
            <a:fld id="{86CB4B4D-7CA3-9044-876B-883B54F8677D}" type="slidenum">
              <a:rPr lang="en-US" altLang="ko-KR" smtClean="0"/>
              <a:t>15</a:t>
            </a:fld>
            <a:r>
              <a:rPr lang="en-US" altLang="ko-KR"/>
              <a:t>13/19</a:t>
            </a:r>
            <a:endParaRPr lang="ko-KR" alt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DivKicker"/>
          <p:cNvSpPr txBox="1">
            <a:spLocks/>
          </p:cNvSpPr>
          <p:nvPr/>
        </p:nvSpPr>
        <p:spPr>
          <a:xfrm>
            <a:off x="0" y="4050000"/>
            <a:ext cx="24384000" cy="760000"/>
          </a:xfrm>
          <a:prstGeom prst="rect">
            <a:avLst/>
          </a:prstGeom>
        </p:spPr>
        <p:txBody>
          <a:bodyPr lIns="50800" tIns="30000" rIns="50800" bIns="30000" anchor="ctr">
            <a:noAutofit/>
          </a:bodyPr>
          <a:lstStyle/>
          <a:p>
            <a:pPr algn="ctr"/>
            <a:r>
              <a:rPr lang="en-US" altLang="ko-KR" sz="3600" b="1" i="0" dirty="0">
                <a:solidFill>
                  <a:srgbClr val="2E74B5"/>
                </a:solidFill>
                <a:latin typeface="Avenir Next Medium"/>
                <a:ea typeface="Avenir Next Medium"/>
                <a:cs typeface="Avenir Next Medium"/>
              </a:rPr>
              <a:t>PAPER INTRODUCTION</a:t>
            </a:r>
          </a:p>
        </p:txBody>
      </p:sp>
      <p:sp>
        <p:nvSpPr>
          <p:cNvPr id="12" name="DivTitle"/>
          <p:cNvSpPr txBox="1">
            <a:spLocks/>
          </p:cNvSpPr>
          <p:nvPr/>
        </p:nvSpPr>
        <p:spPr>
          <a:xfrm>
            <a:off x="0" y="4850000"/>
            <a:ext cx="24384000" cy="1550000"/>
          </a:xfrm>
          <a:prstGeom prst="rect">
            <a:avLst/>
          </a:prstGeom>
        </p:spPr>
        <p:txBody>
          <a:bodyPr lIns="50800" tIns="30000" rIns="50800" bIns="30000" anchor="ctr">
            <a:noAutofit/>
          </a:bodyPr>
          <a:lstStyle/>
          <a:p>
            <a:pPr algn="ctr"/>
            <a:r>
              <a:rPr lang="en-US" altLang="ko-KR" sz="6400" b="1" i="0" dirty="0">
                <a:solidFill>
                  <a:srgbClr val="000000"/>
                </a:solidFill>
                <a:latin typeface="AvenirNext-DemiBold"/>
                <a:ea typeface="AvenirNext-DemiBold"/>
                <a:cs typeface="AvenirNext-DemiBold"/>
              </a:rPr>
              <a:t>From Denoising to De-Channeling</a:t>
            </a:r>
          </a:p>
        </p:txBody>
      </p:sp>
      <p:sp>
        <p:nvSpPr>
          <p:cNvPr id="13" name="DivSub"/>
          <p:cNvSpPr txBox="1">
            <a:spLocks/>
          </p:cNvSpPr>
          <p:nvPr/>
        </p:nvSpPr>
        <p:spPr>
          <a:xfrm>
            <a:off x="0" y="6560000"/>
            <a:ext cx="24384000" cy="820000"/>
          </a:xfrm>
          <a:prstGeom prst="rect">
            <a:avLst/>
          </a:prstGeom>
        </p:spPr>
        <p:txBody>
          <a:bodyPr lIns="50800" tIns="30000" rIns="50800" bIns="30000" anchor="ctr">
            <a:noAutofit/>
          </a:bodyPr>
          <a:lstStyle/>
          <a:p>
            <a:pPr algn="ctr"/>
            <a:r>
              <a:rPr lang="en-US" altLang="ko-KR" sz="4000" b="0" i="1" dirty="0">
                <a:solidFill>
                  <a:srgbClr val="595959"/>
                </a:solidFill>
                <a:latin typeface="Avenir Next Medium"/>
                <a:ea typeface="Avenir Next Medium"/>
                <a:cs typeface="Avenir Next Medium"/>
              </a:rPr>
              <a:t>Integrating physical channel priors into diffusion models</a:t>
            </a:r>
          </a:p>
        </p:txBody>
      </p:sp>
      <p:sp>
        <p:nvSpPr>
          <p:cNvPr id="14" name="DivRoad"/>
          <p:cNvSpPr txBox="1">
            <a:spLocks/>
          </p:cNvSpPr>
          <p:nvPr/>
        </p:nvSpPr>
        <p:spPr>
          <a:xfrm>
            <a:off x="0" y="7820000"/>
            <a:ext cx="24384000" cy="820000"/>
          </a:xfrm>
          <a:prstGeom prst="rect">
            <a:avLst/>
          </a:prstGeom>
        </p:spPr>
        <p:txBody>
          <a:bodyPr lIns="50800" tIns="30000" rIns="50800" bIns="30000" anchor="ctr">
            <a:noAutofit/>
          </a:bodyPr>
          <a:lstStyle/>
          <a:p>
            <a:pPr algn="ctr"/>
            <a:r>
              <a:rPr lang="en-US" altLang="ko-KR" sz="3600" b="1" i="0" dirty="0">
                <a:solidFill>
                  <a:srgbClr val="26448A"/>
                </a:solidFill>
                <a:latin typeface="Avenir Next Medium"/>
                <a:ea typeface="Avenir Next Medium"/>
                <a:cs typeface="Avenir Next Medium"/>
              </a:rPr>
              <a:t>Background    →    Idea    →    Pipeline    →    Results</a:t>
            </a:r>
          </a:p>
        </p:txBody>
      </p:sp>
      <p:sp>
        <p:nvSpPr>
          <p:cNvPr id="15" name="DivMeta"/>
          <p:cNvSpPr txBox="1">
            <a:spLocks/>
          </p:cNvSpPr>
          <p:nvPr/>
        </p:nvSpPr>
        <p:spPr>
          <a:xfrm>
            <a:off x="0" y="8950000"/>
            <a:ext cx="24384000" cy="600000"/>
          </a:xfrm>
          <a:prstGeom prst="rect">
            <a:avLst/>
          </a:prstGeom>
        </p:spPr>
        <p:txBody>
          <a:bodyPr lIns="50800" tIns="30000" rIns="50800" bIns="30000" anchor="ctr">
            <a:noAutofit/>
          </a:bodyPr>
          <a:lstStyle/>
          <a:p>
            <a:pPr algn="ctr"/>
            <a:r>
              <a:rPr lang="en-US" altLang="ko-KR" sz="2600" b="0" i="1" dirty="0">
                <a:solidFill>
                  <a:srgbClr val="595959"/>
                </a:solidFill>
                <a:latin typeface="Avenir Next Medium"/>
                <a:ea typeface="Avenir Next Medium"/>
                <a:cs typeface="Avenir Next Medium"/>
              </a:rPr>
              <a:t>Liu et al., BUPT &amp; Pengcheng Lab  ·  github.com/BUPT-GAMMA/FoundWSR</a:t>
            </a:r>
          </a:p>
        </p:txBody>
      </p:sp>
      <p:sp>
        <p:nvSpPr>
          <p:cNvPr id="3" name="슬라이드 번호 개체 틀 2">
            <a:extLst>
              <a:ext uri="{FF2B5EF4-FFF2-40B4-BE49-F238E27FC236}">
                <a16:creationId xmlns:a16="http://schemas.microsoft.com/office/drawing/2014/main" id="{1F36BBDC-1731-C7DF-F756-4B038C3A1A4D}"/>
              </a:ext>
            </a:extLst>
          </p:cNvPr>
          <p:cNvSpPr>
            <a:spLocks noGrp="1"/>
          </p:cNvSpPr>
          <p:nvPr>
            <p:ph type="sldNum" sz="quarter" idx="2"/>
          </p:nvPr>
        </p:nvSpPr>
        <p:spPr/>
        <p:txBody>
          <a:bodyPr/>
          <a:lstStyle/>
          <a:p>
            <a:fld id="{86CB4B4D-7CA3-9044-876B-883B54F8677D}" type="slidenum">
              <a:rPr lang="en-US" altLang="ko-KR" smtClean="0"/>
              <a:t>16</a:t>
            </a:fld>
            <a:r>
              <a:rPr lang="en-US" altLang="ko-KR"/>
              <a:t>14/19</a:t>
            </a:r>
            <a:endParaRPr lang="ko-KR" altLang="en-US" dirty="0"/>
          </a:p>
        </p:txBody>
      </p:sp>
      <p:sp>
        <p:nvSpPr>
          <p:cNvPr id="4" name="DivMeta">
            <a:extLst>
              <a:ext uri="{FF2B5EF4-FFF2-40B4-BE49-F238E27FC236}">
                <a16:creationId xmlns:a16="http://schemas.microsoft.com/office/drawing/2014/main" id="{7F05014A-523F-87FB-1A21-2D28BA0A67C4}"/>
              </a:ext>
            </a:extLst>
          </p:cNvPr>
          <p:cNvSpPr txBox="1">
            <a:spLocks/>
          </p:cNvSpPr>
          <p:nvPr/>
        </p:nvSpPr>
        <p:spPr>
          <a:xfrm>
            <a:off x="114301" y="10477676"/>
            <a:ext cx="24384000" cy="600000"/>
          </a:xfrm>
          <a:prstGeom prst="rect">
            <a:avLst/>
          </a:prstGeom>
        </p:spPr>
        <p:txBody>
          <a:bodyPr lIns="50800" tIns="30000" rIns="50800" bIns="30000" anchor="ctr">
            <a:noAutofit/>
          </a:bodyPr>
          <a:lstStyle/>
          <a:p>
            <a:pPr algn="ctr"/>
            <a:r>
              <a:rPr lang="en-US" altLang="ko-KR" sz="2600" b="1" i="1" dirty="0">
                <a:solidFill>
                  <a:srgbClr val="595959"/>
                </a:solidFill>
              </a:rPr>
              <a:t>ICML 2026 Spotlight Poster</a:t>
            </a:r>
            <a:endParaRPr lang="en-US" altLang="ko-KR" sz="2600" b="1" i="1" dirty="0">
              <a:solidFill>
                <a:srgbClr val="595959"/>
              </a:solidFill>
              <a:latin typeface="Avenir Next Medium"/>
              <a:ea typeface="Avenir Next Medium"/>
              <a:cs typeface="Avenir Next Medium"/>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Paper Introduction · Background</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i="0" dirty="0">
                <a:solidFill>
                  <a:srgbClr val="000000"/>
                </a:solidFill>
                <a:latin typeface="AvenirNext-DemiBold"/>
                <a:ea typeface="AvenirNext-DemiBold"/>
                <a:cs typeface="AvenirNext-DemiBold"/>
              </a:rPr>
              <a:t>Wireless Signal Recognition, Meet Diffusion</a:t>
            </a:r>
          </a:p>
        </p:txBody>
      </p:sp>
      <p:sp>
        <p:nvSpPr>
          <p:cNvPr id="13" name="Subtitle"/>
          <p:cNvSpPr txBox="1">
            <a:spLocks/>
          </p:cNvSpPr>
          <p:nvPr/>
        </p:nvSpPr>
        <p:spPr>
          <a:xfrm>
            <a:off x="760000" y="2040000"/>
            <a:ext cx="22600000" cy="700000"/>
          </a:xfrm>
          <a:prstGeom prst="rect">
            <a:avLst/>
          </a:prstGeom>
        </p:spPr>
        <p:txBody>
          <a:bodyPr lIns="50800" tIns="30000" rIns="50800" bIns="30000" anchor="ctr">
            <a:noAutofit/>
          </a:bodyPr>
          <a:lstStyle/>
          <a:p>
            <a:pPr algn="l"/>
            <a:r>
              <a:rPr lang="en-US" altLang="ko-KR" sz="3300" b="1" i="1" dirty="0">
                <a:solidFill>
                  <a:srgbClr val="C00000"/>
                </a:solidFill>
                <a:latin typeface="Avenir Next Medium"/>
                <a:ea typeface="Avenir Next Medium"/>
                <a:cs typeface="Avenir Next Medium"/>
              </a:rPr>
              <a:t>AI labels a received radio signal — but the channel distorts it first</a:t>
            </a:r>
          </a:p>
        </p:txBody>
      </p:sp>
      <p:sp>
        <p:nvSpPr>
          <p:cNvPr id="14" name="CardHdr"/>
          <p:cNvSpPr txBox="1"/>
          <p:nvPr/>
        </p:nvSpPr>
        <p:spPr>
          <a:xfrm>
            <a:off x="820000" y="2980000"/>
            <a:ext cx="10900000" cy="1120000"/>
          </a:xfrm>
          <a:prstGeom prst="rect">
            <a:avLst/>
          </a:prstGeom>
          <a:solidFill>
            <a:srgbClr val="2E74B5"/>
          </a:solidFill>
        </p:spPr>
        <p:txBody>
          <a:bodyPr lIns="91440" tIns="20000" rIns="50800" bIns="20000" anchor="ctr">
            <a:noAutofit/>
          </a:bodyPr>
          <a:lstStyle/>
          <a:p>
            <a:pPr algn="ctr"/>
            <a:r>
              <a:rPr lang="en-US" altLang="ko-KR" sz="3500" b="1" i="0" dirty="0">
                <a:solidFill>
                  <a:srgbClr val="FFFFFF"/>
                </a:solidFill>
                <a:latin typeface="AvenirNext-DemiBold"/>
                <a:ea typeface="AvenirNext-DemiBold"/>
                <a:cs typeface="AvenirNext-DemiBold"/>
              </a:rPr>
              <a:t>What WSR does</a:t>
            </a:r>
          </a:p>
        </p:txBody>
      </p:sp>
      <p:sp>
        <p:nvSpPr>
          <p:cNvPr id="15" name="CardBody"/>
          <p:cNvSpPr txBox="1"/>
          <p:nvPr/>
        </p:nvSpPr>
        <p:spPr>
          <a:xfrm>
            <a:off x="820000" y="4100000"/>
            <a:ext cx="10900000" cy="6450000"/>
          </a:xfrm>
          <a:prstGeom prst="rect">
            <a:avLst/>
          </a:prstGeom>
          <a:solidFill>
            <a:srgbClr val="EAF1FB"/>
          </a:solidFill>
          <a:ln w="12700">
            <a:solidFill>
              <a:srgbClr val="2E74B5"/>
            </a:solidFill>
          </a:ln>
        </p:spPr>
        <p:txBody>
          <a:bodyPr lIns="320000" tIns="240000" rIns="280000" bIns="200000" anchor="ctr">
            <a:noAutofit/>
          </a:bodyPr>
          <a:lstStyle/>
          <a:p>
            <a:pPr marL="0" indent="0" algn="l">
              <a:spcAft>
                <a:spcPts val="600"/>
              </a:spcAft>
              <a:buNone/>
            </a:pPr>
            <a:r>
              <a:rPr lang="en-US" altLang="ko-KR" sz="3500" b="1" i="1" dirty="0">
                <a:solidFill>
                  <a:srgbClr val="2E74B5"/>
                </a:solidFill>
                <a:latin typeface="Avenir Next Medium"/>
                <a:ea typeface="Avenir Next Medium"/>
                <a:cs typeface="Avenir Next Medium"/>
              </a:rPr>
              <a:t>Read the received signal</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AI labels a passively-received IQ signal</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Modulation type · wireless tech · anomaly</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A cornerstone task for spectrum use &amp; 6G</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But it arrives distorted:  y = h * x + n</a:t>
            </a:r>
          </a:p>
        </p:txBody>
      </p:sp>
      <p:sp>
        <p:nvSpPr>
          <p:cNvPr id="16" name="CardHdr"/>
          <p:cNvSpPr txBox="1"/>
          <p:nvPr/>
        </p:nvSpPr>
        <p:spPr>
          <a:xfrm>
            <a:off x="12660000" y="2980000"/>
            <a:ext cx="10900000" cy="1120000"/>
          </a:xfrm>
          <a:prstGeom prst="rect">
            <a:avLst/>
          </a:prstGeom>
          <a:solidFill>
            <a:srgbClr val="26448A"/>
          </a:solidFill>
        </p:spPr>
        <p:txBody>
          <a:bodyPr lIns="91440" tIns="20000" rIns="50800" bIns="20000" anchor="ctr">
            <a:noAutofit/>
          </a:bodyPr>
          <a:lstStyle/>
          <a:p>
            <a:pPr algn="ctr"/>
            <a:r>
              <a:rPr lang="en-US" altLang="ko-KR" sz="3500" b="1" i="0" dirty="0">
                <a:solidFill>
                  <a:srgbClr val="FFFFFF"/>
                </a:solidFill>
                <a:latin typeface="AvenirNext-DemiBold"/>
                <a:ea typeface="AvenirNext-DemiBold"/>
                <a:cs typeface="AvenirNext-DemiBold"/>
              </a:rPr>
              <a:t>Why bring in diffusion</a:t>
            </a:r>
          </a:p>
        </p:txBody>
      </p:sp>
      <p:sp>
        <p:nvSpPr>
          <p:cNvPr id="17" name="CardBody"/>
          <p:cNvSpPr txBox="1"/>
          <p:nvPr/>
        </p:nvSpPr>
        <p:spPr>
          <a:xfrm>
            <a:off x="12660000" y="4100000"/>
            <a:ext cx="10900000" cy="6450000"/>
          </a:xfrm>
          <a:prstGeom prst="rect">
            <a:avLst/>
          </a:prstGeom>
          <a:solidFill>
            <a:srgbClr val="E9EDF5"/>
          </a:solidFill>
          <a:ln w="12700">
            <a:solidFill>
              <a:srgbClr val="26448A"/>
            </a:solidFill>
          </a:ln>
        </p:spPr>
        <p:txBody>
          <a:bodyPr lIns="320000" tIns="240000" rIns="280000" bIns="200000" anchor="ctr">
            <a:noAutofit/>
          </a:bodyPr>
          <a:lstStyle/>
          <a:p>
            <a:pPr marL="0" indent="0" algn="l">
              <a:spcAft>
                <a:spcPts val="600"/>
              </a:spcAft>
              <a:buNone/>
            </a:pPr>
            <a:r>
              <a:rPr lang="en-US" altLang="ko-KR" sz="3500" b="1" i="1" dirty="0">
                <a:solidFill>
                  <a:srgbClr val="26448A"/>
                </a:solidFill>
                <a:latin typeface="Avenir Next Medium"/>
                <a:ea typeface="Avenir Next Medium"/>
                <a:cs typeface="Avenir Next Medium"/>
              </a:rPr>
              <a:t>Powerful denoisers</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Forward: add Gaussian noise, step by step</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Reverse: a network learns to remove it</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Its learned features transfer well to WSR</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So: borrow that denoising power for WSR</a:t>
            </a:r>
          </a:p>
        </p:txBody>
      </p:sp>
      <p:sp>
        <p:nvSpPr>
          <p:cNvPr id="18" name="Takeaway"/>
          <p:cNvSpPr txBox="1">
            <a:spLocks/>
          </p:cNvSpPr>
          <p:nvPr/>
        </p:nvSpPr>
        <p:spPr>
          <a:xfrm>
            <a:off x="720000" y="11150000"/>
            <a:ext cx="22944000" cy="850000"/>
          </a:xfrm>
          <a:prstGeom prst="rect">
            <a:avLst/>
          </a:prstGeom>
        </p:spPr>
        <p:txBody>
          <a:bodyPr lIns="50800" tIns="30000" rIns="50800" bIns="30000" anchor="t">
            <a:noAutofit/>
          </a:bodyPr>
          <a:lstStyle/>
          <a:p>
            <a:pPr marL="0" indent="0" algn="ctr">
              <a:buNone/>
            </a:pPr>
            <a:r>
              <a:rPr lang="en-US" altLang="ko-KR" sz="3600" b="1" i="0" dirty="0">
                <a:solidFill>
                  <a:srgbClr val="26448A"/>
                </a:solidFill>
                <a:latin typeface="Avenir Next Medium"/>
                <a:ea typeface="Avenir Next Medium"/>
                <a:cs typeface="Avenir Next Medium"/>
              </a:rPr>
              <a:t>→ The plan: let a diffusion model clean the received signal before recognising it</a:t>
            </a:r>
          </a:p>
        </p:txBody>
      </p:sp>
      <p:sp>
        <p:nvSpPr>
          <p:cNvPr id="3" name="슬라이드 번호 개체 틀 2">
            <a:extLst>
              <a:ext uri="{FF2B5EF4-FFF2-40B4-BE49-F238E27FC236}">
                <a16:creationId xmlns:a16="http://schemas.microsoft.com/office/drawing/2014/main" id="{20E43994-EB3C-E6FA-7B7E-8811468E5919}"/>
              </a:ext>
            </a:extLst>
          </p:cNvPr>
          <p:cNvSpPr>
            <a:spLocks noGrp="1"/>
          </p:cNvSpPr>
          <p:nvPr>
            <p:ph type="sldNum" sz="quarter" idx="2"/>
          </p:nvPr>
        </p:nvSpPr>
        <p:spPr/>
        <p:txBody>
          <a:bodyPr/>
          <a:lstStyle/>
          <a:p>
            <a:fld id="{86CB4B4D-7CA3-9044-876B-883B54F8677D}" type="slidenum">
              <a:rPr lang="en-US" altLang="ko-KR" smtClean="0"/>
              <a:t>17</a:t>
            </a:fld>
            <a:r>
              <a:rPr lang="en-US" altLang="ko-KR"/>
              <a:t>15/19</a:t>
            </a:r>
            <a:endParaRPr lang="ko-KR"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Paper Introduction · The Idea</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i="0" dirty="0">
                <a:solidFill>
                  <a:srgbClr val="000000"/>
                </a:solidFill>
                <a:latin typeface="AvenirNext-DemiBold"/>
                <a:ea typeface="AvenirNext-DemiBold"/>
                <a:cs typeface="AvenirNext-DemiBold"/>
              </a:rPr>
              <a:t>The Idea — From Denoising to De-Channeling</a:t>
            </a:r>
          </a:p>
        </p:txBody>
      </p:sp>
      <p:sp>
        <p:nvSpPr>
          <p:cNvPr id="13" name="Subtitle"/>
          <p:cNvSpPr txBox="1">
            <a:spLocks/>
          </p:cNvSpPr>
          <p:nvPr/>
        </p:nvSpPr>
        <p:spPr>
          <a:xfrm>
            <a:off x="760000" y="2040000"/>
            <a:ext cx="22600000" cy="700000"/>
          </a:xfrm>
          <a:prstGeom prst="rect">
            <a:avLst/>
          </a:prstGeom>
        </p:spPr>
        <p:txBody>
          <a:bodyPr lIns="50800" tIns="30000" rIns="50800" bIns="30000" anchor="ctr">
            <a:noAutofit/>
          </a:bodyPr>
          <a:lstStyle/>
          <a:p>
            <a:pPr algn="l"/>
            <a:r>
              <a:rPr lang="en-US" altLang="ko-KR" sz="3300" b="1" i="1" dirty="0">
                <a:solidFill>
                  <a:srgbClr val="C00000"/>
                </a:solidFill>
                <a:latin typeface="Avenir Next Medium"/>
                <a:ea typeface="Avenir Next Medium"/>
                <a:cs typeface="Avenir Next Medium"/>
              </a:rPr>
              <a:t>The channel isn’t Gaussian — so add a learned channel to the diffusion, not just noise</a:t>
            </a:r>
          </a:p>
        </p:txBody>
      </p:sp>
      <p:sp>
        <p:nvSpPr>
          <p:cNvPr id="14" name="CardHdr"/>
          <p:cNvSpPr txBox="1"/>
          <p:nvPr/>
        </p:nvSpPr>
        <p:spPr>
          <a:xfrm>
            <a:off x="820000" y="2980000"/>
            <a:ext cx="10900000" cy="1120000"/>
          </a:xfrm>
          <a:prstGeom prst="rect">
            <a:avLst/>
          </a:prstGeom>
          <a:solidFill>
            <a:srgbClr val="2E74B5"/>
          </a:solidFill>
        </p:spPr>
        <p:txBody>
          <a:bodyPr lIns="91440" tIns="20000" rIns="50800" bIns="20000" anchor="ctr">
            <a:noAutofit/>
          </a:bodyPr>
          <a:lstStyle/>
          <a:p>
            <a:pPr algn="ctr"/>
            <a:r>
              <a:rPr lang="en-US" altLang="ko-KR" sz="3500" b="1" i="0" dirty="0">
                <a:solidFill>
                  <a:srgbClr val="FFFFFF"/>
                </a:solidFill>
                <a:latin typeface="AvenirNext-DemiBold"/>
                <a:ea typeface="AvenirNext-DemiBold"/>
                <a:cs typeface="AvenirNext-DemiBold"/>
              </a:rPr>
              <a:t>Standard diffusion</a:t>
            </a:r>
          </a:p>
        </p:txBody>
      </p:sp>
      <p:sp>
        <p:nvSpPr>
          <p:cNvPr id="15" name="CardBody"/>
          <p:cNvSpPr txBox="1"/>
          <p:nvPr/>
        </p:nvSpPr>
        <p:spPr>
          <a:xfrm>
            <a:off x="820000" y="4100000"/>
            <a:ext cx="10900000" cy="6450000"/>
          </a:xfrm>
          <a:prstGeom prst="rect">
            <a:avLst/>
          </a:prstGeom>
          <a:solidFill>
            <a:srgbClr val="EAF1FB"/>
          </a:solidFill>
          <a:ln w="12700">
            <a:solidFill>
              <a:srgbClr val="2E74B5"/>
            </a:solidFill>
          </a:ln>
        </p:spPr>
        <p:txBody>
          <a:bodyPr lIns="320000" tIns="240000" rIns="280000" bIns="200000" anchor="ctr">
            <a:noAutofit/>
          </a:bodyPr>
          <a:lstStyle/>
          <a:p>
            <a:pPr marL="0" indent="0" algn="l">
              <a:spcAft>
                <a:spcPts val="600"/>
              </a:spcAft>
              <a:buNone/>
            </a:pPr>
            <a:r>
              <a:rPr lang="en-US" altLang="ko-KR" sz="3500" b="1" i="1" dirty="0">
                <a:solidFill>
                  <a:srgbClr val="2E74B5"/>
                </a:solidFill>
                <a:latin typeface="Avenir Next Medium"/>
                <a:ea typeface="Avenir Next Medium"/>
                <a:cs typeface="Avenir Next Medium"/>
              </a:rPr>
              <a:t>Denoising only</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Forward adds only Gaussian noise</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Reverse can’t undo the channel h</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 features stay channel-distorted</a:t>
            </a:r>
          </a:p>
        </p:txBody>
      </p:sp>
      <p:sp>
        <p:nvSpPr>
          <p:cNvPr id="16" name="CardHdr"/>
          <p:cNvSpPr txBox="1"/>
          <p:nvPr/>
        </p:nvSpPr>
        <p:spPr>
          <a:xfrm>
            <a:off x="12660000" y="2980000"/>
            <a:ext cx="10900000" cy="1120000"/>
          </a:xfrm>
          <a:prstGeom prst="rect">
            <a:avLst/>
          </a:prstGeom>
          <a:solidFill>
            <a:srgbClr val="26448A"/>
          </a:solidFill>
        </p:spPr>
        <p:txBody>
          <a:bodyPr lIns="91440" tIns="20000" rIns="50800" bIns="20000" anchor="ctr">
            <a:noAutofit/>
          </a:bodyPr>
          <a:lstStyle/>
          <a:p>
            <a:pPr algn="ctr"/>
            <a:r>
              <a:rPr lang="en-US" altLang="ko-KR" sz="3500" b="1" i="0" dirty="0">
                <a:solidFill>
                  <a:srgbClr val="FFFFFF"/>
                </a:solidFill>
                <a:latin typeface="AvenirNext-DemiBold"/>
                <a:ea typeface="AvenirNext-DemiBold"/>
                <a:cs typeface="AvenirNext-DemiBold"/>
              </a:rPr>
              <a:t>PWC-Diff (proposed)</a:t>
            </a:r>
          </a:p>
        </p:txBody>
      </p:sp>
      <p:sp>
        <p:nvSpPr>
          <p:cNvPr id="17" name="CardBody"/>
          <p:cNvSpPr txBox="1"/>
          <p:nvPr/>
        </p:nvSpPr>
        <p:spPr>
          <a:xfrm>
            <a:off x="12660000" y="4100000"/>
            <a:ext cx="10900000" cy="6450000"/>
          </a:xfrm>
          <a:prstGeom prst="rect">
            <a:avLst/>
          </a:prstGeom>
          <a:solidFill>
            <a:srgbClr val="E9EDF5"/>
          </a:solidFill>
          <a:ln w="12700">
            <a:solidFill>
              <a:srgbClr val="26448A"/>
            </a:solidFill>
          </a:ln>
        </p:spPr>
        <p:txBody>
          <a:bodyPr lIns="320000" tIns="240000" rIns="280000" bIns="200000" anchor="ctr">
            <a:noAutofit/>
          </a:bodyPr>
          <a:lstStyle/>
          <a:p>
            <a:pPr marL="0" indent="0" algn="l">
              <a:spcAft>
                <a:spcPts val="600"/>
              </a:spcAft>
              <a:buNone/>
            </a:pPr>
            <a:r>
              <a:rPr lang="en-US" altLang="ko-KR" sz="3500" b="1" i="1" dirty="0">
                <a:solidFill>
                  <a:srgbClr val="26448A"/>
                </a:solidFill>
                <a:latin typeface="Avenir Next Medium"/>
                <a:ea typeface="Avenir Next Medium"/>
                <a:cs typeface="Avenir Next Medium"/>
              </a:rPr>
              <a:t>De-channeling + denoising</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Forward adds a learned channel, then noise</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Reverse learns to undo the channel and noise</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 recovers the transmitted signal x</a:t>
            </a:r>
          </a:p>
        </p:txBody>
      </p:sp>
      <p:sp>
        <p:nvSpPr>
          <p:cNvPr id="18" name="Takeaway"/>
          <p:cNvSpPr txBox="1">
            <a:spLocks/>
          </p:cNvSpPr>
          <p:nvPr/>
        </p:nvSpPr>
        <p:spPr>
          <a:xfrm>
            <a:off x="720000" y="11150000"/>
            <a:ext cx="22944000" cy="850000"/>
          </a:xfrm>
          <a:prstGeom prst="rect">
            <a:avLst/>
          </a:prstGeom>
        </p:spPr>
        <p:txBody>
          <a:bodyPr lIns="50800" tIns="30000" rIns="50800" bIns="30000" anchor="t">
            <a:noAutofit/>
          </a:bodyPr>
          <a:lstStyle/>
          <a:p>
            <a:pPr marL="0" indent="0" algn="ctr">
              <a:buNone/>
            </a:pPr>
            <a:r>
              <a:rPr lang="en-US" altLang="ko-KR" sz="3600" b="1" i="0" dirty="0">
                <a:solidFill>
                  <a:srgbClr val="26448A"/>
                </a:solidFill>
                <a:latin typeface="Avenir Next Medium"/>
                <a:ea typeface="Avenir Next Medium"/>
                <a:cs typeface="Avenir Next Medium"/>
              </a:rPr>
              <a:t>→ Move the goal from denoising to de-channeling: model the physical channel, not just the noise</a:t>
            </a:r>
          </a:p>
        </p:txBody>
      </p:sp>
      <p:sp>
        <p:nvSpPr>
          <p:cNvPr id="3" name="슬라이드 번호 개체 틀 2">
            <a:extLst>
              <a:ext uri="{FF2B5EF4-FFF2-40B4-BE49-F238E27FC236}">
                <a16:creationId xmlns:a16="http://schemas.microsoft.com/office/drawing/2014/main" id="{5720F100-E667-22D7-3AF2-328E5D711933}"/>
              </a:ext>
            </a:extLst>
          </p:cNvPr>
          <p:cNvSpPr>
            <a:spLocks noGrp="1"/>
          </p:cNvSpPr>
          <p:nvPr>
            <p:ph type="sldNum" sz="quarter" idx="2"/>
          </p:nvPr>
        </p:nvSpPr>
        <p:spPr/>
        <p:txBody>
          <a:bodyPr/>
          <a:lstStyle/>
          <a:p>
            <a:fld id="{86CB4B4D-7CA3-9044-876B-883B54F8677D}" type="slidenum">
              <a:rPr lang="en-US" altLang="ko-KR" smtClean="0"/>
              <a:t>18</a:t>
            </a:fld>
            <a:r>
              <a:rPr lang="en-US" altLang="ko-KR"/>
              <a:t>16/19</a:t>
            </a:r>
            <a:endParaRPr lang="ko-KR" alt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Paper Introduction · Pipeline</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i="0" dirty="0">
                <a:solidFill>
                  <a:srgbClr val="000000"/>
                </a:solidFill>
                <a:latin typeface="AvenirNext-DemiBold"/>
                <a:ea typeface="AvenirNext-DemiBold"/>
                <a:cs typeface="AvenirNext-DemiBold"/>
              </a:rPr>
              <a:t>The PWC-Diff Pipeline, End to End</a:t>
            </a:r>
          </a:p>
        </p:txBody>
      </p:sp>
      <p:sp>
        <p:nvSpPr>
          <p:cNvPr id="13" name="Subtitle"/>
          <p:cNvSpPr txBox="1">
            <a:spLocks/>
          </p:cNvSpPr>
          <p:nvPr/>
        </p:nvSpPr>
        <p:spPr>
          <a:xfrm>
            <a:off x="760000" y="2040000"/>
            <a:ext cx="22600000" cy="700000"/>
          </a:xfrm>
          <a:prstGeom prst="rect">
            <a:avLst/>
          </a:prstGeom>
        </p:spPr>
        <p:txBody>
          <a:bodyPr lIns="50800" tIns="30000" rIns="50800" bIns="30000" anchor="ctr">
            <a:noAutofit/>
          </a:bodyPr>
          <a:lstStyle/>
          <a:p>
            <a:pPr algn="l"/>
            <a:r>
              <a:rPr lang="en-US" altLang="ko-KR" sz="3300" b="1" i="1" dirty="0">
                <a:solidFill>
                  <a:srgbClr val="C00000"/>
                </a:solidFill>
                <a:latin typeface="Avenir Next Medium"/>
                <a:ea typeface="Avenir Next Medium"/>
                <a:cs typeface="Avenir Next Medium"/>
              </a:rPr>
              <a:t>Forward corrupts with a learned channel + noise · Reverse (FusedFormer) recovers the signal</a:t>
            </a:r>
          </a:p>
        </p:txBody>
      </p:sp>
      <p:pic>
        <p:nvPicPr>
          <p:cNvPr id="20" name="fig2"/>
          <p:cNvPicPr>
            <a:picLocks noChangeAspect="1"/>
          </p:cNvPicPr>
          <p:nvPr/>
        </p:nvPicPr>
        <p:blipFill>
          <a:blip r:embed="rId3"/>
          <a:stretch>
            <a:fillRect/>
          </a:stretch>
        </p:blipFill>
        <p:spPr>
          <a:xfrm>
            <a:off x="3500440" y="2691330"/>
            <a:ext cx="17762362" cy="9984670"/>
          </a:xfrm>
          <a:prstGeom prst="rect">
            <a:avLst/>
          </a:prstGeom>
        </p:spPr>
      </p:pic>
      <p:sp>
        <p:nvSpPr>
          <p:cNvPr id="3" name="슬라이드 번호 개체 틀 2">
            <a:extLst>
              <a:ext uri="{FF2B5EF4-FFF2-40B4-BE49-F238E27FC236}">
                <a16:creationId xmlns:a16="http://schemas.microsoft.com/office/drawing/2014/main" id="{00B36DF1-9268-E966-942C-4204E95E4A0E}"/>
              </a:ext>
            </a:extLst>
          </p:cNvPr>
          <p:cNvSpPr>
            <a:spLocks noGrp="1"/>
          </p:cNvSpPr>
          <p:nvPr>
            <p:ph type="sldNum" sz="quarter" idx="2"/>
          </p:nvPr>
        </p:nvSpPr>
        <p:spPr/>
        <p:txBody>
          <a:bodyPr/>
          <a:lstStyle/>
          <a:p>
            <a:fld id="{86CB4B4D-7CA3-9044-876B-883B54F8677D}" type="slidenum">
              <a:rPr lang="en-US" altLang="ko-KR" smtClean="0"/>
              <a:t>19</a:t>
            </a:fld>
            <a:r>
              <a:rPr lang="en-US" altLang="ko-KR"/>
              <a:t>17/19</a:t>
            </a:r>
            <a:endParaRPr lang="ko-KR" alt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Paper Introduction · Results</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i="0" dirty="0">
                <a:solidFill>
                  <a:srgbClr val="000000"/>
                </a:solidFill>
                <a:latin typeface="AvenirNext-DemiBold"/>
                <a:ea typeface="AvenirNext-DemiBold"/>
                <a:cs typeface="AvenirNext-DemiBold"/>
              </a:rPr>
              <a:t>SOTA — Let’s Read the Table Together</a:t>
            </a:r>
          </a:p>
        </p:txBody>
      </p:sp>
      <p:sp>
        <p:nvSpPr>
          <p:cNvPr id="13" name="Subtitle"/>
          <p:cNvSpPr txBox="1">
            <a:spLocks/>
          </p:cNvSpPr>
          <p:nvPr/>
        </p:nvSpPr>
        <p:spPr>
          <a:xfrm>
            <a:off x="760000" y="2040000"/>
            <a:ext cx="22600000" cy="700000"/>
          </a:xfrm>
          <a:prstGeom prst="rect">
            <a:avLst/>
          </a:prstGeom>
        </p:spPr>
        <p:txBody>
          <a:bodyPr lIns="50800" tIns="30000" rIns="50800" bIns="30000" anchor="ctr">
            <a:noAutofit/>
          </a:bodyPr>
          <a:lstStyle/>
          <a:p>
            <a:pPr algn="l"/>
            <a:r>
              <a:rPr lang="en-US" altLang="ko-KR" sz="3300" b="1" i="1" dirty="0">
                <a:solidFill>
                  <a:srgbClr val="C00000"/>
                </a:solidFill>
                <a:latin typeface="Avenir Next Medium"/>
                <a:ea typeface="Avenir Next Medium"/>
                <a:cs typeface="Avenir Next Medium"/>
              </a:rPr>
              <a:t>Rank 1.0 overall — the interesting part is where the margins are</a:t>
            </a:r>
          </a:p>
        </p:txBody>
      </p:sp>
      <p:pic>
        <p:nvPicPr>
          <p:cNvPr id="20" name="table2"/>
          <p:cNvPicPr>
            <a:picLocks noChangeAspect="1"/>
          </p:cNvPicPr>
          <p:nvPr/>
        </p:nvPicPr>
        <p:blipFill>
          <a:blip r:embed="rId3"/>
          <a:stretch>
            <a:fillRect/>
          </a:stretch>
        </p:blipFill>
        <p:spPr>
          <a:xfrm>
            <a:off x="2546176" y="2971450"/>
            <a:ext cx="18745199" cy="7453486"/>
          </a:xfrm>
          <a:prstGeom prst="rect">
            <a:avLst/>
          </a:prstGeom>
        </p:spPr>
      </p:pic>
      <p:sp>
        <p:nvSpPr>
          <p:cNvPr id="21" name="Disc"/>
          <p:cNvSpPr txBox="1">
            <a:spLocks/>
          </p:cNvSpPr>
          <p:nvPr/>
        </p:nvSpPr>
        <p:spPr>
          <a:xfrm>
            <a:off x="1240322" y="10897676"/>
            <a:ext cx="22864000" cy="2050000"/>
          </a:xfrm>
          <a:prstGeom prst="rect">
            <a:avLst/>
          </a:prstGeom>
        </p:spPr>
        <p:txBody>
          <a:bodyPr lIns="50800" tIns="30000" rIns="50800" bIns="30000" anchor="t">
            <a:noAutofit/>
          </a:bodyPr>
          <a:lstStyle/>
          <a:p>
            <a:pPr marL="520000" indent="-520000" algn="l">
              <a:spcBef>
                <a:spcPts val="300"/>
              </a:spcBef>
              <a:buFont typeface="Wingdings"/>
              <a:buChar char="Ø"/>
            </a:pPr>
            <a:r>
              <a:rPr lang="en-US" altLang="ko-KR" sz="2800" b="0" i="0" dirty="0">
                <a:solidFill>
                  <a:srgbClr val="000000"/>
                </a:solidFill>
                <a:latin typeface="Avenir Next Medium"/>
                <a:ea typeface="Avenir Next Medium"/>
                <a:cs typeface="Avenir Next Medium"/>
              </a:rPr>
              <a:t>Top rank on all four datasets — but some margins are thin (RML2016: 63.60 vs IQFormer 63.54)</a:t>
            </a:r>
          </a:p>
          <a:p>
            <a:pPr marL="520000" indent="-520000" algn="l">
              <a:spcBef>
                <a:spcPts val="900"/>
              </a:spcBef>
              <a:buFont typeface="Wingdings"/>
              <a:buChar char="Ø"/>
            </a:pPr>
            <a:r>
              <a:rPr lang="en-US" altLang="ko-KR" sz="2800" b="0" i="0" dirty="0">
                <a:solidFill>
                  <a:srgbClr val="000000"/>
                </a:solidFill>
                <a:latin typeface="Avenir Next Medium"/>
                <a:ea typeface="Avenir Next Medium"/>
                <a:cs typeface="Avenir Next Medium"/>
              </a:rPr>
              <a:t>Clearest win is TechRec (WTC): 91.0 avg vs 88.8 next best</a:t>
            </a:r>
          </a:p>
          <a:p>
            <a:pPr marL="520000" indent="-520000" algn="l">
              <a:spcBef>
                <a:spcPts val="900"/>
              </a:spcBef>
              <a:buFont typeface="Wingdings"/>
              <a:buChar char="Ø"/>
            </a:pPr>
            <a:r>
              <a:rPr lang="en-US" altLang="ko-KR" sz="2800" b="1" i="0" dirty="0">
                <a:solidFill>
                  <a:srgbClr val="26448A"/>
                </a:solidFill>
                <a:latin typeface="Avenir Next Medium"/>
                <a:ea typeface="Avenir Next Medium"/>
                <a:cs typeface="Avenir Next Medium"/>
              </a:rPr>
              <a:t>→ Their own Fig. 4 answers it (RML2016.10A): FusedFormer alone 57.77 → +Gaussian-only pretraining 62.86 → +physical channels 63.60</a:t>
            </a:r>
          </a:p>
        </p:txBody>
      </p:sp>
      <p:sp>
        <p:nvSpPr>
          <p:cNvPr id="3" name="슬라이드 번호 개체 틀 2">
            <a:extLst>
              <a:ext uri="{FF2B5EF4-FFF2-40B4-BE49-F238E27FC236}">
                <a16:creationId xmlns:a16="http://schemas.microsoft.com/office/drawing/2014/main" id="{20A7B3E4-9178-A3CE-36BE-6419E3709A61}"/>
              </a:ext>
            </a:extLst>
          </p:cNvPr>
          <p:cNvSpPr>
            <a:spLocks noGrp="1"/>
          </p:cNvSpPr>
          <p:nvPr>
            <p:ph type="sldNum" sz="quarter" idx="2"/>
          </p:nvPr>
        </p:nvSpPr>
        <p:spPr/>
        <p:txBody>
          <a:bodyPr/>
          <a:lstStyle/>
          <a:p>
            <a:fld id="{86CB4B4D-7CA3-9044-876B-883B54F8677D}" type="slidenum">
              <a:rPr lang="en-US" altLang="ko-KR" smtClean="0"/>
              <a:t>20</a:t>
            </a:fld>
            <a:r>
              <a:rPr lang="en-US" altLang="ko-KR"/>
              <a:t>18/19</a:t>
            </a:r>
            <a:endParaRPr lang="ko-KR" alt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EA7358-8D55-BC02-57A1-173A60DA2F90}"/>
            </a:ext>
          </a:extLst>
        </p:cNvPr>
        <p:cNvGrpSpPr/>
        <p:nvPr/>
      </p:nvGrpSpPr>
      <p:grpSpPr>
        <a:xfrm>
          <a:off x="0" y="0"/>
          <a:ext cx="0" cy="0"/>
          <a:chOff x="0" y="0"/>
          <a:chExt cx="0" cy="0"/>
        </a:xfrm>
      </p:grpSpPr>
      <p:sp>
        <p:nvSpPr>
          <p:cNvPr id="2" name="DivTitle">
            <a:extLst>
              <a:ext uri="{FF2B5EF4-FFF2-40B4-BE49-F238E27FC236}">
                <a16:creationId xmlns:a16="http://schemas.microsoft.com/office/drawing/2014/main" id="{D5D2A389-9FD3-9ABE-4A08-61B3969601AD}"/>
              </a:ext>
            </a:extLst>
          </p:cNvPr>
          <p:cNvSpPr txBox="1">
            <a:spLocks/>
          </p:cNvSpPr>
          <p:nvPr/>
        </p:nvSpPr>
        <p:spPr>
          <a:xfrm>
            <a:off x="0" y="6083000"/>
            <a:ext cx="24384000" cy="1550000"/>
          </a:xfrm>
          <a:prstGeom prst="rect">
            <a:avLst/>
          </a:prstGeom>
        </p:spPr>
        <p:txBody>
          <a:bodyPr lIns="50800" tIns="30000" rIns="50800" bIns="30000" anchor="ctr">
            <a:noAutofit/>
          </a:bodyPr>
          <a:lstStyle/>
          <a:p>
            <a:pPr algn="ctr"/>
            <a:r>
              <a:rPr lang="en-US" altLang="ko-KR" sz="10000" b="1" dirty="0">
                <a:latin typeface="AvenirNext-DemiBold"/>
                <a:ea typeface="AvenirNext-DemiBold"/>
                <a:cs typeface="AvenirNext-DemiBold"/>
              </a:rPr>
              <a:t>Thank you!</a:t>
            </a:r>
            <a:endParaRPr lang="en-US" altLang="ko-KR" sz="10000" b="1" i="0" dirty="0">
              <a:solidFill>
                <a:srgbClr val="000000"/>
              </a:solidFill>
              <a:latin typeface="AvenirNext-DemiBold"/>
              <a:ea typeface="AvenirNext-DemiBold"/>
              <a:cs typeface="AvenirNext-DemiBold"/>
            </a:endParaRPr>
          </a:p>
        </p:txBody>
      </p:sp>
    </p:spTree>
    <p:extLst>
      <p:ext uri="{BB962C8B-B14F-4D97-AF65-F5344CB8AC3E}">
        <p14:creationId xmlns:p14="http://schemas.microsoft.com/office/powerpoint/2010/main" val="566617519"/>
      </p:ext>
    </p:extLst>
  </p:cSld>
  <p:clrMapOvr>
    <a:masterClrMapping/>
  </p:clrMapOvr>
</p:sld>
</file>

<file path=ppt/theme/theme1.xml><?xml version="1.0" encoding="utf-8"?>
<a:theme xmlns:a="http://schemas.openxmlformats.org/drawingml/2006/main" name="23_ClassicWhite">
  <a:themeElements>
    <a:clrScheme name="23_ClassicWhite">
      <a:dk1>
        <a:srgbClr val="000000"/>
      </a:dk1>
      <a:lt1>
        <a:srgbClr val="FFFFFF"/>
      </a:lt1>
      <a:dk2>
        <a:srgbClr val="5E5E5E"/>
      </a:dk2>
      <a:lt2>
        <a:srgbClr val="D5D5D5"/>
      </a:lt2>
      <a:accent1>
        <a:srgbClr val="3E74D1"/>
      </a:accent1>
      <a:accent2>
        <a:srgbClr val="33C5B9"/>
      </a:accent2>
      <a:accent3>
        <a:srgbClr val="45B53C"/>
      </a:accent3>
      <a:accent4>
        <a:srgbClr val="FFBD16"/>
      </a:accent4>
      <a:accent5>
        <a:srgbClr val="E22146"/>
      </a:accent5>
      <a:accent6>
        <a:srgbClr val="836BB7"/>
      </a:accent6>
      <a:hlink>
        <a:srgbClr val="0000FF"/>
      </a:hlink>
      <a:folHlink>
        <a:srgbClr val="FF00FF"/>
      </a:folHlink>
    </a:clrScheme>
    <a:fontScheme name="23_ClassicWhite">
      <a:majorFont>
        <a:latin typeface="Avenir Next Regular"/>
        <a:ea typeface="Avenir Next Regular"/>
        <a:cs typeface="Avenir Next Regular"/>
      </a:majorFont>
      <a:minorFont>
        <a:latin typeface="Avenir Next Regular"/>
        <a:ea typeface="Avenir Next Regular"/>
        <a:cs typeface="Avenir Next Regular"/>
      </a:minorFont>
    </a:fontScheme>
    <a:fmtScheme name="23_Clas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11303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Avenir Next Regular"/>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23_ClassicWhite">
  <a:themeElements>
    <a:clrScheme name="23_ClassicWhite">
      <a:dk1>
        <a:srgbClr val="000000"/>
      </a:dk1>
      <a:lt1>
        <a:srgbClr val="FFFFFF"/>
      </a:lt1>
      <a:dk2>
        <a:srgbClr val="5E5E5E"/>
      </a:dk2>
      <a:lt2>
        <a:srgbClr val="D5D5D5"/>
      </a:lt2>
      <a:accent1>
        <a:srgbClr val="3E74D1"/>
      </a:accent1>
      <a:accent2>
        <a:srgbClr val="33C5B9"/>
      </a:accent2>
      <a:accent3>
        <a:srgbClr val="45B53C"/>
      </a:accent3>
      <a:accent4>
        <a:srgbClr val="FFBD16"/>
      </a:accent4>
      <a:accent5>
        <a:srgbClr val="E22146"/>
      </a:accent5>
      <a:accent6>
        <a:srgbClr val="836BB7"/>
      </a:accent6>
      <a:hlink>
        <a:srgbClr val="0000FF"/>
      </a:hlink>
      <a:folHlink>
        <a:srgbClr val="FF00FF"/>
      </a:folHlink>
    </a:clrScheme>
    <a:fontScheme name="23_ClassicWhite">
      <a:majorFont>
        <a:latin typeface="Avenir Next Regular"/>
        <a:ea typeface="Avenir Next Regular"/>
        <a:cs typeface="Avenir Next Regular"/>
      </a:majorFont>
      <a:minorFont>
        <a:latin typeface="Avenir Next Regular"/>
        <a:ea typeface="Avenir Next Regular"/>
        <a:cs typeface="Avenir Next Regular"/>
      </a:minorFont>
    </a:fontScheme>
    <a:fmtScheme name="23_Clas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11303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Avenir Next Regular"/>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29229</TotalTime>
  <Words>2430</Words>
  <Application>Microsoft Macintosh PowerPoint</Application>
  <PresentationFormat>사용자 지정</PresentationFormat>
  <Paragraphs>222</Paragraphs>
  <Slides>21</Slides>
  <Notes>21</Notes>
  <HiddenSlides>0</HiddenSlides>
  <MMClips>0</MMClips>
  <ScaleCrop>false</ScaleCrop>
  <HeadingPairs>
    <vt:vector size="6" baseType="variant">
      <vt:variant>
        <vt:lpstr>사용한 글꼴</vt:lpstr>
      </vt:variant>
      <vt:variant>
        <vt:i4>9</vt:i4>
      </vt:variant>
      <vt:variant>
        <vt:lpstr>테마</vt:lpstr>
      </vt:variant>
      <vt:variant>
        <vt:i4>1</vt:i4>
      </vt:variant>
      <vt:variant>
        <vt:lpstr>슬라이드 제목</vt:lpstr>
      </vt:variant>
      <vt:variant>
        <vt:i4>21</vt:i4>
      </vt:variant>
    </vt:vector>
  </HeadingPairs>
  <TitlesOfParts>
    <vt:vector size="31" baseType="lpstr">
      <vt:lpstr>Canela Bold</vt:lpstr>
      <vt:lpstr>Canela Deck Regular</vt:lpstr>
      <vt:lpstr>Canela Regular</vt:lpstr>
      <vt:lpstr>Arial</vt:lpstr>
      <vt:lpstr>Avenir Next Medium</vt:lpstr>
      <vt:lpstr>Avenir Next Regular</vt:lpstr>
      <vt:lpstr>AvenirNext-DemiBold</vt:lpstr>
      <vt:lpstr>Helvetica Neue</vt:lpstr>
      <vt:lpstr>Wingdings</vt:lpstr>
      <vt:lpstr>23_ClassicWhite</vt:lpstr>
      <vt:lpstr>Team Meeting</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김재현</dc:creator>
  <cp:lastModifiedBy>Jeong Yunjung</cp:lastModifiedBy>
  <cp:revision>363</cp:revision>
  <dcterms:modified xsi:type="dcterms:W3CDTF">2026-07-14T01:23:39Z</dcterms:modified>
</cp:coreProperties>
</file>