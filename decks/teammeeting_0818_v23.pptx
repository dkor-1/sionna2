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8"/>
  </p:notesMasterIdLst>
  <p:handoutMasterIdLst>
    <p:handoutMasterId r:id="rId29"/>
  </p:handoutMasterIdLst>
  <p:sldIdLst>
    <p:sldId id="368" r:id="rId2"/>
    <p:sldId id="369" r:id="rId3"/>
    <p:sldId id="370" r:id="rId4"/>
    <p:sldId id="371" r:id="rId5"/>
    <p:sldId id="372" r:id="rId6"/>
    <p:sldId id="373" r:id="rId7"/>
    <p:sldId id="374" r:id="rId8"/>
    <p:sldId id="375" r:id="rId9"/>
    <p:sldId id="376" r:id="rId10"/>
    <p:sldId id="377" r:id="rId11"/>
    <p:sldId id="378" r:id="rId12"/>
    <p:sldId id="379" r:id="rId13"/>
    <p:sldId id="380" r:id="rId14"/>
    <p:sldId id="381" r:id="rId15"/>
    <p:sldId id="382" r:id="rId16"/>
    <p:sldId id="383" r:id="rId17"/>
    <p:sldId id="384" r:id="rId18"/>
    <p:sldId id="385" r:id="rId19"/>
    <p:sldId id="386" r:id="rId20"/>
    <p:sldId id="387" r:id="rId21"/>
    <p:sldId id="388" r:id="rId22"/>
    <p:sldId id="389" r:id="rId23"/>
    <p:sldId id="390" r:id="rId24"/>
    <p:sldId id="392" r:id="rId25"/>
    <p:sldId id="393" r:id="rId26"/>
    <p:sldId id="395" r:id="rId34"/>
    <p:sldId id="394" r:id="rId2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57"/>
    <p:restoredTop sz="80806" autoAdjust="0"/>
  </p:normalViewPr>
  <p:slideViewPr>
    <p:cSldViewPr snapToGrid="0">
      <p:cViewPr varScale="1">
        <p:scale>
          <a:sx n="53" d="100"/>
          <a:sy n="53" d="100"/>
        </p:scale>
        <p:origin x="224" y="172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2026. 8. 18.</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week I fixed the viewing angle and compared our PO kernel against the Sionna PathSolver at one setting. The result looked fairly convincing.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talk has three parts, the setup, the micro-Doppler maps, and the propellers on their own. The question stays the same as last week.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First, how the runs were set up.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week, I ran tests using the same drone with the exact same settings as last time, and I experimented by changing the elevation angle.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Since the blade tip is the fastest part of the drone, I can calculate the highest Doppler that blade rotation can produce, using the formula shown on the slide.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Based on the formula I just showed and the same drone settings as last week, I calculated these specific values.</a:t>
            </a:r>
          </a:p>
          <a:p>
            <a:r>
              <a:t>The f_tip values shown in the upcoming slides were plotted using this calculation.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I didn't go over the Sionna settings last week, but since I experimented with different settings this time, I prepared this slide to explain them.</a:t>
            </a:r>
          </a:p>
          <a:p>
            <a:r>
              <a:t>In Sionna's factory default, diffuse scattering is off and refraction is on. However, if diffuse scattering is turned off, almost nothing comes back from a target as small as a drone. At 15 meters, six of the seven angles returned no paths at all.</a:t>
            </a:r>
          </a:p>
          <a:p>
            <a:r>
              <a:t>Therefore, I kept diffuse scattering always on for my experiments, and compared two cases, turning the remaining wave effects all off versus all on.</a:t>
            </a:r>
          </a:p>
          <a:p>
            <a:r>
              <a:t>As for bounce depth, which sets the maximum number of hops a single ray can take, changing it from one to three did not change the reading for the two versions in this deck.</a:t>
            </a:r>
          </a:p>
          <a:p>
            <a:r>
              <a:t>In the upcoming slides, the 'physics off' version means only diffuse scattering is turned on, while the 'physics on' version means all features are enabled.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In response to last week's question regarding computational cost, I evaluated the operation time per pose across the different setups.</a:t>
            </a:r>
          </a:p>
          <a:p>
            <a:r>
              <a:t>Compared to our kernel, Sionna requires substantially more time. However, because runtime scales with the number of reflected rays, Sionna's operation time drops as the target moves out to about 60 meters and then levels off.</a:t>
            </a:r>
          </a:p>
          <a:p>
            <a:r>
              <a:t>For this benchmark, the target distance was fixed relatively close at 15 meters.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Next, I'd like to share the micro-Doppler maps, the blade band energy just like last week, and a few interesting observations I made along the way.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First, I present the micro-Doppler maps across all seven elevation angles.</a:t>
            </a:r>
          </a:p>
          <a:p>
            <a:r>
              <a:t>Each panel is normalized to its own peak intensity, meaning absolute level differences are not represented.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slide shows the zoomed-in results for the mid angles at -30 and -60 degrees.</a:t>
            </a:r>
          </a:p>
          <a:p>
            <a:r>
              <a:t>While our kernel and Sionna physics off display quite similar patterns, the physics-on configuration smears the STFT results, making the rotation pattern hard to observe.</a:t>
            </a:r>
          </a:p>
          <a:p>
            <a:r>
              <a:t>I will elaborate further on this behavior with the blade band energy data in the following slides.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Moving on to the two puzzles at 0 and -90 degrees, these maps run against physical expectations.</a:t>
            </a:r>
          </a:p>
          <a:p>
            <a:r>
              <a:t>Looking at the front view at 0 degrees, Sionna hardly shows any micro-Doppler signatures.</a:t>
            </a:r>
          </a:p>
          <a:p>
            <a:r>
              <a:t>Conversely, at -90 degrees the ceiling is zero hertz so nothing should appear, yet the physics-off version of Sionna still draws a clear pattern.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Looking at the blade band energy for the -30 and -60 degree angles shown earlier, the Sionna physics-off version matches our expectations and aligns very closely with our kernel.</a:t>
            </a:r>
          </a:p>
          <a:p>
            <a:r>
              <a:t>On the other hand, when all physics features are turned on in Sionna, the lines are still on the same grid but they barely rise out of a rolling floor.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Moving to the 0 and -90 degree cases,</a:t>
            </a:r>
          </a:p>
          <a:p>
            <a:r>
              <a:t>at 0 degrees, our kernel exhibits clean energy peaks exactly aligned with the expected blade harmonics, whereas Sionna fails to clearly show this pattern.</a:t>
            </a:r>
          </a:p>
          <a:p>
            <a:r>
              <a:t>At -90 degrees, while our kernel shows a distinct peak at the first harmonic before degrading, Sionna physics off consistently displays noticeable peaks across the expected harmonic lines.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slide presents a zoomed-in comparison for the -30 and -60 degree scenarios to clearly examine the early harmonics.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Similarly, this slide shows the zoomed-in comparison for the 0 and -90 degree configurations.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Here I dropped the physics-on curve, since it was busy enough to hide the comparison I care about. At these two angles the harmonics of our kernel and physics off stand at the same places.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same two-curve view at the odd ends. At 0 degrees the physics-off curve keeps no peak on the expected lines, and at -90 degrees both curves put peaks on them even though the ceiling is zero hertz.</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zoomed-in view of the early harmonics for the two mid angles, with only the two curves left.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And the zoomed-in view for 0 and -90 degrees, where the gap between the two curves at 0 degrees is clearest.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Moving to Part 3, to look closer into the anomaly seen at 0 degrees, I conducted a test with an isolated mesh configuration, simulating only the spinning propellers in free space.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slide shows the comparison across three configurations, the full mesh, propellers only, and the body only.</a:t>
            </a:r>
          </a:p>
          <a:p>
            <a:r>
              <a:t>As shown here, the blade signatures are not absent, but rather drowned out and buried by the body.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Moving on, this slide presents the micro-Doppler maps for the propellers-only scene, swept across all four viewing angles and evaluated using the three different setups.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Looking at the blade band energy at 0 degrees with only the propellers present, our kernel and Sionna physics off closely follow the expected harmonic peaks. In contrast, Sionna with physics on shows a much flatter spread across the band.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Lastly, for our future work: first, I will keep working through the physics switch settings and bounce depths to isolate which mechanism degrades the results.</a:t>
            </a:r>
          </a:p>
          <a:p>
            <a:r>
              <a:t>Once we fully understand Sionna's PathSolver behavior,</a:t>
            </a:r>
          </a:p>
          <a:p>
            <a:r>
              <a:t>as discussed last week, the next steps will be incorporating realistic flight dynamics, receiver noise, and clutter modeling.</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same blade band energy with only the propellers, now at -90 degrees. The blade ceiling is zero here, so the band is borrowed from the 0 degree case.</a:t>
            </a:r>
          </a:p>
          <a:p>
            <a:r>
              <a:t>Both our kernel and Sionna physics off still put clean lines on the expected harmonics, which means the pulsing comes from the blades changing how much they reflect as they turn, not from Doppler.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2026. 08. 18</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r>
              <a:t>​</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RECAP</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Last time</a:t>
            </a:r>
          </a:p>
        </p:txBody>
      </p:sp>
      <p:sp>
        <p:nvSpPr>
          <p:cNvPr id="4" name="Rectangle 3"/>
          <p:cNvSpPr/>
          <p:nvPr/>
        </p:nvSpPr>
        <p:spPr>
          <a:xfrm>
            <a:off x="719328" y="3130650"/>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5" name="TextBox 4"/>
          <p:cNvSpPr txBox="1"/>
          <p:nvPr/>
        </p:nvSpPr>
        <p:spPr>
          <a:xfrm>
            <a:off x="1255776" y="2685593"/>
            <a:ext cx="22213824" cy="2781605"/>
          </a:xfrm>
          <a:prstGeom prst="rect">
            <a:avLst/>
          </a:prstGeom>
          <a:noFill/>
        </p:spPr>
        <p:txBody>
          <a:bodyPr wrap="square" lIns="0" tIns="0" rIns="0" bIns="0" anchor="ctr">
            <a:spAutoFit/>
          </a:bodyPr>
          <a:lstStyle/>
          <a:p>
            <a:pPr algn="l"/>
            <a:r>
              <a:rPr sz="3300" b="0" i="0">
                <a:solidFill>
                  <a:srgbClr val="000000"/>
                </a:solidFill>
                <a:latin typeface="Avenir Next Medium"/>
              </a:rPr>
              <a:t>Our PO kernel and the Sionna PathSolver drew the same hovering drone</a:t>
            </a:r>
          </a:p>
        </p:txBody>
      </p:sp>
      <p:sp>
        <p:nvSpPr>
          <p:cNvPr id="6" name="Rectangle 5"/>
          <p:cNvSpPr/>
          <p:nvPr/>
        </p:nvSpPr>
        <p:spPr>
          <a:xfrm>
            <a:off x="719328" y="6268870"/>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255776" y="6979744"/>
            <a:ext cx="22213824" cy="469744"/>
          </a:xfrm>
          <a:prstGeom prst="rect">
            <a:avLst/>
          </a:prstGeom>
          <a:noFill/>
        </p:spPr>
        <p:txBody>
          <a:bodyPr wrap="square" lIns="0" tIns="0" rIns="0" bIns="0" anchor="ctr">
            <a:spAutoFit/>
          </a:bodyPr>
          <a:lstStyle/>
          <a:p>
            <a:pPr algn="l"/>
            <a:r>
              <a:rPr sz="3300" b="0" i="0" dirty="0">
                <a:solidFill>
                  <a:srgbClr val="000000"/>
                </a:solidFill>
                <a:latin typeface="Avenir Next Medium"/>
              </a:rPr>
              <a:t>Across three ranges the story held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TODAY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Today</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TextBox 5"/>
          <p:cNvSpPr txBox="1"/>
          <p:nvPr/>
        </p:nvSpPr>
        <p:spPr>
          <a:xfrm>
            <a:off x="1255776" y="3145841"/>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Part 1 · The setup</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8" name="TextBox 7"/>
          <p:cNvSpPr txBox="1"/>
          <p:nvPr/>
        </p:nvSpPr>
        <p:spPr>
          <a:xfrm>
            <a:off x="1255776" y="5910275"/>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Part 2 · Micro-Doppler maps</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0" name="TextBox 9"/>
          <p:cNvSpPr txBox="1"/>
          <p:nvPr/>
        </p:nvSpPr>
        <p:spPr>
          <a:xfrm>
            <a:off x="1255776" y="8674710"/>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Part 3 · Propellers only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4588764"/>
            <a:ext cx="21457920" cy="822960"/>
          </a:xfrm>
          <a:prstGeom prst="rect">
            <a:avLst/>
          </a:prstGeom>
          <a:noFill/>
        </p:spPr>
        <p:txBody>
          <a:bodyPr wrap="square" lIns="0" tIns="0" rIns="0" bIns="0" anchor="t">
            <a:spAutoFit/>
          </a:bodyPr>
          <a:lstStyle/>
          <a:p>
            <a:pPr algn="ctr"/>
            <a:r>
              <a:rPr sz="3800" b="1" i="0">
                <a:solidFill>
                  <a:srgbClr val="2E74B5"/>
                </a:solidFill>
                <a:latin typeface="AvenirNext-DemiBold"/>
              </a:rPr>
              <a:t>PART 1</a:t>
            </a:r>
          </a:p>
        </p:txBody>
      </p:sp>
      <p:sp>
        <p:nvSpPr>
          <p:cNvPr id="3" name="TextBox 2"/>
          <p:cNvSpPr txBox="1"/>
          <p:nvPr/>
        </p:nvSpPr>
        <p:spPr>
          <a:xfrm>
            <a:off x="1463040" y="5795772"/>
            <a:ext cx="21457920" cy="1082040"/>
          </a:xfrm>
          <a:prstGeom prst="rect">
            <a:avLst/>
          </a:prstGeom>
          <a:noFill/>
        </p:spPr>
        <p:txBody>
          <a:bodyPr wrap="square" lIns="0" tIns="0" rIns="0" bIns="0" anchor="t">
            <a:spAutoFit/>
          </a:bodyPr>
          <a:lstStyle/>
          <a:p>
            <a:pPr algn="ctr"/>
            <a:r>
              <a:rPr sz="6200" b="1" i="0">
                <a:solidFill>
                  <a:srgbClr val="000000"/>
                </a:solidFill>
                <a:latin typeface="AvenirNext-DemiBold"/>
              </a:rPr>
              <a:t>The setup</a:t>
            </a:r>
          </a:p>
        </p:txBody>
      </p:sp>
      <p:sp>
        <p:nvSpPr>
          <p:cNvPr id="4" name="TextBox 3"/>
          <p:cNvSpPr txBox="1"/>
          <p:nvPr/>
        </p:nvSpPr>
        <p:spPr>
          <a:xfrm>
            <a:off x="2194560" y="7261860"/>
            <a:ext cx="19994880" cy="832104"/>
          </a:xfrm>
          <a:prstGeom prst="rect">
            <a:avLst/>
          </a:prstGeom>
          <a:noFill/>
        </p:spPr>
        <p:txBody>
          <a:bodyPr wrap="square" lIns="0" tIns="0" rIns="0" bIns="0" anchor="t">
            <a:spAutoFit/>
          </a:bodyPr>
          <a:lstStyle/>
          <a:p>
            <a:pPr algn="ctr"/>
            <a:r>
              <a:rPr sz="4200" b="0" i="0">
                <a:solidFill>
                  <a:srgbClr val="5E5E5E"/>
                </a:solidFill>
                <a:latin typeface="Avenir Next Medium"/>
              </a:rPr>
              <a:t>How the runs were set up</a:t>
            </a:r>
          </a:p>
        </p:txBody>
      </p:sp>
      <p:sp>
        <p:nvSpPr>
          <p:cNvPr id="5" name="TextBox 4"/>
          <p:cNvSpPr txBox="1"/>
          <p:nvPr/>
        </p:nvSpPr>
        <p:spPr>
          <a:xfrm>
            <a:off x="2438400" y="8478012"/>
            <a:ext cx="19507200" cy="649224"/>
          </a:xfrm>
          <a:prstGeom prst="rect">
            <a:avLst/>
          </a:prstGeom>
          <a:noFill/>
        </p:spPr>
        <p:txBody>
          <a:bodyPr wrap="square" lIns="0" tIns="0" rIns="0" bIns="0" anchor="t">
            <a:spAutoFit/>
          </a:bodyPr>
          <a:lstStyle/>
          <a:p>
            <a:pPr algn="ctr"/>
            <a:r>
              <a:rPr sz="3000" b="1" i="0">
                <a:solidFill>
                  <a:srgbClr val="26448A"/>
                </a:solidFill>
                <a:latin typeface="AvenirNext-DemiBold"/>
              </a:rPr>
              <a:t>Scene  ·  Ceiling  ·  Switches  ·  Engines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SCENE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scenario</a:t>
            </a:r>
          </a:p>
        </p:txBody>
      </p:sp>
      <p:pic>
        <p:nvPicPr>
          <p:cNvPr id="4" name="Picture 3" descr="el15_scenario.png"/>
          <p:cNvPicPr>
            <a:picLocks noChangeAspect="1"/>
          </p:cNvPicPr>
          <p:nvPr/>
        </p:nvPicPr>
        <p:blipFill>
          <a:blip r:embed="rId3"/>
          <a:srcRect b="3083"/>
          <a:stretch>
            <a:fillRect/>
          </a:stretch>
        </p:blipFill>
        <p:spPr>
          <a:xfrm>
            <a:off x="33567" y="2705405"/>
            <a:ext cx="24231180" cy="87531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SETTING THE RULER</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blade ceiling</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dirty="0">
                <a:solidFill>
                  <a:srgbClr val="000000"/>
                </a:solidFill>
                <a:latin typeface="AvenirNext-DemiBold"/>
              </a:rPr>
              <a:t>The blade tip is the fastest thing on the airframe, so it sets a </a:t>
            </a:r>
            <a:r>
              <a:rPr sz="3700" b="1" i="0" dirty="0">
                <a:solidFill>
                  <a:srgbClr val="E22146"/>
                </a:solidFill>
                <a:latin typeface="AvenirNext-DemiBold"/>
              </a:rPr>
              <a:t>hard ceiling</a:t>
            </a:r>
          </a:p>
        </p:txBody>
      </p:sp>
      <p:sp>
        <p:nvSpPr>
          <p:cNvPr id="5" name="Rounded Rectangle 4"/>
          <p:cNvSpPr/>
          <p:nvPr/>
        </p:nvSpPr>
        <p:spPr>
          <a:xfrm>
            <a:off x="573024" y="3337865"/>
            <a:ext cx="23237952" cy="1837675"/>
          </a:xfrm>
          <a:prstGeom prst="roundRect">
            <a:avLst>
              <a:gd name="adj" fmla="val 6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pic>
        <p:nvPicPr>
          <p:cNvPr id="6" name="Picture 5" descr="eq_ftip.png"/>
          <p:cNvPicPr>
            <a:picLocks noChangeAspect="1"/>
          </p:cNvPicPr>
          <p:nvPr/>
        </p:nvPicPr>
        <p:blipFill>
          <a:blip r:embed="rId3"/>
          <a:stretch>
            <a:fillRect/>
          </a:stretch>
        </p:blipFill>
        <p:spPr>
          <a:xfrm>
            <a:off x="5738621" y="3420160"/>
            <a:ext cx="12906756" cy="1618218"/>
          </a:xfrm>
          <a:prstGeom prst="rect">
            <a:avLst/>
          </a:prstGeom>
        </p:spPr>
      </p:pic>
      <p:sp>
        <p:nvSpPr>
          <p:cNvPr id="8" name="TextBox 7"/>
          <p:cNvSpPr txBox="1"/>
          <p:nvPr/>
        </p:nvSpPr>
        <p:spPr>
          <a:xfrm>
            <a:off x="719328" y="6382547"/>
            <a:ext cx="22945344" cy="4425661"/>
          </a:xfrm>
          <a:prstGeom prst="rect">
            <a:avLst/>
          </a:prstGeom>
          <a:noFill/>
        </p:spPr>
        <p:txBody>
          <a:bodyPr wrap="square" lIns="0" tIns="0" rIns="0" bIns="0" anchor="t">
            <a:spAutoFit/>
          </a:bodyPr>
          <a:lstStyle/>
          <a:p>
            <a:pPr>
              <a:spcAft>
                <a:spcPts val="472"/>
              </a:spcAft>
            </a:pPr>
            <a:r>
              <a:rPr sz="2700" b="0" i="0">
                <a:solidFill>
                  <a:srgbClr val="000000"/>
                </a:solidFill>
                <a:latin typeface="Cambria Math"/>
              </a:rPr>
              <a:t>v</a:t>
            </a:r>
            <a:r>
              <a:rPr sz="1943" b="0" i="0" baseline="-25000">
                <a:solidFill>
                  <a:srgbClr val="000000"/>
                </a:solidFill>
                <a:latin typeface="Cambria Math"/>
              </a:rPr>
              <a:t>tip</a:t>
            </a:r>
            <a:r>
              <a:rPr sz="2700" b="0" i="0">
                <a:solidFill>
                  <a:srgbClr val="5E5E5E"/>
                </a:solidFill>
                <a:latin typeface="Avenir Next Medium"/>
              </a:rPr>
              <a:t>   ·   speed of the blade tip through the air</a:t>
            </a:r>
          </a:p>
          <a:p>
            <a:pPr>
              <a:spcAft>
                <a:spcPts val="472"/>
              </a:spcAft>
            </a:pPr>
            <a:r>
              <a:rPr sz="2700" b="0" i="0">
                <a:solidFill>
                  <a:srgbClr val="000000"/>
                </a:solidFill>
                <a:latin typeface="Cambria Math"/>
              </a:rPr>
              <a:t>f</a:t>
            </a:r>
            <a:r>
              <a:rPr sz="1943" b="0" i="0" baseline="-25000">
                <a:solidFill>
                  <a:srgbClr val="000000"/>
                </a:solidFill>
                <a:latin typeface="Cambria Math"/>
              </a:rPr>
              <a:t>rev</a:t>
            </a:r>
            <a:r>
              <a:rPr sz="2700" b="0" i="0">
                <a:solidFill>
                  <a:srgbClr val="5E5E5E"/>
                </a:solidFill>
                <a:latin typeface="Avenir Next Medium"/>
              </a:rPr>
              <a:t>   ·   rotor turns per second at hover</a:t>
            </a:r>
          </a:p>
          <a:p>
            <a:pPr>
              <a:spcAft>
                <a:spcPts val="472"/>
              </a:spcAft>
            </a:pPr>
            <a:r>
              <a:rPr sz="2700" b="0" i="0">
                <a:solidFill>
                  <a:srgbClr val="000000"/>
                </a:solidFill>
                <a:latin typeface="Cambria Math"/>
              </a:rPr>
              <a:t>R</a:t>
            </a:r>
            <a:r>
              <a:rPr sz="2700" b="0" i="0">
                <a:solidFill>
                  <a:srgbClr val="5E5E5E"/>
                </a:solidFill>
                <a:latin typeface="Avenir Next Medium"/>
              </a:rPr>
              <a:t>   ·   propeller radius</a:t>
            </a:r>
          </a:p>
          <a:p>
            <a:pPr>
              <a:spcAft>
                <a:spcPts val="472"/>
              </a:spcAft>
            </a:pPr>
            <a:r>
              <a:rPr sz="2700" b="0" i="0">
                <a:solidFill>
                  <a:srgbClr val="000000"/>
                </a:solidFill>
                <a:latin typeface="Cambria Math"/>
              </a:rPr>
              <a:t>λ</a:t>
            </a:r>
            <a:r>
              <a:rPr sz="2700" b="0" i="0">
                <a:solidFill>
                  <a:srgbClr val="5E5E5E"/>
                </a:solidFill>
                <a:latin typeface="Avenir Next Medium"/>
              </a:rPr>
              <a:t>   ·   radio wavelength of the illuminator</a:t>
            </a:r>
          </a:p>
          <a:p>
            <a:pPr>
              <a:spcAft>
                <a:spcPts val="472"/>
              </a:spcAft>
            </a:pPr>
            <a:r>
              <a:rPr sz="2700" b="0" i="0">
                <a:solidFill>
                  <a:srgbClr val="000000"/>
                </a:solidFill>
                <a:latin typeface="Cambria Math"/>
              </a:rPr>
              <a:t>θ</a:t>
            </a:r>
            <a:r>
              <a:rPr sz="2700" b="0" i="0">
                <a:solidFill>
                  <a:srgbClr val="5E5E5E"/>
                </a:solidFill>
                <a:latin typeface="Avenir Next Medium"/>
              </a:rPr>
              <a:t>   ·   elevation angle, how far below level the radar sits</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1" name="TextBox 10"/>
          <p:cNvSpPr txBox="1"/>
          <p:nvPr/>
        </p:nvSpPr>
        <p:spPr>
          <a:xfrm>
            <a:off x="1199693" y="11384280"/>
            <a:ext cx="22067520" cy="987552"/>
          </a:xfrm>
          <a:prstGeom prst="rect">
            <a:avLst/>
          </a:prstGeom>
          <a:noFill/>
        </p:spPr>
        <p:txBody>
          <a:bodyPr wrap="square" lIns="0" tIns="0" rIns="0" bIns="0" anchor="ctr">
            <a:spAutoFit/>
          </a:bodyPr>
          <a:lstStyle/>
          <a:p>
            <a:pPr algn="l"/>
            <a:r>
              <a:rPr sz="3400" b="1" i="0" dirty="0">
                <a:solidFill>
                  <a:srgbClr val="000000"/>
                </a:solidFill>
                <a:latin typeface="AvenirNext-DemiBold"/>
              </a:rPr>
              <a:t>Any Doppler above this line cannot have come from a blade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SETTING THE RULER</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This drone's numbers</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dirty="0">
                <a:solidFill>
                  <a:srgbClr val="000000"/>
                </a:solidFill>
                <a:latin typeface="AvenirNext-DemiBold"/>
              </a:rPr>
              <a:t>For the Matrice 4E at 3.5 GHz the ceiling is </a:t>
            </a:r>
            <a:r>
              <a:rPr sz="3700" b="1" i="0" dirty="0">
                <a:solidFill>
                  <a:srgbClr val="E22146"/>
                </a:solidFill>
                <a:latin typeface="AvenirNext-DemiBold"/>
              </a:rPr>
              <a:t>1273 Hz</a:t>
            </a:r>
            <a:r>
              <a:rPr sz="3700" b="1" i="0" dirty="0">
                <a:solidFill>
                  <a:srgbClr val="000000"/>
                </a:solidFill>
                <a:latin typeface="AvenirNext-DemiBold"/>
              </a:rPr>
              <a:t> when the radar looks level</a:t>
            </a:r>
          </a:p>
        </p:txBody>
      </p:sp>
      <p:sp>
        <p:nvSpPr>
          <p:cNvPr id="5" name="Rounded Rectangle 4"/>
          <p:cNvSpPr/>
          <p:nvPr/>
        </p:nvSpPr>
        <p:spPr>
          <a:xfrm>
            <a:off x="805160" y="3337865"/>
            <a:ext cx="22773681" cy="3404311"/>
          </a:xfrm>
          <a:prstGeom prst="roundRect">
            <a:avLst>
              <a:gd name="adj" fmla="val 6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pic>
        <p:nvPicPr>
          <p:cNvPr id="6" name="Picture 5" descr="eq_ftip_numbers.png"/>
          <p:cNvPicPr>
            <a:picLocks noChangeAspect="1"/>
          </p:cNvPicPr>
          <p:nvPr/>
        </p:nvPicPr>
        <p:blipFill>
          <a:blip r:embed="rId3"/>
          <a:stretch>
            <a:fillRect/>
          </a:stretch>
        </p:blipFill>
        <p:spPr>
          <a:xfrm>
            <a:off x="5869198" y="3420160"/>
            <a:ext cx="12645603" cy="3184855"/>
          </a:xfrm>
          <a:prstGeom prst="rect">
            <a:avLst/>
          </a:prstGeom>
        </p:spPr>
      </p:pic>
      <p:sp>
        <p:nvSpPr>
          <p:cNvPr id="7" name="TextBox 6"/>
          <p:cNvSpPr txBox="1"/>
          <p:nvPr/>
        </p:nvSpPr>
        <p:spPr>
          <a:xfrm>
            <a:off x="719328" y="6906768"/>
            <a:ext cx="22945344" cy="795528"/>
          </a:xfrm>
          <a:prstGeom prst="rect">
            <a:avLst/>
          </a:prstGeom>
          <a:noFill/>
        </p:spPr>
        <p:txBody>
          <a:bodyPr wrap="square" lIns="0" tIns="0" rIns="0" bIns="0" anchor="t">
            <a:spAutoFit/>
          </a:bodyPr>
          <a:lstStyle/>
          <a:p>
            <a:pPr algn="ctr"/>
            <a:r>
              <a:rPr sz="3000" b="0" i="0">
                <a:solidFill>
                  <a:srgbClr val="000000"/>
                </a:solidFill>
                <a:latin typeface="Avenir Next Medium"/>
              </a:rPr>
              <a:t>propeller radius 0.137 m, hover speed 3800 rpm, wavelength 85.7 mm</a:t>
            </a:r>
          </a:p>
        </p:txBody>
      </p:sp>
      <p:sp>
        <p:nvSpPr>
          <p:cNvPr id="8" name="Rectangle 7"/>
          <p:cNvSpPr/>
          <p:nvPr/>
        </p:nvSpPr>
        <p:spPr>
          <a:xfrm>
            <a:off x="719328" y="8867120"/>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9" name="TextBox 8"/>
          <p:cNvSpPr txBox="1"/>
          <p:nvPr/>
        </p:nvSpPr>
        <p:spPr>
          <a:xfrm>
            <a:off x="1255776" y="8695944"/>
            <a:ext cx="22213824" cy="1069848"/>
          </a:xfrm>
          <a:prstGeom prst="rect">
            <a:avLst/>
          </a:prstGeom>
          <a:noFill/>
        </p:spPr>
        <p:txBody>
          <a:bodyPr wrap="square" lIns="0" tIns="0" rIns="0" bIns="0" anchor="ctr">
            <a:spAutoFit/>
          </a:bodyPr>
          <a:lstStyle/>
          <a:p>
            <a:pPr algn="l"/>
            <a:r>
              <a:rPr sz="3300" b="0" i="0">
                <a:solidFill>
                  <a:srgbClr val="000000"/>
                </a:solidFill>
                <a:latin typeface="Avenir Next Medium"/>
              </a:rPr>
              <a:t>Propeller radius comes from the DJI part number, 274 mm across</a:t>
            </a:r>
          </a:p>
        </p:txBody>
      </p:sp>
      <p:sp>
        <p:nvSpPr>
          <p:cNvPr id="10" name="Rectangle 9"/>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1" name="TextBox 10"/>
          <p:cNvSpPr txBox="1"/>
          <p:nvPr/>
        </p:nvSpPr>
        <p:spPr>
          <a:xfrm>
            <a:off x="1255776" y="10313565"/>
            <a:ext cx="22213824" cy="468077"/>
          </a:xfrm>
          <a:prstGeom prst="rect">
            <a:avLst/>
          </a:prstGeom>
          <a:noFill/>
        </p:spPr>
        <p:txBody>
          <a:bodyPr wrap="square" lIns="0" tIns="0" rIns="0" bIns="0" anchor="ctr">
            <a:spAutoFit/>
          </a:bodyPr>
          <a:lstStyle/>
          <a:p>
            <a:pPr algn="l"/>
            <a:r>
              <a:rPr sz="3300" b="0" i="0" dirty="0">
                <a:solidFill>
                  <a:srgbClr val="000000"/>
                </a:solidFill>
                <a:latin typeface="Avenir Next Medium"/>
              </a:rPr>
              <a:t>Hover speed </a:t>
            </a:r>
            <a:r>
              <a:rPr lang="en-US" sz="3300" dirty="0"/>
              <a:t>setting same as last time</a:t>
            </a:r>
            <a:endParaRPr sz="3300" b="0" i="0" dirty="0">
              <a:solidFill>
                <a:srgbClr val="000000"/>
              </a:solidFill>
              <a:latin typeface="Avenir Nex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SWITCHES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four switches</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a:solidFill>
                  <a:srgbClr val="000000"/>
                </a:solidFill>
                <a:latin typeface="AvenirNext-DemiBold"/>
              </a:rPr>
              <a:t>Mirror reflection is always on, and four more wave effects are </a:t>
            </a:r>
            <a:r>
              <a:rPr sz="3700" b="1" i="0">
                <a:solidFill>
                  <a:srgbClr val="E22146"/>
                </a:solidFill>
                <a:latin typeface="AvenirNext-DemiBold"/>
              </a:rPr>
              <a:t>optional switches</a:t>
            </a:r>
          </a:p>
        </p:txBody>
      </p:sp>
      <p:graphicFrame>
        <p:nvGraphicFramePr>
          <p:cNvPr id="5" name="Table 4"/>
          <p:cNvGraphicFramePr>
            <a:graphicFrameLocks noGrp="1"/>
          </p:cNvGraphicFramePr>
          <p:nvPr/>
        </p:nvGraphicFramePr>
        <p:xfrm>
          <a:off x="719328" y="4532126"/>
          <a:ext cx="22945343" cy="5775960"/>
        </p:xfrm>
        <a:graphic>
          <a:graphicData uri="http://schemas.openxmlformats.org/drawingml/2006/table">
            <a:tbl>
              <a:tblPr firstRow="1" bandRow="1">
                <a:tableStyleId>{5C22544A-7EE6-4342-B048-85BDC9FD1C3A}</a:tableStyleId>
              </a:tblPr>
              <a:tblGrid>
                <a:gridCol w="5506882">
                  <a:extLst>
                    <a:ext uri="{9D8B030D-6E8A-4147-A177-3AD203B41FA5}">
                      <a16:colId xmlns:a16="http://schemas.microsoft.com/office/drawing/2014/main" val="20000"/>
                    </a:ext>
                  </a:extLst>
                </a:gridCol>
                <a:gridCol w="3671255">
                  <a:extLst>
                    <a:ext uri="{9D8B030D-6E8A-4147-A177-3AD203B41FA5}">
                      <a16:colId xmlns:a16="http://schemas.microsoft.com/office/drawing/2014/main" val="20001"/>
                    </a:ext>
                  </a:extLst>
                </a:gridCol>
                <a:gridCol w="3212348">
                  <a:extLst>
                    <a:ext uri="{9D8B030D-6E8A-4147-A177-3AD203B41FA5}">
                      <a16:colId xmlns:a16="http://schemas.microsoft.com/office/drawing/2014/main" val="20002"/>
                    </a:ext>
                  </a:extLst>
                </a:gridCol>
                <a:gridCol w="3671255">
                  <a:extLst>
                    <a:ext uri="{9D8B030D-6E8A-4147-A177-3AD203B41FA5}">
                      <a16:colId xmlns:a16="http://schemas.microsoft.com/office/drawing/2014/main" val="20003"/>
                    </a:ext>
                  </a:extLst>
                </a:gridCol>
                <a:gridCol w="6883603">
                  <a:extLst>
                    <a:ext uri="{9D8B030D-6E8A-4147-A177-3AD203B41FA5}">
                      <a16:colId xmlns:a16="http://schemas.microsoft.com/office/drawing/2014/main" val="20004"/>
                    </a:ext>
                  </a:extLst>
                </a:gridCol>
              </a:tblGrid>
              <a:tr h="960120">
                <a:tc>
                  <a:txBody>
                    <a:bodyPr/>
                    <a:lstStyle/>
                    <a:p>
                      <a:pPr algn="ctr"/>
                      <a:r>
                        <a:rPr sz="2900" b="1" i="0">
                          <a:solidFill>
                            <a:srgbClr val="FFFFFF"/>
                          </a:solidFill>
                          <a:latin typeface="AvenirNext-DemiBold"/>
                        </a:rPr>
                        <a:t>Setting</a:t>
                      </a:r>
                    </a:p>
                  </a:txBody>
                  <a:tcPr marL="70000" marR="70000" anchor="ctr">
                    <a:solidFill>
                      <a:srgbClr val="26448A"/>
                    </a:solidFill>
                  </a:tcPr>
                </a:tc>
                <a:tc>
                  <a:txBody>
                    <a:bodyPr/>
                    <a:lstStyle/>
                    <a:p>
                      <a:pPr algn="ctr"/>
                      <a:r>
                        <a:rPr sz="2900" b="1" i="0">
                          <a:solidFill>
                            <a:srgbClr val="FFFFFF"/>
                          </a:solidFill>
                          <a:latin typeface="AvenirNext-DemiBold"/>
                        </a:rPr>
                        <a:t>Factory default</a:t>
                      </a:r>
                    </a:p>
                  </a:txBody>
                  <a:tcPr marL="70000" marR="70000" anchor="ctr">
                    <a:solidFill>
                      <a:srgbClr val="26448A"/>
                    </a:solidFill>
                  </a:tcPr>
                </a:tc>
                <a:tc>
                  <a:txBody>
                    <a:bodyPr/>
                    <a:lstStyle/>
                    <a:p>
                      <a:pPr algn="ctr"/>
                      <a:r>
                        <a:rPr sz="2900" b="1" i="0">
                          <a:solidFill>
                            <a:srgbClr val="FFFFFF"/>
                          </a:solidFill>
                          <a:latin typeface="AvenirNext-DemiBold"/>
                        </a:rPr>
                        <a:t>Our OFF arm (physics off)</a:t>
                      </a:r>
                    </a:p>
                  </a:txBody>
                  <a:tcPr marL="70000" marR="70000" anchor="ctr">
                    <a:solidFill>
                      <a:srgbClr val="26448A"/>
                    </a:solidFill>
                  </a:tcPr>
                </a:tc>
                <a:tc>
                  <a:txBody>
                    <a:bodyPr/>
                    <a:lstStyle/>
                    <a:p>
                      <a:pPr algn="ctr"/>
                      <a:r>
                        <a:rPr sz="2900" b="1" i="0">
                          <a:solidFill>
                            <a:srgbClr val="FFFFFF"/>
                          </a:solidFill>
                          <a:latin typeface="AvenirNext-DemiBold"/>
                        </a:rPr>
                        <a:t>Our ON arm (physics on)</a:t>
                      </a:r>
                    </a:p>
                  </a:txBody>
                  <a:tcPr marL="70000" marR="70000" anchor="ctr">
                    <a:solidFill>
                      <a:srgbClr val="26448A"/>
                    </a:solidFill>
                  </a:tcPr>
                </a:tc>
                <a:tc>
                  <a:txBody>
                    <a:bodyPr/>
                    <a:lstStyle/>
                    <a:p>
                      <a:pPr algn="ctr"/>
                      <a:r>
                        <a:rPr sz="2900" b="1" i="0">
                          <a:solidFill>
                            <a:srgbClr val="FFFFFF"/>
                          </a:solidFill>
                          <a:latin typeface="AvenirNext-DemiBold"/>
                        </a:rPr>
                        <a:t>What it adds</a:t>
                      </a:r>
                    </a:p>
                  </a:txBody>
                  <a:tcPr marL="70000" marR="70000" anchor="ctr">
                    <a:solidFill>
                      <a:srgbClr val="26448A"/>
                    </a:solidFill>
                  </a:tcPr>
                </a:tc>
                <a:extLst>
                  <a:ext uri="{0D108BD9-81ED-4DB2-BD59-A6C34878D82A}">
                    <a16:rowId xmlns:a16="http://schemas.microsoft.com/office/drawing/2014/main" val="10000"/>
                  </a:ext>
                </a:extLst>
              </a:tr>
              <a:tr h="960120">
                <a:tc>
                  <a:txBody>
                    <a:bodyPr/>
                    <a:lstStyle/>
                    <a:p>
                      <a:pPr algn="l"/>
                      <a:r>
                        <a:rPr sz="2700" b="1" i="0">
                          <a:solidFill>
                            <a:srgbClr val="000000"/>
                          </a:solidFill>
                          <a:latin typeface="AvenirNext-DemiBold"/>
                        </a:rPr>
                        <a:t>Diffuse scattering</a:t>
                      </a:r>
                    </a:p>
                  </a:txBody>
                  <a:tcPr marL="70000" marR="70000" anchor="ctr">
                    <a:solidFill>
                      <a:srgbClr val="FFFFFF"/>
                    </a:solidFill>
                  </a:tcPr>
                </a:tc>
                <a:tc>
                  <a:txBody>
                    <a:bodyPr/>
                    <a:lstStyle/>
                    <a:p>
                      <a:pPr algn="ctr"/>
                      <a:r>
                        <a:rPr sz="2700" b="0" i="0">
                          <a:solidFill>
                            <a:srgbClr val="000000"/>
                          </a:solidFill>
                          <a:latin typeface="Avenir Next Medium"/>
                        </a:rPr>
                        <a:t>off</a:t>
                      </a:r>
                    </a:p>
                  </a:txBody>
                  <a:tcPr marL="70000" marR="70000" anchor="ctr">
                    <a:solidFill>
                      <a:srgbClr val="FFFFFF"/>
                    </a:solidFill>
                  </a:tcPr>
                </a:tc>
                <a:tc>
                  <a:txBody>
                    <a:bodyPr/>
                    <a:lstStyle/>
                    <a:p>
                      <a:pPr algn="ctr"/>
                      <a:r>
                        <a:rPr sz="2700" b="0" i="0">
                          <a:solidFill>
                            <a:srgbClr val="000000"/>
                          </a:solidFill>
                          <a:latin typeface="Avenir Next Medium"/>
                        </a:rPr>
                        <a:t>on</a:t>
                      </a:r>
                    </a:p>
                  </a:txBody>
                  <a:tcPr marL="70000" marR="70000" anchor="ctr">
                    <a:solidFill>
                      <a:srgbClr val="FFFFFF"/>
                    </a:solidFill>
                  </a:tcPr>
                </a:tc>
                <a:tc>
                  <a:txBody>
                    <a:bodyPr/>
                    <a:lstStyle/>
                    <a:p>
                      <a:pPr algn="ctr"/>
                      <a:r>
                        <a:rPr sz="2700" b="0" i="0">
                          <a:solidFill>
                            <a:srgbClr val="000000"/>
                          </a:solidFill>
                          <a:latin typeface="Avenir Next Medium"/>
                        </a:rPr>
                        <a:t>on</a:t>
                      </a:r>
                    </a:p>
                  </a:txBody>
                  <a:tcPr marL="70000" marR="70000" anchor="ctr">
                    <a:solidFill>
                      <a:srgbClr val="FFFFFF"/>
                    </a:solidFill>
                  </a:tcPr>
                </a:tc>
                <a:tc>
                  <a:txBody>
                    <a:bodyPr/>
                    <a:lstStyle/>
                    <a:p>
                      <a:pPr algn="ctr"/>
                      <a:r>
                        <a:rPr sz="2700" b="0" i="0">
                          <a:solidFill>
                            <a:srgbClr val="000000"/>
                          </a:solidFill>
                          <a:latin typeface="Avenir Next Medium"/>
                        </a:rPr>
                        <a:t>surfaces scatter energy in all directions</a:t>
                      </a:r>
                    </a:p>
                  </a:txBody>
                  <a:tcPr marL="70000" marR="70000" anchor="ctr">
                    <a:solidFill>
                      <a:srgbClr val="FFFFFF"/>
                    </a:solidFill>
                  </a:tcPr>
                </a:tc>
                <a:extLst>
                  <a:ext uri="{0D108BD9-81ED-4DB2-BD59-A6C34878D82A}">
                    <a16:rowId xmlns:a16="http://schemas.microsoft.com/office/drawing/2014/main" val="10001"/>
                  </a:ext>
                </a:extLst>
              </a:tr>
              <a:tr h="960120">
                <a:tc>
                  <a:txBody>
                    <a:bodyPr/>
                    <a:lstStyle/>
                    <a:p>
                      <a:pPr algn="l"/>
                      <a:r>
                        <a:rPr sz="2700" b="1" i="0">
                          <a:solidFill>
                            <a:srgbClr val="000000"/>
                          </a:solidFill>
                          <a:latin typeface="AvenirNext-DemiBold"/>
                        </a:rPr>
                        <a:t>Refraction</a:t>
                      </a:r>
                    </a:p>
                  </a:txBody>
                  <a:tcPr marL="70000" marR="70000" anchor="ctr">
                    <a:solidFill>
                      <a:srgbClr val="F2F2F2"/>
                    </a:solidFill>
                  </a:tcPr>
                </a:tc>
                <a:tc>
                  <a:txBody>
                    <a:bodyPr/>
                    <a:lstStyle/>
                    <a:p>
                      <a:pPr algn="ctr"/>
                      <a:r>
                        <a:rPr sz="2700" b="0" i="0">
                          <a:solidFill>
                            <a:srgbClr val="000000"/>
                          </a:solidFill>
                          <a:latin typeface="Avenir Next Medium"/>
                        </a:rPr>
                        <a:t>on</a:t>
                      </a:r>
                    </a:p>
                  </a:txBody>
                  <a:tcPr marL="70000" marR="70000" anchor="ctr">
                    <a:solidFill>
                      <a:srgbClr val="F2F2F2"/>
                    </a:solidFill>
                  </a:tcPr>
                </a:tc>
                <a:tc>
                  <a:txBody>
                    <a:bodyPr/>
                    <a:lstStyle/>
                    <a:p>
                      <a:pPr algn="ctr"/>
                      <a:r>
                        <a:rPr sz="2700" b="0" i="0">
                          <a:solidFill>
                            <a:srgbClr val="000000"/>
                          </a:solidFill>
                          <a:latin typeface="Avenir Next Medium"/>
                        </a:rPr>
                        <a:t>off</a:t>
                      </a:r>
                    </a:p>
                  </a:txBody>
                  <a:tcPr marL="70000" marR="70000" anchor="ctr">
                    <a:solidFill>
                      <a:srgbClr val="F2F2F2"/>
                    </a:solidFill>
                  </a:tcPr>
                </a:tc>
                <a:tc>
                  <a:txBody>
                    <a:bodyPr/>
                    <a:lstStyle/>
                    <a:p>
                      <a:pPr algn="ctr"/>
                      <a:r>
                        <a:rPr sz="2700" b="0" i="0">
                          <a:solidFill>
                            <a:srgbClr val="000000"/>
                          </a:solidFill>
                          <a:latin typeface="Avenir Next Medium"/>
                        </a:rPr>
                        <a:t>on</a:t>
                      </a:r>
                    </a:p>
                  </a:txBody>
                  <a:tcPr marL="70000" marR="70000" anchor="ctr">
                    <a:solidFill>
                      <a:srgbClr val="F2F2F2"/>
                    </a:solidFill>
                  </a:tcPr>
                </a:tc>
                <a:tc>
                  <a:txBody>
                    <a:bodyPr/>
                    <a:lstStyle/>
                    <a:p>
                      <a:pPr algn="ctr"/>
                      <a:r>
                        <a:rPr sz="2700" b="0" i="0">
                          <a:solidFill>
                            <a:srgbClr val="000000"/>
                          </a:solidFill>
                          <a:latin typeface="Avenir Next Medium"/>
                        </a:rPr>
                        <a:t>waves enter and pass through the material</a:t>
                      </a:r>
                    </a:p>
                  </a:txBody>
                  <a:tcPr marL="70000" marR="70000" anchor="ctr">
                    <a:solidFill>
                      <a:srgbClr val="F2F2F2"/>
                    </a:solidFill>
                  </a:tcPr>
                </a:tc>
                <a:extLst>
                  <a:ext uri="{0D108BD9-81ED-4DB2-BD59-A6C34878D82A}">
                    <a16:rowId xmlns:a16="http://schemas.microsoft.com/office/drawing/2014/main" val="10002"/>
                  </a:ext>
                </a:extLst>
              </a:tr>
              <a:tr h="960120">
                <a:tc>
                  <a:txBody>
                    <a:bodyPr/>
                    <a:lstStyle/>
                    <a:p>
                      <a:pPr algn="l"/>
                      <a:r>
                        <a:rPr sz="2700" b="1" i="0">
                          <a:solidFill>
                            <a:srgbClr val="000000"/>
                          </a:solidFill>
                          <a:latin typeface="AvenirNext-DemiBold"/>
                        </a:rPr>
                        <a:t>Diffraction</a:t>
                      </a:r>
                    </a:p>
                  </a:txBody>
                  <a:tcPr marL="70000" marR="70000" anchor="ctr">
                    <a:solidFill>
                      <a:srgbClr val="FFFFFF"/>
                    </a:solidFill>
                  </a:tcPr>
                </a:tc>
                <a:tc>
                  <a:txBody>
                    <a:bodyPr/>
                    <a:lstStyle/>
                    <a:p>
                      <a:pPr algn="ctr"/>
                      <a:r>
                        <a:rPr sz="2700" b="0" i="0">
                          <a:solidFill>
                            <a:srgbClr val="000000"/>
                          </a:solidFill>
                          <a:latin typeface="Avenir Next Medium"/>
                        </a:rPr>
                        <a:t>off</a:t>
                      </a:r>
                    </a:p>
                  </a:txBody>
                  <a:tcPr marL="70000" marR="70000" anchor="ctr">
                    <a:solidFill>
                      <a:srgbClr val="FFFFFF"/>
                    </a:solidFill>
                  </a:tcPr>
                </a:tc>
                <a:tc>
                  <a:txBody>
                    <a:bodyPr/>
                    <a:lstStyle/>
                    <a:p>
                      <a:pPr algn="ctr"/>
                      <a:r>
                        <a:rPr sz="2700" b="0" i="0">
                          <a:solidFill>
                            <a:srgbClr val="000000"/>
                          </a:solidFill>
                          <a:latin typeface="Avenir Next Medium"/>
                        </a:rPr>
                        <a:t>off</a:t>
                      </a:r>
                    </a:p>
                  </a:txBody>
                  <a:tcPr marL="70000" marR="70000" anchor="ctr">
                    <a:solidFill>
                      <a:srgbClr val="FFFFFF"/>
                    </a:solidFill>
                  </a:tcPr>
                </a:tc>
                <a:tc>
                  <a:txBody>
                    <a:bodyPr/>
                    <a:lstStyle/>
                    <a:p>
                      <a:pPr algn="ctr"/>
                      <a:r>
                        <a:rPr sz="2700" b="0" i="0">
                          <a:solidFill>
                            <a:srgbClr val="000000"/>
                          </a:solidFill>
                          <a:latin typeface="Avenir Next Medium"/>
                        </a:rPr>
                        <a:t>on</a:t>
                      </a:r>
                    </a:p>
                  </a:txBody>
                  <a:tcPr marL="70000" marR="70000" anchor="ctr">
                    <a:solidFill>
                      <a:srgbClr val="FFFFFF"/>
                    </a:solidFill>
                  </a:tcPr>
                </a:tc>
                <a:tc>
                  <a:txBody>
                    <a:bodyPr/>
                    <a:lstStyle/>
                    <a:p>
                      <a:pPr algn="ctr"/>
                      <a:r>
                        <a:rPr sz="2700" b="0" i="0">
                          <a:solidFill>
                            <a:srgbClr val="000000"/>
                          </a:solidFill>
                          <a:latin typeface="Avenir Next Medium"/>
                        </a:rPr>
                        <a:t>waves bend around the body</a:t>
                      </a:r>
                    </a:p>
                  </a:txBody>
                  <a:tcPr marL="70000" marR="70000" anchor="ctr">
                    <a:solidFill>
                      <a:srgbClr val="FFFFFF"/>
                    </a:solidFill>
                  </a:tcPr>
                </a:tc>
                <a:extLst>
                  <a:ext uri="{0D108BD9-81ED-4DB2-BD59-A6C34878D82A}">
                    <a16:rowId xmlns:a16="http://schemas.microsoft.com/office/drawing/2014/main" val="10003"/>
                  </a:ext>
                </a:extLst>
              </a:tr>
              <a:tr h="960120">
                <a:tc>
                  <a:txBody>
                    <a:bodyPr/>
                    <a:lstStyle/>
                    <a:p>
                      <a:pPr algn="l"/>
                      <a:r>
                        <a:rPr sz="2700" b="1" i="0">
                          <a:solidFill>
                            <a:srgbClr val="000000"/>
                          </a:solidFill>
                          <a:latin typeface="AvenirNext-DemiBold"/>
                        </a:rPr>
                        <a:t>Edge diffraction</a:t>
                      </a:r>
                    </a:p>
                  </a:txBody>
                  <a:tcPr marL="70000" marR="70000" anchor="ctr">
                    <a:solidFill>
                      <a:srgbClr val="F2F2F2"/>
                    </a:solidFill>
                  </a:tcPr>
                </a:tc>
                <a:tc>
                  <a:txBody>
                    <a:bodyPr/>
                    <a:lstStyle/>
                    <a:p>
                      <a:pPr algn="ctr"/>
                      <a:r>
                        <a:rPr sz="2700" b="0" i="0">
                          <a:solidFill>
                            <a:srgbClr val="000000"/>
                          </a:solidFill>
                          <a:latin typeface="Avenir Next Medium"/>
                        </a:rPr>
                        <a:t>off</a:t>
                      </a:r>
                    </a:p>
                  </a:txBody>
                  <a:tcPr marL="70000" marR="70000" anchor="ctr">
                    <a:solidFill>
                      <a:srgbClr val="F2F2F2"/>
                    </a:solidFill>
                  </a:tcPr>
                </a:tc>
                <a:tc>
                  <a:txBody>
                    <a:bodyPr/>
                    <a:lstStyle/>
                    <a:p>
                      <a:pPr algn="ctr"/>
                      <a:r>
                        <a:rPr sz="2700" b="0" i="0">
                          <a:solidFill>
                            <a:srgbClr val="000000"/>
                          </a:solidFill>
                          <a:latin typeface="Avenir Next Medium"/>
                        </a:rPr>
                        <a:t>off</a:t>
                      </a:r>
                    </a:p>
                  </a:txBody>
                  <a:tcPr marL="70000" marR="70000" anchor="ctr">
                    <a:solidFill>
                      <a:srgbClr val="F2F2F2"/>
                    </a:solidFill>
                  </a:tcPr>
                </a:tc>
                <a:tc>
                  <a:txBody>
                    <a:bodyPr/>
                    <a:lstStyle/>
                    <a:p>
                      <a:pPr algn="ctr"/>
                      <a:r>
                        <a:rPr sz="2700" b="0" i="0">
                          <a:solidFill>
                            <a:srgbClr val="000000"/>
                          </a:solidFill>
                          <a:latin typeface="Avenir Next Medium"/>
                        </a:rPr>
                        <a:t>on</a:t>
                      </a:r>
                    </a:p>
                  </a:txBody>
                  <a:tcPr marL="70000" marR="70000" anchor="ctr">
                    <a:solidFill>
                      <a:srgbClr val="F2F2F2"/>
                    </a:solidFill>
                  </a:tcPr>
                </a:tc>
                <a:tc>
                  <a:txBody>
                    <a:bodyPr/>
                    <a:lstStyle/>
                    <a:p>
                      <a:pPr algn="ctr"/>
                      <a:r>
                        <a:rPr sz="2700" b="0" i="0">
                          <a:solidFill>
                            <a:srgbClr val="000000"/>
                          </a:solidFill>
                          <a:latin typeface="Avenir Next Medium"/>
                        </a:rPr>
                        <a:t>extra bending at sharp free edges</a:t>
                      </a:r>
                    </a:p>
                  </a:txBody>
                  <a:tcPr marL="70000" marR="70000" anchor="ctr">
                    <a:solidFill>
                      <a:srgbClr val="F2F2F2"/>
                    </a:solidFill>
                  </a:tcPr>
                </a:tc>
                <a:extLst>
                  <a:ext uri="{0D108BD9-81ED-4DB2-BD59-A6C34878D82A}">
                    <a16:rowId xmlns:a16="http://schemas.microsoft.com/office/drawing/2014/main" val="10004"/>
                  </a:ext>
                </a:extLst>
              </a:tr>
              <a:tr h="960120">
                <a:tc>
                  <a:txBody>
                    <a:bodyPr/>
                    <a:lstStyle/>
                    <a:p>
                      <a:pPr algn="l"/>
                      <a:r>
                        <a:rPr sz="2700" b="1" i="0" dirty="0">
                          <a:solidFill>
                            <a:srgbClr val="000000"/>
                          </a:solidFill>
                          <a:latin typeface="AvenirNext-DemiBold"/>
                        </a:rPr>
                        <a:t>Bounce depth</a:t>
                      </a:r>
                    </a:p>
                  </a:txBody>
                  <a:tcPr marL="70000" marR="70000" anchor="ctr">
                    <a:solidFill>
                      <a:srgbClr val="FFFFFF"/>
                    </a:solidFill>
                  </a:tcPr>
                </a:tc>
                <a:tc>
                  <a:txBody>
                    <a:bodyPr/>
                    <a:lstStyle/>
                    <a:p>
                      <a:pPr algn="ctr"/>
                      <a:r>
                        <a:rPr sz="2700" b="0" i="0">
                          <a:solidFill>
                            <a:srgbClr val="000000"/>
                          </a:solidFill>
                          <a:latin typeface="Avenir Next Medium"/>
                        </a:rPr>
                        <a:t>3</a:t>
                      </a:r>
                    </a:p>
                  </a:txBody>
                  <a:tcPr marL="70000" marR="70000" anchor="ctr">
                    <a:solidFill>
                      <a:srgbClr val="FFFFFF"/>
                    </a:solidFill>
                  </a:tcPr>
                </a:tc>
                <a:tc>
                  <a:txBody>
                    <a:bodyPr/>
                    <a:lstStyle/>
                    <a:p>
                      <a:pPr algn="ctr"/>
                      <a:r>
                        <a:rPr sz="2700" b="0" i="0">
                          <a:solidFill>
                            <a:srgbClr val="000000"/>
                          </a:solidFill>
                          <a:latin typeface="Avenir Next Medium"/>
                        </a:rPr>
                        <a:t>1</a:t>
                      </a:r>
                    </a:p>
                  </a:txBody>
                  <a:tcPr marL="70000" marR="70000" anchor="ctr">
                    <a:solidFill>
                      <a:srgbClr val="FFFFFF"/>
                    </a:solidFill>
                  </a:tcPr>
                </a:tc>
                <a:tc>
                  <a:txBody>
                    <a:bodyPr/>
                    <a:lstStyle/>
                    <a:p>
                      <a:pPr algn="ctr"/>
                      <a:r>
                        <a:rPr sz="2700" b="0" i="0">
                          <a:solidFill>
                            <a:srgbClr val="000000"/>
                          </a:solidFill>
                          <a:latin typeface="Avenir Next Medium"/>
                        </a:rPr>
                        <a:t>1</a:t>
                      </a:r>
                    </a:p>
                  </a:txBody>
                  <a:tcPr marL="70000" marR="70000" anchor="ctr">
                    <a:solidFill>
                      <a:srgbClr val="FFFFFF"/>
                    </a:solidFill>
                  </a:tcPr>
                </a:tc>
                <a:tc>
                  <a:txBody>
                    <a:bodyPr/>
                    <a:lstStyle/>
                    <a:p>
                      <a:pPr algn="ctr"/>
                      <a:r>
                        <a:rPr sz="2700" b="0" i="0" dirty="0">
                          <a:solidFill>
                            <a:srgbClr val="000000"/>
                          </a:solidFill>
                          <a:latin typeface="Avenir Next Medium"/>
                        </a:rPr>
                        <a:t>how many hops one ray may take</a:t>
                      </a:r>
                    </a:p>
                  </a:txBody>
                  <a:tcPr marL="70000" marR="700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THREE ENGINES</a:t>
            </a:r>
          </a:p>
        </p:txBody>
      </p:sp>
      <p:sp>
        <p:nvSpPr>
          <p:cNvPr id="3" name="TextBox 2"/>
          <p:cNvSpPr txBox="1"/>
          <p:nvPr/>
        </p:nvSpPr>
        <p:spPr>
          <a:xfrm>
            <a:off x="699821" y="1039673"/>
            <a:ext cx="22979482" cy="822661"/>
          </a:xfrm>
          <a:prstGeom prst="rect">
            <a:avLst/>
          </a:prstGeom>
          <a:noFill/>
        </p:spPr>
        <p:txBody>
          <a:bodyPr wrap="square" lIns="0" tIns="0" rIns="0" bIns="0" anchor="t">
            <a:spAutoFit/>
          </a:bodyPr>
          <a:lstStyle/>
          <a:p>
            <a:pPr algn="l"/>
            <a:r>
              <a:rPr lang="en-US" sz="5800" b="1" dirty="0">
                <a:latin typeface="AvenirNext-DemiBold"/>
              </a:rPr>
              <a:t>Operation Time</a:t>
            </a:r>
            <a:endParaRPr sz="5800" b="1" i="0" dirty="0">
              <a:solidFill>
                <a:srgbClr val="000000"/>
              </a:solidFill>
              <a:latin typeface="AvenirNext-DemiBold"/>
            </a:endParaRPr>
          </a:p>
        </p:txBody>
      </p:sp>
      <p:graphicFrame>
        <p:nvGraphicFramePr>
          <p:cNvPr id="5" name="Table 4"/>
          <p:cNvGraphicFramePr>
            <a:graphicFrameLocks noGrp="1"/>
          </p:cNvGraphicFramePr>
          <p:nvPr>
            <p:extLst>
              <p:ext uri="{D42A27DB-BD31-4B8C-83A1-F6EECF244321}">
                <p14:modId xmlns:p14="http://schemas.microsoft.com/office/powerpoint/2010/main" val="2719407272"/>
              </p:ext>
            </p:extLst>
          </p:nvPr>
        </p:nvGraphicFramePr>
        <p:xfrm>
          <a:off x="685189" y="4770418"/>
          <a:ext cx="22964850" cy="3725091"/>
        </p:xfrm>
        <a:graphic>
          <a:graphicData uri="http://schemas.openxmlformats.org/drawingml/2006/table">
            <a:tbl>
              <a:tblPr firstRow="1" bandRow="1">
                <a:tableStyleId>{5C22544A-7EE6-4342-B048-85BDC9FD1C3A}</a:tableStyleId>
              </a:tblPr>
              <a:tblGrid>
                <a:gridCol w="4993791">
                  <a:extLst>
                    <a:ext uri="{9D8B030D-6E8A-4147-A177-3AD203B41FA5}">
                      <a16:colId xmlns:a16="http://schemas.microsoft.com/office/drawing/2014/main" val="20000"/>
                    </a:ext>
                  </a:extLst>
                </a:gridCol>
                <a:gridCol w="5997645">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gridCol w="5572614">
                  <a:extLst>
                    <a:ext uri="{9D8B030D-6E8A-4147-A177-3AD203B41FA5}">
                      <a16:colId xmlns:a16="http://schemas.microsoft.com/office/drawing/2014/main" val="20003"/>
                    </a:ext>
                  </a:extLst>
                </a:gridCol>
              </a:tblGrid>
              <a:tr h="1411268">
                <a:tc>
                  <a:txBody>
                    <a:bodyPr/>
                    <a:lstStyle/>
                    <a:p>
                      <a:pPr algn="ctr"/>
                      <a:endParaRPr sz="4400" b="1" dirty="0"/>
                    </a:p>
                  </a:txBody>
                  <a:tcPr marL="70000" marR="70000" anchor="ctr">
                    <a:solidFill>
                      <a:srgbClr val="26448A"/>
                    </a:solidFill>
                  </a:tcPr>
                </a:tc>
                <a:tc>
                  <a:txBody>
                    <a:bodyPr/>
                    <a:lstStyle/>
                    <a:p>
                      <a:pPr algn="ctr"/>
                      <a:r>
                        <a:rPr lang="en-US" sz="4000" b="1" i="0" dirty="0">
                          <a:solidFill>
                            <a:srgbClr val="FFFFFF"/>
                          </a:solidFill>
                          <a:latin typeface="AvenirNext-DemiBold"/>
                        </a:rPr>
                        <a:t>Our kernel</a:t>
                      </a:r>
                      <a:endParaRPr sz="4000" b="1" i="0" dirty="0">
                        <a:solidFill>
                          <a:srgbClr val="FFFFFF"/>
                        </a:solidFill>
                        <a:latin typeface="AvenirNext-DemiBold"/>
                      </a:endParaRPr>
                    </a:p>
                  </a:txBody>
                  <a:tcPr marL="70000" marR="70000" anchor="ctr">
                    <a:solidFill>
                      <a:srgbClr val="26448A"/>
                    </a:solidFill>
                  </a:tcPr>
                </a:tc>
                <a:tc>
                  <a:txBody>
                    <a:bodyPr/>
                    <a:lstStyle/>
                    <a:p>
                      <a:pPr algn="ctr"/>
                      <a:r>
                        <a:rPr sz="4000" b="1" i="0" dirty="0">
                          <a:solidFill>
                            <a:srgbClr val="FFFFFF"/>
                          </a:solidFill>
                          <a:latin typeface="AvenirNext-DemiBold"/>
                        </a:rPr>
                        <a:t>Sionna, physics off</a:t>
                      </a:r>
                    </a:p>
                  </a:txBody>
                  <a:tcPr marL="70000" marR="70000" anchor="ctr">
                    <a:solidFill>
                      <a:srgbClr val="26448A"/>
                    </a:solidFill>
                  </a:tcPr>
                </a:tc>
                <a:tc>
                  <a:txBody>
                    <a:bodyPr/>
                    <a:lstStyle/>
                    <a:p>
                      <a:pPr algn="ctr"/>
                      <a:r>
                        <a:rPr sz="4000" b="1" i="0">
                          <a:solidFill>
                            <a:srgbClr val="FFFFFF"/>
                          </a:solidFill>
                          <a:latin typeface="AvenirNext-DemiBold"/>
                        </a:rPr>
                        <a:t>Sionna, physics on</a:t>
                      </a:r>
                    </a:p>
                  </a:txBody>
                  <a:tcPr marL="70000" marR="70000" anchor="ctr">
                    <a:solidFill>
                      <a:srgbClr val="26448A"/>
                    </a:solidFill>
                  </a:tcPr>
                </a:tc>
                <a:extLst>
                  <a:ext uri="{0D108BD9-81ED-4DB2-BD59-A6C34878D82A}">
                    <a16:rowId xmlns:a16="http://schemas.microsoft.com/office/drawing/2014/main" val="10000"/>
                  </a:ext>
                </a:extLst>
              </a:tr>
              <a:tr h="1033836">
                <a:tc>
                  <a:txBody>
                    <a:bodyPr/>
                    <a:lstStyle/>
                    <a:p>
                      <a:pPr algn="ctr"/>
                      <a:r>
                        <a:rPr lang="en-US" sz="3600" b="1" i="0" dirty="0">
                          <a:solidFill>
                            <a:srgbClr val="000000"/>
                          </a:solidFill>
                          <a:latin typeface="AvenirNext-DemiBold"/>
                        </a:rPr>
                        <a:t>-</a:t>
                      </a:r>
                      <a:endParaRPr sz="3600" b="1" i="0" dirty="0">
                        <a:solidFill>
                          <a:srgbClr val="000000"/>
                        </a:solidFill>
                        <a:latin typeface="AvenirNext-DemiBold"/>
                      </a:endParaRPr>
                    </a:p>
                  </a:txBody>
                  <a:tcPr marL="70000" marR="70000" anchor="ctr">
                    <a:solidFill>
                      <a:srgbClr val="F2F2F2"/>
                    </a:solidFill>
                  </a:tcPr>
                </a:tc>
                <a:tc>
                  <a:txBody>
                    <a:bodyPr/>
                    <a:lstStyle/>
                    <a:p>
                      <a:pPr algn="ctr"/>
                      <a:r>
                        <a:rPr sz="3600" b="1" i="0" dirty="0">
                          <a:solidFill>
                            <a:srgbClr val="000000"/>
                          </a:solidFill>
                          <a:latin typeface="Avenir Next Medium"/>
                        </a:rPr>
                        <a:t>surface scattering only</a:t>
                      </a:r>
                    </a:p>
                  </a:txBody>
                  <a:tcPr marL="70000" marR="70000" anchor="ctr">
                    <a:solidFill>
                      <a:srgbClr val="F2F2F2"/>
                    </a:solidFill>
                  </a:tcPr>
                </a:tc>
                <a:tc>
                  <a:txBody>
                    <a:bodyPr/>
                    <a:lstStyle/>
                    <a:p>
                      <a:pPr algn="ctr"/>
                      <a:r>
                        <a:rPr sz="3600" b="1" i="0" dirty="0">
                          <a:solidFill>
                            <a:srgbClr val="000000"/>
                          </a:solidFill>
                          <a:latin typeface="Avenir Next Medium"/>
                        </a:rPr>
                        <a:t>diffuse only</a:t>
                      </a:r>
                    </a:p>
                  </a:txBody>
                  <a:tcPr marL="70000" marR="70000" anchor="ctr">
                    <a:solidFill>
                      <a:srgbClr val="F2F2F2"/>
                    </a:solidFill>
                  </a:tcPr>
                </a:tc>
                <a:tc>
                  <a:txBody>
                    <a:bodyPr/>
                    <a:lstStyle/>
                    <a:p>
                      <a:pPr algn="ctr"/>
                      <a:r>
                        <a:rPr sz="3600" b="1" i="0" dirty="0">
                          <a:solidFill>
                            <a:srgbClr val="000000"/>
                          </a:solidFill>
                          <a:latin typeface="Avenir Next Medium"/>
                        </a:rPr>
                        <a:t>all four on</a:t>
                      </a:r>
                    </a:p>
                  </a:txBody>
                  <a:tcPr marL="70000" marR="70000" anchor="ctr">
                    <a:solidFill>
                      <a:srgbClr val="F2F2F2"/>
                    </a:solidFill>
                  </a:tcPr>
                </a:tc>
                <a:extLst>
                  <a:ext uri="{0D108BD9-81ED-4DB2-BD59-A6C34878D82A}">
                    <a16:rowId xmlns:a16="http://schemas.microsoft.com/office/drawing/2014/main" val="10002"/>
                  </a:ext>
                </a:extLst>
              </a:tr>
              <a:tr h="1279987">
                <a:tc>
                  <a:txBody>
                    <a:bodyPr/>
                    <a:lstStyle/>
                    <a:p>
                      <a:pPr algn="ctr"/>
                      <a:r>
                        <a:rPr sz="3600" b="1" i="0">
                          <a:solidFill>
                            <a:srgbClr val="000000"/>
                          </a:solidFill>
                          <a:latin typeface="AvenirNext-DemiBold"/>
                        </a:rPr>
                        <a:t>Time for one pose</a:t>
                      </a:r>
                    </a:p>
                  </a:txBody>
                  <a:tcPr marL="70000" marR="70000" anchor="ctr">
                    <a:solidFill>
                      <a:srgbClr val="F2F2F2"/>
                    </a:solidFill>
                  </a:tcPr>
                </a:tc>
                <a:tc>
                  <a:txBody>
                    <a:bodyPr/>
                    <a:lstStyle/>
                    <a:p>
                      <a:pPr algn="ctr"/>
                      <a:r>
                        <a:rPr sz="3600" b="1" i="0" dirty="0">
                          <a:solidFill>
                            <a:srgbClr val="000000"/>
                          </a:solidFill>
                          <a:latin typeface="Avenir Next Medium"/>
                        </a:rPr>
                        <a:t>130 </a:t>
                      </a:r>
                      <a:r>
                        <a:rPr sz="3600" b="1" i="0" dirty="0" err="1">
                          <a:solidFill>
                            <a:srgbClr val="000000"/>
                          </a:solidFill>
                          <a:latin typeface="Avenir Next Medium"/>
                        </a:rPr>
                        <a:t>ms</a:t>
                      </a:r>
                      <a:endParaRPr sz="3600" b="1" i="0" dirty="0">
                        <a:solidFill>
                          <a:srgbClr val="000000"/>
                        </a:solidFill>
                        <a:latin typeface="Avenir Next Medium"/>
                      </a:endParaRPr>
                    </a:p>
                  </a:txBody>
                  <a:tcPr marL="70000" marR="70000" anchor="ctr">
                    <a:solidFill>
                      <a:srgbClr val="F2F2F2"/>
                    </a:solidFill>
                  </a:tcPr>
                </a:tc>
                <a:tc>
                  <a:txBody>
                    <a:bodyPr/>
                    <a:lstStyle/>
                    <a:p>
                      <a:pPr algn="ctr"/>
                      <a:r>
                        <a:rPr sz="3600" b="1" i="0" dirty="0">
                          <a:solidFill>
                            <a:srgbClr val="000000"/>
                          </a:solidFill>
                          <a:latin typeface="Avenir Next Medium"/>
                        </a:rPr>
                        <a:t>926 </a:t>
                      </a:r>
                      <a:r>
                        <a:rPr sz="3600" b="1" i="0" dirty="0" err="1">
                          <a:solidFill>
                            <a:srgbClr val="000000"/>
                          </a:solidFill>
                          <a:latin typeface="Avenir Next Medium"/>
                        </a:rPr>
                        <a:t>ms</a:t>
                      </a:r>
                      <a:endParaRPr sz="3600" b="1" i="0" dirty="0">
                        <a:solidFill>
                          <a:srgbClr val="000000"/>
                        </a:solidFill>
                        <a:latin typeface="Avenir Next Medium"/>
                      </a:endParaRPr>
                    </a:p>
                  </a:txBody>
                  <a:tcPr marL="70000" marR="70000" anchor="ctr">
                    <a:solidFill>
                      <a:srgbClr val="F2F2F2"/>
                    </a:solidFill>
                  </a:tcPr>
                </a:tc>
                <a:tc>
                  <a:txBody>
                    <a:bodyPr/>
                    <a:lstStyle/>
                    <a:p>
                      <a:pPr algn="ctr"/>
                      <a:r>
                        <a:rPr sz="3600" b="1" i="0" dirty="0">
                          <a:solidFill>
                            <a:srgbClr val="000000"/>
                          </a:solidFill>
                          <a:latin typeface="Avenir Next Medium"/>
                        </a:rPr>
                        <a:t>2.1 s</a:t>
                      </a:r>
                    </a:p>
                  </a:txBody>
                  <a:tcPr marL="70000" marR="70000" anchor="ctr">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4588764"/>
            <a:ext cx="21457920" cy="822960"/>
          </a:xfrm>
          <a:prstGeom prst="rect">
            <a:avLst/>
          </a:prstGeom>
          <a:noFill/>
        </p:spPr>
        <p:txBody>
          <a:bodyPr wrap="square" lIns="0" tIns="0" rIns="0" bIns="0" anchor="t">
            <a:spAutoFit/>
          </a:bodyPr>
          <a:lstStyle/>
          <a:p>
            <a:pPr algn="ctr"/>
            <a:r>
              <a:rPr sz="3800" b="1" i="0">
                <a:solidFill>
                  <a:srgbClr val="2E74B5"/>
                </a:solidFill>
                <a:latin typeface="AvenirNext-DemiBold"/>
              </a:rPr>
              <a:t>PART 2</a:t>
            </a:r>
          </a:p>
        </p:txBody>
      </p:sp>
      <p:sp>
        <p:nvSpPr>
          <p:cNvPr id="3" name="TextBox 2"/>
          <p:cNvSpPr txBox="1"/>
          <p:nvPr/>
        </p:nvSpPr>
        <p:spPr>
          <a:xfrm>
            <a:off x="1463040" y="5795772"/>
            <a:ext cx="21457920" cy="1082040"/>
          </a:xfrm>
          <a:prstGeom prst="rect">
            <a:avLst/>
          </a:prstGeom>
          <a:noFill/>
        </p:spPr>
        <p:txBody>
          <a:bodyPr wrap="square" lIns="0" tIns="0" rIns="0" bIns="0" anchor="t">
            <a:spAutoFit/>
          </a:bodyPr>
          <a:lstStyle/>
          <a:p>
            <a:pPr algn="ctr"/>
            <a:r>
              <a:rPr sz="6200" b="1" i="0">
                <a:solidFill>
                  <a:srgbClr val="000000"/>
                </a:solidFill>
                <a:latin typeface="AvenirNext-DemiBold"/>
              </a:rPr>
              <a:t>Micro-Doppler maps</a:t>
            </a:r>
          </a:p>
        </p:txBody>
      </p:sp>
      <p:sp>
        <p:nvSpPr>
          <p:cNvPr id="4" name="TextBox 3"/>
          <p:cNvSpPr txBox="1"/>
          <p:nvPr/>
        </p:nvSpPr>
        <p:spPr>
          <a:xfrm>
            <a:off x="2194560" y="7261860"/>
            <a:ext cx="19994880" cy="832104"/>
          </a:xfrm>
          <a:prstGeom prst="rect">
            <a:avLst/>
          </a:prstGeom>
          <a:noFill/>
        </p:spPr>
        <p:txBody>
          <a:bodyPr wrap="square" lIns="0" tIns="0" rIns="0" bIns="0" anchor="t">
            <a:spAutoFit/>
          </a:bodyPr>
          <a:lstStyle/>
          <a:p>
            <a:pPr algn="ctr"/>
            <a:r>
              <a:rPr sz="4200" b="0" i="0">
                <a:solidFill>
                  <a:srgbClr val="5E5E5E"/>
                </a:solidFill>
                <a:latin typeface="Avenir Next Medium"/>
              </a:rPr>
              <a:t>Pictures first</a:t>
            </a:r>
          </a:p>
        </p:txBody>
      </p:sp>
      <p:sp>
        <p:nvSpPr>
          <p:cNvPr id="5" name="TextBox 4"/>
          <p:cNvSpPr txBox="1"/>
          <p:nvPr/>
        </p:nvSpPr>
        <p:spPr>
          <a:xfrm>
            <a:off x="2438400" y="8478012"/>
            <a:ext cx="19507200" cy="649224"/>
          </a:xfrm>
          <a:prstGeom prst="rect">
            <a:avLst/>
          </a:prstGeom>
          <a:noFill/>
        </p:spPr>
        <p:txBody>
          <a:bodyPr wrap="square" lIns="0" tIns="0" rIns="0" bIns="0" anchor="t">
            <a:spAutoFit/>
          </a:bodyPr>
          <a:lstStyle/>
          <a:p>
            <a:pPr algn="ctr"/>
            <a:r>
              <a:rPr sz="3000" b="1" i="0">
                <a:solidFill>
                  <a:srgbClr val="26448A"/>
                </a:solidFill>
                <a:latin typeface="AvenirNext-DemiBold"/>
              </a:rPr>
              <a:t>Seven angles  ·  Two puzzles  ·  Band energy  ·  Ours vs physics off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All seven angles</a:t>
            </a:r>
          </a:p>
        </p:txBody>
      </p:sp>
      <p:pic>
        <p:nvPicPr>
          <p:cNvPr id="4" name="Picture 3" descr="deck_maps_full.png"/>
          <p:cNvPicPr>
            <a:picLocks noChangeAspect="1"/>
          </p:cNvPicPr>
          <p:nvPr/>
        </p:nvPicPr>
        <p:blipFill>
          <a:blip r:embed="rId3"/>
          <a:stretch>
            <a:fillRect/>
          </a:stretch>
        </p:blipFill>
        <p:spPr>
          <a:xfrm>
            <a:off x="719328" y="3174726"/>
            <a:ext cx="22945344" cy="79426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Mid angles</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a:solidFill>
                  <a:srgbClr val="000000"/>
                </a:solidFill>
                <a:latin typeface="AvenirNext-DemiBold"/>
              </a:rPr>
              <a:t>Ours and physics off keep the same beat, and </a:t>
            </a:r>
            <a:r>
              <a:rPr sz="3700" b="1" i="0">
                <a:solidFill>
                  <a:srgbClr val="E22146"/>
                </a:solidFill>
                <a:latin typeface="AvenirNext-DemiBold"/>
              </a:rPr>
              <a:t>physics on smears it</a:t>
            </a:r>
          </a:p>
        </p:txBody>
      </p:sp>
      <p:pic>
        <p:nvPicPr>
          <p:cNvPr id="5" name="Picture 4" descr="deck_maps_pair3060.png"/>
          <p:cNvPicPr>
            <a:picLocks noChangeAspect="1"/>
          </p:cNvPicPr>
          <p:nvPr/>
        </p:nvPicPr>
        <p:blipFill>
          <a:blip r:embed="rId3"/>
          <a:stretch>
            <a:fillRect/>
          </a:stretch>
        </p:blipFill>
        <p:spPr>
          <a:xfrm>
            <a:off x="719328" y="3795434"/>
            <a:ext cx="22945344" cy="76250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Two puzzles</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dirty="0">
                <a:solidFill>
                  <a:srgbClr val="000000"/>
                </a:solidFill>
                <a:latin typeface="AvenirNext-DemiBold"/>
              </a:rPr>
              <a:t>The two ends of the sweep, where the maps run </a:t>
            </a:r>
            <a:r>
              <a:rPr sz="3700" b="1" i="0" dirty="0">
                <a:solidFill>
                  <a:srgbClr val="E22146"/>
                </a:solidFill>
                <a:latin typeface="AvenirNext-DemiBold"/>
              </a:rPr>
              <a:t>against physical expectation</a:t>
            </a:r>
          </a:p>
        </p:txBody>
      </p:sp>
      <p:pic>
        <p:nvPicPr>
          <p:cNvPr id="5" name="Picture 4" descr="deck_maps_pair0090.png"/>
          <p:cNvPicPr>
            <a:picLocks noChangeAspect="1"/>
          </p:cNvPicPr>
          <p:nvPr/>
        </p:nvPicPr>
        <p:blipFill>
          <a:blip r:embed="rId3"/>
          <a:stretch>
            <a:fillRect/>
          </a:stretch>
        </p:blipFill>
        <p:spPr>
          <a:xfrm>
            <a:off x="719328" y="3795434"/>
            <a:ext cx="22945344" cy="76250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Blade band energy : -30°, -60°</a:t>
            </a:r>
          </a:p>
        </p:txBody>
      </p:sp>
      <p:pic>
        <p:nvPicPr>
          <p:cNvPr id="4" name="Picture 3" descr="deck_be_wide_306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Blade band energy : 0°, -90°</a:t>
            </a:r>
          </a:p>
        </p:txBody>
      </p:sp>
      <p:pic>
        <p:nvPicPr>
          <p:cNvPr id="4" name="Picture 3" descr="deck_be_wide_009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Zoom : -30°, -60°</a:t>
            </a:r>
          </a:p>
        </p:txBody>
      </p:sp>
      <p:pic>
        <p:nvPicPr>
          <p:cNvPr id="4" name="Picture 3" descr="deck_be_zoom_306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Zoom : 0°, -90°</a:t>
            </a:r>
          </a:p>
        </p:txBody>
      </p:sp>
      <p:pic>
        <p:nvPicPr>
          <p:cNvPr id="4" name="Picture 3" descr="deck_be_zoom_009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Two arms : -30°, -60°</a:t>
            </a:r>
          </a:p>
        </p:txBody>
      </p:sp>
      <p:pic>
        <p:nvPicPr>
          <p:cNvPr id="4" name="Picture 3" descr="deck_be2_wide_306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Two arms : 0°, -90°</a:t>
            </a:r>
          </a:p>
        </p:txBody>
      </p:sp>
      <p:pic>
        <p:nvPicPr>
          <p:cNvPr id="4" name="Picture 3" descr="deck_be2_wide_009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Two arms zoom : -30°, -60°</a:t>
            </a:r>
          </a:p>
        </p:txBody>
      </p:sp>
      <p:pic>
        <p:nvPicPr>
          <p:cNvPr id="4" name="Picture 3" descr="deck_be2_zoom_306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Two arms zoom : 0°, -90°</a:t>
            </a:r>
          </a:p>
        </p:txBody>
      </p:sp>
      <p:pic>
        <p:nvPicPr>
          <p:cNvPr id="4" name="Picture 3" descr="deck_be2_zoom_0090.png"/>
          <p:cNvPicPr>
            <a:picLocks noChangeAspect="1"/>
          </p:cNvPicPr>
          <p:nvPr/>
        </p:nvPicPr>
        <p:blipFill>
          <a:blip r:embed="rId3"/>
          <a:stretch>
            <a:fillRect/>
          </a:stretch>
        </p:blipFill>
        <p:spPr>
          <a:xfrm>
            <a:off x="719328" y="2998223"/>
            <a:ext cx="22945344" cy="829562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5109972"/>
            <a:ext cx="21457920" cy="822960"/>
          </a:xfrm>
          <a:prstGeom prst="rect">
            <a:avLst/>
          </a:prstGeom>
          <a:noFill/>
        </p:spPr>
        <p:txBody>
          <a:bodyPr wrap="square" lIns="0" tIns="0" rIns="0" bIns="0" anchor="t">
            <a:spAutoFit/>
          </a:bodyPr>
          <a:lstStyle/>
          <a:p>
            <a:pPr algn="ctr"/>
            <a:r>
              <a:rPr sz="3800" b="1" i="0">
                <a:solidFill>
                  <a:srgbClr val="2E74B5"/>
                </a:solidFill>
                <a:latin typeface="AvenirNext-DemiBold"/>
              </a:rPr>
              <a:t>PART 3</a:t>
            </a:r>
          </a:p>
        </p:txBody>
      </p:sp>
      <p:sp>
        <p:nvSpPr>
          <p:cNvPr id="3" name="TextBox 2"/>
          <p:cNvSpPr txBox="1"/>
          <p:nvPr/>
        </p:nvSpPr>
        <p:spPr>
          <a:xfrm>
            <a:off x="1463040" y="6316980"/>
            <a:ext cx="21457920" cy="1082040"/>
          </a:xfrm>
          <a:prstGeom prst="rect">
            <a:avLst/>
          </a:prstGeom>
          <a:noFill/>
        </p:spPr>
        <p:txBody>
          <a:bodyPr wrap="square" lIns="0" tIns="0" rIns="0" bIns="0" anchor="t">
            <a:spAutoFit/>
          </a:bodyPr>
          <a:lstStyle/>
          <a:p>
            <a:pPr algn="ctr"/>
            <a:r>
              <a:rPr sz="6200" b="1" i="0">
                <a:solidFill>
                  <a:srgbClr val="000000"/>
                </a:solidFill>
                <a:latin typeface="AvenirNext-DemiBold"/>
              </a:rPr>
              <a:t>Propellers only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drowned blades</a:t>
            </a:r>
          </a:p>
        </p:txBody>
      </p:sp>
      <p:sp>
        <p:nvSpPr>
          <p:cNvPr id="4" name="TextBox 3"/>
          <p:cNvSpPr txBox="1"/>
          <p:nvPr/>
        </p:nvSpPr>
        <p:spPr>
          <a:xfrm>
            <a:off x="760781" y="2197913"/>
            <a:ext cx="22599091" cy="1292352"/>
          </a:xfrm>
          <a:prstGeom prst="rect">
            <a:avLst/>
          </a:prstGeom>
          <a:noFill/>
        </p:spPr>
        <p:txBody>
          <a:bodyPr wrap="square" lIns="0" tIns="0" rIns="0" bIns="0" anchor="t">
            <a:spAutoFit/>
          </a:bodyPr>
          <a:lstStyle/>
          <a:p>
            <a:pPr algn="l"/>
            <a:r>
              <a:rPr sz="3700" b="1" i="0" dirty="0">
                <a:solidFill>
                  <a:srgbClr val="000000"/>
                </a:solidFill>
                <a:latin typeface="AvenirNext-DemiBold"/>
              </a:rPr>
              <a:t>Splitting the scene answers the first puzzle, since the blades are </a:t>
            </a:r>
            <a:r>
              <a:rPr sz="3700" b="1" i="0" dirty="0">
                <a:solidFill>
                  <a:srgbClr val="E22146"/>
                </a:solidFill>
                <a:latin typeface="AvenirNext-DemiBold"/>
              </a:rPr>
              <a:t>not missing but buried</a:t>
            </a:r>
          </a:p>
        </p:txBody>
      </p:sp>
      <p:pic>
        <p:nvPicPr>
          <p:cNvPr id="5" name="Picture 4" descr="deck_maps_mech0.png"/>
          <p:cNvPicPr>
            <a:picLocks noChangeAspect="1"/>
          </p:cNvPicPr>
          <p:nvPr/>
        </p:nvPicPr>
        <p:blipFill>
          <a:blip r:embed="rId3"/>
          <a:stretch>
            <a:fillRect/>
          </a:stretch>
        </p:blipFill>
        <p:spPr>
          <a:xfrm>
            <a:off x="118797" y="4337707"/>
            <a:ext cx="24265203" cy="588802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Propellers only : all angles</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a:solidFill>
                  <a:srgbClr val="000000"/>
                </a:solidFill>
                <a:latin typeface="AvenirNext-DemiBold"/>
              </a:rPr>
              <a:t>The same propellers only scene swept through </a:t>
            </a:r>
            <a:r>
              <a:rPr sz="3700" b="1" i="0">
                <a:solidFill>
                  <a:srgbClr val="E22146"/>
                </a:solidFill>
                <a:latin typeface="AvenirNext-DemiBold"/>
              </a:rPr>
              <a:t>all four viewing angles</a:t>
            </a:r>
          </a:p>
        </p:txBody>
      </p:sp>
      <p:pic>
        <p:nvPicPr>
          <p:cNvPr id="5" name="Picture 4" descr="deck_maps_props_grid.png"/>
          <p:cNvPicPr>
            <a:picLocks noChangeAspect="1"/>
          </p:cNvPicPr>
          <p:nvPr/>
        </p:nvPicPr>
        <p:blipFill>
          <a:blip r:embed="rId3"/>
          <a:stretch>
            <a:fillRect/>
          </a:stretch>
        </p:blipFill>
        <p:spPr>
          <a:xfrm>
            <a:off x="1163541" y="3177123"/>
            <a:ext cx="22056918" cy="916210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Propellers only : band energy at 0°</a:t>
            </a:r>
          </a:p>
        </p:txBody>
      </p:sp>
      <p:pic>
        <p:nvPicPr>
          <p:cNvPr id="4" name="Picture 3" descr="deck_be_props3.png"/>
          <p:cNvPicPr>
            <a:picLocks noChangeAspect="1"/>
          </p:cNvPicPr>
          <p:nvPr/>
        </p:nvPicPr>
        <p:blipFill>
          <a:blip r:embed="rId3"/>
          <a:stretch>
            <a:fillRect/>
          </a:stretch>
        </p:blipFill>
        <p:spPr>
          <a:xfrm>
            <a:off x="0" y="2934816"/>
            <a:ext cx="24263579" cy="839893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Future work</a:t>
            </a:r>
          </a:p>
        </p:txBody>
      </p:sp>
      <p:sp>
        <p:nvSpPr>
          <p:cNvPr id="5" name="Rectangle 4"/>
          <p:cNvSpPr/>
          <p:nvPr/>
        </p:nvSpPr>
        <p:spPr>
          <a:xfrm>
            <a:off x="719328" y="4456682"/>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TextBox 5"/>
          <p:cNvSpPr txBox="1"/>
          <p:nvPr/>
        </p:nvSpPr>
        <p:spPr>
          <a:xfrm>
            <a:off x="1255776" y="4011625"/>
            <a:ext cx="22213824" cy="2781605"/>
          </a:xfrm>
          <a:prstGeom prst="rect">
            <a:avLst/>
          </a:prstGeom>
          <a:noFill/>
        </p:spPr>
        <p:txBody>
          <a:bodyPr wrap="square" lIns="0" tIns="0" rIns="0" bIns="0" anchor="ctr">
            <a:spAutoFit/>
          </a:bodyPr>
          <a:lstStyle/>
          <a:p>
            <a:pPr algn="l"/>
            <a:r>
              <a:rPr sz="3300" b="0" i="0">
                <a:solidFill>
                  <a:srgbClr val="000000"/>
                </a:solidFill>
                <a:latin typeface="Avenir Next Medium"/>
              </a:rPr>
              <a:t>Close the bounce depth axis in the physics switch grid, where some settings still lift the level at three bounces</a:t>
            </a:r>
          </a:p>
        </p:txBody>
      </p:sp>
      <p:sp>
        <p:nvSpPr>
          <p:cNvPr id="7" name="Rectangle 6"/>
          <p:cNvSpPr/>
          <p:nvPr/>
        </p:nvSpPr>
        <p:spPr>
          <a:xfrm>
            <a:off x="719328" y="7640550"/>
            <a:ext cx="121920" cy="2085490"/>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8" name="TextBox 7"/>
          <p:cNvSpPr txBox="1"/>
          <p:nvPr/>
        </p:nvSpPr>
        <p:spPr>
          <a:xfrm>
            <a:off x="1255776" y="7149846"/>
            <a:ext cx="22213824" cy="3066898"/>
          </a:xfrm>
          <a:prstGeom prst="rect">
            <a:avLst/>
          </a:prstGeom>
          <a:noFill/>
        </p:spPr>
        <p:txBody>
          <a:bodyPr wrap="square" lIns="0" tIns="0" rIns="0" bIns="0" anchor="ctr">
            <a:spAutoFit/>
          </a:bodyPr>
          <a:lstStyle/>
          <a:p>
            <a:pPr algn="l"/>
            <a:r>
              <a:rPr sz="3600" b="1" i="0">
                <a:solidFill>
                  <a:srgbClr val="E22146"/>
                </a:solidFill>
                <a:latin typeface="AvenirNext-DemiBold"/>
              </a:rPr>
              <a:t>Drive the scene with a real flight log and add receiver noise, so the maps face maneuver and noise at once</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1" name="TextBox 10"/>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Understanding the PathSolver behaviour comes first, and every later step builds on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Propellers only : band energy at -90°</a:t>
            </a:r>
          </a:p>
        </p:txBody>
      </p:sp>
      <p:pic>
        <p:nvPicPr>
          <p:cNvPr id="4" name="Picture 3" descr="deck_be_props3.png"/>
          <p:cNvPicPr>
            <a:picLocks noChangeAspect="1"/>
          </p:cNvPicPr>
          <p:nvPr/>
        </p:nvPicPr>
        <p:blipFill>
          <a:blip r:embed="rId2"/>
          <a:stretch>
            <a:fillRect/>
          </a:stretch>
        </p:blipFill>
        <p:spPr>
          <a:xfrm>
            <a:off x="0" y="2934816"/>
            <a:ext cx="24263579" cy="8398931"/>
          </a:xfrm>
          <a:prstGeom prst="rect">
            <a:avLst/>
          </a:prstGeom>
        </p:spPr>
      </p:pic>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29487</TotalTime>
  <Words>1583</Words>
  <Application>Microsoft Macintosh PowerPoint</Application>
  <PresentationFormat>사용자 지정</PresentationFormat>
  <Paragraphs>185</Paragraphs>
  <Slides>26</Slides>
  <Notes>26</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26</vt:i4>
      </vt:variant>
    </vt:vector>
  </HeadingPairs>
  <TitlesOfParts>
    <vt:vector size="37" baseType="lpstr">
      <vt:lpstr>Canela Bold</vt:lpstr>
      <vt:lpstr>Canela Deck Regular</vt:lpstr>
      <vt:lpstr>Canela Regular</vt:lpstr>
      <vt:lpstr>Arial</vt:lpstr>
      <vt:lpstr>Avenir Next Medium</vt:lpstr>
      <vt:lpstr>Avenir Next Regular</vt:lpstr>
      <vt:lpstr>AvenirNext-DemiBold</vt:lpstr>
      <vt:lpstr>Cambria Math</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397</cp:revision>
  <dcterms:modified xsi:type="dcterms:W3CDTF">2026-08-17T17:57:35Z</dcterms:modified>
</cp:coreProperties>
</file>