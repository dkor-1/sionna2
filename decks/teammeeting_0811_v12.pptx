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 One comparison today, nothing else.</a:t>
            </a:r>
          </a:p>
          <a:p/>
          <a:p>
            <a:r>
              <a:t>— 한국어 해설 —</a:t>
            </a:r>
          </a:p>
          <a:p>
            <a:r>
              <a:t>오늘은 비교 하나만 합니다. 그 밖의 것은 넣지 않았습니다.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comparison today. Sionna PathSolver against our own kernel, which is shooting bounce ray plus physical optics. Same drone, same pose, same slow time grid, and the only thing that changes is how the echo is formed.</a:t>
            </a:r>
          </a:p>
          <a:p>
            <a:r>
              <a:t>Everything else I have been working on is out of scope for this slide deck. No RCS anchoring, no illuminator choice, no flight logs.</a:t>
            </a:r>
          </a:p>
          <a:p>
            <a:r>
              <a:t>I will show you the maps and then I would like to hear how you read them.</a:t>
            </a:r>
          </a:p>
          <a:p/>
          <a:p>
            <a:r>
              <a:t>— 한국어 해설 —</a:t>
            </a:r>
          </a:p>
          <a:p>
            <a:r>
              <a:t>오늘은 비교 하나입니다. Sionna PathSolver 와 우리 커널(SBR + PO)입니다. 같은 기체, 같은 자세, 같은 슬로타임 격자이고 **바뀌는 것은 산란을 어떻게 계산하는가 하나**입니다.</a:t>
            </a:r>
          </a:p>
          <a:p>
            <a:r>
              <a:t>나머지(RCS 앵커·조명원·비행로그·바이스태틱)는 이번 덱 범위 밖입니다.</a:t>
            </a:r>
          </a:p>
          <a:p>
            <a:r>
              <a:t>⭐그리고 이번 덱은 **제가 결론을 내리는 자리가 아닙니다.** 맵을 보여 드리고 **어떻게 읽어야 하는지 여쭙는 것**이 목적입니다. 마지막 두 장이 질문입니다.</a:t>
            </a:r>
          </a:p>
          <a:p>
            <a:r>
              <a:t>(참고: 이번 주 수치 감사에서 12건을 «검증 부족» 으로 버렸고, 버린 값은 이 덱 어디에도 안 씁니다.)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Everything on the right is decided by the aircraft, not by us.</a:t>
            </a:r>
          </a:p>
          <a:p>
            <a:r>
              <a:t>The top block is what the airframe is. The middle block follows from it by arithmetic alone, and those three numbers are what I look for in every map. None of them is fitted to data.</a:t>
            </a:r>
          </a:p>
          <a:p>
            <a:r>
              <a:t>The bottom block is only the viewpoint. The radar looks up at the belly, which is the view a ground radar actually gets.</a:t>
            </a:r>
          </a:p>
          <a:p>
            <a:r>
              <a:t>One caveat that is not on the list. The rotor speed spread is a declared value out of a simulator, not a measurement, and real flight logs are wider.</a:t>
            </a:r>
          </a:p>
          <a:p/>
          <a:p>
            <a:r>
              <a:t>— 한국어 해설 —</a:t>
            </a:r>
          </a:p>
          <a:p>
            <a:r>
              <a:t>오른쪽은 전부 **기체가 정하는 값**이지 우리가 고른 값이 아닙니다.</a:t>
            </a:r>
          </a:p>
          <a:p>
            <a:r>
              <a:t>위 블록이 기체 스펙이고, 가운데 블록은 거기서 **산수로만** 따라 나옵니다. ⭐**이 세 숫자가 제가 모든 맵에서 찾는 것**이고, 자료에 맞춘 값이 하나도 없습니다.</a:t>
            </a:r>
          </a:p>
          <a:p>
            <a:r>
              <a:t>아래 블록은 시점입니다 — 레이더가 **배 쪽을 올려다봅니다.** 지상 레이더가 실제로 얻는 시야입니다.</a:t>
            </a:r>
          </a:p>
          <a:p>
            <a:r>
              <a:t>⚠표에 없는 단서 하나: **로터 회전수 산포는 시뮬 유래 선언값**이고 실기체 로그는 더 넓습니다.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the path solver. Rays leave the radar over the whole sphere and only a few land on the drone, because the target covers a very small angle. That fraction falls as range squared.</a:t>
            </a:r>
          </a:p>
          <a:p>
            <a:r>
              <a:t>Right, our kernel. The grid sits on the target itself, the rays come in parallel, and each one stops at the first surface it meets. Whatever is behind something else is never reached, so occlusion costs nothing.</a:t>
            </a:r>
          </a:p>
          <a:p>
            <a:r>
              <a:t>That is the whole difference. Everything after this point is identical.</a:t>
            </a:r>
          </a:p>
          <a:p/>
          <a:p>
            <a:r>
              <a:t>— 한국어 해설 —</a:t>
            </a:r>
          </a:p>
          <a:p>
            <a:r>
              <a:t>왼쪽이 **path solver** 입니다. 광선이 레이더에서 **온 사방으로** 나가고, 드론에 닿는 건 극히 일부입니다 — 표적이 깔고 앉는 각이 아주 작기 때문입니다. 그 비율이 거리 제곱으로 떨어집니다.</a:t>
            </a:r>
          </a:p>
          <a:p>
            <a:r>
              <a:t>오른쪽이 **우리 커널** 입니다. 격자가 **표적에 붙어** 있고 광선이 나란히 들어와 **처음 만난 면에서 멈춥니다.** 남의 뒤에 숨은 면은 애초에 안 닿으니 **가림이 공짜**입니다.</a:t>
            </a:r>
          </a:p>
          <a:p>
            <a:r>
              <a:t>⭐차이는 이게 전부입니다. **이 다음 단계는 두 엔진이 완전히 같습니다.**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engines, and they work in opposite directions.</a:t>
            </a:r>
          </a:p>
          <a:p>
            <a:r>
              <a:t>The path solver shoots a million rays from the radar over the whole sphere, keeps the few that come back, and multiplies a reflection coefficient along each one. There is no integral over a surface anywhere in it.</a:t>
            </a:r>
          </a:p>
          <a:p>
            <a:r>
              <a:t>Our kernel does the reverse. It puts a grid on the target, lights it with a plane wave, and adds up every lit surface element with its own phase. That is the physical optics integral.</a:t>
            </a:r>
          </a:p>
          <a:p>
            <a:r>
              <a:t>The bottom line is the one that matters. Neither of them has a Doppler formula. We re solve the whole scene at every rotor pose, and the motion lives in how the phase changes from one pose to the next.</a:t>
            </a:r>
          </a:p>
          <a:p>
            <a:r>
              <a:t>If asked why not use the Sionna Doppler field, it allows one velocity vector per object, and a spinning propeller is not one velocity.</a:t>
            </a:r>
          </a:p>
          <a:p/>
          <a:p>
            <a:r>
              <a:t>— 한국어 해설 —</a:t>
            </a:r>
          </a:p>
          <a:p>
            <a:r>
              <a:t>엔진 둘인데 **방향이 반대**입니다.</a:t>
            </a:r>
          </a:p>
          <a:p>
            <a:r>
              <a:t>**path solver** 는 레이더에서 광선 100만 개를 사방으로 쏘고, 돌아온 몇 개만 남겨 반사계수를 곱해 나갑니다. **표면을 적분하는 단계가 없습니다.**</a:t>
            </a:r>
          </a:p>
          <a:p>
            <a:r>
              <a:t>**우리 커널** 은 거꾸로입니다. 격자를 **표적에 붙이고** 평면파로 비춘 뒤, 빛을 받은 면요소를 **위상과 함께 전부 더합니다.** 그게 물리광학 적분입니다.</a:t>
            </a:r>
          </a:p>
          <a:p>
            <a:r>
              <a:t>⭐**맨 아랫줄이 핵심입니다 — 둘 다 도플러 공식을 안 씁니다.** 로터 자세마다 씬을 통째로 다시 풀고, 움직임은 **자세 사이 위상 변화**에 들어 있습니다.</a:t>
            </a:r>
          </a:p>
          <a:p>
            <a:r>
              <a:t>(질문 나오면) Sionna 도플러 필드는 객체당 속도 **한 벡터**만 받습니다. 도는 프로펠러는 한 벡터가 아니라서 못 씁니다.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maps, same 60 millisecond window, same rotor speeds. The vertical arches are blades sweeping past.</a:t>
            </a:r>
          </a:p>
          <a:p>
            <a:r>
              <a:t>The panel below is the measurement. I take the energy in the blade tip band, watch it against time, and find its strongest line. Kinematics predicts it, and it was never fitted.</a:t>
            </a:r>
          </a:p>
          <a:p>
            <a:r>
              <a:t>Both engines land on that prediction.</a:t>
            </a:r>
          </a:p>
          <a:p>
            <a:r>
              <a:t>One trap. The map has hertz going up and the panel below has hertz going across, and they are not the same thing. The one below is a rate of blinking.</a:t>
            </a:r>
          </a:p>
          <a:p>
            <a:r>
              <a:t>And one honest limit. This is the minimum a kernel has to pass, not a full validation. Level is not compared here, because the two arms carry different quantities.</a:t>
            </a:r>
          </a:p>
          <a:p>
            <a:r>
              <a:t>If asked why our number moved since last week, the metric did not change. Our ray grid used to be rebuilt at every pose and is now held still, which removed a false floor.</a:t>
            </a:r>
          </a:p>
          <a:p/>
          <a:p>
            <a:r>
              <a:t>— 한국어 해설 —</a:t>
            </a:r>
          </a:p>
          <a:p>
            <a:r>
              <a:t>맵 두 장, 같은 60 ms 창, 같은 회전수입니다. 세로 아치가 블레이드가 시선을 지나는 순간입니다.</a:t>
            </a:r>
          </a:p>
          <a:p>
            <a:r>
              <a:t>아래 판이 **측정**입니다. 날개끝 띠의 에너지를 시간축으로 보고 최강선을 찾습니다. 운동학이 미리 말한 값이고 **자료에 맞춘 적이 없습니다.**</a:t>
            </a:r>
          </a:p>
          <a:p>
            <a:r>
              <a:t>⭐**두 엔진이 그 예측에 같이 꽂힙니다.**</a:t>
            </a:r>
          </a:p>
          <a:p>
            <a:r>
              <a:t>⚠**함정 하나** — 위 맵은 세로가 Hz, 아래 판은 가로가 Hz 인데 **같은 게 아닙니다.** 아래는 «깜빡이는 속도» 입니다.</a:t>
            </a:r>
          </a:p>
          <a:p>
            <a:r>
              <a:t>⚠**한계 하나** — 이건 커널이 **반드시 통과해야 할 최소 조건**이지 검증 완료가 아닙니다. 레벨은 비교 안 합니다(두 팔의 단위가 다릅니다).</a:t>
            </a:r>
          </a:p>
          <a:p>
            <a:r>
              <a:t>(질문 나오면) 지난주와 우리 숫자가 다른 이유는 **지표가 아니라 격자**입니다. 자세마다 다시 만들던 격자를 고정했고, 그래서 가짜 바닥이 사라졌습니다.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Left, two ranges. Only the path solver column was solved again. Our column is the same array twice, because a plane wave anchored on the target carries no range at all.</a:t>
            </a:r>
          </a:p>
          <a:p>
            <a:r>
              <a:t>Right, and this one corrected me. I had written that forty metres was a structural limit. It is not. Holding the poses fixed and raising only the ray count, the empty poses go to zero and the path count comes back to what we get at three metres.</a:t>
            </a:r>
          </a:p>
          <a:p>
            <a:r>
              <a:t>So the honest word is price, not capability. The ray count grows as range squared, because that is how the target shrinks in solid angle.</a:t>
            </a:r>
          </a:p>
          <a:p>
            <a:r>
              <a:t>One caveat. Our repeated column is a restatement of an assumption, not a result. Being range free is cheap, and it also means we cannot see any range dependent effect at all.</a:t>
            </a:r>
          </a:p>
          <a:p/>
          <a:p>
            <a:r>
              <a:t>— 한국어 해설 —</a:t>
            </a:r>
          </a:p>
          <a:p>
            <a:r>
              <a:t>왼쪽, 거리 두 개입니다. **path solver 열만 다시 풀었습니다.** 우리 열은 같은 배열이 두 번인데, 표적에 붙인 평면파에는 **거리가 아예 안 들어가기** 때문입니다.</a:t>
            </a:r>
          </a:p>
          <a:p>
            <a:r>
              <a:t>오른쪽이 **저를 정정한 판**입니다. 저는 «40 m 는 구조적 한계» 라고 적었었는데 **아니었습니다.** 자세를 고정하고 광선 수만 올리니 빈 자세가 0 이 되고 경로 수가 3 m 와 같아집니다.</a:t>
            </a:r>
          </a:p>
          <a:p>
            <a:r>
              <a:t>⇒ 정직한 말은 «못 한다» 가 아니라 **«비싸다»** 입니다. 광선 수가 거리 제곱으로 느는 건 표적이 깔고 앉는 각이 그만큼 작아지기 때문입니다.</a:t>
            </a:r>
          </a:p>
          <a:p>
            <a:r>
              <a:t>⚠**단서 하나** — 우리 열의 반복은 성과가 아니라 **가정의 재진술**입니다. 거리 무관이라 싸지만, 동시에 **거리 의존 효과를 원리적으로 못 봅니다.**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real questions.</a:t>
            </a:r>
          </a:p>
          <a:p>
            <a:r>
              <a:t>First. The two engines agree on the blade rhythm. Is that enough to call a kernel validated. I think it is too weak a test.</a:t>
            </a:r>
          </a:p>
          <a:p>
            <a:r>
              <a:t>Second. Our ray grid was rebuilt at every rotor pose, and that motion alone printed energy no blade produced. Freezing it removes about ten decibels. How should I report a thing like that. It reads as my mistake and also as a result about modelling rotating targets.</a:t>
            </a:r>
          </a:p>
          <a:p>
            <a:r>
              <a:t>Third. The two arms return different physical quantities, so a level comparison is a subtraction of different units. What should I compare instead.</a:t>
            </a:r>
          </a:p>
          <a:p/>
          <a:p>
            <a:r>
              <a:t>— 한국어 해설 —</a:t>
            </a:r>
          </a:p>
          <a:p>
            <a:r>
              <a:t>질문 셋, 전부 진짜 질문입니다.</a:t>
            </a:r>
          </a:p>
          <a:p>
            <a:r>
              <a:t>① 두 엔진이 블레이드 박자를 맞춥니다. **그것만으로 커널이 검증됐다고 할 수 있습니까.** 저는 너무 약한 시험이라고 봅니다.</a:t>
            </a:r>
          </a:p>
          <a:p>
            <a:r>
              <a:t>② 우리 광선 격자가 **로터 자세마다 다시 만들어지고** 있었고, 그 움직임만으로 블레이드가 안 만든 에너지가 찍혔습니다. 고정하니 약 10 dB 가 사라집니다. ⭐**이런 걸 어떻게 보고해야 합니까.** 제 실수로도 읽히고 «도는 표적은 이렇게 모델링해야 한다» 는 결과로도 읽힙니다.</a:t>
            </a:r>
          </a:p>
          <a:p>
            <a:r>
              <a:t>③ 두 팔이 내는 **물리량이 다릅니다**(수신 전력장 ↔ 산란 진폭). 레벨 비교가 «다른 단위의 뺄셈» 이 됩니다. **대신 뭘 비교해야 합니까.**</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of these I can start this week.</a:t>
            </a:r>
          </a:p>
          <a:p>
            <a:r>
              <a:t>One. The frozen grid is in the kernel and in this deck, but the report volumes still use the old convention, so the project is speaking with two numbers. That has to be closed first.</a:t>
            </a:r>
          </a:p>
          <a:p>
            <a:r>
              <a:t>Two. The classification dataset, which is the actual task. I would rather hear your answer to the second question before I spend the compute.</a:t>
            </a:r>
          </a:p>
          <a:p>
            <a:r>
              <a:t>Three is the one I cannot close here. The rotor speed spread is a declared value out of a simulator, and closing it needs telemetry off a real airframe, which is the field test.</a:t>
            </a:r>
          </a:p>
          <a:p/>
          <a:p>
            <a:r>
              <a:t>— 한국어 해설 —</a:t>
            </a:r>
          </a:p>
          <a:p>
            <a:r>
              <a:t>둘은 이번 주에 시작할 수 있습니다.</a:t>
            </a:r>
          </a:p>
          <a:p>
            <a:r>
              <a:t>① **얼린 격자를 리포트 전체에 통과**시킵니다. 지금 커널과 이 덱은 새 규약이고 리포트 권들은 옛 규약이라, **프로젝트가 두 숫자를 말하고 있습니다.** 이걸 먼저 닫아야 합니다.</a:t>
            </a:r>
          </a:p>
          <a:p>
            <a:r>
              <a:t>② **분류 데이터셋** — 이게 진짜 태스크입니다. 다만 앞 장 ②번 질문에 답을 듣고 계산을 태우고 싶습니다.</a:t>
            </a:r>
          </a:p>
          <a:p>
            <a:r>
              <a:t>③ 이건 책상에서 못 닫습니다. 로터 산포가 **시뮬 유래 선언값**이라, 닫으려면 **실기체 텔레메트리**가 필요합니다. 즉 야외 필드테스트입니다.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TODAY</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Sionna PathSolver versus SBR plus PO</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Two scattering engines, one hovering drone, the same micro Doppler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airframe sets the frequencies before any radar is involved</a:t>
            </a:r>
          </a:p>
        </p:txBody>
      </p:sp>
      <p:pic>
        <p:nvPicPr>
          <p:cNvPr id="4" name="Picture 3" descr="v12_render.png"/>
          <p:cNvPicPr>
            <a:picLocks noChangeAspect="1"/>
          </p:cNvPicPr>
          <p:nvPr/>
        </p:nvPicPr>
        <p:blipFill>
          <a:blip r:embed="rId2"/>
          <a:stretch>
            <a:fillRect/>
          </a:stretch>
        </p:blipFill>
        <p:spPr>
          <a:xfrm>
            <a:off x="719328" y="2520695"/>
            <a:ext cx="13655040" cy="9387840"/>
          </a:xfrm>
          <a:prstGeom prst="rect">
            <a:avLst/>
          </a:prstGeom>
        </p:spPr>
      </p:pic>
      <p:sp>
        <p:nvSpPr>
          <p:cNvPr id="5" name="TextBox 4"/>
          <p:cNvSpPr txBox="1"/>
          <p:nvPr/>
        </p:nvSpPr>
        <p:spPr>
          <a:xfrm>
            <a:off x="14910816" y="2221992"/>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The aircraft</a:t>
            </a:r>
          </a:p>
        </p:txBody>
      </p:sp>
      <p:sp>
        <p:nvSpPr>
          <p:cNvPr id="6" name="TextBox 5"/>
          <p:cNvSpPr txBox="1"/>
          <p:nvPr/>
        </p:nvSpPr>
        <p:spPr>
          <a:xfrm>
            <a:off x="14910816" y="3075749"/>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Model</a:t>
            </a:r>
          </a:p>
        </p:txBody>
      </p:sp>
      <p:sp>
        <p:nvSpPr>
          <p:cNvPr id="7" name="TextBox 6"/>
          <p:cNvSpPr txBox="1"/>
          <p:nvPr/>
        </p:nvSpPr>
        <p:spPr>
          <a:xfrm>
            <a:off x="18937590" y="3075749"/>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DJI Matrice 4E, hovering</a:t>
            </a:r>
          </a:p>
        </p:txBody>
      </p:sp>
      <p:sp>
        <p:nvSpPr>
          <p:cNvPr id="8" name="TextBox 7"/>
          <p:cNvSpPr txBox="1"/>
          <p:nvPr/>
        </p:nvSpPr>
        <p:spPr>
          <a:xfrm>
            <a:off x="14910816" y="381814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Rotors</a:t>
            </a:r>
          </a:p>
        </p:txBody>
      </p:sp>
      <p:sp>
        <p:nvSpPr>
          <p:cNvPr id="9" name="TextBox 8"/>
          <p:cNvSpPr txBox="1"/>
          <p:nvPr/>
        </p:nvSpPr>
        <p:spPr>
          <a:xfrm>
            <a:off x="18937590" y="381814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4 rotors, 2 blades each</a:t>
            </a:r>
          </a:p>
        </p:txBody>
      </p:sp>
      <p:sp>
        <p:nvSpPr>
          <p:cNvPr id="10" name="TextBox 9"/>
          <p:cNvSpPr txBox="1"/>
          <p:nvPr/>
        </p:nvSpPr>
        <p:spPr>
          <a:xfrm>
            <a:off x="14910816" y="45605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Propeller</a:t>
            </a:r>
          </a:p>
        </p:txBody>
      </p:sp>
      <p:sp>
        <p:nvSpPr>
          <p:cNvPr id="11" name="TextBox 10"/>
          <p:cNvSpPr txBox="1"/>
          <p:nvPr/>
        </p:nvSpPr>
        <p:spPr>
          <a:xfrm>
            <a:off x="18937590" y="45605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274 mm diameter</a:t>
            </a:r>
          </a:p>
        </p:txBody>
      </p:sp>
      <p:sp>
        <p:nvSpPr>
          <p:cNvPr id="12" name="TextBox 11"/>
          <p:cNvSpPr txBox="1"/>
          <p:nvPr/>
        </p:nvSpPr>
        <p:spPr>
          <a:xfrm>
            <a:off x="14910816" y="53029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Rotor speed</a:t>
            </a:r>
          </a:p>
        </p:txBody>
      </p:sp>
      <p:sp>
        <p:nvSpPr>
          <p:cNvPr id="13" name="TextBox 12"/>
          <p:cNvSpPr txBox="1"/>
          <p:nvPr/>
        </p:nvSpPr>
        <p:spPr>
          <a:xfrm>
            <a:off x="18937590" y="53029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3800 rpm</a:t>
            </a:r>
          </a:p>
        </p:txBody>
      </p:sp>
      <p:sp>
        <p:nvSpPr>
          <p:cNvPr id="14" name="TextBox 13"/>
          <p:cNvSpPr txBox="1"/>
          <p:nvPr/>
        </p:nvSpPr>
        <p:spPr>
          <a:xfrm>
            <a:off x="14910816" y="6045340"/>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What that implies</a:t>
            </a:r>
          </a:p>
        </p:txBody>
      </p:sp>
      <p:sp>
        <p:nvSpPr>
          <p:cNvPr id="15" name="TextBox 14"/>
          <p:cNvSpPr txBox="1"/>
          <p:nvPr/>
        </p:nvSpPr>
        <p:spPr>
          <a:xfrm>
            <a:off x="14910816" y="6899097"/>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speed</a:t>
            </a:r>
          </a:p>
        </p:txBody>
      </p:sp>
      <p:sp>
        <p:nvSpPr>
          <p:cNvPr id="16" name="TextBox 15"/>
          <p:cNvSpPr txBox="1"/>
          <p:nvPr/>
        </p:nvSpPr>
        <p:spPr>
          <a:xfrm>
            <a:off x="18937590" y="6899097"/>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55 m/s</a:t>
            </a:r>
          </a:p>
        </p:txBody>
      </p:sp>
      <p:sp>
        <p:nvSpPr>
          <p:cNvPr id="17" name="TextBox 16"/>
          <p:cNvSpPr txBox="1"/>
          <p:nvPr/>
        </p:nvSpPr>
        <p:spPr>
          <a:xfrm>
            <a:off x="14910816" y="764149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Tip Doppler</a:t>
            </a:r>
          </a:p>
        </p:txBody>
      </p:sp>
      <p:sp>
        <p:nvSpPr>
          <p:cNvPr id="18" name="TextBox 17"/>
          <p:cNvSpPr txBox="1"/>
          <p:nvPr/>
        </p:nvSpPr>
        <p:spPr>
          <a:xfrm>
            <a:off x="18937590" y="764149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1.23 kHz at 3.5 GHz</a:t>
            </a:r>
          </a:p>
        </p:txBody>
      </p:sp>
      <p:sp>
        <p:nvSpPr>
          <p:cNvPr id="19" name="TextBox 18"/>
          <p:cNvSpPr txBox="1"/>
          <p:nvPr/>
        </p:nvSpPr>
        <p:spPr>
          <a:xfrm>
            <a:off x="14910816" y="838389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Flash rate</a:t>
            </a:r>
          </a:p>
        </p:txBody>
      </p:sp>
      <p:sp>
        <p:nvSpPr>
          <p:cNvPr id="20" name="TextBox 19"/>
          <p:cNvSpPr txBox="1"/>
          <p:nvPr/>
        </p:nvSpPr>
        <p:spPr>
          <a:xfrm>
            <a:off x="18937590" y="838389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127 Hz, one every 7.9 ms</a:t>
            </a:r>
          </a:p>
        </p:txBody>
      </p:sp>
      <p:sp>
        <p:nvSpPr>
          <p:cNvPr id="21" name="TextBox 20"/>
          <p:cNvSpPr txBox="1"/>
          <p:nvPr/>
        </p:nvSpPr>
        <p:spPr>
          <a:xfrm>
            <a:off x="14910816" y="9126290"/>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Body</a:t>
            </a:r>
          </a:p>
        </p:txBody>
      </p:sp>
      <p:sp>
        <p:nvSpPr>
          <p:cNvPr id="22" name="TextBox 21"/>
          <p:cNvSpPr txBox="1"/>
          <p:nvPr/>
        </p:nvSpPr>
        <p:spPr>
          <a:xfrm>
            <a:off x="18937590" y="9126290"/>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0 Hz, it does not translate</a:t>
            </a:r>
          </a:p>
        </p:txBody>
      </p:sp>
      <p:sp>
        <p:nvSpPr>
          <p:cNvPr id="23" name="TextBox 22"/>
          <p:cNvSpPr txBox="1"/>
          <p:nvPr/>
        </p:nvSpPr>
        <p:spPr>
          <a:xfrm>
            <a:off x="14910816" y="9868687"/>
            <a:ext cx="8753856" cy="853757"/>
          </a:xfrm>
          <a:prstGeom prst="rect">
            <a:avLst/>
          </a:prstGeom>
          <a:noFill/>
        </p:spPr>
        <p:txBody>
          <a:bodyPr wrap="square" anchor="t" lIns="0" rIns="0" tIns="0" bIns="0">
            <a:spAutoFit/>
          </a:bodyPr>
          <a:lstStyle/>
          <a:p>
            <a:pPr algn="l"/>
            <a:r>
              <a:rPr sz="2800" b="1" i="0">
                <a:solidFill>
                  <a:srgbClr val="2E74B5"/>
                </a:solidFill>
                <a:latin typeface="AvenirNext-DemiBold"/>
              </a:rPr>
              <a:t>Where we look from</a:t>
            </a:r>
          </a:p>
        </p:txBody>
      </p:sp>
      <p:sp>
        <p:nvSpPr>
          <p:cNvPr id="24" name="TextBox 23"/>
          <p:cNvSpPr txBox="1"/>
          <p:nvPr/>
        </p:nvSpPr>
        <p:spPr>
          <a:xfrm>
            <a:off x="14910816" y="10722445"/>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Geometry</a:t>
            </a:r>
          </a:p>
        </p:txBody>
      </p:sp>
      <p:sp>
        <p:nvSpPr>
          <p:cNvPr id="25" name="TextBox 24"/>
          <p:cNvSpPr txBox="1"/>
          <p:nvPr/>
        </p:nvSpPr>
        <p:spPr>
          <a:xfrm>
            <a:off x="18937590" y="10722445"/>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Monostatic, 3 m</a:t>
            </a:r>
          </a:p>
        </p:txBody>
      </p:sp>
      <p:sp>
        <p:nvSpPr>
          <p:cNvPr id="26" name="TextBox 25"/>
          <p:cNvSpPr txBox="1"/>
          <p:nvPr/>
        </p:nvSpPr>
        <p:spPr>
          <a:xfrm>
            <a:off x="14910816" y="11464842"/>
            <a:ext cx="4026774" cy="742398"/>
          </a:xfrm>
          <a:prstGeom prst="rect">
            <a:avLst/>
          </a:prstGeom>
          <a:noFill/>
        </p:spPr>
        <p:txBody>
          <a:bodyPr wrap="square" anchor="t" lIns="0" rIns="0" tIns="0" bIns="0">
            <a:spAutoFit/>
          </a:bodyPr>
          <a:lstStyle/>
          <a:p>
            <a:pPr algn="l"/>
            <a:r>
              <a:rPr sz="2600" b="1" i="0">
                <a:solidFill>
                  <a:srgbClr val="5E5E5E"/>
                </a:solidFill>
                <a:latin typeface="AvenirNext-DemiBold"/>
              </a:rPr>
              <a:t>Aspect</a:t>
            </a:r>
          </a:p>
        </p:txBody>
      </p:sp>
      <p:sp>
        <p:nvSpPr>
          <p:cNvPr id="27" name="TextBox 26"/>
          <p:cNvSpPr txBox="1"/>
          <p:nvPr/>
        </p:nvSpPr>
        <p:spPr>
          <a:xfrm>
            <a:off x="18937590" y="11464842"/>
            <a:ext cx="4727082" cy="742398"/>
          </a:xfrm>
          <a:prstGeom prst="rect">
            <a:avLst/>
          </a:prstGeom>
          <a:noFill/>
        </p:spPr>
        <p:txBody>
          <a:bodyPr wrap="square" anchor="t" lIns="0" rIns="0" tIns="0" bIns="0">
            <a:spAutoFit/>
          </a:bodyPr>
          <a:lstStyle/>
          <a:p>
            <a:pPr algn="l"/>
            <a:r>
              <a:rPr sz="2600" b="0" i="0">
                <a:solidFill>
                  <a:srgbClr val="000000"/>
                </a:solidFill>
                <a:latin typeface="Avenir Next Medium"/>
              </a:rPr>
              <a:t>az 0 deg, el minus 15 deg, belly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path solver counts paths, our kernel integrates a surface</a:t>
            </a:r>
          </a:p>
        </p:txBody>
      </p:sp>
      <p:pic>
        <p:nvPicPr>
          <p:cNvPr id="4" name="Picture 3" descr="v12_concept.png"/>
          <p:cNvPicPr>
            <a:picLocks noChangeAspect="1"/>
          </p:cNvPicPr>
          <p:nvPr/>
        </p:nvPicPr>
        <p:blipFill>
          <a:blip r:embed="rId2"/>
          <a:stretch>
            <a:fillRect/>
          </a:stretch>
        </p:blipFill>
        <p:spPr>
          <a:xfrm>
            <a:off x="2056994" y="2221992"/>
            <a:ext cx="20270010"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give one complex number per pose, so only the scattering step differs.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HOW THEY WORK</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One traces a few paths, the other integrates a lit surface</a:t>
            </a:r>
          </a:p>
        </p:txBody>
      </p:sp>
      <p:sp>
        <p:nvSpPr>
          <p:cNvPr id="4" name="TextBox 3"/>
          <p:cNvSpPr txBox="1"/>
          <p:nvPr/>
        </p:nvSpPr>
        <p:spPr>
          <a:xfrm>
            <a:off x="760781" y="201503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Both end at one complex number per pose, and </a:t>
            </a:r>
            <a:r>
              <a:rPr sz="3700" b="1" i="0">
                <a:solidFill>
                  <a:srgbClr val="E22146"/>
                </a:solidFill>
                <a:latin typeface="AvenirNext-DemiBold"/>
              </a:rPr>
              <a:t>they get there differently</a:t>
            </a:r>
          </a:p>
        </p:txBody>
      </p:sp>
      <p:graphicFrame>
        <p:nvGraphicFramePr>
          <p:cNvPr id="5" name="Table 4"/>
          <p:cNvGraphicFramePr>
            <a:graphicFrameLocks noGrp="1"/>
          </p:cNvGraphicFramePr>
          <p:nvPr/>
        </p:nvGraphicFramePr>
        <p:xfrm>
          <a:off x="719328" y="3158697"/>
          <a:ext cx="22945343" cy="768096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Step</a:t>
                      </a:r>
                    </a:p>
                  </a:txBody>
                  <a:tcPr anchor="ctr" marL="70000" marR="70000">
                    <a:solidFill>
                      <a:srgbClr val="26448A"/>
                    </a:solidFill>
                  </a:tcPr>
                </a:tc>
                <a:tc>
                  <a:txBody>
                    <a:bodyPr wrap="square"/>
                    <a:lstStyle/>
                    <a:p>
                      <a:pPr algn="ctr"/>
                      <a:r>
                        <a:rPr sz="2900" b="1" i="0">
                          <a:solidFill>
                            <a:srgbClr val="FFFFFF"/>
                          </a:solidFill>
                          <a:latin typeface="AvenirNext-DemiBold"/>
                        </a:rPr>
                        <a:t>Sionna PathSolver</a:t>
                      </a:r>
                    </a:p>
                  </a:txBody>
                  <a:tcPr anchor="ctr" marL="70000" marR="70000">
                    <a:solidFill>
                      <a:srgbClr val="26448A"/>
                    </a:solidFill>
                  </a:tcPr>
                </a:tc>
                <a:tc>
                  <a:txBody>
                    <a:bodyPr wrap="square"/>
                    <a:lstStyle/>
                    <a:p>
                      <a:pPr algn="ctr"/>
                      <a:r>
                        <a:rPr sz="2900" b="1" i="0">
                          <a:solidFill>
                            <a:srgbClr val="FFFFFF"/>
                          </a:solidFill>
                          <a:latin typeface="AvenirNext-DemiBold"/>
                        </a:rPr>
                        <a:t>Ours (SBR plus PO)</a:t>
                      </a:r>
                    </a:p>
                  </a:txBody>
                  <a:tcPr anchor="ctr" marL="70000" marR="70000">
                    <a:solidFill>
                      <a:srgbClr val="26448A"/>
                    </a:solidFill>
                  </a:tcPr>
                </a:tc>
              </a:tr>
              <a:tr h="960120">
                <a:tc>
                  <a:txBody>
                    <a:bodyPr wrap="square"/>
                    <a:lstStyle/>
                    <a:p>
                      <a:pPr algn="l"/>
                      <a:r>
                        <a:rPr sz="2700" b="1" i="0">
                          <a:solidFill>
                            <a:srgbClr val="000000"/>
                          </a:solidFill>
                          <a:latin typeface="AvenirNext-DemiBold"/>
                        </a:rPr>
                        <a:t>Where rays start</a:t>
                      </a:r>
                    </a:p>
                  </a:txBody>
                  <a:tcPr anchor="ctr" marL="70000" marR="70000">
                    <a:solidFill>
                      <a:srgbClr val="FFFFFF"/>
                    </a:solidFill>
                  </a:tcPr>
                </a:tc>
                <a:tc>
                  <a:txBody>
                    <a:bodyPr wrap="square"/>
                    <a:lstStyle/>
                    <a:p>
                      <a:pPr algn="ctr"/>
                      <a:r>
                        <a:rPr sz="2700" b="0" i="0">
                          <a:solidFill>
                            <a:srgbClr val="000000"/>
                          </a:solidFill>
                          <a:latin typeface="Avenir Next Medium"/>
                        </a:rPr>
                        <a:t>At the radar, over the whole sphere</a:t>
                      </a:r>
                    </a:p>
                  </a:txBody>
                  <a:tcPr anchor="ctr" marL="70000" marR="70000">
                    <a:solidFill>
                      <a:srgbClr val="FFFFFF"/>
                    </a:solidFill>
                  </a:tcPr>
                </a:tc>
                <a:tc>
                  <a:txBody>
                    <a:bodyPr wrap="square"/>
                    <a:lstStyle/>
                    <a:p>
                      <a:pPr algn="ctr"/>
                      <a:r>
                        <a:rPr sz="2700" b="0" i="0">
                          <a:solidFill>
                            <a:srgbClr val="000000"/>
                          </a:solidFill>
                          <a:latin typeface="Avenir Next Medium"/>
                        </a:rPr>
                        <a:t>On a grid fixed to the target and held across poses</a:t>
                      </a:r>
                    </a:p>
                  </a:txBody>
                  <a:tcPr anchor="ctr" marL="70000" marR="70000">
                    <a:solidFill>
                      <a:srgbClr val="FFFFFF"/>
                    </a:solidFill>
                  </a:tcPr>
                </a:tc>
              </a:tr>
              <a:tr h="960120">
                <a:tc>
                  <a:txBody>
                    <a:bodyPr wrap="square"/>
                    <a:lstStyle/>
                    <a:p>
                      <a:pPr algn="l"/>
                      <a:r>
                        <a:rPr sz="2700" b="1" i="0">
                          <a:solidFill>
                            <a:srgbClr val="000000"/>
                          </a:solidFill>
                          <a:latin typeface="AvenirNext-DemiBold"/>
                        </a:rPr>
                        <a:t>How many</a:t>
                      </a:r>
                    </a:p>
                  </a:txBody>
                  <a:tcPr anchor="ctr" marL="70000" marR="70000">
                    <a:solidFill>
                      <a:srgbClr val="F2F2F2"/>
                    </a:solidFill>
                  </a:tcPr>
                </a:tc>
                <a:tc>
                  <a:txBody>
                    <a:bodyPr wrap="square"/>
                    <a:lstStyle/>
                    <a:p>
                      <a:pPr algn="ctr"/>
                      <a:r>
                        <a:rPr sz="2700" b="0" i="0">
                          <a:solidFill>
                            <a:srgbClr val="000000"/>
                          </a:solidFill>
                          <a:latin typeface="Avenir Next Medium"/>
                        </a:rPr>
                        <a:t>One million directions on a lattice</a:t>
                      </a:r>
                    </a:p>
                  </a:txBody>
                  <a:tcPr anchor="ctr" marL="70000" marR="70000">
                    <a:solidFill>
                      <a:srgbClr val="F2F2F2"/>
                    </a:solidFill>
                  </a:tcPr>
                </a:tc>
                <a:tc>
                  <a:txBody>
                    <a:bodyPr wrap="square"/>
                    <a:lstStyle/>
                    <a:p>
                      <a:pPr algn="ctr"/>
                      <a:r>
                        <a:rPr sz="2700" b="0" i="0">
                          <a:solidFill>
                            <a:srgbClr val="000000"/>
                          </a:solidFill>
                          <a:latin typeface="Avenir Next Medium"/>
                        </a:rPr>
                        <a:t>One per 7.1 mm cell, a twelfth of a wavelength</a:t>
                      </a:r>
                    </a:p>
                  </a:txBody>
                  <a:tcPr anchor="ctr" marL="70000" marR="70000">
                    <a:solidFill>
                      <a:srgbClr val="F2F2F2"/>
                    </a:solidFill>
                  </a:tcPr>
                </a:tc>
              </a:tr>
              <a:tr h="960120">
                <a:tc>
                  <a:txBody>
                    <a:bodyPr wrap="square"/>
                    <a:lstStyle/>
                    <a:p>
                      <a:pPr algn="l"/>
                      <a:r>
                        <a:rPr sz="2700" b="1" i="0">
                          <a:solidFill>
                            <a:srgbClr val="000000"/>
                          </a:solidFill>
                          <a:latin typeface="AvenirNext-DemiBold"/>
                        </a:rPr>
                        <a:t>At a surface</a:t>
                      </a:r>
                    </a:p>
                  </a:txBody>
                  <a:tcPr anchor="ctr" marL="70000" marR="70000">
                    <a:solidFill>
                      <a:srgbClr val="FFFFFF"/>
                    </a:solidFill>
                  </a:tcPr>
                </a:tc>
                <a:tc>
                  <a:txBody>
                    <a:bodyPr wrap="square"/>
                    <a:lstStyle/>
                    <a:p>
                      <a:pPr algn="ctr"/>
                      <a:r>
                        <a:rPr sz="2700" b="0" i="0">
                          <a:solidFill>
                            <a:srgbClr val="000000"/>
                          </a:solidFill>
                          <a:latin typeface="Avenir Next Medium"/>
                        </a:rPr>
                        <a:t>Pick one outcome at random and carry on</a:t>
                      </a:r>
                    </a:p>
                  </a:txBody>
                  <a:tcPr anchor="ctr" marL="70000" marR="70000">
                    <a:solidFill>
                      <a:srgbClr val="FFFFFF"/>
                    </a:solidFill>
                  </a:tcPr>
                </a:tc>
                <a:tc>
                  <a:txBody>
                    <a:bodyPr wrap="square"/>
                    <a:lstStyle/>
                    <a:p>
                      <a:pPr algn="ctr"/>
                      <a:r>
                        <a:rPr sz="2700" b="0" i="0">
                          <a:solidFill>
                            <a:srgbClr val="000000"/>
                          </a:solidFill>
                          <a:latin typeface="Avenir Next Medium"/>
                        </a:rPr>
                        <a:t>Stop at the first hit, then take the next ray</a:t>
                      </a:r>
                    </a:p>
                  </a:txBody>
                  <a:tcPr anchor="ctr" marL="70000" marR="70000">
                    <a:solidFill>
                      <a:srgbClr val="FFFFFF"/>
                    </a:solidFill>
                  </a:tcPr>
                </a:tc>
              </a:tr>
              <a:tr h="960120">
                <a:tc>
                  <a:txBody>
                    <a:bodyPr wrap="square"/>
                    <a:lstStyle/>
                    <a:p>
                      <a:pPr algn="l"/>
                      <a:r>
                        <a:rPr sz="2700" b="1" i="0">
                          <a:solidFill>
                            <a:srgbClr val="000000"/>
                          </a:solidFill>
                          <a:latin typeface="AvenirNext-DemiBold"/>
                        </a:rPr>
                        <a:t>What is summed</a:t>
                      </a:r>
                    </a:p>
                  </a:txBody>
                  <a:tcPr anchor="ctr" marL="70000" marR="70000">
                    <a:solidFill>
                      <a:srgbClr val="F2F2F2"/>
                    </a:solidFill>
                  </a:tcPr>
                </a:tc>
                <a:tc>
                  <a:txBody>
                    <a:bodyPr wrap="square"/>
                    <a:lstStyle/>
                    <a:p>
                      <a:pPr algn="ctr"/>
                      <a:r>
                        <a:rPr sz="2700" b="0" i="0">
                          <a:solidFill>
                            <a:srgbClr val="000000"/>
                          </a:solidFill>
                          <a:latin typeface="Avenir Next Medium"/>
                        </a:rPr>
                        <a:t>The few paths that found their way back</a:t>
                      </a:r>
                    </a:p>
                  </a:txBody>
                  <a:tcPr anchor="ctr" marL="70000" marR="70000">
                    <a:solidFill>
                      <a:srgbClr val="F2F2F2"/>
                    </a:solidFill>
                  </a:tcPr>
                </a:tc>
                <a:tc>
                  <a:txBody>
                    <a:bodyPr wrap="square"/>
                    <a:lstStyle/>
                    <a:p>
                      <a:pPr algn="ctr"/>
                      <a:r>
                        <a:rPr sz="2700" b="0" i="0">
                          <a:solidFill>
                            <a:srgbClr val="000000"/>
                          </a:solidFill>
                          <a:latin typeface="Avenir Next Medium"/>
                        </a:rPr>
                        <a:t>Every lit surface element, each with its phase</a:t>
                      </a:r>
                    </a:p>
                  </a:txBody>
                  <a:tcPr anchor="ctr" marL="70000" marR="70000">
                    <a:solidFill>
                      <a:srgbClr val="F2F2F2"/>
                    </a:solidFill>
                  </a:tcPr>
                </a:tc>
              </a:tr>
              <a:tr h="960120">
                <a:tc>
                  <a:txBody>
                    <a:bodyPr wrap="square"/>
                    <a:lstStyle/>
                    <a:p>
                      <a:pPr algn="l"/>
                      <a:r>
                        <a:rPr sz="2700" b="1" i="0">
                          <a:solidFill>
                            <a:srgbClr val="000000"/>
                          </a:solidFill>
                          <a:latin typeface="AvenirNext-DemiBold"/>
                        </a:rPr>
                        <a:t>Amplitude from</a:t>
                      </a:r>
                    </a:p>
                  </a:txBody>
                  <a:tcPr anchor="ctr" marL="70000" marR="70000">
                    <a:solidFill>
                      <a:srgbClr val="FFFFFF"/>
                    </a:solidFill>
                  </a:tcPr>
                </a:tc>
                <a:tc>
                  <a:txBody>
                    <a:bodyPr wrap="square"/>
                    <a:lstStyle/>
                    <a:p>
                      <a:pPr algn="ctr"/>
                      <a:r>
                        <a:rPr sz="2700" b="0" i="0">
                          <a:solidFill>
                            <a:srgbClr val="000000"/>
                          </a:solidFill>
                          <a:latin typeface="Avenir Next Medium"/>
                        </a:rPr>
                        <a:t>Fresnel coefficients multiplied along the path</a:t>
                      </a:r>
                    </a:p>
                  </a:txBody>
                  <a:tcPr anchor="ctr" marL="70000" marR="70000">
                    <a:solidFill>
                      <a:srgbClr val="FFFFFF"/>
                    </a:solidFill>
                  </a:tcPr>
                </a:tc>
                <a:tc>
                  <a:txBody>
                    <a:bodyPr wrap="square"/>
                    <a:lstStyle/>
                    <a:p>
                      <a:pPr algn="ctr"/>
                      <a:r>
                        <a:rPr sz="2700" b="0" i="0">
                          <a:solidFill>
                            <a:srgbClr val="000000"/>
                          </a:solidFill>
                          <a:latin typeface="Avenir Next Medium"/>
                        </a:rPr>
                        <a:t>Reflection times obliquity times area, integrated</a:t>
                      </a:r>
                    </a:p>
                  </a:txBody>
                  <a:tcPr anchor="ctr" marL="70000" marR="70000">
                    <a:solidFill>
                      <a:srgbClr val="FFFFFF"/>
                    </a:solidFill>
                  </a:tcPr>
                </a:tc>
              </a:tr>
              <a:tr h="960120">
                <a:tc>
                  <a:txBody>
                    <a:bodyPr wrap="square"/>
                    <a:lstStyle/>
                    <a:p>
                      <a:pPr algn="l"/>
                      <a:r>
                        <a:rPr sz="2700" b="1" i="0">
                          <a:solidFill>
                            <a:srgbClr val="000000"/>
                          </a:solidFill>
                          <a:latin typeface="AvenirNext-DemiBold"/>
                        </a:rPr>
                        <a:t>Occlusion</a:t>
                      </a:r>
                    </a:p>
                  </a:txBody>
                  <a:tcPr anchor="ctr" marL="70000" marR="70000">
                    <a:solidFill>
                      <a:srgbClr val="F2F2F2"/>
                    </a:solidFill>
                  </a:tcPr>
                </a:tc>
                <a:tc>
                  <a:txBody>
                    <a:bodyPr wrap="square"/>
                    <a:lstStyle/>
                    <a:p>
                      <a:pPr algn="ctr"/>
                      <a:r>
                        <a:rPr sz="2700" b="0" i="0">
                          <a:solidFill>
                            <a:srgbClr val="000000"/>
                          </a:solidFill>
                          <a:latin typeface="Avenir Next Medium"/>
                        </a:rPr>
                        <a:t>Rays are simply blocked</a:t>
                      </a:r>
                    </a:p>
                  </a:txBody>
                  <a:tcPr anchor="ctr" marL="70000" marR="70000">
                    <a:solidFill>
                      <a:srgbClr val="F2F2F2"/>
                    </a:solidFill>
                  </a:tcPr>
                </a:tc>
                <a:tc>
                  <a:txBody>
                    <a:bodyPr wrap="square"/>
                    <a:lstStyle/>
                    <a:p>
                      <a:pPr algn="ctr"/>
                      <a:r>
                        <a:rPr sz="2700" b="0" i="0">
                          <a:solidFill>
                            <a:srgbClr val="000000"/>
                          </a:solidFill>
                          <a:latin typeface="Avenir Next Medium"/>
                        </a:rPr>
                        <a:t>Hidden facets are never reached, so it is free</a:t>
                      </a:r>
                    </a:p>
                  </a:txBody>
                  <a:tcPr anchor="ctr" marL="70000" marR="70000">
                    <a:solidFill>
                      <a:srgbClr val="F2F2F2"/>
                    </a:solidFill>
                  </a:tcPr>
                </a:tc>
              </a:tr>
              <a:tr h="960120">
                <a:tc>
                  <a:txBody>
                    <a:bodyPr wrap="square"/>
                    <a:lstStyle/>
                    <a:p>
                      <a:pPr algn="l"/>
                      <a:r>
                        <a:rPr sz="2700" b="1" i="0">
                          <a:solidFill>
                            <a:srgbClr val="000000"/>
                          </a:solidFill>
                          <a:latin typeface="AvenirNext-DemiBold"/>
                        </a:rPr>
                        <a:t>Per rotor pose</a:t>
                      </a:r>
                    </a:p>
                  </a:txBody>
                  <a:tcPr anchor="ctr" marL="70000" marR="70000">
                    <a:solidFill>
                      <a:srgbClr val="FFFFFF"/>
                    </a:solidFill>
                  </a:tcPr>
                </a:tc>
                <a:tc>
                  <a:txBody>
                    <a:bodyPr wrap="square"/>
                    <a:lstStyle/>
                    <a:p>
                      <a:pPr algn="ctr"/>
                      <a:r>
                        <a:rPr sz="2700" b="0" i="0">
                          <a:solidFill>
                            <a:srgbClr val="000000"/>
                          </a:solidFill>
                          <a:latin typeface="Avenir Next Medium"/>
                        </a:rPr>
                        <a:t>Re solve the scene, 4096 times</a:t>
                      </a:r>
                    </a:p>
                  </a:txBody>
                  <a:tcPr anchor="ctr" marL="70000" marR="70000">
                    <a:solidFill>
                      <a:srgbClr val="FFFFFF"/>
                    </a:solidFill>
                  </a:tcPr>
                </a:tc>
                <a:tc>
                  <a:txBody>
                    <a:bodyPr wrap="square"/>
                    <a:lstStyle/>
                    <a:p>
                      <a:pPr algn="ctr"/>
                      <a:r>
                        <a:rPr sz="2700" b="0" i="0">
                          <a:solidFill>
                            <a:srgbClr val="000000"/>
                          </a:solidFill>
                          <a:latin typeface="Avenir Next Medium"/>
                        </a:rPr>
                        <a:t>Re integrate the surface, 4096 times</a:t>
                      </a:r>
                    </a:p>
                  </a:txBody>
                  <a:tcPr anchor="ctr" marL="70000" marR="70000">
                    <a:solidFill>
                      <a:srgbClr val="FFFFFF"/>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Neither uses a Doppler formula. Motion lives in the phase, pose by pose.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Both engines print the same blade rhythm</a:t>
            </a:r>
          </a:p>
        </p:txBody>
      </p:sp>
      <p:pic>
        <p:nvPicPr>
          <p:cNvPr id="4" name="Picture 3" descr="v12_r1.png"/>
          <p:cNvPicPr>
            <a:picLocks noChangeAspect="1"/>
          </p:cNvPicPr>
          <p:nvPr/>
        </p:nvPicPr>
        <p:blipFill>
          <a:blip r:embed="rId2"/>
          <a:stretch>
            <a:fillRect/>
          </a:stretch>
        </p:blipFill>
        <p:spPr>
          <a:xfrm>
            <a:off x="719328" y="2994286"/>
            <a:ext cx="15605760" cy="8440659"/>
          </a:xfrm>
          <a:prstGeom prst="rect">
            <a:avLst/>
          </a:prstGeom>
        </p:spPr>
      </p:pic>
      <p:sp>
        <p:nvSpPr>
          <p:cNvPr id="5" name="TextBox 4"/>
          <p:cNvSpPr txBox="1"/>
          <p:nvPr/>
        </p:nvSpPr>
        <p:spPr>
          <a:xfrm>
            <a:off x="16861536" y="2221992"/>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STFT</a:t>
            </a:r>
          </a:p>
        </p:txBody>
      </p:sp>
      <p:sp>
        <p:nvSpPr>
          <p:cNvPr id="6" name="TextBox 5"/>
          <p:cNvSpPr txBox="1"/>
          <p:nvPr/>
        </p:nvSpPr>
        <p:spPr>
          <a:xfrm>
            <a:off x="16861536" y="314432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Segment</a:t>
            </a:r>
          </a:p>
        </p:txBody>
      </p:sp>
      <p:sp>
        <p:nvSpPr>
          <p:cNvPr id="7" name="TextBox 6"/>
          <p:cNvSpPr txBox="1"/>
          <p:nvPr/>
        </p:nvSpPr>
        <p:spPr>
          <a:xfrm>
            <a:off x="19990979" y="314432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70 sample Hann</a:t>
            </a:r>
          </a:p>
        </p:txBody>
      </p:sp>
      <p:sp>
        <p:nvSpPr>
          <p:cNvPr id="8" name="TextBox 7"/>
          <p:cNvSpPr txBox="1"/>
          <p:nvPr/>
        </p:nvSpPr>
        <p:spPr>
          <a:xfrm>
            <a:off x="16861536" y="3946352"/>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
            </a:r>
          </a:p>
        </p:txBody>
      </p:sp>
      <p:sp>
        <p:nvSpPr>
          <p:cNvPr id="9" name="TextBox 8"/>
          <p:cNvSpPr txBox="1"/>
          <p:nvPr/>
        </p:nvSpPr>
        <p:spPr>
          <a:xfrm>
            <a:off x="19990979" y="3946352"/>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0.45 blade periods</a:t>
            </a:r>
          </a:p>
        </p:txBody>
      </p:sp>
      <p:sp>
        <p:nvSpPr>
          <p:cNvPr id="10" name="TextBox 9"/>
          <p:cNvSpPr txBox="1"/>
          <p:nvPr/>
        </p:nvSpPr>
        <p:spPr>
          <a:xfrm>
            <a:off x="16861536" y="4748380"/>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Time step</a:t>
            </a:r>
          </a:p>
        </p:txBody>
      </p:sp>
      <p:sp>
        <p:nvSpPr>
          <p:cNvPr id="11" name="TextBox 10"/>
          <p:cNvSpPr txBox="1"/>
          <p:nvPr/>
        </p:nvSpPr>
        <p:spPr>
          <a:xfrm>
            <a:off x="19990979" y="4748380"/>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3.55 ms</a:t>
            </a:r>
          </a:p>
        </p:txBody>
      </p:sp>
      <p:sp>
        <p:nvSpPr>
          <p:cNvPr id="12" name="TextBox 11"/>
          <p:cNvSpPr txBox="1"/>
          <p:nvPr/>
        </p:nvSpPr>
        <p:spPr>
          <a:xfrm>
            <a:off x="16861536" y="5550408"/>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Frequency bin</a:t>
            </a:r>
          </a:p>
        </p:txBody>
      </p:sp>
      <p:sp>
        <p:nvSpPr>
          <p:cNvPr id="13" name="TextBox 12"/>
          <p:cNvSpPr txBox="1"/>
          <p:nvPr/>
        </p:nvSpPr>
        <p:spPr>
          <a:xfrm>
            <a:off x="19990979" y="5550408"/>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281 Hz</a:t>
            </a:r>
          </a:p>
        </p:txBody>
      </p:sp>
      <p:sp>
        <p:nvSpPr>
          <p:cNvPr id="14" name="TextBox 13"/>
          <p:cNvSpPr txBox="1"/>
          <p:nvPr/>
        </p:nvSpPr>
        <p:spPr>
          <a:xfrm>
            <a:off x="16861536" y="6352436"/>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Signal</a:t>
            </a:r>
          </a:p>
        </p:txBody>
      </p:sp>
      <p:sp>
        <p:nvSpPr>
          <p:cNvPr id="15" name="TextBox 14"/>
          <p:cNvSpPr txBox="1"/>
          <p:nvPr/>
        </p:nvSpPr>
        <p:spPr>
          <a:xfrm>
            <a:off x="16861536" y="7274768"/>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Slow time rate</a:t>
            </a:r>
          </a:p>
        </p:txBody>
      </p:sp>
      <p:sp>
        <p:nvSpPr>
          <p:cNvPr id="16" name="TextBox 15"/>
          <p:cNvSpPr txBox="1"/>
          <p:nvPr/>
        </p:nvSpPr>
        <p:spPr>
          <a:xfrm>
            <a:off x="19990979" y="7274768"/>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19.7 kHz</a:t>
            </a:r>
          </a:p>
        </p:txBody>
      </p:sp>
      <p:sp>
        <p:nvSpPr>
          <p:cNvPr id="17" name="TextBox 16"/>
          <p:cNvSpPr txBox="1"/>
          <p:nvPr/>
        </p:nvSpPr>
        <p:spPr>
          <a:xfrm>
            <a:off x="16861536" y="8076796"/>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Record</a:t>
            </a:r>
          </a:p>
        </p:txBody>
      </p:sp>
      <p:sp>
        <p:nvSpPr>
          <p:cNvPr id="18" name="TextBox 17"/>
          <p:cNvSpPr txBox="1"/>
          <p:nvPr/>
        </p:nvSpPr>
        <p:spPr>
          <a:xfrm>
            <a:off x="19990979" y="8076796"/>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4096 poses, 208 ms</a:t>
            </a:r>
          </a:p>
        </p:txBody>
      </p:sp>
      <p:sp>
        <p:nvSpPr>
          <p:cNvPr id="19" name="TextBox 18"/>
          <p:cNvSpPr txBox="1"/>
          <p:nvPr/>
        </p:nvSpPr>
        <p:spPr>
          <a:xfrm>
            <a:off x="16861536" y="887882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Zoom shown</a:t>
            </a:r>
          </a:p>
        </p:txBody>
      </p:sp>
      <p:sp>
        <p:nvSpPr>
          <p:cNvPr id="20" name="TextBox 19"/>
          <p:cNvSpPr txBox="1"/>
          <p:nvPr/>
        </p:nvSpPr>
        <p:spPr>
          <a:xfrm>
            <a:off x="19990979" y="887882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60 ms</a:t>
            </a:r>
          </a:p>
        </p:txBody>
      </p:sp>
      <p:sp>
        <p:nvSpPr>
          <p:cNvPr id="21" name="TextBox 20"/>
          <p:cNvSpPr txBox="1"/>
          <p:nvPr/>
        </p:nvSpPr>
        <p:spPr>
          <a:xfrm>
            <a:off x="16861536" y="9680852"/>
            <a:ext cx="6803136" cy="922332"/>
          </a:xfrm>
          <a:prstGeom prst="rect">
            <a:avLst/>
          </a:prstGeom>
          <a:noFill/>
        </p:spPr>
        <p:txBody>
          <a:bodyPr wrap="square" anchor="t" lIns="0" rIns="0" tIns="0" bIns="0">
            <a:spAutoFit/>
          </a:bodyPr>
          <a:lstStyle/>
          <a:p>
            <a:pPr algn="l"/>
            <a:r>
              <a:rPr sz="2800" b="1" i="0">
                <a:solidFill>
                  <a:srgbClr val="2E74B5"/>
                </a:solidFill>
                <a:latin typeface="AvenirNext-DemiBold"/>
              </a:rPr>
              <a:t>Colour</a:t>
            </a:r>
          </a:p>
        </p:txBody>
      </p:sp>
      <p:sp>
        <p:nvSpPr>
          <p:cNvPr id="22" name="TextBox 21"/>
          <p:cNvSpPr txBox="1"/>
          <p:nvPr/>
        </p:nvSpPr>
        <p:spPr>
          <a:xfrm>
            <a:off x="16861536" y="10603184"/>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Map</a:t>
            </a:r>
          </a:p>
        </p:txBody>
      </p:sp>
      <p:sp>
        <p:nvSpPr>
          <p:cNvPr id="23" name="TextBox 22"/>
          <p:cNvSpPr txBox="1"/>
          <p:nvPr/>
        </p:nvSpPr>
        <p:spPr>
          <a:xfrm>
            <a:off x="19990979" y="10603184"/>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jet, 40 dB</a:t>
            </a:r>
          </a:p>
        </p:txBody>
      </p:sp>
      <p:sp>
        <p:nvSpPr>
          <p:cNvPr id="24" name="TextBox 23"/>
          <p:cNvSpPr txBox="1"/>
          <p:nvPr/>
        </p:nvSpPr>
        <p:spPr>
          <a:xfrm>
            <a:off x="16861536" y="11405212"/>
            <a:ext cx="3129443" cy="802028"/>
          </a:xfrm>
          <a:prstGeom prst="rect">
            <a:avLst/>
          </a:prstGeom>
          <a:noFill/>
        </p:spPr>
        <p:txBody>
          <a:bodyPr wrap="square" anchor="t" lIns="0" rIns="0" tIns="0" bIns="0">
            <a:spAutoFit/>
          </a:bodyPr>
          <a:lstStyle/>
          <a:p>
            <a:pPr algn="l"/>
            <a:r>
              <a:rPr sz="2600" b="1" i="0">
                <a:solidFill>
                  <a:srgbClr val="5E5E5E"/>
                </a:solidFill>
                <a:latin typeface="AvenirNext-DemiBold"/>
              </a:rPr>
              <a:t>Reference</a:t>
            </a:r>
          </a:p>
        </p:txBody>
      </p:sp>
      <p:sp>
        <p:nvSpPr>
          <p:cNvPr id="25" name="TextBox 24"/>
          <p:cNvSpPr txBox="1"/>
          <p:nvPr/>
        </p:nvSpPr>
        <p:spPr>
          <a:xfrm>
            <a:off x="19990979" y="11405212"/>
            <a:ext cx="3673693" cy="802028"/>
          </a:xfrm>
          <a:prstGeom prst="rect">
            <a:avLst/>
          </a:prstGeom>
          <a:noFill/>
        </p:spPr>
        <p:txBody>
          <a:bodyPr wrap="square" anchor="t" lIns="0" rIns="0" tIns="0" bIns="0">
            <a:spAutoFit/>
          </a:bodyPr>
          <a:lstStyle/>
          <a:p>
            <a:pPr algn="l"/>
            <a:r>
              <a:rPr sz="2600" b="0" i="0">
                <a:solidFill>
                  <a:srgbClr val="000000"/>
                </a:solidFill>
                <a:latin typeface="Avenir Next Medium"/>
              </a:rPr>
              <a:t>each map to its own peak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TWO</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Forty metres was a price tag and not a wall</a:t>
            </a:r>
          </a:p>
        </p:txBody>
      </p:sp>
      <p:pic>
        <p:nvPicPr>
          <p:cNvPr id="4" name="Picture 3" descr="v12_r2.png"/>
          <p:cNvPicPr>
            <a:picLocks noChangeAspect="1"/>
          </p:cNvPicPr>
          <p:nvPr/>
        </p:nvPicPr>
        <p:blipFill>
          <a:blip r:embed="rId2"/>
          <a:stretch>
            <a:fillRect/>
          </a:stretch>
        </p:blipFill>
        <p:spPr>
          <a:xfrm>
            <a:off x="2952887" y="2221992"/>
            <a:ext cx="18478225"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Range enters one engine as cost and the other not at 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QUESTIONS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Where I would like your reading</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I can make these maps, and I am a great deal </a:t>
            </a:r>
            <a:r>
              <a:rPr sz="3700" b="1" i="0">
                <a:solidFill>
                  <a:srgbClr val="E22146"/>
                </a:solidFill>
                <a:latin typeface="AvenirNext-DemiBold"/>
              </a:rPr>
              <a:t>less sure how to judge them</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Is matching the blade rhythm on its own enough to call a kernel validated</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Our own sampling shifted every pose and printed energy no blade produced</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The two arms carry different quantities, so what should I compare instead</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Timing is settled between the engines, level is 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runs, and one thing I cannot fix at a desk</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Nothing here </a:t>
            </a:r>
            <a:r>
              <a:rPr sz="3700" b="1" i="0">
                <a:solidFill>
                  <a:srgbClr val="E22146"/>
                </a:solidFill>
                <a:latin typeface="AvenirNext-DemiBold"/>
              </a:rPr>
              <a:t>needs a new kernel</a:t>
            </a:r>
            <a:r>
              <a:rPr sz="3700" b="1" i="0">
                <a:solidFill>
                  <a:srgbClr val="000000"/>
                </a:solidFill>
                <a:latin typeface="AvenirNext-DemiBold"/>
              </a:rPr>
              <a:t>, only a longer run and one field test</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Put the frozen grid through the whole report, so one convention is published</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Build the classification dataset, once you tell me which arm to trust</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Read the rotor speed spread off a real airframe, which needs the field test</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last one cannot be done at a desk.</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